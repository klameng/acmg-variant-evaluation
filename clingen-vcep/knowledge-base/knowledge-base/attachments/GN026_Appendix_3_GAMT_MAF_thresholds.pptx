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8" r:id="rId2"/>
    <p:sldId id="267" r:id="rId3"/>
    <p:sldId id="270" r:id="rId4"/>
    <p:sldId id="268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65" d="100"/>
          <a:sy n="65" d="100"/>
        </p:scale>
        <p:origin x="717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40364-8C99-408E-943D-1C5DF93B5238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CD3AD0-B84A-47FD-9BCD-D3E5A107A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75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2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29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21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66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812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64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29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5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1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3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89FB3-7DAE-4F6C-B0B8-3E14ACC307A1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CAF46-EB67-4EDC-8D15-283DB464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1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rdiodb.org/allelefrequencyapp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GAMT allele </a:t>
            </a:r>
            <a:r>
              <a:rPr lang="en-US" sz="4400" b="1" dirty="0" smtClean="0"/>
              <a:t>frequency thresholds</a:t>
            </a:r>
            <a:endParaRPr lang="en-US" sz="4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ClinGen</a:t>
            </a:r>
            <a:r>
              <a:rPr lang="en-US" dirty="0" smtClean="0"/>
              <a:t> CCDS VCEP</a:t>
            </a:r>
          </a:p>
          <a:p>
            <a:r>
              <a:rPr lang="en-US" dirty="0" smtClean="0"/>
              <a:t>Oct 10, </a:t>
            </a:r>
            <a:r>
              <a:rPr lang="en-US" dirty="0" smtClean="0"/>
              <a:t>2019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67778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527" y="263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+mn-lt"/>
              </a:rPr>
              <a:t>Prevalence of GAMT deficiency</a:t>
            </a:r>
            <a:endParaRPr lang="en-US" sz="2800" b="1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77758"/>
              </p:ext>
            </p:extLst>
          </p:nvPr>
        </p:nvGraphicFramePr>
        <p:xfrm>
          <a:off x="766618" y="1246141"/>
          <a:ext cx="10792690" cy="497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381">
                  <a:extLst>
                    <a:ext uri="{9D8B030D-6E8A-4147-A177-3AD203B41FA5}">
                      <a16:colId xmlns:a16="http://schemas.microsoft.com/office/drawing/2014/main" val="3449448340"/>
                    </a:ext>
                  </a:extLst>
                </a:gridCol>
                <a:gridCol w="2860964">
                  <a:extLst>
                    <a:ext uri="{9D8B030D-6E8A-4147-A177-3AD203B41FA5}">
                      <a16:colId xmlns:a16="http://schemas.microsoft.com/office/drawing/2014/main" val="1477981900"/>
                    </a:ext>
                  </a:extLst>
                </a:gridCol>
                <a:gridCol w="1904999">
                  <a:extLst>
                    <a:ext uri="{9D8B030D-6E8A-4147-A177-3AD203B41FA5}">
                      <a16:colId xmlns:a16="http://schemas.microsoft.com/office/drawing/2014/main" val="4285263152"/>
                    </a:ext>
                  </a:extLst>
                </a:gridCol>
                <a:gridCol w="2013528">
                  <a:extLst>
                    <a:ext uri="{9D8B030D-6E8A-4147-A177-3AD203B41FA5}">
                      <a16:colId xmlns:a16="http://schemas.microsoft.com/office/drawing/2014/main" val="877518056"/>
                    </a:ext>
                  </a:extLst>
                </a:gridCol>
                <a:gridCol w="1985818">
                  <a:extLst>
                    <a:ext uri="{9D8B030D-6E8A-4147-A177-3AD203B41FA5}">
                      <a16:colId xmlns:a16="http://schemas.microsoft.com/office/drawing/2014/main" val="110278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Publication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Method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Carrier frequency (2pq)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q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Prevalence (q</a:t>
                      </a:r>
                      <a:r>
                        <a:rPr lang="en-US" baseline="30000" dirty="0" smtClean="0"/>
                        <a:t>2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820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Des </a:t>
                      </a:r>
                      <a:r>
                        <a:rPr lang="en-US" dirty="0" err="1" smtClean="0"/>
                        <a:t>Roches</a:t>
                      </a:r>
                      <a:r>
                        <a:rPr lang="en-US" dirty="0" smtClean="0"/>
                        <a:t> et al, 2015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sz="1200" baseline="0" dirty="0" smtClean="0"/>
                        <a:t>(</a:t>
                      </a:r>
                      <a:r>
                        <a:rPr lang="en-US" sz="1200" dirty="0" smtClean="0"/>
                        <a:t>PMID 26003046)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Reviewed EVS for variants; measured GAMT activity of missense variants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 in 812 (0.123%)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 in 1624 (0.000613)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 in 2,640,000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987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Des </a:t>
                      </a:r>
                      <a:r>
                        <a:rPr lang="en-US" dirty="0" err="1" smtClean="0"/>
                        <a:t>Roches</a:t>
                      </a:r>
                      <a:r>
                        <a:rPr lang="en-US" dirty="0" smtClean="0"/>
                        <a:t> et al, 2015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sz="1200" baseline="0" dirty="0" smtClean="0"/>
                        <a:t>(</a:t>
                      </a:r>
                      <a:r>
                        <a:rPr lang="en-US" sz="1200" dirty="0" smtClean="0"/>
                        <a:t>PMID 26003046)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Searched </a:t>
                      </a:r>
                      <a:r>
                        <a:rPr lang="en-US" sz="1400" dirty="0" err="1" smtClean="0"/>
                        <a:t>ExAC</a:t>
                      </a:r>
                      <a:r>
                        <a:rPr lang="en-US" sz="1400" baseline="0" dirty="0" smtClean="0"/>
                        <a:t> for missense variants predicted to be damaging, and LOF variants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 in 372 (0.268%)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1/744 (0.00134)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 in 550,000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2082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Merimek-Mahmutoglu</a:t>
                      </a:r>
                      <a:r>
                        <a:rPr lang="en-US" dirty="0" smtClean="0"/>
                        <a:t> et al, 2012 </a:t>
                      </a:r>
                      <a:r>
                        <a:rPr lang="en-US" sz="1200" dirty="0" smtClean="0"/>
                        <a:t>(PMID </a:t>
                      </a:r>
                      <a:r>
                        <a:rPr lang="en-US" sz="12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23031365)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2950 DNA samples from NBS, British Columbia; targeted screening for</a:t>
                      </a:r>
                      <a:r>
                        <a:rPr lang="en-US" sz="1400" baseline="0" dirty="0" smtClean="0"/>
                        <a:t> p.Trp20Ser and c.327G&gt;A; 2 other pathogenic variants identified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1/1475             (95% CI, 1/409–1/4762)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1/2950 (0.00034)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 in 9, 090, 090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538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Almeida et al, 2007 </a:t>
                      </a:r>
                      <a:r>
                        <a:rPr lang="en-US" sz="1400" dirty="0" smtClean="0"/>
                        <a:t>(PMID </a:t>
                      </a:r>
                      <a:r>
                        <a:rPr lang="en-US" sz="1400" b="0" i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17336114)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Screened </a:t>
                      </a:r>
                      <a:r>
                        <a:rPr lang="en-US" sz="1400" b="1" dirty="0" smtClean="0"/>
                        <a:t>Portuguese</a:t>
                      </a:r>
                      <a:r>
                        <a:rPr lang="en-US" sz="1400" baseline="0" dirty="0" smtClean="0"/>
                        <a:t> individuals for p.Trp20Ser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1/125 (0.8%)      (CI, 0.2-1.3%)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1/250 (0.004)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 in 62,500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22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Merimek-Mahmutoglu</a:t>
                      </a:r>
                      <a:r>
                        <a:rPr lang="en-US" dirty="0" smtClean="0"/>
                        <a:t> et al, 2016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Sequenced GAMT for</a:t>
                      </a:r>
                      <a:r>
                        <a:rPr lang="en-US" sz="1400" baseline="0" dirty="0" smtClean="0"/>
                        <a:t> 500 newborns from the Netherlands; 2 pathogenic variants identified.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1/250 (0.004) 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1/500 (0.002)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 in 250 000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062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Viau</a:t>
                      </a:r>
                      <a:r>
                        <a:rPr lang="en-US" dirty="0" smtClean="0"/>
                        <a:t> et al, 2013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Utah newborn population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1/170 (0.006)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1/340 (0.003)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/>
                        <a:t>1 in 114,072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40853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878800" y="4232135"/>
            <a:ext cx="830599" cy="73866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Due to founder variant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8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45" r="717" b="9170"/>
          <a:stretch/>
        </p:blipFill>
        <p:spPr>
          <a:xfrm>
            <a:off x="783753" y="2626387"/>
            <a:ext cx="4967621" cy="37331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7756" y="2238960"/>
            <a:ext cx="3443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Dhar</a:t>
            </a:r>
            <a:r>
              <a:rPr lang="en-US" dirty="0" smtClean="0"/>
              <a:t> et al, 2009; PMID </a:t>
            </a:r>
            <a:r>
              <a:rPr lang="en-US" dirty="0"/>
              <a:t>19027335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8283" y="380327"/>
            <a:ext cx="1092402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Maximum allelic contribution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maximum proportion of cases potentially attributable to a single allele i.e. the allele frequency of the most common </a:t>
            </a:r>
            <a:r>
              <a:rPr lang="en-US" dirty="0" smtClean="0"/>
              <a:t>variant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~40</a:t>
            </a:r>
            <a:r>
              <a:rPr lang="en-US" b="1" dirty="0"/>
              <a:t>% of alleles are </a:t>
            </a:r>
            <a:r>
              <a:rPr lang="en-US" b="1" dirty="0" smtClean="0"/>
              <a:t>c.327G&gt;A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Rarer alleles ~4-5%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7446648" y="2608292"/>
            <a:ext cx="3762797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Stockler-Ipsiroglu</a:t>
            </a:r>
            <a:r>
              <a:rPr lang="en-US" dirty="0" smtClean="0"/>
              <a:t> et al, 2016, PMID </a:t>
            </a:r>
            <a:r>
              <a:rPr lang="en-US" dirty="0"/>
              <a:t>24268530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Of </a:t>
            </a:r>
            <a:r>
              <a:rPr lang="en-US" dirty="0"/>
              <a:t>the 82 known/reported alleles, 30 were c.327G&gt;A (p.K109K, splice site exon 2), occurring in 26 </a:t>
            </a:r>
            <a:r>
              <a:rPr lang="en-US" dirty="0" smtClean="0"/>
              <a:t>families (~40%).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15 </a:t>
            </a:r>
            <a:r>
              <a:rPr lang="en-US" dirty="0"/>
              <a:t>alleles were c.59G&gt;C (p.W20S) and they occurred exclusively in Portuguese (n = 7) families.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remaining mutations occurred in </a:t>
            </a:r>
            <a:r>
              <a:rPr lang="en-US" u="sng" dirty="0"/>
              <a:t>&lt; </a:t>
            </a:r>
            <a:r>
              <a:rPr lang="en-US" dirty="0"/>
              <a:t>3 </a:t>
            </a:r>
            <a:r>
              <a:rPr lang="en-US" dirty="0" smtClean="0"/>
              <a:t>alleles ( </a:t>
            </a:r>
            <a:r>
              <a:rPr lang="en-US" dirty="0"/>
              <a:t>4</a:t>
            </a:r>
            <a:r>
              <a:rPr lang="en-US" dirty="0" smtClean="0"/>
              <a:t>% ).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753084" y="3960273"/>
            <a:ext cx="645952" cy="229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768690" y="3007991"/>
            <a:ext cx="605632" cy="2121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753084" y="4490028"/>
            <a:ext cx="605632" cy="2121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Specifying allele frequency rules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Maximum genetic contribution</a:t>
            </a:r>
          </a:p>
          <a:p>
            <a:pPr lvl="1"/>
            <a:r>
              <a:rPr lang="en-US" dirty="0"/>
              <a:t>The proportion of all cases that are attributable to the gene under evaluation</a:t>
            </a:r>
          </a:p>
          <a:p>
            <a:pPr lvl="1"/>
            <a:r>
              <a:rPr lang="en-US" dirty="0"/>
              <a:t>100% for GAMT-D</a:t>
            </a:r>
            <a:r>
              <a:rPr lang="en-US" dirty="0" smtClean="0"/>
              <a:t>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Penetrance</a:t>
            </a:r>
          </a:p>
          <a:p>
            <a:pPr lvl="1"/>
            <a:r>
              <a:rPr lang="en-US" dirty="0"/>
              <a:t>Assume 100%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85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391031"/>
              </p:ext>
            </p:extLst>
          </p:nvPr>
        </p:nvGraphicFramePr>
        <p:xfrm>
          <a:off x="4052475" y="2851702"/>
          <a:ext cx="275996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559">
                  <a:extLst>
                    <a:ext uri="{9D8B030D-6E8A-4147-A177-3AD203B41FA5}">
                      <a16:colId xmlns:a16="http://schemas.microsoft.com/office/drawing/2014/main" val="2210887936"/>
                    </a:ext>
                  </a:extLst>
                </a:gridCol>
                <a:gridCol w="1056402">
                  <a:extLst>
                    <a:ext uri="{9D8B030D-6E8A-4147-A177-3AD203B41FA5}">
                      <a16:colId xmlns:a16="http://schemas.microsoft.com/office/drawing/2014/main" val="224166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Prevalence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5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in 114,000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05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in 250 000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0.0008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796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in 550,000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0.00054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404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in 1,000,000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0.0004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9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in 2,640,000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0.000246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46701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07394" y="2111472"/>
            <a:ext cx="3283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 allelic contribution = </a:t>
            </a:r>
            <a:r>
              <a:rPr lang="en-US" dirty="0"/>
              <a:t>4</a:t>
            </a:r>
            <a:r>
              <a:rPr lang="en-US" dirty="0" smtClean="0"/>
              <a:t>0%</a:t>
            </a:r>
          </a:p>
          <a:p>
            <a:r>
              <a:rPr lang="en-US" dirty="0" smtClean="0"/>
              <a:t>Max genetic contribution = 100%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866497"/>
              </p:ext>
            </p:extLst>
          </p:nvPr>
        </p:nvGraphicFramePr>
        <p:xfrm>
          <a:off x="652963" y="2492680"/>
          <a:ext cx="2757657" cy="2212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869">
                  <a:extLst>
                    <a:ext uri="{9D8B030D-6E8A-4147-A177-3AD203B41FA5}">
                      <a16:colId xmlns:a16="http://schemas.microsoft.com/office/drawing/2014/main" val="3668085406"/>
                    </a:ext>
                  </a:extLst>
                </a:gridCol>
                <a:gridCol w="1076788">
                  <a:extLst>
                    <a:ext uri="{9D8B030D-6E8A-4147-A177-3AD203B41FA5}">
                      <a16:colId xmlns:a16="http://schemas.microsoft.com/office/drawing/2014/main" val="185936758"/>
                    </a:ext>
                  </a:extLst>
                </a:gridCol>
              </a:tblGrid>
              <a:tr h="3499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Prevalence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334839"/>
                  </a:ext>
                </a:extLst>
              </a:tr>
              <a:tr h="3499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in 114,000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782712"/>
                  </a:ext>
                </a:extLst>
              </a:tr>
              <a:tr h="3499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in 250,000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666665"/>
                  </a:ext>
                </a:extLst>
              </a:tr>
              <a:tr h="3499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 in 550,000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0.0014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145445"/>
                  </a:ext>
                </a:extLst>
              </a:tr>
              <a:tr h="34997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 in 1,000,000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085170"/>
                  </a:ext>
                </a:extLst>
              </a:tr>
              <a:tr h="38407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in 2,640,000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0.000615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81387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50377" y="1681592"/>
            <a:ext cx="3283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 allelic contribution = 100%</a:t>
            </a:r>
          </a:p>
          <a:p>
            <a:r>
              <a:rPr lang="en-US" dirty="0" smtClean="0"/>
              <a:t>Max genetic contribution =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3346" y="5451308"/>
            <a:ext cx="8150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Highest population minor allele frequency in </a:t>
            </a:r>
            <a:r>
              <a:rPr lang="en-US" sz="2000" dirty="0" err="1" smtClean="0"/>
              <a:t>gnomAD</a:t>
            </a:r>
            <a:r>
              <a:rPr lang="en-US" sz="2000" dirty="0" smtClean="0"/>
              <a:t> for c.327G&gt;A </a:t>
            </a:r>
            <a:r>
              <a:rPr lang="en-US" sz="2000" dirty="0"/>
              <a:t>=</a:t>
            </a:r>
            <a:r>
              <a:rPr lang="en-US" sz="2000" dirty="0" smtClean="0"/>
              <a:t> 0.0004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57488" y="549753"/>
            <a:ext cx="3982581" cy="929678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Calculations for </a:t>
            </a:r>
            <a:r>
              <a:rPr lang="en-US" sz="2800" b="1" i="1" dirty="0" smtClean="0"/>
              <a:t>GAMT </a:t>
            </a:r>
            <a:endParaRPr lang="en-US" sz="2800" b="1" i="1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033724"/>
              </p:ext>
            </p:extLst>
          </p:nvPr>
        </p:nvGraphicFramePr>
        <p:xfrm>
          <a:off x="8456176" y="2845619"/>
          <a:ext cx="2897623" cy="2228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106">
                  <a:extLst>
                    <a:ext uri="{9D8B030D-6E8A-4147-A177-3AD203B41FA5}">
                      <a16:colId xmlns:a16="http://schemas.microsoft.com/office/drawing/2014/main" val="2210887936"/>
                    </a:ext>
                  </a:extLst>
                </a:gridCol>
                <a:gridCol w="1187517">
                  <a:extLst>
                    <a:ext uri="{9D8B030D-6E8A-4147-A177-3AD203B41FA5}">
                      <a16:colId xmlns:a16="http://schemas.microsoft.com/office/drawing/2014/main" val="224166058"/>
                    </a:ext>
                  </a:extLst>
                </a:gridCol>
              </a:tblGrid>
              <a:tr h="34981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Prevalence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055876"/>
                  </a:ext>
                </a:extLst>
              </a:tr>
              <a:tr h="34981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in 114,000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0.0001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059443"/>
                  </a:ext>
                </a:extLst>
              </a:tr>
              <a:tr h="34981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in 250 000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0.00008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796305"/>
                  </a:ext>
                </a:extLst>
              </a:tr>
              <a:tr h="34981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in 550,000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0.00005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404056"/>
                  </a:ext>
                </a:extLst>
              </a:tr>
              <a:tr h="34981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in 1,000,000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0.00004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92881"/>
                  </a:ext>
                </a:extLst>
              </a:tr>
              <a:tr h="39928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 in 2,640,000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0.0000246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46701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251288" y="2099585"/>
            <a:ext cx="3283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 allelic contribution = 4%</a:t>
            </a:r>
          </a:p>
          <a:p>
            <a:r>
              <a:rPr lang="en-US" dirty="0" smtClean="0"/>
              <a:t>Max genetic contribution =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914" y="6284723"/>
            <a:ext cx="4110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hlinkClick r:id="rId2"/>
              </a:rPr>
              <a:t>https://www.cardiodb.org/allelefrequencyapp/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3268750" y="2857684"/>
            <a:ext cx="755183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BA1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6742405" y="2921334"/>
            <a:ext cx="558047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BS1</a:t>
            </a:r>
            <a:endParaRPr 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8723719" y="5439421"/>
            <a:ext cx="662808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PM2</a:t>
            </a:r>
            <a:endParaRPr lang="en-US" sz="1400" dirty="0"/>
          </a:p>
        </p:txBody>
      </p:sp>
      <p:sp>
        <p:nvSpPr>
          <p:cNvPr id="23" name="Rectangle 22"/>
          <p:cNvSpPr/>
          <p:nvPr/>
        </p:nvSpPr>
        <p:spPr>
          <a:xfrm>
            <a:off x="2209127" y="2882316"/>
            <a:ext cx="951787" cy="33704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721198" y="3215127"/>
            <a:ext cx="951787" cy="33704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669515" y="5453051"/>
            <a:ext cx="951787" cy="33704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499</Words>
  <Application>Microsoft Office PowerPoint</Application>
  <PresentationFormat>Widescreen</PresentationFormat>
  <Paragraphs>108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GAMT allele frequency thresholds</vt:lpstr>
      <vt:lpstr>Prevalence of GAMT deficiency</vt:lpstr>
      <vt:lpstr>PowerPoint Presentation</vt:lpstr>
      <vt:lpstr>Specifying allele frequency rules</vt:lpstr>
      <vt:lpstr>Calculations for GAMT </vt:lpstr>
    </vt:vector>
  </TitlesOfParts>
  <Company>UNC Chapel 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Allele frequency rules</dc:title>
  <dc:creator>Jenny Goldstein</dc:creator>
  <cp:lastModifiedBy>Goldstein, Jenny</cp:lastModifiedBy>
  <cp:revision>57</cp:revision>
  <dcterms:created xsi:type="dcterms:W3CDTF">2019-02-14T02:54:28Z</dcterms:created>
  <dcterms:modified xsi:type="dcterms:W3CDTF">2021-01-12T19:31:03Z</dcterms:modified>
</cp:coreProperties>
</file>