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59" r:id="rId1"/>
  </p:sldMasterIdLst>
  <p:notesMasterIdLst>
    <p:notesMasterId r:id="rId3"/>
  </p:notesMasterIdLst>
  <p:sldIdLst>
    <p:sldId id="256" r:id="rId2"/>
  </p:sldIdLst>
  <p:sldSz cx="12344400" cy="150876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872">
          <p15:clr>
            <a:srgbClr val="A4A3A4"/>
          </p15:clr>
        </p15:guide>
        <p15:guide id="2" pos="3888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1364"/>
    <p:restoredTop sz="79116"/>
  </p:normalViewPr>
  <p:slideViewPr>
    <p:cSldViewPr snapToGrid="0">
      <p:cViewPr>
        <p:scale>
          <a:sx n="80" d="100"/>
          <a:sy n="80" d="100"/>
        </p:scale>
        <p:origin x="656" y="-3712"/>
      </p:cViewPr>
      <p:guideLst>
        <p:guide orient="horz" pos="1872"/>
        <p:guide pos="3888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2026544" y="685800"/>
            <a:ext cx="28056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2027238" y="685800"/>
            <a:ext cx="2805112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228600" lvl="0" indent="-228600" algn="l" rtl="0">
              <a:spcBef>
                <a:spcPts val="0"/>
              </a:spcBef>
              <a:spcAft>
                <a:spcPts val="0"/>
              </a:spcAft>
              <a:buAutoNum type="arabicParenR"/>
            </a:pPr>
            <a:r>
              <a:rPr lang="en-US" dirty="0"/>
              <a:t>Biologically-relevant transcript:  NM_006922.4 (MANE Select)</a:t>
            </a:r>
          </a:p>
          <a:p>
            <a:pPr marL="228600" lvl="0" indent="-228600" algn="l" rtl="0">
              <a:spcBef>
                <a:spcPts val="0"/>
              </a:spcBef>
              <a:spcAft>
                <a:spcPts val="0"/>
              </a:spcAft>
              <a:buAutoNum type="arabicParenR"/>
            </a:pPr>
            <a:r>
              <a:rPr lang="en-US" dirty="0"/>
              <a:t>Truncated/altered region critical to protein function defined as either a) presence of non-truncating, pathogenic (per these criteria) variants or b) located within a Pathogenic Enriched Region defined by PM1. </a:t>
            </a:r>
          </a:p>
          <a:p>
            <a:pPr marL="228600" lvl="0" indent="-228600" algn="l" rtl="0">
              <a:spcBef>
                <a:spcPts val="0"/>
              </a:spcBef>
              <a:spcAft>
                <a:spcPts val="0"/>
              </a:spcAft>
              <a:buAutoNum type="arabicParenR"/>
            </a:pPr>
            <a:r>
              <a:rPr lang="en-US" dirty="0"/>
              <a:t>In-Frame coding exons: 1, 3, 4, 6, 9, 10, 11, 14, 15, 16, 19, 20, 21, 22, 23, 24; Out-of-frame coding exons: 2, 5, 7, 8, 12, 13, 17, 18, 25, 26.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420806" y="2184087"/>
            <a:ext cx="11502900" cy="6021000"/>
          </a:xfrm>
          <a:prstGeom prst="rect">
            <a:avLst/>
          </a:prstGeom>
        </p:spPr>
        <p:txBody>
          <a:bodyPr spcFirstLastPara="1" wrap="square" lIns="172700" tIns="172700" rIns="172700" bIns="172700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9800"/>
              <a:buNone/>
              <a:defRPr sz="9800"/>
            </a:lvl1pPr>
            <a:lvl2pPr lvl="1" algn="ctr">
              <a:spcBef>
                <a:spcPts val="0"/>
              </a:spcBef>
              <a:spcAft>
                <a:spcPts val="0"/>
              </a:spcAft>
              <a:buSzPts val="9800"/>
              <a:buNone/>
              <a:defRPr sz="9800"/>
            </a:lvl2pPr>
            <a:lvl3pPr lvl="2" algn="ctr">
              <a:spcBef>
                <a:spcPts val="0"/>
              </a:spcBef>
              <a:spcAft>
                <a:spcPts val="0"/>
              </a:spcAft>
              <a:buSzPts val="9800"/>
              <a:buNone/>
              <a:defRPr sz="9800"/>
            </a:lvl3pPr>
            <a:lvl4pPr lvl="3" algn="ctr">
              <a:spcBef>
                <a:spcPts val="0"/>
              </a:spcBef>
              <a:spcAft>
                <a:spcPts val="0"/>
              </a:spcAft>
              <a:buSzPts val="9800"/>
              <a:buNone/>
              <a:defRPr sz="9800"/>
            </a:lvl4pPr>
            <a:lvl5pPr lvl="4" algn="ctr">
              <a:spcBef>
                <a:spcPts val="0"/>
              </a:spcBef>
              <a:spcAft>
                <a:spcPts val="0"/>
              </a:spcAft>
              <a:buSzPts val="9800"/>
              <a:buNone/>
              <a:defRPr sz="9800"/>
            </a:lvl5pPr>
            <a:lvl6pPr lvl="5" algn="ctr">
              <a:spcBef>
                <a:spcPts val="0"/>
              </a:spcBef>
              <a:spcAft>
                <a:spcPts val="0"/>
              </a:spcAft>
              <a:buSzPts val="9800"/>
              <a:buNone/>
              <a:defRPr sz="9800"/>
            </a:lvl6pPr>
            <a:lvl7pPr lvl="6" algn="ctr">
              <a:spcBef>
                <a:spcPts val="0"/>
              </a:spcBef>
              <a:spcAft>
                <a:spcPts val="0"/>
              </a:spcAft>
              <a:buSzPts val="9800"/>
              <a:buNone/>
              <a:defRPr sz="9800"/>
            </a:lvl7pPr>
            <a:lvl8pPr lvl="7" algn="ctr">
              <a:spcBef>
                <a:spcPts val="0"/>
              </a:spcBef>
              <a:spcAft>
                <a:spcPts val="0"/>
              </a:spcAft>
              <a:buSzPts val="9800"/>
              <a:buNone/>
              <a:defRPr sz="9800"/>
            </a:lvl8pPr>
            <a:lvl9pPr lvl="8" algn="ctr">
              <a:spcBef>
                <a:spcPts val="0"/>
              </a:spcBef>
              <a:spcAft>
                <a:spcPts val="0"/>
              </a:spcAft>
              <a:buSzPts val="9800"/>
              <a:buNone/>
              <a:defRPr sz="98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420795" y="8313433"/>
            <a:ext cx="11502900" cy="2325000"/>
          </a:xfrm>
          <a:prstGeom prst="rect">
            <a:avLst/>
          </a:prstGeom>
        </p:spPr>
        <p:txBody>
          <a:bodyPr spcFirstLastPara="1" wrap="square" lIns="172700" tIns="172700" rIns="172700" bIns="172700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300"/>
              <a:buNone/>
              <a:defRPr sz="53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300"/>
              <a:buNone/>
              <a:defRPr sz="53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300"/>
              <a:buNone/>
              <a:defRPr sz="53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300"/>
              <a:buNone/>
              <a:defRPr sz="53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300"/>
              <a:buNone/>
              <a:defRPr sz="53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300"/>
              <a:buNone/>
              <a:defRPr sz="53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300"/>
              <a:buNone/>
              <a:defRPr sz="53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300"/>
              <a:buNone/>
              <a:defRPr sz="53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300"/>
              <a:buNone/>
              <a:defRPr sz="53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11437818" y="13678769"/>
            <a:ext cx="740700" cy="1154700"/>
          </a:xfrm>
          <a:prstGeom prst="rect">
            <a:avLst/>
          </a:prstGeom>
        </p:spPr>
        <p:txBody>
          <a:bodyPr spcFirstLastPara="1" wrap="square" lIns="172700" tIns="172700" rIns="172700" bIns="172700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420795" y="6309160"/>
            <a:ext cx="11502900" cy="2469300"/>
          </a:xfrm>
          <a:prstGeom prst="rect">
            <a:avLst/>
          </a:prstGeom>
        </p:spPr>
        <p:txBody>
          <a:bodyPr spcFirstLastPara="1" wrap="square" lIns="172700" tIns="172700" rIns="172700" bIns="172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6800"/>
              <a:buNone/>
              <a:defRPr sz="6800"/>
            </a:lvl1pPr>
            <a:lvl2pPr lvl="1" algn="ctr">
              <a:spcBef>
                <a:spcPts val="0"/>
              </a:spcBef>
              <a:spcAft>
                <a:spcPts val="0"/>
              </a:spcAft>
              <a:buSzPts val="6800"/>
              <a:buNone/>
              <a:defRPr sz="6800"/>
            </a:lvl2pPr>
            <a:lvl3pPr lvl="2" algn="ctr">
              <a:spcBef>
                <a:spcPts val="0"/>
              </a:spcBef>
              <a:spcAft>
                <a:spcPts val="0"/>
              </a:spcAft>
              <a:buSzPts val="6800"/>
              <a:buNone/>
              <a:defRPr sz="6800"/>
            </a:lvl3pPr>
            <a:lvl4pPr lvl="3" algn="ctr">
              <a:spcBef>
                <a:spcPts val="0"/>
              </a:spcBef>
              <a:spcAft>
                <a:spcPts val="0"/>
              </a:spcAft>
              <a:buSzPts val="6800"/>
              <a:buNone/>
              <a:defRPr sz="6800"/>
            </a:lvl4pPr>
            <a:lvl5pPr lvl="4" algn="ctr">
              <a:spcBef>
                <a:spcPts val="0"/>
              </a:spcBef>
              <a:spcAft>
                <a:spcPts val="0"/>
              </a:spcAft>
              <a:buSzPts val="6800"/>
              <a:buNone/>
              <a:defRPr sz="6800"/>
            </a:lvl5pPr>
            <a:lvl6pPr lvl="5" algn="ctr">
              <a:spcBef>
                <a:spcPts val="0"/>
              </a:spcBef>
              <a:spcAft>
                <a:spcPts val="0"/>
              </a:spcAft>
              <a:buSzPts val="6800"/>
              <a:buNone/>
              <a:defRPr sz="6800"/>
            </a:lvl6pPr>
            <a:lvl7pPr lvl="6" algn="ctr">
              <a:spcBef>
                <a:spcPts val="0"/>
              </a:spcBef>
              <a:spcAft>
                <a:spcPts val="0"/>
              </a:spcAft>
              <a:buSzPts val="6800"/>
              <a:buNone/>
              <a:defRPr sz="6800"/>
            </a:lvl7pPr>
            <a:lvl8pPr lvl="7" algn="ctr">
              <a:spcBef>
                <a:spcPts val="0"/>
              </a:spcBef>
              <a:spcAft>
                <a:spcPts val="0"/>
              </a:spcAft>
              <a:buSzPts val="6800"/>
              <a:buNone/>
              <a:defRPr sz="6800"/>
            </a:lvl8pPr>
            <a:lvl9pPr lvl="8" algn="ctr">
              <a:spcBef>
                <a:spcPts val="0"/>
              </a:spcBef>
              <a:spcAft>
                <a:spcPts val="0"/>
              </a:spcAft>
              <a:buSzPts val="6800"/>
              <a:buNone/>
              <a:defRPr sz="68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11437818" y="13678769"/>
            <a:ext cx="740700" cy="1154700"/>
          </a:xfrm>
          <a:prstGeom prst="rect">
            <a:avLst/>
          </a:prstGeom>
        </p:spPr>
        <p:txBody>
          <a:bodyPr spcFirstLastPara="1" wrap="square" lIns="172700" tIns="172700" rIns="172700" bIns="172700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420795" y="1305407"/>
            <a:ext cx="11502900" cy="1680000"/>
          </a:xfrm>
          <a:prstGeom prst="rect">
            <a:avLst/>
          </a:prstGeom>
        </p:spPr>
        <p:txBody>
          <a:bodyPr spcFirstLastPara="1" wrap="square" lIns="172700" tIns="172700" rIns="172700" bIns="17270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53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53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53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53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53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53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53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53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53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420795" y="3380593"/>
            <a:ext cx="11502900" cy="10021500"/>
          </a:xfrm>
          <a:prstGeom prst="rect">
            <a:avLst/>
          </a:prstGeom>
        </p:spPr>
        <p:txBody>
          <a:bodyPr spcFirstLastPara="1" wrap="square" lIns="172700" tIns="172700" rIns="172700" bIns="172700" anchor="t" anchorCtr="0">
            <a:noAutofit/>
          </a:bodyPr>
          <a:lstStyle>
            <a:lvl1pPr marL="457200" lvl="0" indent="-444500">
              <a:spcBef>
                <a:spcPts val="0"/>
              </a:spcBef>
              <a:spcAft>
                <a:spcPts val="0"/>
              </a:spcAft>
              <a:buSzPts val="3400"/>
              <a:buChar char="●"/>
              <a:defRPr/>
            </a:lvl1pPr>
            <a:lvl2pPr marL="914400" lvl="1" indent="-393700">
              <a:spcBef>
                <a:spcPts val="3000"/>
              </a:spcBef>
              <a:spcAft>
                <a:spcPts val="0"/>
              </a:spcAft>
              <a:buSzPts val="2600"/>
              <a:buChar char="○"/>
              <a:defRPr/>
            </a:lvl2pPr>
            <a:lvl3pPr marL="1371600" lvl="2" indent="-393700">
              <a:spcBef>
                <a:spcPts val="3000"/>
              </a:spcBef>
              <a:spcAft>
                <a:spcPts val="0"/>
              </a:spcAft>
              <a:buSzPts val="2600"/>
              <a:buChar char="■"/>
              <a:defRPr/>
            </a:lvl3pPr>
            <a:lvl4pPr marL="1828800" lvl="3" indent="-393700">
              <a:spcBef>
                <a:spcPts val="3000"/>
              </a:spcBef>
              <a:spcAft>
                <a:spcPts val="0"/>
              </a:spcAft>
              <a:buSzPts val="2600"/>
              <a:buChar char="●"/>
              <a:defRPr/>
            </a:lvl4pPr>
            <a:lvl5pPr marL="2286000" lvl="4" indent="-393700">
              <a:spcBef>
                <a:spcPts val="3000"/>
              </a:spcBef>
              <a:spcAft>
                <a:spcPts val="0"/>
              </a:spcAft>
              <a:buSzPts val="2600"/>
              <a:buChar char="○"/>
              <a:defRPr/>
            </a:lvl5pPr>
            <a:lvl6pPr marL="2743200" lvl="5" indent="-393700">
              <a:spcBef>
                <a:spcPts val="3000"/>
              </a:spcBef>
              <a:spcAft>
                <a:spcPts val="0"/>
              </a:spcAft>
              <a:buSzPts val="2600"/>
              <a:buChar char="■"/>
              <a:defRPr/>
            </a:lvl6pPr>
            <a:lvl7pPr marL="3200400" lvl="6" indent="-393700">
              <a:spcBef>
                <a:spcPts val="3000"/>
              </a:spcBef>
              <a:spcAft>
                <a:spcPts val="0"/>
              </a:spcAft>
              <a:buSzPts val="2600"/>
              <a:buChar char="●"/>
              <a:defRPr/>
            </a:lvl7pPr>
            <a:lvl8pPr marL="3657600" lvl="7" indent="-393700">
              <a:spcBef>
                <a:spcPts val="3000"/>
              </a:spcBef>
              <a:spcAft>
                <a:spcPts val="0"/>
              </a:spcAft>
              <a:buSzPts val="2600"/>
              <a:buChar char="○"/>
              <a:defRPr/>
            </a:lvl8pPr>
            <a:lvl9pPr marL="4114800" lvl="8" indent="-393700">
              <a:spcBef>
                <a:spcPts val="3000"/>
              </a:spcBef>
              <a:spcAft>
                <a:spcPts val="3000"/>
              </a:spcAft>
              <a:buSzPts val="26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11437818" y="13678769"/>
            <a:ext cx="740700" cy="1154700"/>
          </a:xfrm>
          <a:prstGeom prst="rect">
            <a:avLst/>
          </a:prstGeom>
        </p:spPr>
        <p:txBody>
          <a:bodyPr spcFirstLastPara="1" wrap="square" lIns="172700" tIns="172700" rIns="172700" bIns="172700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420795" y="1305407"/>
            <a:ext cx="11502900" cy="1680000"/>
          </a:xfrm>
          <a:prstGeom prst="rect">
            <a:avLst/>
          </a:prstGeom>
        </p:spPr>
        <p:txBody>
          <a:bodyPr spcFirstLastPara="1" wrap="square" lIns="172700" tIns="172700" rIns="172700" bIns="17270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53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53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53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53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53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53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53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53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53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420795" y="3380593"/>
            <a:ext cx="5399700" cy="10021500"/>
          </a:xfrm>
          <a:prstGeom prst="rect">
            <a:avLst/>
          </a:prstGeom>
        </p:spPr>
        <p:txBody>
          <a:bodyPr spcFirstLastPara="1" wrap="square" lIns="172700" tIns="172700" rIns="172700" bIns="172700" anchor="t" anchorCtr="0">
            <a:noAutofit/>
          </a:bodyPr>
          <a:lstStyle>
            <a:lvl1pPr marL="457200" lvl="0" indent="-393700">
              <a:spcBef>
                <a:spcPts val="0"/>
              </a:spcBef>
              <a:spcAft>
                <a:spcPts val="0"/>
              </a:spcAft>
              <a:buSzPts val="2600"/>
              <a:buChar char="●"/>
              <a:defRPr sz="2600"/>
            </a:lvl1pPr>
            <a:lvl2pPr marL="914400" lvl="1" indent="-374650">
              <a:spcBef>
                <a:spcPts val="3000"/>
              </a:spcBef>
              <a:spcAft>
                <a:spcPts val="0"/>
              </a:spcAft>
              <a:buSzPts val="2300"/>
              <a:buChar char="○"/>
              <a:defRPr sz="2300"/>
            </a:lvl2pPr>
            <a:lvl3pPr marL="1371600" lvl="2" indent="-374650">
              <a:spcBef>
                <a:spcPts val="3000"/>
              </a:spcBef>
              <a:spcAft>
                <a:spcPts val="0"/>
              </a:spcAft>
              <a:buSzPts val="2300"/>
              <a:buChar char="■"/>
              <a:defRPr sz="2300"/>
            </a:lvl3pPr>
            <a:lvl4pPr marL="1828800" lvl="3" indent="-374650">
              <a:spcBef>
                <a:spcPts val="3000"/>
              </a:spcBef>
              <a:spcAft>
                <a:spcPts val="0"/>
              </a:spcAft>
              <a:buSzPts val="2300"/>
              <a:buChar char="●"/>
              <a:defRPr sz="2300"/>
            </a:lvl4pPr>
            <a:lvl5pPr marL="2286000" lvl="4" indent="-374650">
              <a:spcBef>
                <a:spcPts val="3000"/>
              </a:spcBef>
              <a:spcAft>
                <a:spcPts val="0"/>
              </a:spcAft>
              <a:buSzPts val="2300"/>
              <a:buChar char="○"/>
              <a:defRPr sz="2300"/>
            </a:lvl5pPr>
            <a:lvl6pPr marL="2743200" lvl="5" indent="-374650">
              <a:spcBef>
                <a:spcPts val="3000"/>
              </a:spcBef>
              <a:spcAft>
                <a:spcPts val="0"/>
              </a:spcAft>
              <a:buSzPts val="2300"/>
              <a:buChar char="■"/>
              <a:defRPr sz="2300"/>
            </a:lvl6pPr>
            <a:lvl7pPr marL="3200400" lvl="6" indent="-374650">
              <a:spcBef>
                <a:spcPts val="3000"/>
              </a:spcBef>
              <a:spcAft>
                <a:spcPts val="0"/>
              </a:spcAft>
              <a:buSzPts val="2300"/>
              <a:buChar char="●"/>
              <a:defRPr sz="2300"/>
            </a:lvl7pPr>
            <a:lvl8pPr marL="3657600" lvl="7" indent="-374650">
              <a:spcBef>
                <a:spcPts val="3000"/>
              </a:spcBef>
              <a:spcAft>
                <a:spcPts val="0"/>
              </a:spcAft>
              <a:buSzPts val="2300"/>
              <a:buChar char="○"/>
              <a:defRPr sz="2300"/>
            </a:lvl8pPr>
            <a:lvl9pPr marL="4114800" lvl="8" indent="-374650">
              <a:spcBef>
                <a:spcPts val="3000"/>
              </a:spcBef>
              <a:spcAft>
                <a:spcPts val="3000"/>
              </a:spcAft>
              <a:buSzPts val="2300"/>
              <a:buChar char="■"/>
              <a:defRPr sz="23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6523740" y="3380593"/>
            <a:ext cx="5399700" cy="10021500"/>
          </a:xfrm>
          <a:prstGeom prst="rect">
            <a:avLst/>
          </a:prstGeom>
        </p:spPr>
        <p:txBody>
          <a:bodyPr spcFirstLastPara="1" wrap="square" lIns="172700" tIns="172700" rIns="172700" bIns="172700" anchor="t" anchorCtr="0">
            <a:noAutofit/>
          </a:bodyPr>
          <a:lstStyle>
            <a:lvl1pPr marL="457200" lvl="0" indent="-393700">
              <a:spcBef>
                <a:spcPts val="0"/>
              </a:spcBef>
              <a:spcAft>
                <a:spcPts val="0"/>
              </a:spcAft>
              <a:buSzPts val="2600"/>
              <a:buChar char="●"/>
              <a:defRPr sz="2600"/>
            </a:lvl1pPr>
            <a:lvl2pPr marL="914400" lvl="1" indent="-374650">
              <a:spcBef>
                <a:spcPts val="3000"/>
              </a:spcBef>
              <a:spcAft>
                <a:spcPts val="0"/>
              </a:spcAft>
              <a:buSzPts val="2300"/>
              <a:buChar char="○"/>
              <a:defRPr sz="2300"/>
            </a:lvl2pPr>
            <a:lvl3pPr marL="1371600" lvl="2" indent="-374650">
              <a:spcBef>
                <a:spcPts val="3000"/>
              </a:spcBef>
              <a:spcAft>
                <a:spcPts val="0"/>
              </a:spcAft>
              <a:buSzPts val="2300"/>
              <a:buChar char="■"/>
              <a:defRPr sz="2300"/>
            </a:lvl3pPr>
            <a:lvl4pPr marL="1828800" lvl="3" indent="-374650">
              <a:spcBef>
                <a:spcPts val="3000"/>
              </a:spcBef>
              <a:spcAft>
                <a:spcPts val="0"/>
              </a:spcAft>
              <a:buSzPts val="2300"/>
              <a:buChar char="●"/>
              <a:defRPr sz="2300"/>
            </a:lvl4pPr>
            <a:lvl5pPr marL="2286000" lvl="4" indent="-374650">
              <a:spcBef>
                <a:spcPts val="3000"/>
              </a:spcBef>
              <a:spcAft>
                <a:spcPts val="0"/>
              </a:spcAft>
              <a:buSzPts val="2300"/>
              <a:buChar char="○"/>
              <a:defRPr sz="2300"/>
            </a:lvl5pPr>
            <a:lvl6pPr marL="2743200" lvl="5" indent="-374650">
              <a:spcBef>
                <a:spcPts val="3000"/>
              </a:spcBef>
              <a:spcAft>
                <a:spcPts val="0"/>
              </a:spcAft>
              <a:buSzPts val="2300"/>
              <a:buChar char="■"/>
              <a:defRPr sz="2300"/>
            </a:lvl6pPr>
            <a:lvl7pPr marL="3200400" lvl="6" indent="-374650">
              <a:spcBef>
                <a:spcPts val="3000"/>
              </a:spcBef>
              <a:spcAft>
                <a:spcPts val="0"/>
              </a:spcAft>
              <a:buSzPts val="2300"/>
              <a:buChar char="●"/>
              <a:defRPr sz="2300"/>
            </a:lvl7pPr>
            <a:lvl8pPr marL="3657600" lvl="7" indent="-374650">
              <a:spcBef>
                <a:spcPts val="3000"/>
              </a:spcBef>
              <a:spcAft>
                <a:spcPts val="0"/>
              </a:spcAft>
              <a:buSzPts val="2300"/>
              <a:buChar char="○"/>
              <a:defRPr sz="2300"/>
            </a:lvl8pPr>
            <a:lvl9pPr marL="4114800" lvl="8" indent="-374650">
              <a:spcBef>
                <a:spcPts val="3000"/>
              </a:spcBef>
              <a:spcAft>
                <a:spcPts val="3000"/>
              </a:spcAft>
              <a:buSzPts val="2300"/>
              <a:buChar char="■"/>
              <a:defRPr sz="23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11437818" y="13678769"/>
            <a:ext cx="740700" cy="1154700"/>
          </a:xfrm>
          <a:prstGeom prst="rect">
            <a:avLst/>
          </a:prstGeom>
        </p:spPr>
        <p:txBody>
          <a:bodyPr spcFirstLastPara="1" wrap="square" lIns="172700" tIns="172700" rIns="172700" bIns="172700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420795" y="1305407"/>
            <a:ext cx="11502900" cy="1680000"/>
          </a:xfrm>
          <a:prstGeom prst="rect">
            <a:avLst/>
          </a:prstGeom>
        </p:spPr>
        <p:txBody>
          <a:bodyPr spcFirstLastPara="1" wrap="square" lIns="172700" tIns="172700" rIns="172700" bIns="17270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53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53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53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53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53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53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53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53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53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11437818" y="13678769"/>
            <a:ext cx="740700" cy="1154700"/>
          </a:xfrm>
          <a:prstGeom prst="rect">
            <a:avLst/>
          </a:prstGeom>
        </p:spPr>
        <p:txBody>
          <a:bodyPr spcFirstLastPara="1" wrap="square" lIns="172700" tIns="172700" rIns="172700" bIns="172700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420795" y="1629760"/>
            <a:ext cx="3790800" cy="2216700"/>
          </a:xfrm>
          <a:prstGeom prst="rect">
            <a:avLst/>
          </a:prstGeom>
        </p:spPr>
        <p:txBody>
          <a:bodyPr spcFirstLastPara="1" wrap="square" lIns="172700" tIns="172700" rIns="172700" bIns="172700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2pPr>
            <a:lvl3pPr lvl="2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3pPr>
            <a:lvl4pPr lvl="3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4pPr>
            <a:lvl5pPr lvl="4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5pPr>
            <a:lvl6pPr lvl="5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6pPr>
            <a:lvl7pPr lvl="6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7pPr>
            <a:lvl8pPr lvl="7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8pPr>
            <a:lvl9pPr lvl="8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420795" y="4076160"/>
            <a:ext cx="3790800" cy="9326100"/>
          </a:xfrm>
          <a:prstGeom prst="rect">
            <a:avLst/>
          </a:prstGeom>
        </p:spPr>
        <p:txBody>
          <a:bodyPr spcFirstLastPara="1" wrap="square" lIns="172700" tIns="172700" rIns="172700" bIns="172700" anchor="t" anchorCtr="0">
            <a:noAutofit/>
          </a:bodyPr>
          <a:lstStyle>
            <a:lvl1pPr marL="457200" lvl="0" indent="-374650">
              <a:spcBef>
                <a:spcPts val="0"/>
              </a:spcBef>
              <a:spcAft>
                <a:spcPts val="0"/>
              </a:spcAft>
              <a:buSzPts val="2300"/>
              <a:buChar char="●"/>
              <a:defRPr sz="2300"/>
            </a:lvl1pPr>
            <a:lvl2pPr marL="914400" lvl="1" indent="-374650">
              <a:spcBef>
                <a:spcPts val="3000"/>
              </a:spcBef>
              <a:spcAft>
                <a:spcPts val="0"/>
              </a:spcAft>
              <a:buSzPts val="2300"/>
              <a:buChar char="○"/>
              <a:defRPr sz="2300"/>
            </a:lvl2pPr>
            <a:lvl3pPr marL="1371600" lvl="2" indent="-374650">
              <a:spcBef>
                <a:spcPts val="3000"/>
              </a:spcBef>
              <a:spcAft>
                <a:spcPts val="0"/>
              </a:spcAft>
              <a:buSzPts val="2300"/>
              <a:buChar char="■"/>
              <a:defRPr sz="2300"/>
            </a:lvl3pPr>
            <a:lvl4pPr marL="1828800" lvl="3" indent="-374650">
              <a:spcBef>
                <a:spcPts val="3000"/>
              </a:spcBef>
              <a:spcAft>
                <a:spcPts val="0"/>
              </a:spcAft>
              <a:buSzPts val="2300"/>
              <a:buChar char="●"/>
              <a:defRPr sz="2300"/>
            </a:lvl4pPr>
            <a:lvl5pPr marL="2286000" lvl="4" indent="-374650">
              <a:spcBef>
                <a:spcPts val="3000"/>
              </a:spcBef>
              <a:spcAft>
                <a:spcPts val="0"/>
              </a:spcAft>
              <a:buSzPts val="2300"/>
              <a:buChar char="○"/>
              <a:defRPr sz="2300"/>
            </a:lvl5pPr>
            <a:lvl6pPr marL="2743200" lvl="5" indent="-374650">
              <a:spcBef>
                <a:spcPts val="3000"/>
              </a:spcBef>
              <a:spcAft>
                <a:spcPts val="0"/>
              </a:spcAft>
              <a:buSzPts val="2300"/>
              <a:buChar char="■"/>
              <a:defRPr sz="2300"/>
            </a:lvl6pPr>
            <a:lvl7pPr marL="3200400" lvl="6" indent="-374650">
              <a:spcBef>
                <a:spcPts val="3000"/>
              </a:spcBef>
              <a:spcAft>
                <a:spcPts val="0"/>
              </a:spcAft>
              <a:buSzPts val="2300"/>
              <a:buChar char="●"/>
              <a:defRPr sz="2300"/>
            </a:lvl7pPr>
            <a:lvl8pPr marL="3657600" lvl="7" indent="-374650">
              <a:spcBef>
                <a:spcPts val="3000"/>
              </a:spcBef>
              <a:spcAft>
                <a:spcPts val="0"/>
              </a:spcAft>
              <a:buSzPts val="2300"/>
              <a:buChar char="○"/>
              <a:defRPr sz="2300"/>
            </a:lvl8pPr>
            <a:lvl9pPr marL="4114800" lvl="8" indent="-374650">
              <a:spcBef>
                <a:spcPts val="3000"/>
              </a:spcBef>
              <a:spcAft>
                <a:spcPts val="3000"/>
              </a:spcAft>
              <a:buSzPts val="2300"/>
              <a:buChar char="■"/>
              <a:defRPr sz="23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11437818" y="13678769"/>
            <a:ext cx="740700" cy="1154700"/>
          </a:xfrm>
          <a:prstGeom prst="rect">
            <a:avLst/>
          </a:prstGeom>
        </p:spPr>
        <p:txBody>
          <a:bodyPr spcFirstLastPara="1" wrap="square" lIns="172700" tIns="172700" rIns="172700" bIns="172700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661838" y="1320440"/>
            <a:ext cx="8596500" cy="11999700"/>
          </a:xfrm>
          <a:prstGeom prst="rect">
            <a:avLst/>
          </a:prstGeom>
        </p:spPr>
        <p:txBody>
          <a:bodyPr spcFirstLastPara="1" wrap="square" lIns="172700" tIns="172700" rIns="172700" bIns="172700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9100"/>
              <a:buNone/>
              <a:defRPr sz="9100"/>
            </a:lvl1pPr>
            <a:lvl2pPr lvl="1">
              <a:spcBef>
                <a:spcPts val="0"/>
              </a:spcBef>
              <a:spcAft>
                <a:spcPts val="0"/>
              </a:spcAft>
              <a:buSzPts val="9100"/>
              <a:buNone/>
              <a:defRPr sz="9100"/>
            </a:lvl2pPr>
            <a:lvl3pPr lvl="2">
              <a:spcBef>
                <a:spcPts val="0"/>
              </a:spcBef>
              <a:spcAft>
                <a:spcPts val="0"/>
              </a:spcAft>
              <a:buSzPts val="9100"/>
              <a:buNone/>
              <a:defRPr sz="9100"/>
            </a:lvl3pPr>
            <a:lvl4pPr lvl="3">
              <a:spcBef>
                <a:spcPts val="0"/>
              </a:spcBef>
              <a:spcAft>
                <a:spcPts val="0"/>
              </a:spcAft>
              <a:buSzPts val="9100"/>
              <a:buNone/>
              <a:defRPr sz="9100"/>
            </a:lvl4pPr>
            <a:lvl5pPr lvl="4">
              <a:spcBef>
                <a:spcPts val="0"/>
              </a:spcBef>
              <a:spcAft>
                <a:spcPts val="0"/>
              </a:spcAft>
              <a:buSzPts val="9100"/>
              <a:buNone/>
              <a:defRPr sz="9100"/>
            </a:lvl5pPr>
            <a:lvl6pPr lvl="5">
              <a:spcBef>
                <a:spcPts val="0"/>
              </a:spcBef>
              <a:spcAft>
                <a:spcPts val="0"/>
              </a:spcAft>
              <a:buSzPts val="9100"/>
              <a:buNone/>
              <a:defRPr sz="9100"/>
            </a:lvl6pPr>
            <a:lvl7pPr lvl="6">
              <a:spcBef>
                <a:spcPts val="0"/>
              </a:spcBef>
              <a:spcAft>
                <a:spcPts val="0"/>
              </a:spcAft>
              <a:buSzPts val="9100"/>
              <a:buNone/>
              <a:defRPr sz="9100"/>
            </a:lvl7pPr>
            <a:lvl8pPr lvl="7">
              <a:spcBef>
                <a:spcPts val="0"/>
              </a:spcBef>
              <a:spcAft>
                <a:spcPts val="0"/>
              </a:spcAft>
              <a:buSzPts val="9100"/>
              <a:buNone/>
              <a:defRPr sz="9100"/>
            </a:lvl8pPr>
            <a:lvl9pPr lvl="8">
              <a:spcBef>
                <a:spcPts val="0"/>
              </a:spcBef>
              <a:spcAft>
                <a:spcPts val="0"/>
              </a:spcAft>
              <a:buSzPts val="9100"/>
              <a:buNone/>
              <a:defRPr sz="91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11437818" y="13678769"/>
            <a:ext cx="740700" cy="1154700"/>
          </a:xfrm>
          <a:prstGeom prst="rect">
            <a:avLst/>
          </a:prstGeom>
        </p:spPr>
        <p:txBody>
          <a:bodyPr spcFirstLastPara="1" wrap="square" lIns="172700" tIns="172700" rIns="172700" bIns="172700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6172200" y="-367"/>
            <a:ext cx="6172200" cy="150876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172700" tIns="172700" rIns="172700" bIns="172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358425" y="3617313"/>
            <a:ext cx="5460900" cy="4348200"/>
          </a:xfrm>
          <a:prstGeom prst="rect">
            <a:avLst/>
          </a:prstGeom>
        </p:spPr>
        <p:txBody>
          <a:bodyPr spcFirstLastPara="1" wrap="square" lIns="172700" tIns="172700" rIns="172700" bIns="172700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7900"/>
              <a:buNone/>
              <a:defRPr sz="7900"/>
            </a:lvl1pPr>
            <a:lvl2pPr lvl="1" algn="ctr">
              <a:spcBef>
                <a:spcPts val="0"/>
              </a:spcBef>
              <a:spcAft>
                <a:spcPts val="0"/>
              </a:spcAft>
              <a:buSzPts val="7900"/>
              <a:buNone/>
              <a:defRPr sz="7900"/>
            </a:lvl2pPr>
            <a:lvl3pPr lvl="2" algn="ctr">
              <a:spcBef>
                <a:spcPts val="0"/>
              </a:spcBef>
              <a:spcAft>
                <a:spcPts val="0"/>
              </a:spcAft>
              <a:buSzPts val="7900"/>
              <a:buNone/>
              <a:defRPr sz="7900"/>
            </a:lvl3pPr>
            <a:lvl4pPr lvl="3" algn="ctr">
              <a:spcBef>
                <a:spcPts val="0"/>
              </a:spcBef>
              <a:spcAft>
                <a:spcPts val="0"/>
              </a:spcAft>
              <a:buSzPts val="7900"/>
              <a:buNone/>
              <a:defRPr sz="7900"/>
            </a:lvl4pPr>
            <a:lvl5pPr lvl="4" algn="ctr">
              <a:spcBef>
                <a:spcPts val="0"/>
              </a:spcBef>
              <a:spcAft>
                <a:spcPts val="0"/>
              </a:spcAft>
              <a:buSzPts val="7900"/>
              <a:buNone/>
              <a:defRPr sz="7900"/>
            </a:lvl5pPr>
            <a:lvl6pPr lvl="5" algn="ctr">
              <a:spcBef>
                <a:spcPts val="0"/>
              </a:spcBef>
              <a:spcAft>
                <a:spcPts val="0"/>
              </a:spcAft>
              <a:buSzPts val="7900"/>
              <a:buNone/>
              <a:defRPr sz="7900"/>
            </a:lvl6pPr>
            <a:lvl7pPr lvl="6" algn="ctr">
              <a:spcBef>
                <a:spcPts val="0"/>
              </a:spcBef>
              <a:spcAft>
                <a:spcPts val="0"/>
              </a:spcAft>
              <a:buSzPts val="7900"/>
              <a:buNone/>
              <a:defRPr sz="7900"/>
            </a:lvl7pPr>
            <a:lvl8pPr lvl="7" algn="ctr">
              <a:spcBef>
                <a:spcPts val="0"/>
              </a:spcBef>
              <a:spcAft>
                <a:spcPts val="0"/>
              </a:spcAft>
              <a:buSzPts val="7900"/>
              <a:buNone/>
              <a:defRPr sz="7900"/>
            </a:lvl8pPr>
            <a:lvl9pPr lvl="8" algn="ctr">
              <a:spcBef>
                <a:spcPts val="0"/>
              </a:spcBef>
              <a:spcAft>
                <a:spcPts val="0"/>
              </a:spcAft>
              <a:buSzPts val="7900"/>
              <a:buNone/>
              <a:defRPr sz="79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358425" y="8222353"/>
            <a:ext cx="5460900" cy="3623100"/>
          </a:xfrm>
          <a:prstGeom prst="rect">
            <a:avLst/>
          </a:prstGeom>
        </p:spPr>
        <p:txBody>
          <a:bodyPr spcFirstLastPara="1" wrap="square" lIns="172700" tIns="172700" rIns="172700" bIns="172700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6668325" y="2123953"/>
            <a:ext cx="5180100" cy="10839000"/>
          </a:xfrm>
          <a:prstGeom prst="rect">
            <a:avLst/>
          </a:prstGeom>
        </p:spPr>
        <p:txBody>
          <a:bodyPr spcFirstLastPara="1" wrap="square" lIns="172700" tIns="172700" rIns="172700" bIns="172700" anchor="ctr" anchorCtr="0">
            <a:noAutofit/>
          </a:bodyPr>
          <a:lstStyle>
            <a:lvl1pPr marL="457200" lvl="0" indent="-444500">
              <a:spcBef>
                <a:spcPts val="0"/>
              </a:spcBef>
              <a:spcAft>
                <a:spcPts val="0"/>
              </a:spcAft>
              <a:buSzPts val="3400"/>
              <a:buChar char="●"/>
              <a:defRPr/>
            </a:lvl1pPr>
            <a:lvl2pPr marL="914400" lvl="1" indent="-393700">
              <a:spcBef>
                <a:spcPts val="3000"/>
              </a:spcBef>
              <a:spcAft>
                <a:spcPts val="0"/>
              </a:spcAft>
              <a:buSzPts val="2600"/>
              <a:buChar char="○"/>
              <a:defRPr/>
            </a:lvl2pPr>
            <a:lvl3pPr marL="1371600" lvl="2" indent="-393700">
              <a:spcBef>
                <a:spcPts val="3000"/>
              </a:spcBef>
              <a:spcAft>
                <a:spcPts val="0"/>
              </a:spcAft>
              <a:buSzPts val="2600"/>
              <a:buChar char="■"/>
              <a:defRPr/>
            </a:lvl3pPr>
            <a:lvl4pPr marL="1828800" lvl="3" indent="-393700">
              <a:spcBef>
                <a:spcPts val="3000"/>
              </a:spcBef>
              <a:spcAft>
                <a:spcPts val="0"/>
              </a:spcAft>
              <a:buSzPts val="2600"/>
              <a:buChar char="●"/>
              <a:defRPr/>
            </a:lvl4pPr>
            <a:lvl5pPr marL="2286000" lvl="4" indent="-393700">
              <a:spcBef>
                <a:spcPts val="3000"/>
              </a:spcBef>
              <a:spcAft>
                <a:spcPts val="0"/>
              </a:spcAft>
              <a:buSzPts val="2600"/>
              <a:buChar char="○"/>
              <a:defRPr/>
            </a:lvl5pPr>
            <a:lvl6pPr marL="2743200" lvl="5" indent="-393700">
              <a:spcBef>
                <a:spcPts val="3000"/>
              </a:spcBef>
              <a:spcAft>
                <a:spcPts val="0"/>
              </a:spcAft>
              <a:buSzPts val="2600"/>
              <a:buChar char="■"/>
              <a:defRPr/>
            </a:lvl6pPr>
            <a:lvl7pPr marL="3200400" lvl="6" indent="-393700">
              <a:spcBef>
                <a:spcPts val="3000"/>
              </a:spcBef>
              <a:spcAft>
                <a:spcPts val="0"/>
              </a:spcAft>
              <a:buSzPts val="2600"/>
              <a:buChar char="●"/>
              <a:defRPr/>
            </a:lvl7pPr>
            <a:lvl8pPr marL="3657600" lvl="7" indent="-393700">
              <a:spcBef>
                <a:spcPts val="3000"/>
              </a:spcBef>
              <a:spcAft>
                <a:spcPts val="0"/>
              </a:spcAft>
              <a:buSzPts val="2600"/>
              <a:buChar char="○"/>
              <a:defRPr/>
            </a:lvl8pPr>
            <a:lvl9pPr marL="4114800" lvl="8" indent="-393700">
              <a:spcBef>
                <a:spcPts val="3000"/>
              </a:spcBef>
              <a:spcAft>
                <a:spcPts val="3000"/>
              </a:spcAft>
              <a:buSzPts val="26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11437818" y="13678769"/>
            <a:ext cx="740700" cy="1154700"/>
          </a:xfrm>
          <a:prstGeom prst="rect">
            <a:avLst/>
          </a:prstGeom>
        </p:spPr>
        <p:txBody>
          <a:bodyPr spcFirstLastPara="1" wrap="square" lIns="172700" tIns="172700" rIns="172700" bIns="172700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420795" y="12409687"/>
            <a:ext cx="8098500" cy="1775100"/>
          </a:xfrm>
          <a:prstGeom prst="rect">
            <a:avLst/>
          </a:prstGeom>
        </p:spPr>
        <p:txBody>
          <a:bodyPr spcFirstLastPara="1" wrap="square" lIns="172700" tIns="172700" rIns="172700" bIns="172700" anchor="ctr" anchorCtr="0">
            <a:no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11437818" y="13678769"/>
            <a:ext cx="740700" cy="1154700"/>
          </a:xfrm>
          <a:prstGeom prst="rect">
            <a:avLst/>
          </a:prstGeom>
        </p:spPr>
        <p:txBody>
          <a:bodyPr spcFirstLastPara="1" wrap="square" lIns="172700" tIns="172700" rIns="172700" bIns="172700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420795" y="3244633"/>
            <a:ext cx="11502900" cy="5759400"/>
          </a:xfrm>
          <a:prstGeom prst="rect">
            <a:avLst/>
          </a:prstGeom>
        </p:spPr>
        <p:txBody>
          <a:bodyPr spcFirstLastPara="1" wrap="square" lIns="172700" tIns="172700" rIns="172700" bIns="172700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2700"/>
              <a:buNone/>
              <a:defRPr sz="22700"/>
            </a:lvl1pPr>
            <a:lvl2pPr lvl="1" algn="ctr">
              <a:spcBef>
                <a:spcPts val="0"/>
              </a:spcBef>
              <a:spcAft>
                <a:spcPts val="0"/>
              </a:spcAft>
              <a:buSzPts val="22700"/>
              <a:buNone/>
              <a:defRPr sz="22700"/>
            </a:lvl2pPr>
            <a:lvl3pPr lvl="2" algn="ctr">
              <a:spcBef>
                <a:spcPts val="0"/>
              </a:spcBef>
              <a:spcAft>
                <a:spcPts val="0"/>
              </a:spcAft>
              <a:buSzPts val="22700"/>
              <a:buNone/>
              <a:defRPr sz="22700"/>
            </a:lvl3pPr>
            <a:lvl4pPr lvl="3" algn="ctr">
              <a:spcBef>
                <a:spcPts val="0"/>
              </a:spcBef>
              <a:spcAft>
                <a:spcPts val="0"/>
              </a:spcAft>
              <a:buSzPts val="22700"/>
              <a:buNone/>
              <a:defRPr sz="22700"/>
            </a:lvl4pPr>
            <a:lvl5pPr lvl="4" algn="ctr">
              <a:spcBef>
                <a:spcPts val="0"/>
              </a:spcBef>
              <a:spcAft>
                <a:spcPts val="0"/>
              </a:spcAft>
              <a:buSzPts val="22700"/>
              <a:buNone/>
              <a:defRPr sz="22700"/>
            </a:lvl5pPr>
            <a:lvl6pPr lvl="5" algn="ctr">
              <a:spcBef>
                <a:spcPts val="0"/>
              </a:spcBef>
              <a:spcAft>
                <a:spcPts val="0"/>
              </a:spcAft>
              <a:buSzPts val="22700"/>
              <a:buNone/>
              <a:defRPr sz="22700"/>
            </a:lvl6pPr>
            <a:lvl7pPr lvl="6" algn="ctr">
              <a:spcBef>
                <a:spcPts val="0"/>
              </a:spcBef>
              <a:spcAft>
                <a:spcPts val="0"/>
              </a:spcAft>
              <a:buSzPts val="22700"/>
              <a:buNone/>
              <a:defRPr sz="22700"/>
            </a:lvl7pPr>
            <a:lvl8pPr lvl="7" algn="ctr">
              <a:spcBef>
                <a:spcPts val="0"/>
              </a:spcBef>
              <a:spcAft>
                <a:spcPts val="0"/>
              </a:spcAft>
              <a:buSzPts val="22700"/>
              <a:buNone/>
              <a:defRPr sz="22700"/>
            </a:lvl8pPr>
            <a:lvl9pPr lvl="8" algn="ctr">
              <a:spcBef>
                <a:spcPts val="0"/>
              </a:spcBef>
              <a:spcAft>
                <a:spcPts val="0"/>
              </a:spcAft>
              <a:buSzPts val="22700"/>
              <a:buNone/>
              <a:defRPr sz="227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420795" y="9246527"/>
            <a:ext cx="11502900" cy="3815700"/>
          </a:xfrm>
          <a:prstGeom prst="rect">
            <a:avLst/>
          </a:prstGeom>
        </p:spPr>
        <p:txBody>
          <a:bodyPr spcFirstLastPara="1" wrap="square" lIns="172700" tIns="172700" rIns="172700" bIns="172700" anchor="t" anchorCtr="0">
            <a:noAutofit/>
          </a:bodyPr>
          <a:lstStyle>
            <a:lvl1pPr marL="457200" lvl="0" indent="-444500" algn="ctr">
              <a:spcBef>
                <a:spcPts val="0"/>
              </a:spcBef>
              <a:spcAft>
                <a:spcPts val="0"/>
              </a:spcAft>
              <a:buSzPts val="3400"/>
              <a:buChar char="●"/>
              <a:defRPr/>
            </a:lvl1pPr>
            <a:lvl2pPr marL="914400" lvl="1" indent="-393700" algn="ctr">
              <a:spcBef>
                <a:spcPts val="3000"/>
              </a:spcBef>
              <a:spcAft>
                <a:spcPts val="0"/>
              </a:spcAft>
              <a:buSzPts val="2600"/>
              <a:buChar char="○"/>
              <a:defRPr/>
            </a:lvl2pPr>
            <a:lvl3pPr marL="1371600" lvl="2" indent="-393700" algn="ctr">
              <a:spcBef>
                <a:spcPts val="3000"/>
              </a:spcBef>
              <a:spcAft>
                <a:spcPts val="0"/>
              </a:spcAft>
              <a:buSzPts val="2600"/>
              <a:buChar char="■"/>
              <a:defRPr/>
            </a:lvl3pPr>
            <a:lvl4pPr marL="1828800" lvl="3" indent="-393700" algn="ctr">
              <a:spcBef>
                <a:spcPts val="3000"/>
              </a:spcBef>
              <a:spcAft>
                <a:spcPts val="0"/>
              </a:spcAft>
              <a:buSzPts val="2600"/>
              <a:buChar char="●"/>
              <a:defRPr/>
            </a:lvl4pPr>
            <a:lvl5pPr marL="2286000" lvl="4" indent="-393700" algn="ctr">
              <a:spcBef>
                <a:spcPts val="3000"/>
              </a:spcBef>
              <a:spcAft>
                <a:spcPts val="0"/>
              </a:spcAft>
              <a:buSzPts val="2600"/>
              <a:buChar char="○"/>
              <a:defRPr/>
            </a:lvl5pPr>
            <a:lvl6pPr marL="2743200" lvl="5" indent="-393700" algn="ctr">
              <a:spcBef>
                <a:spcPts val="3000"/>
              </a:spcBef>
              <a:spcAft>
                <a:spcPts val="0"/>
              </a:spcAft>
              <a:buSzPts val="2600"/>
              <a:buChar char="■"/>
              <a:defRPr/>
            </a:lvl6pPr>
            <a:lvl7pPr marL="3200400" lvl="6" indent="-393700" algn="ctr">
              <a:spcBef>
                <a:spcPts val="3000"/>
              </a:spcBef>
              <a:spcAft>
                <a:spcPts val="0"/>
              </a:spcAft>
              <a:buSzPts val="2600"/>
              <a:buChar char="●"/>
              <a:defRPr/>
            </a:lvl7pPr>
            <a:lvl8pPr marL="3657600" lvl="7" indent="-393700" algn="ctr">
              <a:spcBef>
                <a:spcPts val="3000"/>
              </a:spcBef>
              <a:spcAft>
                <a:spcPts val="0"/>
              </a:spcAft>
              <a:buSzPts val="2600"/>
              <a:buChar char="○"/>
              <a:defRPr/>
            </a:lvl8pPr>
            <a:lvl9pPr marL="4114800" lvl="8" indent="-393700" algn="ctr">
              <a:spcBef>
                <a:spcPts val="3000"/>
              </a:spcBef>
              <a:spcAft>
                <a:spcPts val="3000"/>
              </a:spcAft>
              <a:buSzPts val="26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11437818" y="13678769"/>
            <a:ext cx="740700" cy="1154700"/>
          </a:xfrm>
          <a:prstGeom prst="rect">
            <a:avLst/>
          </a:prstGeom>
        </p:spPr>
        <p:txBody>
          <a:bodyPr spcFirstLastPara="1" wrap="square" lIns="172700" tIns="172700" rIns="172700" bIns="172700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11437818" y="13678769"/>
            <a:ext cx="740700" cy="1154700"/>
          </a:xfrm>
          <a:prstGeom prst="rect">
            <a:avLst/>
          </a:prstGeom>
        </p:spPr>
        <p:txBody>
          <a:bodyPr spcFirstLastPara="1" wrap="square" lIns="172700" tIns="172700" rIns="172700" bIns="172700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420795" y="1305407"/>
            <a:ext cx="11502900" cy="168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72700" tIns="172700" rIns="172700" bIns="17270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300"/>
              <a:buNone/>
              <a:defRPr sz="53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300"/>
              <a:buNone/>
              <a:defRPr sz="53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300"/>
              <a:buNone/>
              <a:defRPr sz="53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300"/>
              <a:buNone/>
              <a:defRPr sz="53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300"/>
              <a:buNone/>
              <a:defRPr sz="53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300"/>
              <a:buNone/>
              <a:defRPr sz="53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300"/>
              <a:buNone/>
              <a:defRPr sz="53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300"/>
              <a:buNone/>
              <a:defRPr sz="53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300"/>
              <a:buNone/>
              <a:defRPr sz="53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20795" y="3380593"/>
            <a:ext cx="11502900" cy="1002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72700" tIns="172700" rIns="172700" bIns="172700" anchor="t" anchorCtr="0">
            <a:noAutofit/>
          </a:bodyPr>
          <a:lstStyle>
            <a:lvl1pPr marL="457200" lvl="0" indent="-444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400"/>
              <a:buChar char="●"/>
              <a:defRPr sz="3400">
                <a:solidFill>
                  <a:schemeClr val="dk2"/>
                </a:solidFill>
              </a:defRPr>
            </a:lvl1pPr>
            <a:lvl2pPr marL="914400" lvl="1" indent="-393700">
              <a:lnSpc>
                <a:spcPct val="115000"/>
              </a:lnSpc>
              <a:spcBef>
                <a:spcPts val="3000"/>
              </a:spcBef>
              <a:spcAft>
                <a:spcPts val="0"/>
              </a:spcAft>
              <a:buClr>
                <a:schemeClr val="dk2"/>
              </a:buClr>
              <a:buSzPts val="2600"/>
              <a:buChar char="○"/>
              <a:defRPr sz="2600">
                <a:solidFill>
                  <a:schemeClr val="dk2"/>
                </a:solidFill>
              </a:defRPr>
            </a:lvl2pPr>
            <a:lvl3pPr marL="1371600" lvl="2" indent="-393700">
              <a:lnSpc>
                <a:spcPct val="115000"/>
              </a:lnSpc>
              <a:spcBef>
                <a:spcPts val="3000"/>
              </a:spcBef>
              <a:spcAft>
                <a:spcPts val="0"/>
              </a:spcAft>
              <a:buClr>
                <a:schemeClr val="dk2"/>
              </a:buClr>
              <a:buSzPts val="2600"/>
              <a:buChar char="■"/>
              <a:defRPr sz="2600">
                <a:solidFill>
                  <a:schemeClr val="dk2"/>
                </a:solidFill>
              </a:defRPr>
            </a:lvl3pPr>
            <a:lvl4pPr marL="1828800" lvl="3" indent="-393700">
              <a:lnSpc>
                <a:spcPct val="115000"/>
              </a:lnSpc>
              <a:spcBef>
                <a:spcPts val="3000"/>
              </a:spcBef>
              <a:spcAft>
                <a:spcPts val="0"/>
              </a:spcAft>
              <a:buClr>
                <a:schemeClr val="dk2"/>
              </a:buClr>
              <a:buSzPts val="2600"/>
              <a:buChar char="●"/>
              <a:defRPr sz="2600">
                <a:solidFill>
                  <a:schemeClr val="dk2"/>
                </a:solidFill>
              </a:defRPr>
            </a:lvl4pPr>
            <a:lvl5pPr marL="2286000" lvl="4" indent="-393700">
              <a:lnSpc>
                <a:spcPct val="115000"/>
              </a:lnSpc>
              <a:spcBef>
                <a:spcPts val="3000"/>
              </a:spcBef>
              <a:spcAft>
                <a:spcPts val="0"/>
              </a:spcAft>
              <a:buClr>
                <a:schemeClr val="dk2"/>
              </a:buClr>
              <a:buSzPts val="2600"/>
              <a:buChar char="○"/>
              <a:defRPr sz="2600">
                <a:solidFill>
                  <a:schemeClr val="dk2"/>
                </a:solidFill>
              </a:defRPr>
            </a:lvl5pPr>
            <a:lvl6pPr marL="2743200" lvl="5" indent="-393700">
              <a:lnSpc>
                <a:spcPct val="115000"/>
              </a:lnSpc>
              <a:spcBef>
                <a:spcPts val="3000"/>
              </a:spcBef>
              <a:spcAft>
                <a:spcPts val="0"/>
              </a:spcAft>
              <a:buClr>
                <a:schemeClr val="dk2"/>
              </a:buClr>
              <a:buSzPts val="2600"/>
              <a:buChar char="■"/>
              <a:defRPr sz="2600">
                <a:solidFill>
                  <a:schemeClr val="dk2"/>
                </a:solidFill>
              </a:defRPr>
            </a:lvl6pPr>
            <a:lvl7pPr marL="3200400" lvl="6" indent="-393700">
              <a:lnSpc>
                <a:spcPct val="115000"/>
              </a:lnSpc>
              <a:spcBef>
                <a:spcPts val="3000"/>
              </a:spcBef>
              <a:spcAft>
                <a:spcPts val="0"/>
              </a:spcAft>
              <a:buClr>
                <a:schemeClr val="dk2"/>
              </a:buClr>
              <a:buSzPts val="2600"/>
              <a:buChar char="●"/>
              <a:defRPr sz="2600">
                <a:solidFill>
                  <a:schemeClr val="dk2"/>
                </a:solidFill>
              </a:defRPr>
            </a:lvl7pPr>
            <a:lvl8pPr marL="3657600" lvl="7" indent="-393700">
              <a:lnSpc>
                <a:spcPct val="115000"/>
              </a:lnSpc>
              <a:spcBef>
                <a:spcPts val="3000"/>
              </a:spcBef>
              <a:spcAft>
                <a:spcPts val="0"/>
              </a:spcAft>
              <a:buClr>
                <a:schemeClr val="dk2"/>
              </a:buClr>
              <a:buSzPts val="2600"/>
              <a:buChar char="○"/>
              <a:defRPr sz="2600">
                <a:solidFill>
                  <a:schemeClr val="dk2"/>
                </a:solidFill>
              </a:defRPr>
            </a:lvl8pPr>
            <a:lvl9pPr marL="4114800" lvl="8" indent="-393700">
              <a:lnSpc>
                <a:spcPct val="115000"/>
              </a:lnSpc>
              <a:spcBef>
                <a:spcPts val="3000"/>
              </a:spcBef>
              <a:spcAft>
                <a:spcPts val="3000"/>
              </a:spcAft>
              <a:buClr>
                <a:schemeClr val="dk2"/>
              </a:buClr>
              <a:buSzPts val="2600"/>
              <a:buChar char="■"/>
              <a:defRPr sz="26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11437818" y="13678769"/>
            <a:ext cx="740700" cy="115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72700" tIns="172700" rIns="172700" bIns="172700" anchor="ctr" anchorCtr="0">
            <a:noAutofit/>
          </a:bodyPr>
          <a:lstStyle>
            <a:lvl1pPr lvl="0" algn="r">
              <a:buNone/>
              <a:defRPr sz="1900">
                <a:solidFill>
                  <a:schemeClr val="dk2"/>
                </a:solidFill>
              </a:defRPr>
            </a:lvl1pPr>
            <a:lvl2pPr lvl="1" algn="r">
              <a:buNone/>
              <a:defRPr sz="1900">
                <a:solidFill>
                  <a:schemeClr val="dk2"/>
                </a:solidFill>
              </a:defRPr>
            </a:lvl2pPr>
            <a:lvl3pPr lvl="2" algn="r">
              <a:buNone/>
              <a:defRPr sz="1900">
                <a:solidFill>
                  <a:schemeClr val="dk2"/>
                </a:solidFill>
              </a:defRPr>
            </a:lvl3pPr>
            <a:lvl4pPr lvl="3" algn="r">
              <a:buNone/>
              <a:defRPr sz="1900">
                <a:solidFill>
                  <a:schemeClr val="dk2"/>
                </a:solidFill>
              </a:defRPr>
            </a:lvl4pPr>
            <a:lvl5pPr lvl="4" algn="r">
              <a:buNone/>
              <a:defRPr sz="1900">
                <a:solidFill>
                  <a:schemeClr val="dk2"/>
                </a:solidFill>
              </a:defRPr>
            </a:lvl5pPr>
            <a:lvl6pPr lvl="5" algn="r">
              <a:buNone/>
              <a:defRPr sz="1900">
                <a:solidFill>
                  <a:schemeClr val="dk2"/>
                </a:solidFill>
              </a:defRPr>
            </a:lvl6pPr>
            <a:lvl7pPr lvl="6" algn="r">
              <a:buNone/>
              <a:defRPr sz="1900">
                <a:solidFill>
                  <a:schemeClr val="dk2"/>
                </a:solidFill>
              </a:defRPr>
            </a:lvl7pPr>
            <a:lvl8pPr lvl="7" algn="r">
              <a:buNone/>
              <a:defRPr sz="1900">
                <a:solidFill>
                  <a:schemeClr val="dk2"/>
                </a:solidFill>
              </a:defRPr>
            </a:lvl8pPr>
            <a:lvl9pPr lvl="8" algn="r">
              <a:buNone/>
              <a:defRPr sz="19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/>
        </p:nvSpPr>
        <p:spPr>
          <a:xfrm>
            <a:off x="80325" y="225673"/>
            <a:ext cx="1105800" cy="28197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b="1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Nonsense or Frameshift</a:t>
            </a:r>
            <a:endParaRPr b="1"/>
          </a:p>
        </p:txBody>
      </p:sp>
      <p:sp>
        <p:nvSpPr>
          <p:cNvPr id="55" name="Google Shape;55;p13"/>
          <p:cNvSpPr/>
          <p:nvPr/>
        </p:nvSpPr>
        <p:spPr>
          <a:xfrm>
            <a:off x="1664575" y="216325"/>
            <a:ext cx="2374200" cy="7056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Predicted to undergo NMD </a:t>
            </a:r>
            <a:endParaRPr lang="en" sz="1200" baseline="30000"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dirty="0">
                <a:latin typeface="Times New Roman"/>
                <a:cs typeface="Times New Roman"/>
                <a:sym typeface="Times New Roman"/>
              </a:rPr>
              <a:t>Stop codon 5’ of p.Thr1586</a:t>
            </a:r>
            <a:endParaRPr dirty="0"/>
          </a:p>
        </p:txBody>
      </p:sp>
      <p:sp>
        <p:nvSpPr>
          <p:cNvPr id="56" name="Google Shape;56;p13"/>
          <p:cNvSpPr/>
          <p:nvPr/>
        </p:nvSpPr>
        <p:spPr>
          <a:xfrm>
            <a:off x="1664575" y="1464775"/>
            <a:ext cx="2374200" cy="9588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Not predicted to undergo NMD</a:t>
            </a:r>
            <a:r>
              <a:rPr lang="en" sz="12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lang="en" sz="1200" baseline="300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algn="ctr"/>
            <a:r>
              <a:rPr lang="en-US" sz="1200" dirty="0">
                <a:latin typeface="Times New Roman"/>
                <a:cs typeface="Times New Roman"/>
                <a:sym typeface="Times New Roman"/>
              </a:rPr>
              <a:t>Stop codon 3’ of p.Thr1586</a:t>
            </a:r>
            <a:endParaRPr lang="en-US" sz="1200" dirty="0"/>
          </a:p>
        </p:txBody>
      </p:sp>
      <p:sp>
        <p:nvSpPr>
          <p:cNvPr id="57" name="Google Shape;57;p13"/>
          <p:cNvSpPr/>
          <p:nvPr/>
        </p:nvSpPr>
        <p:spPr>
          <a:xfrm>
            <a:off x="4536350" y="337078"/>
            <a:ext cx="5868000" cy="435076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Exon is present in </a:t>
            </a:r>
            <a:r>
              <a:rPr lang="en" sz="12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biologically-</a:t>
            </a:r>
            <a:r>
              <a:rPr lang="en" sz="12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relevant transcript(s)</a:t>
            </a:r>
            <a:r>
              <a:rPr lang="en" sz="1200" b="0" i="0" u="none" strike="noStrike" cap="none" baseline="300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NM_006922.4</a:t>
            </a:r>
            <a:endParaRPr lang="en" sz="1200" b="0" i="0" u="none" strike="noStrike" cap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9" name="Google Shape;59;p13"/>
          <p:cNvSpPr/>
          <p:nvPr/>
        </p:nvSpPr>
        <p:spPr>
          <a:xfrm>
            <a:off x="10945225" y="401246"/>
            <a:ext cx="1281000" cy="2769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PVS1</a:t>
            </a:r>
            <a:endParaRPr/>
          </a:p>
        </p:txBody>
      </p:sp>
      <p:sp>
        <p:nvSpPr>
          <p:cNvPr id="61" name="Google Shape;61;p13"/>
          <p:cNvSpPr/>
          <p:nvPr/>
        </p:nvSpPr>
        <p:spPr>
          <a:xfrm>
            <a:off x="4529000" y="952280"/>
            <a:ext cx="5896500" cy="2769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Truncated/altered region is critical to protein function </a:t>
            </a:r>
            <a:r>
              <a:rPr lang="en" sz="1200" baseline="300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endParaRPr sz="1200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2" name="Google Shape;62;p13"/>
          <p:cNvSpPr/>
          <p:nvPr/>
        </p:nvSpPr>
        <p:spPr>
          <a:xfrm>
            <a:off x="4557575" y="1487150"/>
            <a:ext cx="1080900" cy="14091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Role of region in protein function is unknown</a:t>
            </a:r>
            <a:endParaRPr/>
          </a:p>
        </p:txBody>
      </p:sp>
      <p:sp>
        <p:nvSpPr>
          <p:cNvPr id="63" name="Google Shape;63;p13"/>
          <p:cNvSpPr/>
          <p:nvPr/>
        </p:nvSpPr>
        <p:spPr>
          <a:xfrm>
            <a:off x="6201875" y="1336655"/>
            <a:ext cx="4234500" cy="4617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</a:t>
            </a:r>
            <a:r>
              <a:rPr lang="en" sz="1200">
                <a:latin typeface="Times New Roman"/>
                <a:ea typeface="Times New Roman"/>
                <a:cs typeface="Times New Roman"/>
                <a:sym typeface="Times New Roman"/>
              </a:rPr>
              <a:t>o</a:t>
            </a:r>
            <a:r>
              <a:rPr lang="en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 variants in this exon are frequent in the general population and/or exon is absent from biologically-relevant transcript(s)</a:t>
            </a:r>
            <a:endParaRPr/>
          </a:p>
        </p:txBody>
      </p:sp>
      <p:sp>
        <p:nvSpPr>
          <p:cNvPr id="64" name="Google Shape;64;p13"/>
          <p:cNvSpPr/>
          <p:nvPr/>
        </p:nvSpPr>
        <p:spPr>
          <a:xfrm>
            <a:off x="10945225" y="968322"/>
            <a:ext cx="1281000" cy="2769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PVS1_Strong</a:t>
            </a:r>
            <a:endParaRPr/>
          </a:p>
        </p:txBody>
      </p:sp>
      <p:sp>
        <p:nvSpPr>
          <p:cNvPr id="65" name="Google Shape;65;p13"/>
          <p:cNvSpPr/>
          <p:nvPr/>
        </p:nvSpPr>
        <p:spPr>
          <a:xfrm>
            <a:off x="10945225" y="1397847"/>
            <a:ext cx="1281000" cy="3714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N/A</a:t>
            </a:r>
            <a:endParaRPr/>
          </a:p>
        </p:txBody>
      </p:sp>
      <p:sp>
        <p:nvSpPr>
          <p:cNvPr id="66" name="Google Shape;66;p13"/>
          <p:cNvSpPr/>
          <p:nvPr/>
        </p:nvSpPr>
        <p:spPr>
          <a:xfrm>
            <a:off x="10945225" y="2002114"/>
            <a:ext cx="1281000" cy="3243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PVS1_Strong</a:t>
            </a:r>
            <a:endParaRPr dirty="0"/>
          </a:p>
        </p:txBody>
      </p:sp>
      <p:sp>
        <p:nvSpPr>
          <p:cNvPr id="67" name="Google Shape;67;p13"/>
          <p:cNvSpPr/>
          <p:nvPr/>
        </p:nvSpPr>
        <p:spPr>
          <a:xfrm>
            <a:off x="10945225" y="2713285"/>
            <a:ext cx="1281000" cy="3714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PVS1_Moderate</a:t>
            </a:r>
            <a:endParaRPr dirty="0"/>
          </a:p>
        </p:txBody>
      </p:sp>
      <p:sp>
        <p:nvSpPr>
          <p:cNvPr id="68" name="Google Shape;68;p13"/>
          <p:cNvSpPr/>
          <p:nvPr/>
        </p:nvSpPr>
        <p:spPr>
          <a:xfrm>
            <a:off x="6201875" y="2066250"/>
            <a:ext cx="2618100" cy="9789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</a:t>
            </a:r>
            <a:r>
              <a:rPr lang="en" sz="1200">
                <a:latin typeface="Times New Roman"/>
                <a:ea typeface="Times New Roman"/>
                <a:cs typeface="Times New Roman"/>
                <a:sym typeface="Times New Roman"/>
              </a:rPr>
              <a:t>o</a:t>
            </a:r>
            <a:r>
              <a:rPr lang="en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 variants in this exon are not frequent in the general population and exon is present in biologically-relevant transcript(s)</a:t>
            </a:r>
            <a:endParaRPr sz="12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9" name="Google Shape;69;p13"/>
          <p:cNvSpPr/>
          <p:nvPr/>
        </p:nvSpPr>
        <p:spPr>
          <a:xfrm>
            <a:off x="9204900" y="1894756"/>
            <a:ext cx="1231500" cy="52882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Variant removes </a:t>
            </a:r>
            <a:r>
              <a:rPr lang="en" sz="12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&gt;10% of protein</a:t>
            </a:r>
          </a:p>
          <a:p>
            <a:pPr algn="ctr"/>
            <a:r>
              <a:rPr lang="en-US" sz="1200" dirty="0">
                <a:latin typeface="Times New Roman"/>
                <a:cs typeface="Times New Roman"/>
                <a:sym typeface="Times New Roman"/>
              </a:rPr>
              <a:t>≥200 aa</a:t>
            </a:r>
            <a:endParaRPr lang="en-US" sz="1200" dirty="0"/>
          </a:p>
        </p:txBody>
      </p:sp>
      <p:sp>
        <p:nvSpPr>
          <p:cNvPr id="70" name="Google Shape;70;p13"/>
          <p:cNvSpPr/>
          <p:nvPr/>
        </p:nvSpPr>
        <p:spPr>
          <a:xfrm>
            <a:off x="9204825" y="2592424"/>
            <a:ext cx="1231500" cy="603325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Variant removes &lt;</a:t>
            </a:r>
            <a:r>
              <a:rPr lang="en" sz="12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10% of p</a:t>
            </a:r>
            <a:r>
              <a:rPr lang="en" sz="12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rotein</a:t>
            </a: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dirty="0">
                <a:latin typeface="Times New Roman"/>
                <a:cs typeface="Times New Roman"/>
                <a:sym typeface="Times New Roman"/>
              </a:rPr>
              <a:t>&lt;200 aa</a:t>
            </a:r>
            <a:endParaRPr dirty="0"/>
          </a:p>
        </p:txBody>
      </p:sp>
      <p:cxnSp>
        <p:nvCxnSpPr>
          <p:cNvPr id="71" name="Google Shape;71;p13"/>
          <p:cNvCxnSpPr>
            <a:cxnSpLocks/>
            <a:stCxn id="68" idx="3"/>
            <a:endCxn id="69" idx="1"/>
          </p:cNvCxnSpPr>
          <p:nvPr/>
        </p:nvCxnSpPr>
        <p:spPr>
          <a:xfrm flipV="1">
            <a:off x="8819975" y="2159166"/>
            <a:ext cx="384925" cy="396534"/>
          </a:xfrm>
          <a:prstGeom prst="straightConnector1">
            <a:avLst/>
          </a:prstGeom>
          <a:noFill/>
          <a:ln w="9525" cap="flat" cmpd="sng">
            <a:solidFill>
              <a:srgbClr val="44546A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72" name="Google Shape;72;p13"/>
          <p:cNvCxnSpPr>
            <a:cxnSpLocks/>
            <a:stCxn id="68" idx="3"/>
            <a:endCxn id="70" idx="1"/>
          </p:cNvCxnSpPr>
          <p:nvPr/>
        </p:nvCxnSpPr>
        <p:spPr>
          <a:xfrm>
            <a:off x="8819975" y="2555700"/>
            <a:ext cx="384850" cy="338387"/>
          </a:xfrm>
          <a:prstGeom prst="straightConnector1">
            <a:avLst/>
          </a:prstGeom>
          <a:noFill/>
          <a:ln w="9525" cap="flat" cmpd="sng">
            <a:solidFill>
              <a:srgbClr val="44546A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73" name="Google Shape;73;p13"/>
          <p:cNvCxnSpPr>
            <a:stCxn id="54" idx="3"/>
            <a:endCxn id="55" idx="1"/>
          </p:cNvCxnSpPr>
          <p:nvPr/>
        </p:nvCxnSpPr>
        <p:spPr>
          <a:xfrm rot="10800000" flipH="1">
            <a:off x="1186125" y="569023"/>
            <a:ext cx="478500" cy="1066500"/>
          </a:xfrm>
          <a:prstGeom prst="straightConnector1">
            <a:avLst/>
          </a:prstGeom>
          <a:noFill/>
          <a:ln w="9525" cap="flat" cmpd="sng">
            <a:solidFill>
              <a:srgbClr val="44546A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74" name="Google Shape;74;p13"/>
          <p:cNvCxnSpPr>
            <a:stCxn id="54" idx="3"/>
            <a:endCxn id="56" idx="1"/>
          </p:cNvCxnSpPr>
          <p:nvPr/>
        </p:nvCxnSpPr>
        <p:spPr>
          <a:xfrm>
            <a:off x="1186125" y="1635523"/>
            <a:ext cx="478500" cy="308700"/>
          </a:xfrm>
          <a:prstGeom prst="straightConnector1">
            <a:avLst/>
          </a:prstGeom>
          <a:noFill/>
          <a:ln w="9525" cap="flat" cmpd="sng">
            <a:solidFill>
              <a:srgbClr val="44546A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75" name="Google Shape;75;p13"/>
          <p:cNvCxnSpPr>
            <a:cxnSpLocks/>
            <a:stCxn id="55" idx="3"/>
            <a:endCxn id="57" idx="1"/>
          </p:cNvCxnSpPr>
          <p:nvPr/>
        </p:nvCxnSpPr>
        <p:spPr>
          <a:xfrm flipV="1">
            <a:off x="4038775" y="554616"/>
            <a:ext cx="497575" cy="14509"/>
          </a:xfrm>
          <a:prstGeom prst="straightConnector1">
            <a:avLst/>
          </a:prstGeom>
          <a:noFill/>
          <a:ln w="9525" cap="flat" cmpd="sng">
            <a:solidFill>
              <a:srgbClr val="44546A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77" name="Google Shape;77;p13"/>
          <p:cNvCxnSpPr>
            <a:stCxn id="56" idx="3"/>
            <a:endCxn id="61" idx="1"/>
          </p:cNvCxnSpPr>
          <p:nvPr/>
        </p:nvCxnSpPr>
        <p:spPr>
          <a:xfrm flipV="1">
            <a:off x="4038775" y="1090730"/>
            <a:ext cx="490225" cy="853445"/>
          </a:xfrm>
          <a:prstGeom prst="straightConnector1">
            <a:avLst/>
          </a:prstGeom>
          <a:noFill/>
          <a:ln w="9525" cap="flat" cmpd="sng">
            <a:solidFill>
              <a:srgbClr val="44546A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78" name="Google Shape;78;p13"/>
          <p:cNvCxnSpPr>
            <a:stCxn id="56" idx="3"/>
            <a:endCxn id="62" idx="1"/>
          </p:cNvCxnSpPr>
          <p:nvPr/>
        </p:nvCxnSpPr>
        <p:spPr>
          <a:xfrm>
            <a:off x="4038775" y="1944175"/>
            <a:ext cx="518700" cy="247500"/>
          </a:xfrm>
          <a:prstGeom prst="straightConnector1">
            <a:avLst/>
          </a:prstGeom>
          <a:noFill/>
          <a:ln w="9525" cap="flat" cmpd="sng">
            <a:solidFill>
              <a:srgbClr val="44546A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79" name="Google Shape;79;p13"/>
          <p:cNvCxnSpPr>
            <a:stCxn id="62" idx="3"/>
            <a:endCxn id="63" idx="1"/>
          </p:cNvCxnSpPr>
          <p:nvPr/>
        </p:nvCxnSpPr>
        <p:spPr>
          <a:xfrm flipV="1">
            <a:off x="5638475" y="1567505"/>
            <a:ext cx="563400" cy="624195"/>
          </a:xfrm>
          <a:prstGeom prst="straightConnector1">
            <a:avLst/>
          </a:prstGeom>
          <a:noFill/>
          <a:ln w="9525" cap="flat" cmpd="sng">
            <a:solidFill>
              <a:srgbClr val="44546A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80" name="Google Shape;80;p13"/>
          <p:cNvCxnSpPr>
            <a:stCxn id="62" idx="3"/>
            <a:endCxn id="68" idx="1"/>
          </p:cNvCxnSpPr>
          <p:nvPr/>
        </p:nvCxnSpPr>
        <p:spPr>
          <a:xfrm>
            <a:off x="5638475" y="2191700"/>
            <a:ext cx="563400" cy="363900"/>
          </a:xfrm>
          <a:prstGeom prst="straightConnector1">
            <a:avLst/>
          </a:prstGeom>
          <a:noFill/>
          <a:ln w="9525" cap="flat" cmpd="sng">
            <a:solidFill>
              <a:srgbClr val="44546A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81" name="Google Shape;81;p13"/>
          <p:cNvSpPr txBox="1"/>
          <p:nvPr/>
        </p:nvSpPr>
        <p:spPr>
          <a:xfrm>
            <a:off x="80325" y="3209450"/>
            <a:ext cx="1105800" cy="48003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b="1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GT--AG</a:t>
            </a:r>
            <a:endParaRPr sz="1200" b="1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b="1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1,2 splice </a:t>
            </a:r>
            <a:endParaRPr sz="1200" b="1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b="1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sites </a:t>
            </a:r>
            <a:endParaRPr lang="en" sz="1200" b="1" baseline="30000"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dirty="0">
                <a:latin typeface="Times New Roman"/>
                <a:cs typeface="Times New Roman"/>
                <a:sym typeface="Times New Roman"/>
              </a:rPr>
              <a:t>(if applied, PP3 not to be used in combination)</a:t>
            </a:r>
            <a:endParaRPr dirty="0"/>
          </a:p>
        </p:txBody>
      </p:sp>
      <p:sp>
        <p:nvSpPr>
          <p:cNvPr id="82" name="Google Shape;82;p13"/>
          <p:cNvSpPr/>
          <p:nvPr/>
        </p:nvSpPr>
        <p:spPr>
          <a:xfrm>
            <a:off x="1664575" y="3308700"/>
            <a:ext cx="2374200" cy="8025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dirty="0">
                <a:latin typeface="Times New Roman"/>
                <a:ea typeface="Times New Roman"/>
                <a:cs typeface="Times New Roman"/>
                <a:sym typeface="Times New Roman"/>
              </a:rPr>
              <a:t>Exon skipping or use of a cryptic splice site d</a:t>
            </a:r>
            <a:r>
              <a:rPr lang="en" sz="12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isrupts reading frame</a:t>
            </a:r>
            <a:r>
              <a:rPr lang="en" sz="1200" b="0" i="0" u="none" strike="noStrike" cap="none" baseline="300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r>
              <a:rPr lang="en" sz="12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and is predicted to undergo NMD</a:t>
            </a:r>
            <a:r>
              <a:rPr lang="en" sz="12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lang="en" sz="1200" baseline="300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algn="ctr"/>
            <a:r>
              <a:rPr lang="en-US" sz="1200" dirty="0">
                <a:latin typeface="Times New Roman"/>
                <a:cs typeface="Times New Roman"/>
                <a:sym typeface="Times New Roman"/>
              </a:rPr>
              <a:t>Stop codon 5’ of p.Thr1586</a:t>
            </a:r>
            <a:endParaRPr lang="en-US" sz="1200" dirty="0"/>
          </a:p>
        </p:txBody>
      </p:sp>
      <p:sp>
        <p:nvSpPr>
          <p:cNvPr id="83" name="Google Shape;83;p13"/>
          <p:cNvSpPr/>
          <p:nvPr/>
        </p:nvSpPr>
        <p:spPr>
          <a:xfrm>
            <a:off x="1654125" y="6290300"/>
            <a:ext cx="2374200" cy="15582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dirty="0">
                <a:latin typeface="Times New Roman"/>
                <a:ea typeface="Times New Roman"/>
                <a:cs typeface="Times New Roman"/>
                <a:sym typeface="Times New Roman"/>
              </a:rPr>
              <a:t>Exon skipping or use of a cryptic splice site p</a:t>
            </a:r>
            <a:r>
              <a:rPr lang="en" sz="12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reserves reading frame</a:t>
            </a:r>
            <a:r>
              <a:rPr lang="en" sz="1200" b="0" i="0" u="none" strike="noStrike" cap="none" baseline="300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</a:p>
        </p:txBody>
      </p:sp>
      <p:sp>
        <p:nvSpPr>
          <p:cNvPr id="84" name="Google Shape;84;p13"/>
          <p:cNvSpPr/>
          <p:nvPr/>
        </p:nvSpPr>
        <p:spPr>
          <a:xfrm>
            <a:off x="4536350" y="3232499"/>
            <a:ext cx="5868000" cy="377575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Exon is present in </a:t>
            </a:r>
            <a:r>
              <a:rPr lang="en" sz="12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biologically-</a:t>
            </a:r>
            <a:r>
              <a:rPr lang="en" sz="12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relevant transcript(s)</a:t>
            </a:r>
            <a:r>
              <a:rPr lang="en" sz="1200" b="0" i="0" u="none" strike="noStrike" cap="none" baseline="300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NM_006922.4</a:t>
            </a:r>
            <a:endParaRPr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5" name="Google Shape;85;p13"/>
          <p:cNvSpPr/>
          <p:nvPr/>
        </p:nvSpPr>
        <p:spPr>
          <a:xfrm>
            <a:off x="4507775" y="3890237"/>
            <a:ext cx="5896500" cy="2769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Truncated/altered region is critical to protein function </a:t>
            </a:r>
            <a:r>
              <a:rPr lang="en" sz="1200" baseline="300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endParaRPr sz="1200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7" name="Google Shape;87;p13"/>
          <p:cNvSpPr/>
          <p:nvPr/>
        </p:nvSpPr>
        <p:spPr>
          <a:xfrm>
            <a:off x="4536350" y="4489275"/>
            <a:ext cx="1080900" cy="15582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Role of region in protein function is unknown</a:t>
            </a:r>
            <a:endParaRPr/>
          </a:p>
        </p:txBody>
      </p:sp>
      <p:sp>
        <p:nvSpPr>
          <p:cNvPr id="88" name="Google Shape;88;p13"/>
          <p:cNvSpPr/>
          <p:nvPr/>
        </p:nvSpPr>
        <p:spPr>
          <a:xfrm>
            <a:off x="6180650" y="4386906"/>
            <a:ext cx="4234500" cy="4617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</a:t>
            </a:r>
            <a:r>
              <a:rPr lang="en" sz="1200" dirty="0" err="1">
                <a:latin typeface="Times New Roman"/>
                <a:ea typeface="Times New Roman"/>
                <a:cs typeface="Times New Roman"/>
                <a:sym typeface="Times New Roman"/>
              </a:rPr>
              <a:t>o</a:t>
            </a:r>
            <a:r>
              <a:rPr lang="en" sz="1200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</a:t>
            </a:r>
            <a:r>
              <a:rPr lang="en" sz="12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variants in this exon are frequent in the general population and/or exon is absent from biologically-relevant transcript(s)</a:t>
            </a:r>
            <a:endParaRPr dirty="0"/>
          </a:p>
        </p:txBody>
      </p:sp>
      <p:sp>
        <p:nvSpPr>
          <p:cNvPr id="89" name="Google Shape;89;p13"/>
          <p:cNvSpPr/>
          <p:nvPr/>
        </p:nvSpPr>
        <p:spPr>
          <a:xfrm>
            <a:off x="6180650" y="5068725"/>
            <a:ext cx="2618100" cy="9789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</a:t>
            </a:r>
            <a:r>
              <a:rPr lang="en" sz="1200" dirty="0" err="1">
                <a:latin typeface="Times New Roman"/>
                <a:ea typeface="Times New Roman"/>
                <a:cs typeface="Times New Roman"/>
                <a:sym typeface="Times New Roman"/>
              </a:rPr>
              <a:t>o</a:t>
            </a:r>
            <a:r>
              <a:rPr lang="en" sz="1200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</a:t>
            </a:r>
            <a:r>
              <a:rPr lang="en" sz="12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variants in this exon are not frequent in the general population and exon is present in biologically-relevant transcript(s)</a:t>
            </a:r>
            <a:r>
              <a:rPr lang="en" sz="1200" baseline="300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endParaRPr sz="1200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0" name="Google Shape;90;p13"/>
          <p:cNvSpPr/>
          <p:nvPr/>
        </p:nvSpPr>
        <p:spPr>
          <a:xfrm>
            <a:off x="9183675" y="4876888"/>
            <a:ext cx="1231500" cy="577723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Variant removes </a:t>
            </a:r>
            <a:r>
              <a:rPr lang="en" sz="12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&gt;10% of protein</a:t>
            </a: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dirty="0">
                <a:latin typeface="Times New Roman"/>
                <a:cs typeface="Times New Roman"/>
                <a:sym typeface="Times New Roman"/>
              </a:rPr>
              <a:t>≥200 aa</a:t>
            </a:r>
            <a:endParaRPr dirty="0"/>
          </a:p>
        </p:txBody>
      </p:sp>
      <p:sp>
        <p:nvSpPr>
          <p:cNvPr id="91" name="Google Shape;91;p13"/>
          <p:cNvSpPr/>
          <p:nvPr/>
        </p:nvSpPr>
        <p:spPr>
          <a:xfrm>
            <a:off x="4533750" y="7752350"/>
            <a:ext cx="5907300" cy="2769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Truncated/altered region is critical to protein function </a:t>
            </a:r>
            <a:r>
              <a:rPr lang="en" sz="1200" baseline="300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endParaRPr sz="1200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2" name="Google Shape;92;p13"/>
          <p:cNvSpPr/>
          <p:nvPr/>
        </p:nvSpPr>
        <p:spPr>
          <a:xfrm>
            <a:off x="10945225" y="3280626"/>
            <a:ext cx="1281000" cy="2769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PVS1</a:t>
            </a:r>
            <a:endParaRPr/>
          </a:p>
        </p:txBody>
      </p:sp>
      <p:sp>
        <p:nvSpPr>
          <p:cNvPr id="94" name="Google Shape;94;p13"/>
          <p:cNvSpPr/>
          <p:nvPr/>
        </p:nvSpPr>
        <p:spPr>
          <a:xfrm>
            <a:off x="10945225" y="3890237"/>
            <a:ext cx="1281000" cy="2769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PVS1_Strong</a:t>
            </a:r>
            <a:endParaRPr/>
          </a:p>
        </p:txBody>
      </p:sp>
      <p:sp>
        <p:nvSpPr>
          <p:cNvPr id="95" name="Google Shape;95;p13"/>
          <p:cNvSpPr/>
          <p:nvPr/>
        </p:nvSpPr>
        <p:spPr>
          <a:xfrm>
            <a:off x="10945225" y="4432056"/>
            <a:ext cx="1281000" cy="3714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N/A</a:t>
            </a:r>
            <a:endParaRPr/>
          </a:p>
        </p:txBody>
      </p:sp>
      <p:sp>
        <p:nvSpPr>
          <p:cNvPr id="96" name="Google Shape;96;p13"/>
          <p:cNvSpPr/>
          <p:nvPr/>
        </p:nvSpPr>
        <p:spPr>
          <a:xfrm>
            <a:off x="10945225" y="5005257"/>
            <a:ext cx="1281000" cy="3243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PVS1_Strong</a:t>
            </a:r>
            <a:endParaRPr/>
          </a:p>
        </p:txBody>
      </p:sp>
      <p:sp>
        <p:nvSpPr>
          <p:cNvPr id="97" name="Google Shape;97;p13"/>
          <p:cNvSpPr/>
          <p:nvPr/>
        </p:nvSpPr>
        <p:spPr>
          <a:xfrm>
            <a:off x="10945225" y="5559350"/>
            <a:ext cx="1281000" cy="3714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Times New Roman"/>
                <a:ea typeface="Times New Roman"/>
                <a:cs typeface="Times New Roman"/>
                <a:sym typeface="Times New Roman"/>
              </a:rPr>
              <a:t>PVS1_Moderate</a:t>
            </a:r>
            <a:endParaRPr/>
          </a:p>
        </p:txBody>
      </p:sp>
      <p:sp>
        <p:nvSpPr>
          <p:cNvPr id="98" name="Google Shape;98;p13"/>
          <p:cNvSpPr/>
          <p:nvPr/>
        </p:nvSpPr>
        <p:spPr>
          <a:xfrm>
            <a:off x="10945225" y="7759100"/>
            <a:ext cx="1281000" cy="2769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PVS1_Strong</a:t>
            </a:r>
            <a:endParaRPr/>
          </a:p>
        </p:txBody>
      </p:sp>
      <p:sp>
        <p:nvSpPr>
          <p:cNvPr id="99" name="Google Shape;99;p13"/>
          <p:cNvSpPr/>
          <p:nvPr/>
        </p:nvSpPr>
        <p:spPr>
          <a:xfrm>
            <a:off x="9183600" y="5437674"/>
            <a:ext cx="1231500" cy="609926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Variant removes &lt;</a:t>
            </a:r>
            <a:r>
              <a:rPr lang="en" sz="12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10% of p</a:t>
            </a:r>
            <a:r>
              <a:rPr lang="en" sz="12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rotein</a:t>
            </a: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&lt;200 aa</a:t>
            </a:r>
          </a:p>
        </p:txBody>
      </p:sp>
      <p:sp>
        <p:nvSpPr>
          <p:cNvPr id="100" name="Google Shape;100;p13"/>
          <p:cNvSpPr/>
          <p:nvPr/>
        </p:nvSpPr>
        <p:spPr>
          <a:xfrm>
            <a:off x="1643625" y="4315725"/>
            <a:ext cx="2395200" cy="16122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dirty="0">
                <a:latin typeface="Times New Roman"/>
                <a:ea typeface="Times New Roman"/>
                <a:cs typeface="Times New Roman"/>
                <a:sym typeface="Times New Roman"/>
              </a:rPr>
              <a:t>Exon skipping or use of a cryptic splice site d</a:t>
            </a:r>
            <a:r>
              <a:rPr lang="en" sz="12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isrupts reading frame</a:t>
            </a:r>
            <a:r>
              <a:rPr lang="en" sz="1200" b="0" i="0" u="none" strike="noStrike" cap="none" baseline="300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r>
              <a:rPr lang="en" sz="12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and is </a:t>
            </a:r>
            <a:r>
              <a:rPr lang="en" sz="1200" b="1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NOT</a:t>
            </a:r>
            <a:r>
              <a:rPr lang="en" sz="12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predicted to undergo NMD</a:t>
            </a:r>
            <a:r>
              <a:rPr lang="en" sz="12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lang="en" sz="1200" baseline="300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algn="ctr"/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  <a:sym typeface="Times New Roman"/>
              </a:rPr>
              <a:t>Stop codon 3’ of p.Thr1586</a:t>
            </a:r>
            <a:endParaRPr dirty="0"/>
          </a:p>
        </p:txBody>
      </p:sp>
      <p:cxnSp>
        <p:nvCxnSpPr>
          <p:cNvPr id="101" name="Google Shape;101;p13"/>
          <p:cNvCxnSpPr>
            <a:stCxn id="81" idx="3"/>
            <a:endCxn id="82" idx="1"/>
          </p:cNvCxnSpPr>
          <p:nvPr/>
        </p:nvCxnSpPr>
        <p:spPr>
          <a:xfrm rot="10800000" flipH="1">
            <a:off x="1186125" y="3710000"/>
            <a:ext cx="478500" cy="1899600"/>
          </a:xfrm>
          <a:prstGeom prst="straightConnector1">
            <a:avLst/>
          </a:prstGeom>
          <a:noFill/>
          <a:ln w="9525" cap="flat" cmpd="sng">
            <a:solidFill>
              <a:srgbClr val="44546A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02" name="Google Shape;102;p13"/>
          <p:cNvCxnSpPr>
            <a:stCxn id="81" idx="3"/>
            <a:endCxn id="100" idx="1"/>
          </p:cNvCxnSpPr>
          <p:nvPr/>
        </p:nvCxnSpPr>
        <p:spPr>
          <a:xfrm rot="10800000" flipH="1">
            <a:off x="1186125" y="5121800"/>
            <a:ext cx="457500" cy="487800"/>
          </a:xfrm>
          <a:prstGeom prst="straightConnector1">
            <a:avLst/>
          </a:prstGeom>
          <a:noFill/>
          <a:ln w="9525" cap="flat" cmpd="sng">
            <a:solidFill>
              <a:srgbClr val="44546A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03" name="Google Shape;103;p13"/>
          <p:cNvCxnSpPr>
            <a:stCxn id="81" idx="3"/>
            <a:endCxn id="83" idx="1"/>
          </p:cNvCxnSpPr>
          <p:nvPr/>
        </p:nvCxnSpPr>
        <p:spPr>
          <a:xfrm>
            <a:off x="1186125" y="5609600"/>
            <a:ext cx="468000" cy="1459800"/>
          </a:xfrm>
          <a:prstGeom prst="straightConnector1">
            <a:avLst/>
          </a:prstGeom>
          <a:noFill/>
          <a:ln w="9525" cap="flat" cmpd="sng">
            <a:solidFill>
              <a:srgbClr val="44546A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04" name="Google Shape;104;p13"/>
          <p:cNvCxnSpPr>
            <a:cxnSpLocks/>
            <a:stCxn id="82" idx="3"/>
            <a:endCxn id="84" idx="1"/>
          </p:cNvCxnSpPr>
          <p:nvPr/>
        </p:nvCxnSpPr>
        <p:spPr>
          <a:xfrm flipV="1">
            <a:off x="4038775" y="3421287"/>
            <a:ext cx="497575" cy="288663"/>
          </a:xfrm>
          <a:prstGeom prst="straightConnector1">
            <a:avLst/>
          </a:prstGeom>
          <a:noFill/>
          <a:ln w="9525" cap="flat" cmpd="sng">
            <a:solidFill>
              <a:srgbClr val="44546A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06" name="Google Shape;106;p13"/>
          <p:cNvCxnSpPr>
            <a:stCxn id="100" idx="3"/>
            <a:endCxn id="85" idx="1"/>
          </p:cNvCxnSpPr>
          <p:nvPr/>
        </p:nvCxnSpPr>
        <p:spPr>
          <a:xfrm flipV="1">
            <a:off x="4038825" y="4028687"/>
            <a:ext cx="468950" cy="1093138"/>
          </a:xfrm>
          <a:prstGeom prst="straightConnector1">
            <a:avLst/>
          </a:prstGeom>
          <a:noFill/>
          <a:ln w="9525" cap="flat" cmpd="sng">
            <a:solidFill>
              <a:srgbClr val="44546A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07" name="Google Shape;107;p13"/>
          <p:cNvCxnSpPr>
            <a:stCxn id="100" idx="3"/>
            <a:endCxn id="87" idx="1"/>
          </p:cNvCxnSpPr>
          <p:nvPr/>
        </p:nvCxnSpPr>
        <p:spPr>
          <a:xfrm>
            <a:off x="4038825" y="5121825"/>
            <a:ext cx="497400" cy="146700"/>
          </a:xfrm>
          <a:prstGeom prst="straightConnector1">
            <a:avLst/>
          </a:prstGeom>
          <a:noFill/>
          <a:ln w="9525" cap="flat" cmpd="sng">
            <a:solidFill>
              <a:srgbClr val="44546A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08" name="Google Shape;108;p13"/>
          <p:cNvCxnSpPr>
            <a:stCxn id="87" idx="3"/>
            <a:endCxn id="88" idx="1"/>
          </p:cNvCxnSpPr>
          <p:nvPr/>
        </p:nvCxnSpPr>
        <p:spPr>
          <a:xfrm flipV="1">
            <a:off x="5617250" y="4617756"/>
            <a:ext cx="563400" cy="650619"/>
          </a:xfrm>
          <a:prstGeom prst="straightConnector1">
            <a:avLst/>
          </a:prstGeom>
          <a:noFill/>
          <a:ln w="9525" cap="flat" cmpd="sng">
            <a:solidFill>
              <a:srgbClr val="44546A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09" name="Google Shape;109;p13"/>
          <p:cNvCxnSpPr>
            <a:stCxn id="87" idx="3"/>
            <a:endCxn id="89" idx="1"/>
          </p:cNvCxnSpPr>
          <p:nvPr/>
        </p:nvCxnSpPr>
        <p:spPr>
          <a:xfrm>
            <a:off x="5617250" y="5268375"/>
            <a:ext cx="563400" cy="289800"/>
          </a:xfrm>
          <a:prstGeom prst="straightConnector1">
            <a:avLst/>
          </a:prstGeom>
          <a:noFill/>
          <a:ln w="9525" cap="flat" cmpd="sng">
            <a:solidFill>
              <a:srgbClr val="44546A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10" name="Google Shape;110;p13"/>
          <p:cNvCxnSpPr>
            <a:cxnSpLocks/>
            <a:stCxn id="89" idx="3"/>
            <a:endCxn id="90" idx="1"/>
          </p:cNvCxnSpPr>
          <p:nvPr/>
        </p:nvCxnSpPr>
        <p:spPr>
          <a:xfrm flipV="1">
            <a:off x="8798750" y="5165750"/>
            <a:ext cx="384925" cy="392425"/>
          </a:xfrm>
          <a:prstGeom prst="straightConnector1">
            <a:avLst/>
          </a:prstGeom>
          <a:noFill/>
          <a:ln w="9525" cap="flat" cmpd="sng">
            <a:solidFill>
              <a:srgbClr val="44546A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11" name="Google Shape;111;p13"/>
          <p:cNvCxnSpPr>
            <a:cxnSpLocks/>
            <a:stCxn id="89" idx="3"/>
            <a:endCxn id="99" idx="1"/>
          </p:cNvCxnSpPr>
          <p:nvPr/>
        </p:nvCxnSpPr>
        <p:spPr>
          <a:xfrm>
            <a:off x="8798750" y="5558175"/>
            <a:ext cx="384850" cy="184462"/>
          </a:xfrm>
          <a:prstGeom prst="straightConnector1">
            <a:avLst/>
          </a:prstGeom>
          <a:noFill/>
          <a:ln w="9525" cap="flat" cmpd="sng">
            <a:solidFill>
              <a:srgbClr val="44546A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12" name="Google Shape;112;p13"/>
          <p:cNvCxnSpPr>
            <a:cxnSpLocks/>
            <a:stCxn id="57" idx="3"/>
            <a:endCxn id="59" idx="1"/>
          </p:cNvCxnSpPr>
          <p:nvPr/>
        </p:nvCxnSpPr>
        <p:spPr>
          <a:xfrm flipV="1">
            <a:off x="10404350" y="539696"/>
            <a:ext cx="540875" cy="14920"/>
          </a:xfrm>
          <a:prstGeom prst="straightConnector1">
            <a:avLst/>
          </a:prstGeom>
          <a:noFill/>
          <a:ln w="9525" cap="flat" cmpd="sng">
            <a:solidFill>
              <a:srgbClr val="595959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14" name="Google Shape;114;p13"/>
          <p:cNvCxnSpPr>
            <a:stCxn id="61" idx="3"/>
            <a:endCxn id="64" idx="1"/>
          </p:cNvCxnSpPr>
          <p:nvPr/>
        </p:nvCxnSpPr>
        <p:spPr>
          <a:xfrm>
            <a:off x="10425500" y="1090730"/>
            <a:ext cx="519725" cy="16042"/>
          </a:xfrm>
          <a:prstGeom prst="straightConnector1">
            <a:avLst/>
          </a:prstGeom>
          <a:noFill/>
          <a:ln w="9525" cap="flat" cmpd="sng">
            <a:solidFill>
              <a:srgbClr val="595959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15" name="Google Shape;115;p13"/>
          <p:cNvCxnSpPr>
            <a:stCxn id="63" idx="3"/>
            <a:endCxn id="65" idx="1"/>
          </p:cNvCxnSpPr>
          <p:nvPr/>
        </p:nvCxnSpPr>
        <p:spPr>
          <a:xfrm>
            <a:off x="10436375" y="1567505"/>
            <a:ext cx="508850" cy="16042"/>
          </a:xfrm>
          <a:prstGeom prst="straightConnector1">
            <a:avLst/>
          </a:prstGeom>
          <a:noFill/>
          <a:ln w="9525" cap="flat" cmpd="sng">
            <a:solidFill>
              <a:srgbClr val="595959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16" name="Google Shape;116;p13"/>
          <p:cNvCxnSpPr>
            <a:cxnSpLocks/>
            <a:stCxn id="69" idx="3"/>
            <a:endCxn id="66" idx="1"/>
          </p:cNvCxnSpPr>
          <p:nvPr/>
        </p:nvCxnSpPr>
        <p:spPr>
          <a:xfrm>
            <a:off x="10436400" y="2159166"/>
            <a:ext cx="508825" cy="5098"/>
          </a:xfrm>
          <a:prstGeom prst="straightConnector1">
            <a:avLst/>
          </a:prstGeom>
          <a:noFill/>
          <a:ln w="9525" cap="flat" cmpd="sng">
            <a:solidFill>
              <a:srgbClr val="595959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17" name="Google Shape;117;p13"/>
          <p:cNvCxnSpPr>
            <a:cxnSpLocks/>
            <a:stCxn id="70" idx="3"/>
            <a:endCxn id="67" idx="1"/>
          </p:cNvCxnSpPr>
          <p:nvPr/>
        </p:nvCxnSpPr>
        <p:spPr>
          <a:xfrm>
            <a:off x="10436325" y="2894087"/>
            <a:ext cx="508900" cy="4898"/>
          </a:xfrm>
          <a:prstGeom prst="straightConnector1">
            <a:avLst/>
          </a:prstGeom>
          <a:noFill/>
          <a:ln w="9525" cap="flat" cmpd="sng">
            <a:solidFill>
              <a:srgbClr val="595959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18" name="Google Shape;118;p13"/>
          <p:cNvCxnSpPr>
            <a:cxnSpLocks/>
            <a:stCxn id="84" idx="3"/>
            <a:endCxn id="92" idx="1"/>
          </p:cNvCxnSpPr>
          <p:nvPr/>
        </p:nvCxnSpPr>
        <p:spPr>
          <a:xfrm flipV="1">
            <a:off x="10404350" y="3419076"/>
            <a:ext cx="540875" cy="2211"/>
          </a:xfrm>
          <a:prstGeom prst="straightConnector1">
            <a:avLst/>
          </a:prstGeom>
          <a:noFill/>
          <a:ln w="9525" cap="flat" cmpd="sng">
            <a:solidFill>
              <a:srgbClr val="595959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20" name="Google Shape;120;p13"/>
          <p:cNvCxnSpPr>
            <a:stCxn id="85" idx="3"/>
            <a:endCxn id="94" idx="1"/>
          </p:cNvCxnSpPr>
          <p:nvPr/>
        </p:nvCxnSpPr>
        <p:spPr>
          <a:xfrm>
            <a:off x="10404275" y="4028687"/>
            <a:ext cx="540900" cy="0"/>
          </a:xfrm>
          <a:prstGeom prst="straightConnector1">
            <a:avLst/>
          </a:prstGeom>
          <a:noFill/>
          <a:ln w="9525" cap="flat" cmpd="sng">
            <a:solidFill>
              <a:srgbClr val="595959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21" name="Google Shape;121;p13"/>
          <p:cNvCxnSpPr>
            <a:stCxn id="88" idx="3"/>
            <a:endCxn id="95" idx="1"/>
          </p:cNvCxnSpPr>
          <p:nvPr/>
        </p:nvCxnSpPr>
        <p:spPr>
          <a:xfrm>
            <a:off x="10415150" y="4617756"/>
            <a:ext cx="530100" cy="0"/>
          </a:xfrm>
          <a:prstGeom prst="straightConnector1">
            <a:avLst/>
          </a:prstGeom>
          <a:noFill/>
          <a:ln w="9525" cap="flat" cmpd="sng">
            <a:solidFill>
              <a:srgbClr val="595959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22" name="Google Shape;122;p13"/>
          <p:cNvCxnSpPr>
            <a:cxnSpLocks/>
            <a:stCxn id="90" idx="3"/>
            <a:endCxn id="96" idx="1"/>
          </p:cNvCxnSpPr>
          <p:nvPr/>
        </p:nvCxnSpPr>
        <p:spPr>
          <a:xfrm>
            <a:off x="10415175" y="5165750"/>
            <a:ext cx="530050" cy="1657"/>
          </a:xfrm>
          <a:prstGeom prst="straightConnector1">
            <a:avLst/>
          </a:prstGeom>
          <a:noFill/>
          <a:ln w="9525" cap="flat" cmpd="sng">
            <a:solidFill>
              <a:srgbClr val="595959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23" name="Google Shape;123;p13"/>
          <p:cNvCxnSpPr>
            <a:cxnSpLocks/>
            <a:stCxn id="99" idx="3"/>
            <a:endCxn id="97" idx="1"/>
          </p:cNvCxnSpPr>
          <p:nvPr/>
        </p:nvCxnSpPr>
        <p:spPr>
          <a:xfrm>
            <a:off x="10415100" y="5742637"/>
            <a:ext cx="530125" cy="2413"/>
          </a:xfrm>
          <a:prstGeom prst="straightConnector1">
            <a:avLst/>
          </a:prstGeom>
          <a:noFill/>
          <a:ln w="9525" cap="flat" cmpd="sng">
            <a:solidFill>
              <a:srgbClr val="595959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24" name="Google Shape;124;p13"/>
          <p:cNvCxnSpPr>
            <a:stCxn id="91" idx="3"/>
            <a:endCxn id="98" idx="1"/>
          </p:cNvCxnSpPr>
          <p:nvPr/>
        </p:nvCxnSpPr>
        <p:spPr>
          <a:xfrm>
            <a:off x="10441050" y="7890800"/>
            <a:ext cx="504300" cy="6900"/>
          </a:xfrm>
          <a:prstGeom prst="straightConnector1">
            <a:avLst/>
          </a:prstGeom>
          <a:noFill/>
          <a:ln w="9525" cap="flat" cmpd="sng">
            <a:solidFill>
              <a:srgbClr val="595959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125" name="Google Shape;125;p13"/>
          <p:cNvSpPr txBox="1"/>
          <p:nvPr/>
        </p:nvSpPr>
        <p:spPr>
          <a:xfrm>
            <a:off x="80325" y="8238775"/>
            <a:ext cx="1105800" cy="36573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b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Deletion</a:t>
            </a:r>
            <a:endParaRPr sz="1200" b="1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(Single exon to full gene)</a:t>
            </a:r>
            <a:endParaRPr sz="10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6" name="Google Shape;126;p13"/>
          <p:cNvSpPr/>
          <p:nvPr/>
        </p:nvSpPr>
        <p:spPr>
          <a:xfrm>
            <a:off x="1701200" y="8725174"/>
            <a:ext cx="2327100" cy="920925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Single to </a:t>
            </a:r>
            <a:r>
              <a:rPr lang="en" sz="12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</a:t>
            </a:r>
            <a:r>
              <a:rPr lang="en" sz="12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ulti e</a:t>
            </a:r>
            <a:r>
              <a:rPr lang="en" sz="12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xon d</a:t>
            </a:r>
            <a:r>
              <a:rPr lang="en" sz="12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eletion </a:t>
            </a:r>
            <a:r>
              <a:rPr lang="en" sz="12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–</a:t>
            </a:r>
            <a:r>
              <a:rPr lang="en" sz="12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dirty="0"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Disrupts reading frame</a:t>
            </a:r>
            <a:r>
              <a:rPr lang="en" sz="1200" b="0" i="0" u="none" strike="noStrike" cap="none" baseline="300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r>
              <a:rPr lang="en" sz="12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and is predicted to undergo NMD</a:t>
            </a:r>
            <a:r>
              <a:rPr lang="en" sz="12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</a:p>
          <a:p>
            <a:pPr algn="ctr"/>
            <a:r>
              <a:rPr lang="en-US" sz="1200" dirty="0">
                <a:latin typeface="Times New Roman"/>
                <a:cs typeface="Times New Roman"/>
                <a:sym typeface="Times New Roman"/>
              </a:rPr>
              <a:t>Stop codon 5’ of p.Thr1586</a:t>
            </a:r>
            <a:endParaRPr lang="en-US" sz="1200" dirty="0"/>
          </a:p>
        </p:txBody>
      </p:sp>
      <p:sp>
        <p:nvSpPr>
          <p:cNvPr id="127" name="Google Shape;127;p13"/>
          <p:cNvSpPr/>
          <p:nvPr/>
        </p:nvSpPr>
        <p:spPr>
          <a:xfrm>
            <a:off x="1701200" y="10904150"/>
            <a:ext cx="2327100" cy="8025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Single to </a:t>
            </a:r>
            <a:r>
              <a:rPr lang="en" sz="12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</a:t>
            </a:r>
            <a:r>
              <a:rPr lang="en" sz="12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ulti exon </a:t>
            </a:r>
            <a:r>
              <a:rPr lang="en" sz="12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</a:t>
            </a:r>
            <a:r>
              <a:rPr lang="en" sz="12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eletion – </a:t>
            </a:r>
            <a:endParaRPr dirty="0"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Preserves reading frame</a:t>
            </a:r>
            <a:r>
              <a:rPr lang="en" sz="1200" b="0" i="0" u="none" strike="noStrike" cap="none" baseline="300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endParaRPr dirty="0"/>
          </a:p>
        </p:txBody>
      </p:sp>
      <p:sp>
        <p:nvSpPr>
          <p:cNvPr id="128" name="Google Shape;128;p13"/>
          <p:cNvSpPr/>
          <p:nvPr/>
        </p:nvSpPr>
        <p:spPr>
          <a:xfrm>
            <a:off x="1701200" y="8253750"/>
            <a:ext cx="2327100" cy="2769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Full gene deletion</a:t>
            </a:r>
            <a:endParaRPr/>
          </a:p>
        </p:txBody>
      </p:sp>
      <p:sp>
        <p:nvSpPr>
          <p:cNvPr id="129" name="Google Shape;129;p13"/>
          <p:cNvSpPr/>
          <p:nvPr/>
        </p:nvSpPr>
        <p:spPr>
          <a:xfrm>
            <a:off x="4572975" y="8763599"/>
            <a:ext cx="5868000" cy="413937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Exon is present in </a:t>
            </a:r>
            <a:r>
              <a:rPr lang="en" sz="12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biologically-</a:t>
            </a:r>
            <a:r>
              <a:rPr lang="en" sz="12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relevant transcript(s)</a:t>
            </a:r>
            <a:r>
              <a:rPr lang="en" sz="1200" b="0" i="0" u="none" strike="noStrike" cap="none" baseline="300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NM_006922.4</a:t>
            </a:r>
            <a:endParaRPr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0" name="Google Shape;130;p13"/>
          <p:cNvSpPr/>
          <p:nvPr/>
        </p:nvSpPr>
        <p:spPr>
          <a:xfrm>
            <a:off x="4544400" y="9366525"/>
            <a:ext cx="5896500" cy="2769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Truncated/altered region is critical to protein function </a:t>
            </a:r>
            <a:r>
              <a:rPr lang="en" sz="1200" baseline="300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endParaRPr baseline="30000" dirty="0"/>
          </a:p>
        </p:txBody>
      </p:sp>
      <p:sp>
        <p:nvSpPr>
          <p:cNvPr id="132" name="Google Shape;132;p13"/>
          <p:cNvSpPr/>
          <p:nvPr/>
        </p:nvSpPr>
        <p:spPr>
          <a:xfrm>
            <a:off x="4572975" y="9918775"/>
            <a:ext cx="1080900" cy="15582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Role of region in protein function is unknown</a:t>
            </a:r>
            <a:endParaRPr/>
          </a:p>
        </p:txBody>
      </p:sp>
      <p:sp>
        <p:nvSpPr>
          <p:cNvPr id="133" name="Google Shape;133;p13"/>
          <p:cNvSpPr/>
          <p:nvPr/>
        </p:nvSpPr>
        <p:spPr>
          <a:xfrm>
            <a:off x="6217275" y="9763600"/>
            <a:ext cx="4234500" cy="4617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</a:t>
            </a:r>
            <a:r>
              <a:rPr lang="en" sz="1200">
                <a:latin typeface="Times New Roman"/>
                <a:ea typeface="Times New Roman"/>
                <a:cs typeface="Times New Roman"/>
                <a:sym typeface="Times New Roman"/>
              </a:rPr>
              <a:t>o</a:t>
            </a:r>
            <a:r>
              <a:rPr lang="en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 variants in this exon are frequent in the general population and/or exon is absent from biologically-relevant transcript(s)</a:t>
            </a:r>
            <a:endParaRPr/>
          </a:p>
        </p:txBody>
      </p:sp>
      <p:sp>
        <p:nvSpPr>
          <p:cNvPr id="134" name="Google Shape;134;p13"/>
          <p:cNvSpPr/>
          <p:nvPr/>
        </p:nvSpPr>
        <p:spPr>
          <a:xfrm>
            <a:off x="10945225" y="8253750"/>
            <a:ext cx="1281000" cy="2769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PVS1 </a:t>
            </a:r>
            <a:endParaRPr baseline="30000" dirty="0"/>
          </a:p>
        </p:txBody>
      </p:sp>
      <p:sp>
        <p:nvSpPr>
          <p:cNvPr id="135" name="Google Shape;135;p13"/>
          <p:cNvSpPr/>
          <p:nvPr/>
        </p:nvSpPr>
        <p:spPr>
          <a:xfrm>
            <a:off x="4544400" y="11562250"/>
            <a:ext cx="5907300" cy="2769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Truncated/altered region is critical to protein function </a:t>
            </a:r>
            <a:r>
              <a:rPr lang="en" sz="1200" baseline="300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endParaRPr sz="1200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36" name="Google Shape;136;p13"/>
          <p:cNvSpPr/>
          <p:nvPr/>
        </p:nvSpPr>
        <p:spPr>
          <a:xfrm>
            <a:off x="10945225" y="8827768"/>
            <a:ext cx="1281000" cy="2769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PVS1</a:t>
            </a:r>
            <a:endParaRPr/>
          </a:p>
        </p:txBody>
      </p:sp>
      <p:sp>
        <p:nvSpPr>
          <p:cNvPr id="138" name="Google Shape;138;p13"/>
          <p:cNvSpPr/>
          <p:nvPr/>
        </p:nvSpPr>
        <p:spPr>
          <a:xfrm>
            <a:off x="10945225" y="9379225"/>
            <a:ext cx="1281000" cy="2769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PVS1_Strong</a:t>
            </a:r>
            <a:endParaRPr/>
          </a:p>
        </p:txBody>
      </p:sp>
      <p:sp>
        <p:nvSpPr>
          <p:cNvPr id="139" name="Google Shape;139;p13"/>
          <p:cNvSpPr/>
          <p:nvPr/>
        </p:nvSpPr>
        <p:spPr>
          <a:xfrm>
            <a:off x="10945225" y="9821450"/>
            <a:ext cx="1281000" cy="3714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N/A</a:t>
            </a:r>
            <a:endParaRPr/>
          </a:p>
        </p:txBody>
      </p:sp>
      <p:sp>
        <p:nvSpPr>
          <p:cNvPr id="140" name="Google Shape;140;p13"/>
          <p:cNvSpPr/>
          <p:nvPr/>
        </p:nvSpPr>
        <p:spPr>
          <a:xfrm>
            <a:off x="10945225" y="10460825"/>
            <a:ext cx="1281000" cy="3243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PVS1_Strong</a:t>
            </a:r>
            <a:endParaRPr/>
          </a:p>
        </p:txBody>
      </p:sp>
      <p:sp>
        <p:nvSpPr>
          <p:cNvPr id="141" name="Google Shape;141;p13"/>
          <p:cNvSpPr/>
          <p:nvPr/>
        </p:nvSpPr>
        <p:spPr>
          <a:xfrm>
            <a:off x="10945225" y="11026950"/>
            <a:ext cx="1281000" cy="3714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</a:t>
            </a:r>
            <a:r>
              <a:rPr lang="en" sz="1200">
                <a:latin typeface="Times New Roman"/>
                <a:ea typeface="Times New Roman"/>
                <a:cs typeface="Times New Roman"/>
                <a:sym typeface="Times New Roman"/>
              </a:rPr>
              <a:t>VS1_Moderate</a:t>
            </a:r>
            <a:endParaRPr/>
          </a:p>
        </p:txBody>
      </p:sp>
      <p:sp>
        <p:nvSpPr>
          <p:cNvPr id="142" name="Google Shape;142;p13"/>
          <p:cNvSpPr/>
          <p:nvPr/>
        </p:nvSpPr>
        <p:spPr>
          <a:xfrm>
            <a:off x="10945225" y="11562250"/>
            <a:ext cx="1281000" cy="2769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PVS1_Strong</a:t>
            </a:r>
            <a:endParaRPr/>
          </a:p>
        </p:txBody>
      </p:sp>
      <p:sp>
        <p:nvSpPr>
          <p:cNvPr id="143" name="Google Shape;143;p13"/>
          <p:cNvSpPr txBox="1"/>
          <p:nvPr/>
        </p:nvSpPr>
        <p:spPr>
          <a:xfrm>
            <a:off x="80325" y="12085325"/>
            <a:ext cx="1105800" cy="14811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b="1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Duplication</a:t>
            </a:r>
            <a:endParaRPr sz="1200" b="1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(≥1 exon in size and must be completely contained within gene)</a:t>
            </a:r>
            <a:endParaRPr sz="10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44" name="Google Shape;144;p13"/>
          <p:cNvSpPr/>
          <p:nvPr/>
        </p:nvSpPr>
        <p:spPr>
          <a:xfrm>
            <a:off x="1701200" y="12052375"/>
            <a:ext cx="2327100" cy="3714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Proven in tandem</a:t>
            </a:r>
            <a:endParaRPr/>
          </a:p>
        </p:txBody>
      </p:sp>
      <p:sp>
        <p:nvSpPr>
          <p:cNvPr id="145" name="Google Shape;145;p13"/>
          <p:cNvSpPr/>
          <p:nvPr/>
        </p:nvSpPr>
        <p:spPr>
          <a:xfrm>
            <a:off x="1701200" y="12571475"/>
            <a:ext cx="2327100" cy="4500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Presumed in tandem</a:t>
            </a:r>
            <a:endParaRPr/>
          </a:p>
        </p:txBody>
      </p:sp>
      <p:sp>
        <p:nvSpPr>
          <p:cNvPr id="146" name="Google Shape;146;p13"/>
          <p:cNvSpPr/>
          <p:nvPr/>
        </p:nvSpPr>
        <p:spPr>
          <a:xfrm>
            <a:off x="1701200" y="13068275"/>
            <a:ext cx="2327100" cy="4617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Proven not in tandem</a:t>
            </a:r>
            <a:endParaRPr/>
          </a:p>
        </p:txBody>
      </p:sp>
      <p:sp>
        <p:nvSpPr>
          <p:cNvPr id="147" name="Google Shape;147;p13"/>
          <p:cNvSpPr/>
          <p:nvPr/>
        </p:nvSpPr>
        <p:spPr>
          <a:xfrm>
            <a:off x="4533725" y="12051213"/>
            <a:ext cx="5907300" cy="2769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Reading frame disrupted and NMD predicted to occur</a:t>
            </a:r>
            <a:endParaRPr/>
          </a:p>
        </p:txBody>
      </p:sp>
      <p:sp>
        <p:nvSpPr>
          <p:cNvPr id="148" name="Google Shape;148;p13"/>
          <p:cNvSpPr/>
          <p:nvPr/>
        </p:nvSpPr>
        <p:spPr>
          <a:xfrm>
            <a:off x="4533625" y="12418650"/>
            <a:ext cx="5907300" cy="2769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Times New Roman"/>
                <a:ea typeface="Times New Roman"/>
                <a:cs typeface="Times New Roman"/>
                <a:sym typeface="Times New Roman"/>
              </a:rPr>
              <a:t>No or unknown i</a:t>
            </a:r>
            <a:r>
              <a:rPr lang="en" sz="12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mpact on reading frame and NMD</a:t>
            </a:r>
            <a:endParaRPr/>
          </a:p>
        </p:txBody>
      </p:sp>
      <p:sp>
        <p:nvSpPr>
          <p:cNvPr id="149" name="Google Shape;149;p13"/>
          <p:cNvSpPr/>
          <p:nvPr/>
        </p:nvSpPr>
        <p:spPr>
          <a:xfrm>
            <a:off x="4533750" y="12818300"/>
            <a:ext cx="5907300" cy="2769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Reading frame presumed disrupted and NMD predicted to occur</a:t>
            </a:r>
            <a:endParaRPr/>
          </a:p>
        </p:txBody>
      </p:sp>
      <p:sp>
        <p:nvSpPr>
          <p:cNvPr id="150" name="Google Shape;150;p13"/>
          <p:cNvSpPr/>
          <p:nvPr/>
        </p:nvSpPr>
        <p:spPr>
          <a:xfrm>
            <a:off x="10945225" y="12051213"/>
            <a:ext cx="1281000" cy="2769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PVS1</a:t>
            </a:r>
            <a:endParaRPr/>
          </a:p>
        </p:txBody>
      </p:sp>
      <p:sp>
        <p:nvSpPr>
          <p:cNvPr id="151" name="Google Shape;151;p13"/>
          <p:cNvSpPr/>
          <p:nvPr/>
        </p:nvSpPr>
        <p:spPr>
          <a:xfrm>
            <a:off x="10945225" y="12418650"/>
            <a:ext cx="1281000" cy="2769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N/A</a:t>
            </a:r>
            <a:endParaRPr/>
          </a:p>
        </p:txBody>
      </p:sp>
      <p:sp>
        <p:nvSpPr>
          <p:cNvPr id="152" name="Google Shape;152;p13"/>
          <p:cNvSpPr/>
          <p:nvPr/>
        </p:nvSpPr>
        <p:spPr>
          <a:xfrm>
            <a:off x="10945225" y="12818300"/>
            <a:ext cx="1281000" cy="2769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PVS1_Strong</a:t>
            </a:r>
            <a:endParaRPr/>
          </a:p>
        </p:txBody>
      </p:sp>
      <p:sp>
        <p:nvSpPr>
          <p:cNvPr id="153" name="Google Shape;153;p13"/>
          <p:cNvSpPr/>
          <p:nvPr/>
        </p:nvSpPr>
        <p:spPr>
          <a:xfrm>
            <a:off x="10945225" y="13160675"/>
            <a:ext cx="1281000" cy="2769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N/A</a:t>
            </a:r>
            <a:endParaRPr/>
          </a:p>
        </p:txBody>
      </p:sp>
      <p:sp>
        <p:nvSpPr>
          <p:cNvPr id="154" name="Google Shape;154;p13"/>
          <p:cNvSpPr txBox="1"/>
          <p:nvPr/>
        </p:nvSpPr>
        <p:spPr>
          <a:xfrm>
            <a:off x="80325" y="13755673"/>
            <a:ext cx="1105800" cy="10758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b="1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Initiation Codon</a:t>
            </a:r>
            <a:endParaRPr b="1"/>
          </a:p>
        </p:txBody>
      </p:sp>
      <p:sp>
        <p:nvSpPr>
          <p:cNvPr id="155" name="Google Shape;155;p13"/>
          <p:cNvSpPr/>
          <p:nvPr/>
        </p:nvSpPr>
        <p:spPr>
          <a:xfrm>
            <a:off x="1659400" y="14372150"/>
            <a:ext cx="2327100" cy="5559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Different functional transcript uses alternative start codon</a:t>
            </a:r>
            <a:endParaRPr/>
          </a:p>
        </p:txBody>
      </p:sp>
      <p:sp>
        <p:nvSpPr>
          <p:cNvPr id="156" name="Google Shape;156;p13"/>
          <p:cNvSpPr/>
          <p:nvPr/>
        </p:nvSpPr>
        <p:spPr>
          <a:xfrm>
            <a:off x="1659400" y="13779525"/>
            <a:ext cx="2327100" cy="5559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No known alternative start codon in other transcripts</a:t>
            </a:r>
            <a:endParaRPr/>
          </a:p>
        </p:txBody>
      </p:sp>
      <p:sp>
        <p:nvSpPr>
          <p:cNvPr id="157" name="Google Shape;157;p13"/>
          <p:cNvSpPr/>
          <p:nvPr/>
        </p:nvSpPr>
        <p:spPr>
          <a:xfrm>
            <a:off x="4533801" y="13784050"/>
            <a:ext cx="5781600" cy="2742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≥1 pathogenic variant(s) upstream of closest potential in-frame start codon</a:t>
            </a:r>
            <a:endParaRPr sz="10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8" name="Google Shape;158;p13"/>
          <p:cNvSpPr/>
          <p:nvPr/>
        </p:nvSpPr>
        <p:spPr>
          <a:xfrm>
            <a:off x="4533800" y="14162050"/>
            <a:ext cx="5762700" cy="2742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No pathogenic variant(s) upstream of closest potential in-frame start codon</a:t>
            </a:r>
            <a:endParaRPr sz="10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9" name="Google Shape;159;p13"/>
          <p:cNvSpPr/>
          <p:nvPr/>
        </p:nvSpPr>
        <p:spPr>
          <a:xfrm>
            <a:off x="10945225" y="14160700"/>
            <a:ext cx="1281000" cy="2769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PVS1_Supp</a:t>
            </a:r>
            <a:endParaRPr/>
          </a:p>
        </p:txBody>
      </p:sp>
      <p:sp>
        <p:nvSpPr>
          <p:cNvPr id="160" name="Google Shape;160;p13"/>
          <p:cNvSpPr/>
          <p:nvPr/>
        </p:nvSpPr>
        <p:spPr>
          <a:xfrm>
            <a:off x="10945225" y="13780400"/>
            <a:ext cx="1281000" cy="2769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PVS1_Moderate</a:t>
            </a:r>
            <a:endParaRPr/>
          </a:p>
        </p:txBody>
      </p:sp>
      <p:sp>
        <p:nvSpPr>
          <p:cNvPr id="161" name="Google Shape;161;p13"/>
          <p:cNvSpPr/>
          <p:nvPr/>
        </p:nvSpPr>
        <p:spPr>
          <a:xfrm>
            <a:off x="10945225" y="14511650"/>
            <a:ext cx="1281000" cy="2769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N/A</a:t>
            </a:r>
            <a:endParaRPr/>
          </a:p>
        </p:txBody>
      </p:sp>
      <p:sp>
        <p:nvSpPr>
          <p:cNvPr id="162" name="Google Shape;162;p13"/>
          <p:cNvSpPr/>
          <p:nvPr/>
        </p:nvSpPr>
        <p:spPr>
          <a:xfrm>
            <a:off x="1680250" y="9768325"/>
            <a:ext cx="2327100" cy="9102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Single to </a:t>
            </a:r>
            <a:r>
              <a:rPr lang="en" sz="12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</a:t>
            </a:r>
            <a:r>
              <a:rPr lang="en" sz="12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ulti e</a:t>
            </a:r>
            <a:r>
              <a:rPr lang="en" sz="12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xon d</a:t>
            </a:r>
            <a:r>
              <a:rPr lang="en" sz="12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eletion – </a:t>
            </a:r>
            <a:endParaRPr dirty="0"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Disrupts reading frame</a:t>
            </a:r>
            <a:r>
              <a:rPr lang="en" sz="1200" b="0" i="0" u="none" strike="noStrike" cap="none" baseline="300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r>
              <a:rPr lang="en" sz="12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and is </a:t>
            </a:r>
            <a:r>
              <a:rPr lang="en" sz="1200" b="1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NOT</a:t>
            </a:r>
            <a:r>
              <a:rPr lang="en" sz="12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predicted to undergo NMD</a:t>
            </a:r>
          </a:p>
          <a:p>
            <a:pPr algn="ctr"/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  <a:sym typeface="Times New Roman"/>
              </a:rPr>
              <a:t>Stop codon 3’ of p.Thr1586</a:t>
            </a:r>
            <a:endParaRPr dirty="0"/>
          </a:p>
        </p:txBody>
      </p:sp>
      <p:cxnSp>
        <p:nvCxnSpPr>
          <p:cNvPr id="163" name="Google Shape;163;p13"/>
          <p:cNvCxnSpPr>
            <a:stCxn id="125" idx="3"/>
            <a:endCxn id="128" idx="1"/>
          </p:cNvCxnSpPr>
          <p:nvPr/>
        </p:nvCxnSpPr>
        <p:spPr>
          <a:xfrm rot="10800000" flipH="1">
            <a:off x="1186125" y="8392225"/>
            <a:ext cx="515100" cy="1675200"/>
          </a:xfrm>
          <a:prstGeom prst="straightConnector1">
            <a:avLst/>
          </a:prstGeom>
          <a:noFill/>
          <a:ln w="9525" cap="flat" cmpd="sng">
            <a:solidFill>
              <a:srgbClr val="44546A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64" name="Google Shape;164;p13"/>
          <p:cNvCxnSpPr>
            <a:cxnSpLocks/>
            <a:stCxn id="125" idx="3"/>
            <a:endCxn id="126" idx="1"/>
          </p:cNvCxnSpPr>
          <p:nvPr/>
        </p:nvCxnSpPr>
        <p:spPr>
          <a:xfrm flipV="1">
            <a:off x="1186125" y="9185637"/>
            <a:ext cx="515075" cy="881788"/>
          </a:xfrm>
          <a:prstGeom prst="straightConnector1">
            <a:avLst/>
          </a:prstGeom>
          <a:noFill/>
          <a:ln w="9525" cap="flat" cmpd="sng">
            <a:solidFill>
              <a:srgbClr val="44546A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65" name="Google Shape;165;p13"/>
          <p:cNvCxnSpPr>
            <a:stCxn id="125" idx="3"/>
            <a:endCxn id="162" idx="1"/>
          </p:cNvCxnSpPr>
          <p:nvPr/>
        </p:nvCxnSpPr>
        <p:spPr>
          <a:xfrm>
            <a:off x="1186125" y="10067425"/>
            <a:ext cx="494100" cy="156000"/>
          </a:xfrm>
          <a:prstGeom prst="straightConnector1">
            <a:avLst/>
          </a:prstGeom>
          <a:noFill/>
          <a:ln w="9525" cap="flat" cmpd="sng">
            <a:solidFill>
              <a:srgbClr val="44546A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66" name="Google Shape;166;p13"/>
          <p:cNvCxnSpPr>
            <a:stCxn id="125" idx="3"/>
            <a:endCxn id="127" idx="1"/>
          </p:cNvCxnSpPr>
          <p:nvPr/>
        </p:nvCxnSpPr>
        <p:spPr>
          <a:xfrm>
            <a:off x="1186125" y="10067425"/>
            <a:ext cx="515100" cy="1238100"/>
          </a:xfrm>
          <a:prstGeom prst="straightConnector1">
            <a:avLst/>
          </a:prstGeom>
          <a:noFill/>
          <a:ln w="9525" cap="flat" cmpd="sng">
            <a:solidFill>
              <a:srgbClr val="44546A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67" name="Google Shape;167;p13"/>
          <p:cNvCxnSpPr>
            <a:stCxn id="128" idx="3"/>
            <a:endCxn id="134" idx="1"/>
          </p:cNvCxnSpPr>
          <p:nvPr/>
        </p:nvCxnSpPr>
        <p:spPr>
          <a:xfrm>
            <a:off x="4028300" y="8392200"/>
            <a:ext cx="6916800" cy="0"/>
          </a:xfrm>
          <a:prstGeom prst="straightConnector1">
            <a:avLst/>
          </a:prstGeom>
          <a:noFill/>
          <a:ln w="9525" cap="flat" cmpd="sng">
            <a:solidFill>
              <a:srgbClr val="44546A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68" name="Google Shape;168;p13"/>
          <p:cNvCxnSpPr>
            <a:cxnSpLocks/>
            <a:stCxn id="126" idx="3"/>
            <a:endCxn id="129" idx="1"/>
          </p:cNvCxnSpPr>
          <p:nvPr/>
        </p:nvCxnSpPr>
        <p:spPr>
          <a:xfrm flipV="1">
            <a:off x="4028300" y="8970568"/>
            <a:ext cx="544675" cy="215069"/>
          </a:xfrm>
          <a:prstGeom prst="straightConnector1">
            <a:avLst/>
          </a:prstGeom>
          <a:noFill/>
          <a:ln w="9525" cap="flat" cmpd="sng">
            <a:solidFill>
              <a:srgbClr val="44546A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70" name="Google Shape;170;p13"/>
          <p:cNvCxnSpPr>
            <a:stCxn id="162" idx="3"/>
            <a:endCxn id="130" idx="1"/>
          </p:cNvCxnSpPr>
          <p:nvPr/>
        </p:nvCxnSpPr>
        <p:spPr>
          <a:xfrm flipV="1">
            <a:off x="4007350" y="9504975"/>
            <a:ext cx="537050" cy="718450"/>
          </a:xfrm>
          <a:prstGeom prst="straightConnector1">
            <a:avLst/>
          </a:prstGeom>
          <a:noFill/>
          <a:ln w="9525" cap="flat" cmpd="sng">
            <a:solidFill>
              <a:srgbClr val="44546A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71" name="Google Shape;171;p13"/>
          <p:cNvCxnSpPr>
            <a:stCxn id="162" idx="3"/>
            <a:endCxn id="132" idx="1"/>
          </p:cNvCxnSpPr>
          <p:nvPr/>
        </p:nvCxnSpPr>
        <p:spPr>
          <a:xfrm>
            <a:off x="4007350" y="10223425"/>
            <a:ext cx="565500" cy="474600"/>
          </a:xfrm>
          <a:prstGeom prst="straightConnector1">
            <a:avLst/>
          </a:prstGeom>
          <a:noFill/>
          <a:ln w="9525" cap="flat" cmpd="sng">
            <a:solidFill>
              <a:srgbClr val="44546A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72" name="Google Shape;172;p13"/>
          <p:cNvCxnSpPr>
            <a:stCxn id="127" idx="3"/>
            <a:endCxn id="132" idx="1"/>
          </p:cNvCxnSpPr>
          <p:nvPr/>
        </p:nvCxnSpPr>
        <p:spPr>
          <a:xfrm rot="10800000" flipH="1">
            <a:off x="4028300" y="10697900"/>
            <a:ext cx="544800" cy="607500"/>
          </a:xfrm>
          <a:prstGeom prst="straightConnector1">
            <a:avLst/>
          </a:prstGeom>
          <a:noFill/>
          <a:ln w="9525" cap="flat" cmpd="sng">
            <a:solidFill>
              <a:srgbClr val="44546A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73" name="Google Shape;173;p13"/>
          <p:cNvCxnSpPr>
            <a:stCxn id="127" idx="3"/>
            <a:endCxn id="135" idx="1"/>
          </p:cNvCxnSpPr>
          <p:nvPr/>
        </p:nvCxnSpPr>
        <p:spPr>
          <a:xfrm>
            <a:off x="4028300" y="11305400"/>
            <a:ext cx="516000" cy="395400"/>
          </a:xfrm>
          <a:prstGeom prst="straightConnector1">
            <a:avLst/>
          </a:prstGeom>
          <a:noFill/>
          <a:ln w="9525" cap="flat" cmpd="sng">
            <a:solidFill>
              <a:srgbClr val="44546A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74" name="Google Shape;174;p13"/>
          <p:cNvCxnSpPr>
            <a:stCxn id="132" idx="3"/>
            <a:endCxn id="133" idx="1"/>
          </p:cNvCxnSpPr>
          <p:nvPr/>
        </p:nvCxnSpPr>
        <p:spPr>
          <a:xfrm flipV="1">
            <a:off x="5653875" y="9994450"/>
            <a:ext cx="563400" cy="703425"/>
          </a:xfrm>
          <a:prstGeom prst="straightConnector1">
            <a:avLst/>
          </a:prstGeom>
          <a:noFill/>
          <a:ln w="9525" cap="flat" cmpd="sng">
            <a:solidFill>
              <a:srgbClr val="44546A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75" name="Google Shape;175;p13"/>
          <p:cNvCxnSpPr>
            <a:stCxn id="132" idx="3"/>
          </p:cNvCxnSpPr>
          <p:nvPr/>
        </p:nvCxnSpPr>
        <p:spPr>
          <a:xfrm>
            <a:off x="5653875" y="10697875"/>
            <a:ext cx="563400" cy="289800"/>
          </a:xfrm>
          <a:prstGeom prst="straightConnector1">
            <a:avLst/>
          </a:prstGeom>
          <a:noFill/>
          <a:ln w="9525" cap="flat" cmpd="sng">
            <a:solidFill>
              <a:srgbClr val="44546A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76" name="Google Shape;176;p13"/>
          <p:cNvCxnSpPr>
            <a:cxnSpLocks/>
            <a:stCxn id="129" idx="3"/>
            <a:endCxn id="136" idx="1"/>
          </p:cNvCxnSpPr>
          <p:nvPr/>
        </p:nvCxnSpPr>
        <p:spPr>
          <a:xfrm flipV="1">
            <a:off x="10440975" y="8966218"/>
            <a:ext cx="504250" cy="4350"/>
          </a:xfrm>
          <a:prstGeom prst="straightConnector1">
            <a:avLst/>
          </a:prstGeom>
          <a:noFill/>
          <a:ln w="9525" cap="flat" cmpd="sng">
            <a:solidFill>
              <a:srgbClr val="44546A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78" name="Google Shape;178;p13"/>
          <p:cNvCxnSpPr>
            <a:stCxn id="130" idx="3"/>
            <a:endCxn id="138" idx="1"/>
          </p:cNvCxnSpPr>
          <p:nvPr/>
        </p:nvCxnSpPr>
        <p:spPr>
          <a:xfrm>
            <a:off x="10440900" y="9504975"/>
            <a:ext cx="504325" cy="12700"/>
          </a:xfrm>
          <a:prstGeom prst="straightConnector1">
            <a:avLst/>
          </a:prstGeom>
          <a:noFill/>
          <a:ln w="9525" cap="flat" cmpd="sng">
            <a:solidFill>
              <a:srgbClr val="44546A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79" name="Google Shape;179;p13"/>
          <p:cNvCxnSpPr>
            <a:stCxn id="133" idx="3"/>
            <a:endCxn id="139" idx="1"/>
          </p:cNvCxnSpPr>
          <p:nvPr/>
        </p:nvCxnSpPr>
        <p:spPr>
          <a:xfrm>
            <a:off x="10451775" y="9994450"/>
            <a:ext cx="493450" cy="12700"/>
          </a:xfrm>
          <a:prstGeom prst="straightConnector1">
            <a:avLst/>
          </a:prstGeom>
          <a:noFill/>
          <a:ln w="9525" cap="flat" cmpd="sng">
            <a:solidFill>
              <a:srgbClr val="44546A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80" name="Google Shape;180;p13"/>
          <p:cNvCxnSpPr>
            <a:stCxn id="135" idx="3"/>
            <a:endCxn id="142" idx="1"/>
          </p:cNvCxnSpPr>
          <p:nvPr/>
        </p:nvCxnSpPr>
        <p:spPr>
          <a:xfrm>
            <a:off x="10451700" y="11700700"/>
            <a:ext cx="493500" cy="0"/>
          </a:xfrm>
          <a:prstGeom prst="straightConnector1">
            <a:avLst/>
          </a:prstGeom>
          <a:noFill/>
          <a:ln w="9525" cap="flat" cmpd="sng">
            <a:solidFill>
              <a:srgbClr val="44546A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81" name="Google Shape;181;p13"/>
          <p:cNvCxnSpPr>
            <a:stCxn id="143" idx="3"/>
            <a:endCxn id="144" idx="1"/>
          </p:cNvCxnSpPr>
          <p:nvPr/>
        </p:nvCxnSpPr>
        <p:spPr>
          <a:xfrm rot="10800000" flipH="1">
            <a:off x="1186125" y="12238175"/>
            <a:ext cx="515100" cy="587700"/>
          </a:xfrm>
          <a:prstGeom prst="straightConnector1">
            <a:avLst/>
          </a:prstGeom>
          <a:noFill/>
          <a:ln w="9525" cap="flat" cmpd="sng">
            <a:solidFill>
              <a:srgbClr val="44546A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82" name="Google Shape;182;p13"/>
          <p:cNvCxnSpPr>
            <a:stCxn id="143" idx="3"/>
            <a:endCxn id="145" idx="1"/>
          </p:cNvCxnSpPr>
          <p:nvPr/>
        </p:nvCxnSpPr>
        <p:spPr>
          <a:xfrm rot="10800000" flipH="1">
            <a:off x="1186125" y="12796475"/>
            <a:ext cx="515100" cy="29400"/>
          </a:xfrm>
          <a:prstGeom prst="straightConnector1">
            <a:avLst/>
          </a:prstGeom>
          <a:noFill/>
          <a:ln w="9525" cap="flat" cmpd="sng">
            <a:solidFill>
              <a:srgbClr val="44546A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83" name="Google Shape;183;p13"/>
          <p:cNvCxnSpPr>
            <a:stCxn id="143" idx="3"/>
            <a:endCxn id="146" idx="1"/>
          </p:cNvCxnSpPr>
          <p:nvPr/>
        </p:nvCxnSpPr>
        <p:spPr>
          <a:xfrm>
            <a:off x="1186125" y="12825875"/>
            <a:ext cx="515100" cy="473100"/>
          </a:xfrm>
          <a:prstGeom prst="straightConnector1">
            <a:avLst/>
          </a:prstGeom>
          <a:noFill/>
          <a:ln w="9525" cap="flat" cmpd="sng">
            <a:solidFill>
              <a:srgbClr val="44546A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84" name="Google Shape;184;p13"/>
          <p:cNvCxnSpPr>
            <a:stCxn id="144" idx="3"/>
            <a:endCxn id="148" idx="1"/>
          </p:cNvCxnSpPr>
          <p:nvPr/>
        </p:nvCxnSpPr>
        <p:spPr>
          <a:xfrm>
            <a:off x="4028300" y="12238075"/>
            <a:ext cx="505200" cy="318900"/>
          </a:xfrm>
          <a:prstGeom prst="straightConnector1">
            <a:avLst/>
          </a:prstGeom>
          <a:noFill/>
          <a:ln w="9525" cap="flat" cmpd="sng">
            <a:solidFill>
              <a:srgbClr val="44546A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85" name="Google Shape;185;p13"/>
          <p:cNvCxnSpPr>
            <a:stCxn id="145" idx="3"/>
            <a:endCxn id="148" idx="1"/>
          </p:cNvCxnSpPr>
          <p:nvPr/>
        </p:nvCxnSpPr>
        <p:spPr>
          <a:xfrm rot="10800000" flipH="1">
            <a:off x="4028300" y="12557075"/>
            <a:ext cx="505200" cy="239400"/>
          </a:xfrm>
          <a:prstGeom prst="straightConnector1">
            <a:avLst/>
          </a:prstGeom>
          <a:noFill/>
          <a:ln w="9525" cap="flat" cmpd="sng">
            <a:solidFill>
              <a:srgbClr val="44546A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86" name="Google Shape;186;p13"/>
          <p:cNvCxnSpPr>
            <a:stCxn id="145" idx="3"/>
            <a:endCxn id="149" idx="1"/>
          </p:cNvCxnSpPr>
          <p:nvPr/>
        </p:nvCxnSpPr>
        <p:spPr>
          <a:xfrm>
            <a:off x="4028300" y="12796475"/>
            <a:ext cx="505500" cy="160200"/>
          </a:xfrm>
          <a:prstGeom prst="straightConnector1">
            <a:avLst/>
          </a:prstGeom>
          <a:noFill/>
          <a:ln w="9525" cap="flat" cmpd="sng">
            <a:solidFill>
              <a:srgbClr val="44546A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87" name="Google Shape;187;p13"/>
          <p:cNvCxnSpPr>
            <a:stCxn id="147" idx="3"/>
            <a:endCxn id="150" idx="1"/>
          </p:cNvCxnSpPr>
          <p:nvPr/>
        </p:nvCxnSpPr>
        <p:spPr>
          <a:xfrm>
            <a:off x="10441025" y="12189663"/>
            <a:ext cx="504300" cy="0"/>
          </a:xfrm>
          <a:prstGeom prst="straightConnector1">
            <a:avLst/>
          </a:prstGeom>
          <a:noFill/>
          <a:ln w="9525" cap="flat" cmpd="sng">
            <a:solidFill>
              <a:srgbClr val="44546A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88" name="Google Shape;188;p13"/>
          <p:cNvCxnSpPr>
            <a:stCxn id="148" idx="3"/>
            <a:endCxn id="151" idx="1"/>
          </p:cNvCxnSpPr>
          <p:nvPr/>
        </p:nvCxnSpPr>
        <p:spPr>
          <a:xfrm>
            <a:off x="10440925" y="12557100"/>
            <a:ext cx="504300" cy="0"/>
          </a:xfrm>
          <a:prstGeom prst="straightConnector1">
            <a:avLst/>
          </a:prstGeom>
          <a:noFill/>
          <a:ln w="9525" cap="flat" cmpd="sng">
            <a:solidFill>
              <a:srgbClr val="44546A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89" name="Google Shape;189;p13"/>
          <p:cNvCxnSpPr>
            <a:stCxn id="149" idx="3"/>
            <a:endCxn id="152" idx="1"/>
          </p:cNvCxnSpPr>
          <p:nvPr/>
        </p:nvCxnSpPr>
        <p:spPr>
          <a:xfrm>
            <a:off x="10441050" y="12956750"/>
            <a:ext cx="504300" cy="0"/>
          </a:xfrm>
          <a:prstGeom prst="straightConnector1">
            <a:avLst/>
          </a:prstGeom>
          <a:noFill/>
          <a:ln w="9525" cap="flat" cmpd="sng">
            <a:solidFill>
              <a:srgbClr val="44546A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90" name="Google Shape;190;p13"/>
          <p:cNvCxnSpPr>
            <a:stCxn id="156" idx="3"/>
            <a:endCxn id="157" idx="1"/>
          </p:cNvCxnSpPr>
          <p:nvPr/>
        </p:nvCxnSpPr>
        <p:spPr>
          <a:xfrm rot="10800000" flipH="1">
            <a:off x="3986500" y="13921275"/>
            <a:ext cx="547200" cy="136200"/>
          </a:xfrm>
          <a:prstGeom prst="straightConnector1">
            <a:avLst/>
          </a:prstGeom>
          <a:noFill/>
          <a:ln w="9525" cap="flat" cmpd="sng">
            <a:solidFill>
              <a:srgbClr val="44546A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91" name="Google Shape;191;p13"/>
          <p:cNvCxnSpPr>
            <a:stCxn id="156" idx="3"/>
            <a:endCxn id="158" idx="1"/>
          </p:cNvCxnSpPr>
          <p:nvPr/>
        </p:nvCxnSpPr>
        <p:spPr>
          <a:xfrm>
            <a:off x="3986500" y="14057475"/>
            <a:ext cx="547200" cy="241800"/>
          </a:xfrm>
          <a:prstGeom prst="straightConnector1">
            <a:avLst/>
          </a:prstGeom>
          <a:noFill/>
          <a:ln w="9525" cap="flat" cmpd="sng">
            <a:solidFill>
              <a:srgbClr val="44546A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92" name="Google Shape;192;p13"/>
          <p:cNvCxnSpPr>
            <a:stCxn id="155" idx="3"/>
            <a:endCxn id="161" idx="1"/>
          </p:cNvCxnSpPr>
          <p:nvPr/>
        </p:nvCxnSpPr>
        <p:spPr>
          <a:xfrm>
            <a:off x="3986500" y="14650100"/>
            <a:ext cx="6958800" cy="0"/>
          </a:xfrm>
          <a:prstGeom prst="straightConnector1">
            <a:avLst/>
          </a:prstGeom>
          <a:noFill/>
          <a:ln w="9525" cap="flat" cmpd="sng">
            <a:solidFill>
              <a:srgbClr val="44546A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93" name="Google Shape;193;p13"/>
          <p:cNvCxnSpPr>
            <a:stCxn id="157" idx="3"/>
            <a:endCxn id="160" idx="1"/>
          </p:cNvCxnSpPr>
          <p:nvPr/>
        </p:nvCxnSpPr>
        <p:spPr>
          <a:xfrm rot="10800000" flipH="1">
            <a:off x="10315401" y="13918750"/>
            <a:ext cx="629700" cy="2400"/>
          </a:xfrm>
          <a:prstGeom prst="straightConnector1">
            <a:avLst/>
          </a:prstGeom>
          <a:noFill/>
          <a:ln w="9525" cap="flat" cmpd="sng">
            <a:solidFill>
              <a:srgbClr val="44546A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94" name="Google Shape;194;p13"/>
          <p:cNvCxnSpPr>
            <a:stCxn id="158" idx="3"/>
            <a:endCxn id="159" idx="1"/>
          </p:cNvCxnSpPr>
          <p:nvPr/>
        </p:nvCxnSpPr>
        <p:spPr>
          <a:xfrm>
            <a:off x="10296500" y="14299150"/>
            <a:ext cx="648600" cy="0"/>
          </a:xfrm>
          <a:prstGeom prst="straightConnector1">
            <a:avLst/>
          </a:prstGeom>
          <a:noFill/>
          <a:ln w="9525" cap="flat" cmpd="sng">
            <a:solidFill>
              <a:srgbClr val="44546A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95" name="Google Shape;195;p13"/>
          <p:cNvCxnSpPr>
            <a:stCxn id="154" idx="3"/>
            <a:endCxn id="156" idx="1"/>
          </p:cNvCxnSpPr>
          <p:nvPr/>
        </p:nvCxnSpPr>
        <p:spPr>
          <a:xfrm rot="10800000" flipH="1">
            <a:off x="1186125" y="14057473"/>
            <a:ext cx="473400" cy="236100"/>
          </a:xfrm>
          <a:prstGeom prst="straightConnector1">
            <a:avLst/>
          </a:prstGeom>
          <a:noFill/>
          <a:ln w="9525" cap="flat" cmpd="sng">
            <a:solidFill>
              <a:srgbClr val="44546A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96" name="Google Shape;196;p13"/>
          <p:cNvCxnSpPr>
            <a:stCxn id="154" idx="3"/>
            <a:endCxn id="155" idx="1"/>
          </p:cNvCxnSpPr>
          <p:nvPr/>
        </p:nvCxnSpPr>
        <p:spPr>
          <a:xfrm>
            <a:off x="1186125" y="14293573"/>
            <a:ext cx="473400" cy="356400"/>
          </a:xfrm>
          <a:prstGeom prst="straightConnector1">
            <a:avLst/>
          </a:prstGeom>
          <a:noFill/>
          <a:ln w="9525" cap="flat" cmpd="sng">
            <a:solidFill>
              <a:srgbClr val="44546A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197" name="Google Shape;197;p13"/>
          <p:cNvSpPr/>
          <p:nvPr/>
        </p:nvSpPr>
        <p:spPr>
          <a:xfrm>
            <a:off x="6217275" y="10498225"/>
            <a:ext cx="2618100" cy="9789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</a:t>
            </a:r>
            <a:r>
              <a:rPr lang="en" sz="1200" dirty="0" err="1">
                <a:latin typeface="Times New Roman"/>
                <a:ea typeface="Times New Roman"/>
                <a:cs typeface="Times New Roman"/>
                <a:sym typeface="Times New Roman"/>
              </a:rPr>
              <a:t>o</a:t>
            </a:r>
            <a:r>
              <a:rPr lang="en" sz="1200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</a:t>
            </a:r>
            <a:r>
              <a:rPr lang="en" sz="12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variants in this exon are not frequent in the general population and exon is present in biologically-relevant transcript(s)</a:t>
            </a:r>
            <a:r>
              <a:rPr lang="en" sz="1200" baseline="300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endParaRPr sz="1200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98" name="Google Shape;198;p13"/>
          <p:cNvSpPr/>
          <p:nvPr/>
        </p:nvSpPr>
        <p:spPr>
          <a:xfrm>
            <a:off x="9220300" y="10345825"/>
            <a:ext cx="1231500" cy="53805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Variant removes </a:t>
            </a:r>
            <a:r>
              <a:rPr lang="en" sz="12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&gt;10% of protein</a:t>
            </a:r>
          </a:p>
          <a:p>
            <a:pPr algn="ctr"/>
            <a:r>
              <a:rPr lang="en-US" sz="1200" dirty="0">
                <a:latin typeface="Times New Roman"/>
                <a:cs typeface="Times New Roman"/>
                <a:sym typeface="Times New Roman"/>
              </a:rPr>
              <a:t>≥200 aa</a:t>
            </a:r>
            <a:endParaRPr lang="en-US" sz="1200" dirty="0"/>
          </a:p>
        </p:txBody>
      </p:sp>
      <p:sp>
        <p:nvSpPr>
          <p:cNvPr id="199" name="Google Shape;199;p13"/>
          <p:cNvSpPr/>
          <p:nvPr/>
        </p:nvSpPr>
        <p:spPr>
          <a:xfrm>
            <a:off x="9220225" y="10928500"/>
            <a:ext cx="1231500" cy="5486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Variant removes &lt;</a:t>
            </a:r>
            <a:r>
              <a:rPr lang="en" sz="12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10% of p</a:t>
            </a:r>
            <a:r>
              <a:rPr lang="en" sz="12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rotein</a:t>
            </a:r>
          </a:p>
          <a:p>
            <a:pPr algn="ctr"/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&lt;200 aa</a:t>
            </a:r>
          </a:p>
        </p:txBody>
      </p:sp>
      <p:cxnSp>
        <p:nvCxnSpPr>
          <p:cNvPr id="200" name="Google Shape;200;p13"/>
          <p:cNvCxnSpPr>
            <a:cxnSpLocks/>
            <a:stCxn id="197" idx="3"/>
            <a:endCxn id="198" idx="1"/>
          </p:cNvCxnSpPr>
          <p:nvPr/>
        </p:nvCxnSpPr>
        <p:spPr>
          <a:xfrm flipV="1">
            <a:off x="8835375" y="10614850"/>
            <a:ext cx="384925" cy="372825"/>
          </a:xfrm>
          <a:prstGeom prst="straightConnector1">
            <a:avLst/>
          </a:prstGeom>
          <a:noFill/>
          <a:ln w="9525" cap="flat" cmpd="sng">
            <a:solidFill>
              <a:srgbClr val="44546A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201" name="Google Shape;201;p13"/>
          <p:cNvCxnSpPr>
            <a:cxnSpLocks/>
            <a:stCxn id="197" idx="3"/>
            <a:endCxn id="199" idx="1"/>
          </p:cNvCxnSpPr>
          <p:nvPr/>
        </p:nvCxnSpPr>
        <p:spPr>
          <a:xfrm>
            <a:off x="8835375" y="10987675"/>
            <a:ext cx="384850" cy="215125"/>
          </a:xfrm>
          <a:prstGeom prst="straightConnector1">
            <a:avLst/>
          </a:prstGeom>
          <a:noFill/>
          <a:ln w="9525" cap="flat" cmpd="sng">
            <a:solidFill>
              <a:srgbClr val="44546A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202" name="Google Shape;202;p13"/>
          <p:cNvCxnSpPr>
            <a:cxnSpLocks/>
            <a:stCxn id="198" idx="3"/>
            <a:endCxn id="140" idx="1"/>
          </p:cNvCxnSpPr>
          <p:nvPr/>
        </p:nvCxnSpPr>
        <p:spPr>
          <a:xfrm>
            <a:off x="10451800" y="10614850"/>
            <a:ext cx="493425" cy="8125"/>
          </a:xfrm>
          <a:prstGeom prst="straightConnector1">
            <a:avLst/>
          </a:prstGeom>
          <a:noFill/>
          <a:ln w="9525" cap="flat" cmpd="sng">
            <a:solidFill>
              <a:srgbClr val="595959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203" name="Google Shape;203;p13"/>
          <p:cNvCxnSpPr>
            <a:cxnSpLocks/>
            <a:stCxn id="199" idx="3"/>
            <a:endCxn id="141" idx="1"/>
          </p:cNvCxnSpPr>
          <p:nvPr/>
        </p:nvCxnSpPr>
        <p:spPr>
          <a:xfrm>
            <a:off x="10451725" y="11202800"/>
            <a:ext cx="493500" cy="9850"/>
          </a:xfrm>
          <a:prstGeom prst="straightConnector1">
            <a:avLst/>
          </a:prstGeom>
          <a:noFill/>
          <a:ln w="9525" cap="flat" cmpd="sng">
            <a:solidFill>
              <a:srgbClr val="595959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204" name="Google Shape;204;p13"/>
          <p:cNvSpPr/>
          <p:nvPr/>
        </p:nvSpPr>
        <p:spPr>
          <a:xfrm>
            <a:off x="4536350" y="6111113"/>
            <a:ext cx="1080900" cy="15582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Role of region in protein function is unknown</a:t>
            </a:r>
            <a:endParaRPr/>
          </a:p>
        </p:txBody>
      </p:sp>
      <p:sp>
        <p:nvSpPr>
          <p:cNvPr id="205" name="Google Shape;205;p13"/>
          <p:cNvSpPr/>
          <p:nvPr/>
        </p:nvSpPr>
        <p:spPr>
          <a:xfrm>
            <a:off x="6180650" y="6099400"/>
            <a:ext cx="4234500" cy="4617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</a:t>
            </a:r>
            <a:r>
              <a:rPr lang="en" sz="1200">
                <a:latin typeface="Times New Roman"/>
                <a:ea typeface="Times New Roman"/>
                <a:cs typeface="Times New Roman"/>
                <a:sym typeface="Times New Roman"/>
              </a:rPr>
              <a:t>o</a:t>
            </a:r>
            <a:r>
              <a:rPr lang="en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 variants in this exon are frequent in the general population and/or exon is absent from biologically-relevant transcript(s)</a:t>
            </a:r>
            <a:endParaRPr/>
          </a:p>
        </p:txBody>
      </p:sp>
      <p:sp>
        <p:nvSpPr>
          <p:cNvPr id="206" name="Google Shape;206;p13"/>
          <p:cNvSpPr/>
          <p:nvPr/>
        </p:nvSpPr>
        <p:spPr>
          <a:xfrm>
            <a:off x="6180650" y="6668925"/>
            <a:ext cx="2618100" cy="9789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</a:t>
            </a:r>
            <a:r>
              <a:rPr lang="en" sz="1200">
                <a:latin typeface="Times New Roman"/>
                <a:ea typeface="Times New Roman"/>
                <a:cs typeface="Times New Roman"/>
                <a:sym typeface="Times New Roman"/>
              </a:rPr>
              <a:t>o</a:t>
            </a:r>
            <a:r>
              <a:rPr lang="en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 variants in this exon are not frequent in the general population and exon is present in biologically-relevant transcript(s)</a:t>
            </a:r>
            <a:endParaRPr sz="12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07" name="Google Shape;207;p13"/>
          <p:cNvSpPr/>
          <p:nvPr/>
        </p:nvSpPr>
        <p:spPr>
          <a:xfrm>
            <a:off x="9183675" y="6587101"/>
            <a:ext cx="1231500" cy="534524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Variant removes </a:t>
            </a:r>
            <a:r>
              <a:rPr lang="en" sz="12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&gt;10% of protein</a:t>
            </a:r>
          </a:p>
          <a:p>
            <a:pPr algn="ctr"/>
            <a:r>
              <a:rPr lang="en-US" sz="1200" dirty="0">
                <a:latin typeface="Times New Roman"/>
                <a:cs typeface="Times New Roman"/>
                <a:sym typeface="Times New Roman"/>
              </a:rPr>
              <a:t>≥200 aa</a:t>
            </a:r>
            <a:endParaRPr lang="en-US" sz="1200" dirty="0"/>
          </a:p>
        </p:txBody>
      </p:sp>
      <p:sp>
        <p:nvSpPr>
          <p:cNvPr id="208" name="Google Shape;208;p13"/>
          <p:cNvSpPr/>
          <p:nvPr/>
        </p:nvSpPr>
        <p:spPr>
          <a:xfrm>
            <a:off x="10945225" y="6144550"/>
            <a:ext cx="1281000" cy="3714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N/A</a:t>
            </a:r>
            <a:endParaRPr/>
          </a:p>
        </p:txBody>
      </p:sp>
      <p:sp>
        <p:nvSpPr>
          <p:cNvPr id="209" name="Google Shape;209;p13"/>
          <p:cNvSpPr/>
          <p:nvPr/>
        </p:nvSpPr>
        <p:spPr>
          <a:xfrm>
            <a:off x="10945225" y="6695025"/>
            <a:ext cx="1281000" cy="3243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PVS1_Strong</a:t>
            </a:r>
            <a:endParaRPr/>
          </a:p>
        </p:txBody>
      </p:sp>
      <p:sp>
        <p:nvSpPr>
          <p:cNvPr id="210" name="Google Shape;210;p13"/>
          <p:cNvSpPr/>
          <p:nvPr/>
        </p:nvSpPr>
        <p:spPr>
          <a:xfrm>
            <a:off x="10945225" y="7286550"/>
            <a:ext cx="1281000" cy="3714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</a:t>
            </a:r>
            <a:r>
              <a:rPr lang="en" sz="1200">
                <a:latin typeface="Times New Roman"/>
                <a:ea typeface="Times New Roman"/>
                <a:cs typeface="Times New Roman"/>
                <a:sym typeface="Times New Roman"/>
              </a:rPr>
              <a:t>VS1_Moderate</a:t>
            </a:r>
            <a:endParaRPr/>
          </a:p>
        </p:txBody>
      </p:sp>
      <p:sp>
        <p:nvSpPr>
          <p:cNvPr id="211" name="Google Shape;211;p13"/>
          <p:cNvSpPr/>
          <p:nvPr/>
        </p:nvSpPr>
        <p:spPr>
          <a:xfrm>
            <a:off x="9183600" y="7195099"/>
            <a:ext cx="1231500" cy="555125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Variant removes &lt;</a:t>
            </a:r>
            <a:r>
              <a:rPr lang="en" sz="12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10% of p</a:t>
            </a:r>
            <a:r>
              <a:rPr lang="en" sz="12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rotein</a:t>
            </a:r>
          </a:p>
          <a:p>
            <a:pPr algn="ctr"/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&lt;200 aa</a:t>
            </a:r>
          </a:p>
        </p:txBody>
      </p:sp>
      <p:cxnSp>
        <p:nvCxnSpPr>
          <p:cNvPr id="212" name="Google Shape;212;p13"/>
          <p:cNvCxnSpPr>
            <a:endCxn id="205" idx="1"/>
          </p:cNvCxnSpPr>
          <p:nvPr/>
        </p:nvCxnSpPr>
        <p:spPr>
          <a:xfrm rot="10800000" flipH="1">
            <a:off x="5617250" y="6330250"/>
            <a:ext cx="563400" cy="538200"/>
          </a:xfrm>
          <a:prstGeom prst="straightConnector1">
            <a:avLst/>
          </a:prstGeom>
          <a:noFill/>
          <a:ln w="9525" cap="flat" cmpd="sng">
            <a:solidFill>
              <a:srgbClr val="44546A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213" name="Google Shape;213;p13"/>
          <p:cNvCxnSpPr>
            <a:endCxn id="206" idx="1"/>
          </p:cNvCxnSpPr>
          <p:nvPr/>
        </p:nvCxnSpPr>
        <p:spPr>
          <a:xfrm>
            <a:off x="5617250" y="6868575"/>
            <a:ext cx="563400" cy="289800"/>
          </a:xfrm>
          <a:prstGeom prst="straightConnector1">
            <a:avLst/>
          </a:prstGeom>
          <a:noFill/>
          <a:ln w="9525" cap="flat" cmpd="sng">
            <a:solidFill>
              <a:srgbClr val="44546A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214" name="Google Shape;214;p13"/>
          <p:cNvCxnSpPr>
            <a:cxnSpLocks/>
            <a:stCxn id="206" idx="3"/>
            <a:endCxn id="207" idx="1"/>
          </p:cNvCxnSpPr>
          <p:nvPr/>
        </p:nvCxnSpPr>
        <p:spPr>
          <a:xfrm flipV="1">
            <a:off x="8798750" y="6854363"/>
            <a:ext cx="384925" cy="304012"/>
          </a:xfrm>
          <a:prstGeom prst="straightConnector1">
            <a:avLst/>
          </a:prstGeom>
          <a:noFill/>
          <a:ln w="9525" cap="flat" cmpd="sng">
            <a:solidFill>
              <a:srgbClr val="44546A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215" name="Google Shape;215;p13"/>
          <p:cNvCxnSpPr>
            <a:cxnSpLocks/>
            <a:stCxn id="206" idx="3"/>
            <a:endCxn id="211" idx="1"/>
          </p:cNvCxnSpPr>
          <p:nvPr/>
        </p:nvCxnSpPr>
        <p:spPr>
          <a:xfrm>
            <a:off x="8798750" y="7158375"/>
            <a:ext cx="384850" cy="314287"/>
          </a:xfrm>
          <a:prstGeom prst="straightConnector1">
            <a:avLst/>
          </a:prstGeom>
          <a:noFill/>
          <a:ln w="9525" cap="flat" cmpd="sng">
            <a:solidFill>
              <a:srgbClr val="44546A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216" name="Google Shape;216;p13"/>
          <p:cNvCxnSpPr>
            <a:stCxn id="205" idx="3"/>
            <a:endCxn id="208" idx="1"/>
          </p:cNvCxnSpPr>
          <p:nvPr/>
        </p:nvCxnSpPr>
        <p:spPr>
          <a:xfrm>
            <a:off x="10415150" y="6330250"/>
            <a:ext cx="530100" cy="0"/>
          </a:xfrm>
          <a:prstGeom prst="straightConnector1">
            <a:avLst/>
          </a:prstGeom>
          <a:noFill/>
          <a:ln w="9525" cap="flat" cmpd="sng">
            <a:solidFill>
              <a:srgbClr val="595959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217" name="Google Shape;217;p13"/>
          <p:cNvCxnSpPr>
            <a:cxnSpLocks/>
            <a:stCxn id="207" idx="3"/>
            <a:endCxn id="209" idx="1"/>
          </p:cNvCxnSpPr>
          <p:nvPr/>
        </p:nvCxnSpPr>
        <p:spPr>
          <a:xfrm>
            <a:off x="10415175" y="6854363"/>
            <a:ext cx="530050" cy="2812"/>
          </a:xfrm>
          <a:prstGeom prst="straightConnector1">
            <a:avLst/>
          </a:prstGeom>
          <a:noFill/>
          <a:ln w="9525" cap="flat" cmpd="sng">
            <a:solidFill>
              <a:srgbClr val="595959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218" name="Google Shape;218;p13"/>
          <p:cNvCxnSpPr>
            <a:cxnSpLocks/>
            <a:stCxn id="211" idx="3"/>
            <a:endCxn id="210" idx="1"/>
          </p:cNvCxnSpPr>
          <p:nvPr/>
        </p:nvCxnSpPr>
        <p:spPr>
          <a:xfrm flipV="1">
            <a:off x="10415100" y="7472250"/>
            <a:ext cx="530125" cy="412"/>
          </a:xfrm>
          <a:prstGeom prst="straightConnector1">
            <a:avLst/>
          </a:prstGeom>
          <a:noFill/>
          <a:ln w="9525" cap="flat" cmpd="sng">
            <a:solidFill>
              <a:srgbClr val="595959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219" name="Google Shape;219;p13"/>
          <p:cNvCxnSpPr>
            <a:stCxn id="83" idx="3"/>
            <a:endCxn id="204" idx="1"/>
          </p:cNvCxnSpPr>
          <p:nvPr/>
        </p:nvCxnSpPr>
        <p:spPr>
          <a:xfrm rot="10800000" flipH="1">
            <a:off x="4028325" y="6890300"/>
            <a:ext cx="507900" cy="1791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220" name="Google Shape;220;p13"/>
          <p:cNvCxnSpPr>
            <a:stCxn id="83" idx="3"/>
            <a:endCxn id="91" idx="1"/>
          </p:cNvCxnSpPr>
          <p:nvPr/>
        </p:nvCxnSpPr>
        <p:spPr>
          <a:xfrm>
            <a:off x="4028325" y="7069400"/>
            <a:ext cx="505500" cy="8214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221" name="Google Shape;221;p13"/>
          <p:cNvCxnSpPr>
            <a:stCxn id="146" idx="3"/>
            <a:endCxn id="153" idx="1"/>
          </p:cNvCxnSpPr>
          <p:nvPr/>
        </p:nvCxnSpPr>
        <p:spPr>
          <a:xfrm>
            <a:off x="4028300" y="13299125"/>
            <a:ext cx="69168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222" name="Google Shape;222;p13"/>
          <p:cNvCxnSpPr>
            <a:stCxn id="144" idx="3"/>
            <a:endCxn id="147" idx="1"/>
          </p:cNvCxnSpPr>
          <p:nvPr/>
        </p:nvCxnSpPr>
        <p:spPr>
          <a:xfrm rot="10800000" flipH="1">
            <a:off x="4028300" y="12189775"/>
            <a:ext cx="505500" cy="483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6980</TotalTime>
  <Words>840</Words>
  <Application>Microsoft Macintosh PowerPoint</Application>
  <PresentationFormat>Custom</PresentationFormat>
  <Paragraphs>108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Times New Roman</vt:lpstr>
      <vt:lpstr>Simple Light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cp:lastModifiedBy>Smith, Lacey</cp:lastModifiedBy>
  <cp:revision>18</cp:revision>
  <dcterms:modified xsi:type="dcterms:W3CDTF">2024-12-17T15:10:37Z</dcterms:modified>
</cp:coreProperties>
</file>