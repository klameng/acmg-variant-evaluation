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64"/>
    <p:restoredTop sz="79116"/>
  </p:normalViewPr>
  <p:slideViewPr>
    <p:cSldViewPr snapToGrid="0">
      <p:cViewPr>
        <p:scale>
          <a:sx n="80" d="100"/>
          <a:sy n="80" d="100"/>
        </p:scale>
        <p:origin x="656" y="144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US" dirty="0"/>
              <a:t>Biologically-relevant transcript:  NM_001037.5 (MANE Select)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US" dirty="0"/>
              <a:t>Truncated/altered region critical to protein function defined as presence of non-truncating, pathogenic (per these criteria) variants 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US" dirty="0"/>
              <a:t>All exons are out of frame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Char char="●"/>
              <a:defRPr sz="3400">
                <a:solidFill>
                  <a:schemeClr val="dk2"/>
                </a:solidFill>
              </a:defRPr>
            </a:lvl1pPr>
            <a:lvl2pPr marL="914400" lvl="1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2pPr>
            <a:lvl3pPr marL="1371600" lvl="2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3pPr>
            <a:lvl4pPr marL="1828800" lvl="3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4pPr>
            <a:lvl5pPr marL="2286000" lvl="4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5pPr>
            <a:lvl6pPr marL="2743200" lvl="5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6pPr>
            <a:lvl7pPr marL="3200400" lvl="6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7pPr>
            <a:lvl8pPr marL="3657600" lvl="7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8pPr>
            <a:lvl9pPr marL="4114800" lvl="8" indent="-39370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55" name="Google Shape;55;p13"/>
          <p:cNvSpPr/>
          <p:nvPr/>
        </p:nvSpPr>
        <p:spPr>
          <a:xfrm>
            <a:off x="1664575" y="216325"/>
            <a:ext cx="2374200" cy="70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endParaRPr lang="en" sz="1200" baseline="30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Stop codon 5’ of p.Thr204</a:t>
            </a:r>
            <a:endParaRPr dirty="0"/>
          </a:p>
        </p:txBody>
      </p:sp>
      <p:sp>
        <p:nvSpPr>
          <p:cNvPr id="56" name="Google Shape;56;p13"/>
          <p:cNvSpPr/>
          <p:nvPr/>
        </p:nvSpPr>
        <p:spPr>
          <a:xfrm>
            <a:off x="1664575" y="146477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Stop codon 3’ of p.Thr204</a:t>
            </a:r>
            <a:endParaRPr lang="en-US" sz="1200" dirty="0"/>
          </a:p>
        </p:txBody>
      </p:sp>
      <p:sp>
        <p:nvSpPr>
          <p:cNvPr id="57" name="Google Shape;57;p13"/>
          <p:cNvSpPr/>
          <p:nvPr/>
        </p:nvSpPr>
        <p:spPr>
          <a:xfrm>
            <a:off x="4536350" y="337078"/>
            <a:ext cx="5868000" cy="43507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NM_001037.5</a:t>
            </a:r>
            <a:endParaRPr lang="en"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0945225" y="401246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4529000" y="95228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4557575" y="14871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6201875" y="1336655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10945225" y="968322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10945225" y="1397847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10945225" y="2002114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dirty="0"/>
          </a:p>
        </p:txBody>
      </p:sp>
      <p:sp>
        <p:nvSpPr>
          <p:cNvPr id="67" name="Google Shape;67;p13"/>
          <p:cNvSpPr/>
          <p:nvPr/>
        </p:nvSpPr>
        <p:spPr>
          <a:xfrm>
            <a:off x="10945225" y="271328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dirty="0"/>
          </a:p>
        </p:txBody>
      </p:sp>
      <p:sp>
        <p:nvSpPr>
          <p:cNvPr id="68" name="Google Shape;68;p13"/>
          <p:cNvSpPr/>
          <p:nvPr/>
        </p:nvSpPr>
        <p:spPr>
          <a:xfrm>
            <a:off x="6201875" y="20662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not frequent in the general population and exon is present in biologically-relevant transcript(s)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9204900" y="1894756"/>
            <a:ext cx="1231500" cy="5288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≥200 aa</a:t>
            </a:r>
            <a:endParaRPr lang="en-US" sz="1200" dirty="0"/>
          </a:p>
        </p:txBody>
      </p:sp>
      <p:sp>
        <p:nvSpPr>
          <p:cNvPr id="70" name="Google Shape;70;p13"/>
          <p:cNvSpPr/>
          <p:nvPr/>
        </p:nvSpPr>
        <p:spPr>
          <a:xfrm>
            <a:off x="9204825" y="2592424"/>
            <a:ext cx="1231500" cy="6033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&lt;200 aa</a:t>
            </a:r>
            <a:endParaRPr dirty="0"/>
          </a:p>
        </p:txBody>
      </p:sp>
      <p:cxnSp>
        <p:nvCxnSpPr>
          <p:cNvPr id="71" name="Google Shape;71;p13"/>
          <p:cNvCxnSpPr>
            <a:cxnSpLocks/>
            <a:stCxn id="68" idx="3"/>
            <a:endCxn id="69" idx="1"/>
          </p:cNvCxnSpPr>
          <p:nvPr/>
        </p:nvCxnSpPr>
        <p:spPr>
          <a:xfrm flipV="1">
            <a:off x="8819975" y="2159166"/>
            <a:ext cx="384925" cy="39653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" name="Google Shape;72;p13"/>
          <p:cNvCxnSpPr>
            <a:cxnSpLocks/>
            <a:stCxn id="68" idx="3"/>
            <a:endCxn id="70" idx="1"/>
          </p:cNvCxnSpPr>
          <p:nvPr/>
        </p:nvCxnSpPr>
        <p:spPr>
          <a:xfrm>
            <a:off x="8819975" y="2555700"/>
            <a:ext cx="384850" cy="33838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p13"/>
          <p:cNvCxnSpPr>
            <a:stCxn id="54" idx="3"/>
            <a:endCxn id="55" idx="1"/>
          </p:cNvCxnSpPr>
          <p:nvPr/>
        </p:nvCxnSpPr>
        <p:spPr>
          <a:xfrm rot="10800000" flipH="1">
            <a:off x="1186125" y="569023"/>
            <a:ext cx="478500" cy="1066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3"/>
          <p:cNvCxnSpPr>
            <a:stCxn id="54" idx="3"/>
            <a:endCxn id="56" idx="1"/>
          </p:cNvCxnSpPr>
          <p:nvPr/>
        </p:nvCxnSpPr>
        <p:spPr>
          <a:xfrm>
            <a:off x="1186125" y="1635523"/>
            <a:ext cx="478500" cy="308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13"/>
          <p:cNvCxnSpPr>
            <a:cxnSpLocks/>
            <a:stCxn id="55" idx="3"/>
            <a:endCxn id="57" idx="1"/>
          </p:cNvCxnSpPr>
          <p:nvPr/>
        </p:nvCxnSpPr>
        <p:spPr>
          <a:xfrm flipV="1">
            <a:off x="4038775" y="554616"/>
            <a:ext cx="497575" cy="1450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77;p13"/>
          <p:cNvCxnSpPr>
            <a:stCxn id="56" idx="3"/>
            <a:endCxn id="61" idx="1"/>
          </p:cNvCxnSpPr>
          <p:nvPr/>
        </p:nvCxnSpPr>
        <p:spPr>
          <a:xfrm flipV="1">
            <a:off x="4038775" y="1090730"/>
            <a:ext cx="490225" cy="85344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3"/>
          <p:cNvCxnSpPr>
            <a:stCxn id="56" idx="3"/>
            <a:endCxn id="62" idx="1"/>
          </p:cNvCxnSpPr>
          <p:nvPr/>
        </p:nvCxnSpPr>
        <p:spPr>
          <a:xfrm>
            <a:off x="4038775" y="1944175"/>
            <a:ext cx="518700" cy="24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" name="Google Shape;79;p13"/>
          <p:cNvCxnSpPr>
            <a:stCxn id="62" idx="3"/>
            <a:endCxn id="63" idx="1"/>
          </p:cNvCxnSpPr>
          <p:nvPr/>
        </p:nvCxnSpPr>
        <p:spPr>
          <a:xfrm flipV="1">
            <a:off x="5638475" y="1567505"/>
            <a:ext cx="563400" cy="62419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" name="Google Shape;80;p13"/>
          <p:cNvCxnSpPr>
            <a:stCxn id="62" idx="3"/>
            <a:endCxn id="68" idx="1"/>
          </p:cNvCxnSpPr>
          <p:nvPr/>
        </p:nvCxnSpPr>
        <p:spPr>
          <a:xfrm>
            <a:off x="5638475" y="21917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" name="Google Shape;81;p13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endParaRPr lang="en" sz="1200" b="1" baseline="30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(if applied, PP3 not to be used in combination)</a:t>
            </a:r>
            <a:endParaRPr dirty="0"/>
          </a:p>
        </p:txBody>
      </p:sp>
      <p:sp>
        <p:nvSpPr>
          <p:cNvPr id="82" name="Google Shape;82;p13"/>
          <p:cNvSpPr/>
          <p:nvPr/>
        </p:nvSpPr>
        <p:spPr>
          <a:xfrm>
            <a:off x="1664575" y="3308700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Stop codon 5’ of p.Thr204</a:t>
            </a:r>
            <a:endParaRPr lang="en-US" sz="1200" dirty="0"/>
          </a:p>
        </p:txBody>
      </p:sp>
      <p:sp>
        <p:nvSpPr>
          <p:cNvPr id="83" name="Google Shape;83;p13"/>
          <p:cNvSpPr/>
          <p:nvPr/>
        </p:nvSpPr>
        <p:spPr>
          <a:xfrm>
            <a:off x="1654125" y="6290300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id="84" name="Google Shape;84;p13"/>
          <p:cNvSpPr/>
          <p:nvPr/>
        </p:nvSpPr>
        <p:spPr>
          <a:xfrm>
            <a:off x="4536350" y="3232499"/>
            <a:ext cx="5868000" cy="377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NM_001037.5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507775" y="3890237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4536350" y="44892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6180650" y="4386906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variants in this exon are frequent in the general population and/or exon is absent from biologically-relevant transcript(s)</a:t>
            </a:r>
            <a:endParaRPr dirty="0"/>
          </a:p>
        </p:txBody>
      </p:sp>
      <p:sp>
        <p:nvSpPr>
          <p:cNvPr id="89" name="Google Shape;89;p13"/>
          <p:cNvSpPr/>
          <p:nvPr/>
        </p:nvSpPr>
        <p:spPr>
          <a:xfrm>
            <a:off x="6180650" y="50687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variants in this exon are not frequent in the general population and exon is present in biologically-relevant transcript(s)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9183675" y="4876888"/>
            <a:ext cx="1231500" cy="57772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≥200 aa</a:t>
            </a:r>
            <a:endParaRPr dirty="0"/>
          </a:p>
        </p:txBody>
      </p:sp>
      <p:sp>
        <p:nvSpPr>
          <p:cNvPr id="91" name="Google Shape;91;p13"/>
          <p:cNvSpPr/>
          <p:nvPr/>
        </p:nvSpPr>
        <p:spPr>
          <a:xfrm>
            <a:off x="4533750" y="77523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0945225" y="3280626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10945225" y="3890237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10945225" y="4432056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10945225" y="5005257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10945225" y="55593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0945225" y="77591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9183600" y="5437674"/>
            <a:ext cx="1231500" cy="60992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&lt;200 aa</a:t>
            </a:r>
          </a:p>
        </p:txBody>
      </p:sp>
      <p:sp>
        <p:nvSpPr>
          <p:cNvPr id="100" name="Google Shape;100;p13"/>
          <p:cNvSpPr/>
          <p:nvPr/>
        </p:nvSpPr>
        <p:spPr>
          <a:xfrm>
            <a:off x="1643625" y="4315725"/>
            <a:ext cx="2395200" cy="1612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Stop codon 3’ of p.Thr204</a:t>
            </a:r>
            <a:endParaRPr dirty="0"/>
          </a:p>
        </p:txBody>
      </p:sp>
      <p:cxnSp>
        <p:nvCxnSpPr>
          <p:cNvPr id="101" name="Google Shape;101;p13"/>
          <p:cNvCxnSpPr>
            <a:stCxn id="81" idx="3"/>
            <a:endCxn id="82" idx="1"/>
          </p:cNvCxnSpPr>
          <p:nvPr/>
        </p:nvCxnSpPr>
        <p:spPr>
          <a:xfrm rot="10800000" flipH="1">
            <a:off x="1186125" y="3710000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3"/>
          <p:cNvCxnSpPr>
            <a:stCxn id="81" idx="3"/>
            <a:endCxn id="100" idx="1"/>
          </p:cNvCxnSpPr>
          <p:nvPr/>
        </p:nvCxnSpPr>
        <p:spPr>
          <a:xfrm rot="10800000" flipH="1">
            <a:off x="1186125" y="5121800"/>
            <a:ext cx="457500" cy="487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3"/>
          <p:cNvCxnSpPr>
            <a:stCxn id="81" idx="3"/>
            <a:endCxn id="83" idx="1"/>
          </p:cNvCxnSpPr>
          <p:nvPr/>
        </p:nvCxnSpPr>
        <p:spPr>
          <a:xfrm>
            <a:off x="1186125" y="5609600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4;p13"/>
          <p:cNvCxnSpPr>
            <a:cxnSpLocks/>
            <a:stCxn id="82" idx="3"/>
            <a:endCxn id="84" idx="1"/>
          </p:cNvCxnSpPr>
          <p:nvPr/>
        </p:nvCxnSpPr>
        <p:spPr>
          <a:xfrm flipV="1">
            <a:off x="4038775" y="3421287"/>
            <a:ext cx="497575" cy="28866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06;p13"/>
          <p:cNvCxnSpPr>
            <a:stCxn id="100" idx="3"/>
            <a:endCxn id="85" idx="1"/>
          </p:cNvCxnSpPr>
          <p:nvPr/>
        </p:nvCxnSpPr>
        <p:spPr>
          <a:xfrm flipV="1">
            <a:off x="4038825" y="4028687"/>
            <a:ext cx="468950" cy="109313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07;p13"/>
          <p:cNvCxnSpPr>
            <a:stCxn id="100" idx="3"/>
            <a:endCxn id="87" idx="1"/>
          </p:cNvCxnSpPr>
          <p:nvPr/>
        </p:nvCxnSpPr>
        <p:spPr>
          <a:xfrm>
            <a:off x="4038825" y="5121825"/>
            <a:ext cx="497400" cy="146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Google Shape;108;p13"/>
          <p:cNvCxnSpPr>
            <a:stCxn id="87" idx="3"/>
            <a:endCxn id="88" idx="1"/>
          </p:cNvCxnSpPr>
          <p:nvPr/>
        </p:nvCxnSpPr>
        <p:spPr>
          <a:xfrm flipV="1">
            <a:off x="5617250" y="4617756"/>
            <a:ext cx="563400" cy="65061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Google Shape;109;p13"/>
          <p:cNvCxnSpPr>
            <a:stCxn id="87" idx="3"/>
            <a:endCxn id="89" idx="1"/>
          </p:cNvCxnSpPr>
          <p:nvPr/>
        </p:nvCxnSpPr>
        <p:spPr>
          <a:xfrm>
            <a:off x="5617250" y="52683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10;p13"/>
          <p:cNvCxnSpPr>
            <a:cxnSpLocks/>
            <a:stCxn id="89" idx="3"/>
            <a:endCxn id="90" idx="1"/>
          </p:cNvCxnSpPr>
          <p:nvPr/>
        </p:nvCxnSpPr>
        <p:spPr>
          <a:xfrm flipV="1">
            <a:off x="8798750" y="5165750"/>
            <a:ext cx="384925" cy="3924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" name="Google Shape;111;p13"/>
          <p:cNvCxnSpPr>
            <a:cxnSpLocks/>
            <a:stCxn id="89" idx="3"/>
            <a:endCxn id="99" idx="1"/>
          </p:cNvCxnSpPr>
          <p:nvPr/>
        </p:nvCxnSpPr>
        <p:spPr>
          <a:xfrm>
            <a:off x="8798750" y="5558175"/>
            <a:ext cx="384850" cy="18446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13"/>
          <p:cNvCxnSpPr>
            <a:cxnSpLocks/>
            <a:stCxn id="57" idx="3"/>
            <a:endCxn id="59" idx="1"/>
          </p:cNvCxnSpPr>
          <p:nvPr/>
        </p:nvCxnSpPr>
        <p:spPr>
          <a:xfrm flipV="1">
            <a:off x="10404350" y="539696"/>
            <a:ext cx="540875" cy="1492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13"/>
          <p:cNvCxnSpPr>
            <a:stCxn id="61" idx="3"/>
            <a:endCxn id="64" idx="1"/>
          </p:cNvCxnSpPr>
          <p:nvPr/>
        </p:nvCxnSpPr>
        <p:spPr>
          <a:xfrm>
            <a:off x="10425500" y="1090730"/>
            <a:ext cx="519725" cy="1604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15;p13"/>
          <p:cNvCxnSpPr>
            <a:stCxn id="63" idx="3"/>
            <a:endCxn id="65" idx="1"/>
          </p:cNvCxnSpPr>
          <p:nvPr/>
        </p:nvCxnSpPr>
        <p:spPr>
          <a:xfrm>
            <a:off x="10436375" y="1567505"/>
            <a:ext cx="508850" cy="1604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" name="Google Shape;116;p13"/>
          <p:cNvCxnSpPr>
            <a:cxnSpLocks/>
            <a:stCxn id="69" idx="3"/>
            <a:endCxn id="66" idx="1"/>
          </p:cNvCxnSpPr>
          <p:nvPr/>
        </p:nvCxnSpPr>
        <p:spPr>
          <a:xfrm>
            <a:off x="10436400" y="2159166"/>
            <a:ext cx="508825" cy="509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" name="Google Shape;117;p13"/>
          <p:cNvCxnSpPr>
            <a:cxnSpLocks/>
            <a:stCxn id="70" idx="3"/>
            <a:endCxn id="67" idx="1"/>
          </p:cNvCxnSpPr>
          <p:nvPr/>
        </p:nvCxnSpPr>
        <p:spPr>
          <a:xfrm>
            <a:off x="10436325" y="2894087"/>
            <a:ext cx="508900" cy="489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" name="Google Shape;118;p13"/>
          <p:cNvCxnSpPr>
            <a:cxnSpLocks/>
            <a:stCxn id="84" idx="3"/>
            <a:endCxn id="92" idx="1"/>
          </p:cNvCxnSpPr>
          <p:nvPr/>
        </p:nvCxnSpPr>
        <p:spPr>
          <a:xfrm flipV="1">
            <a:off x="10404350" y="3419076"/>
            <a:ext cx="540875" cy="221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" name="Google Shape;120;p13"/>
          <p:cNvCxnSpPr>
            <a:stCxn id="85" idx="3"/>
            <a:endCxn id="94" idx="1"/>
          </p:cNvCxnSpPr>
          <p:nvPr/>
        </p:nvCxnSpPr>
        <p:spPr>
          <a:xfrm>
            <a:off x="10404275" y="4028687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" name="Google Shape;121;p13"/>
          <p:cNvCxnSpPr>
            <a:stCxn id="88" idx="3"/>
            <a:endCxn id="95" idx="1"/>
          </p:cNvCxnSpPr>
          <p:nvPr/>
        </p:nvCxnSpPr>
        <p:spPr>
          <a:xfrm>
            <a:off x="10415150" y="4617756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" name="Google Shape;122;p13"/>
          <p:cNvCxnSpPr>
            <a:cxnSpLocks/>
            <a:stCxn id="90" idx="3"/>
            <a:endCxn id="96" idx="1"/>
          </p:cNvCxnSpPr>
          <p:nvPr/>
        </p:nvCxnSpPr>
        <p:spPr>
          <a:xfrm>
            <a:off x="10415175" y="5165750"/>
            <a:ext cx="530050" cy="165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3" name="Google Shape;123;p13"/>
          <p:cNvCxnSpPr>
            <a:cxnSpLocks/>
            <a:stCxn id="99" idx="3"/>
            <a:endCxn id="97" idx="1"/>
          </p:cNvCxnSpPr>
          <p:nvPr/>
        </p:nvCxnSpPr>
        <p:spPr>
          <a:xfrm>
            <a:off x="10415100" y="5742637"/>
            <a:ext cx="530125" cy="2413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4" name="Google Shape;124;p13"/>
          <p:cNvCxnSpPr>
            <a:stCxn id="91" idx="3"/>
            <a:endCxn id="98" idx="1"/>
          </p:cNvCxnSpPr>
          <p:nvPr/>
        </p:nvCxnSpPr>
        <p:spPr>
          <a:xfrm>
            <a:off x="10441050" y="7890800"/>
            <a:ext cx="504300" cy="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" name="Google Shape;125;p13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1701200" y="8725174"/>
            <a:ext cx="2327100" cy="9209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Stop codon 5’ of p.Thr204</a:t>
            </a:r>
            <a:endParaRPr lang="en-US" sz="1200" dirty="0"/>
          </a:p>
        </p:txBody>
      </p:sp>
      <p:sp>
        <p:nvSpPr>
          <p:cNvPr id="127" name="Google Shape;127;p13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exon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dirty="0"/>
          </a:p>
        </p:txBody>
      </p:sp>
      <p:sp>
        <p:nvSpPr>
          <p:cNvPr id="128" name="Google Shape;128;p13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4572975" y="8763599"/>
            <a:ext cx="5868000" cy="41393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NM_001037.5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4544400" y="9366525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dirty="0"/>
          </a:p>
        </p:txBody>
      </p:sp>
      <p:sp>
        <p:nvSpPr>
          <p:cNvPr id="132" name="Google Shape;132;p13"/>
          <p:cNvSpPr/>
          <p:nvPr/>
        </p:nvSpPr>
        <p:spPr>
          <a:xfrm>
            <a:off x="4572975" y="99187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6217275" y="97636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endParaRPr baseline="30000" dirty="0"/>
          </a:p>
        </p:txBody>
      </p:sp>
      <p:sp>
        <p:nvSpPr>
          <p:cNvPr id="135" name="Google Shape;135;p13"/>
          <p:cNvSpPr/>
          <p:nvPr/>
        </p:nvSpPr>
        <p:spPr>
          <a:xfrm>
            <a:off x="4544400" y="115622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10945225" y="882776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10945225" y="93792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10945225" y="98214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10945225" y="104608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1" name="Google Shape;141;p13"/>
          <p:cNvSpPr/>
          <p:nvPr/>
        </p:nvSpPr>
        <p:spPr>
          <a:xfrm>
            <a:off x="10945225" y="110269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VS1_Moderate</a:t>
            </a:r>
            <a:endParaRPr/>
          </a:p>
        </p:txBody>
      </p:sp>
      <p:sp>
        <p:nvSpPr>
          <p:cNvPr id="142" name="Google Shape;142;p13"/>
          <p:cNvSpPr/>
          <p:nvPr/>
        </p:nvSpPr>
        <p:spPr>
          <a:xfrm>
            <a:off x="10945225" y="115622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/>
          </a:p>
        </p:txBody>
      </p:sp>
      <p:sp>
        <p:nvSpPr>
          <p:cNvPr id="146" name="Google Shape;146;p13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or unknown i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mpact on reading frame and NMD</a:t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4533750" y="1281830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Codon</a:t>
            </a:r>
            <a:endParaRPr b="1"/>
          </a:p>
        </p:txBody>
      </p:sp>
      <p:sp>
        <p:nvSpPr>
          <p:cNvPr id="155" name="Google Shape;155;p13"/>
          <p:cNvSpPr/>
          <p:nvPr/>
        </p:nvSpPr>
        <p:spPr>
          <a:xfrm>
            <a:off x="1659400" y="14372150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1659400" y="13779525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4533801" y="13784050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4533800" y="14162050"/>
            <a:ext cx="57627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10945225" y="14160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10945225" y="137804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10945225" y="14511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62" name="Google Shape;162;p13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Stop codon 3’ of p.Thr204</a:t>
            </a:r>
            <a:endParaRPr dirty="0"/>
          </a:p>
        </p:txBody>
      </p:sp>
      <p:cxnSp>
        <p:nvCxnSpPr>
          <p:cNvPr id="163" name="Google Shape;163;p13"/>
          <p:cNvCxnSpPr>
            <a:stCxn id="125" idx="3"/>
            <a:endCxn id="128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p13"/>
          <p:cNvCxnSpPr>
            <a:cxnSpLocks/>
            <a:stCxn id="125" idx="3"/>
            <a:endCxn id="126" idx="1"/>
          </p:cNvCxnSpPr>
          <p:nvPr/>
        </p:nvCxnSpPr>
        <p:spPr>
          <a:xfrm flipV="1">
            <a:off x="1186125" y="9185637"/>
            <a:ext cx="515075" cy="88178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65;p13"/>
          <p:cNvCxnSpPr>
            <a:stCxn id="125" idx="3"/>
            <a:endCxn id="162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66;p13"/>
          <p:cNvCxnSpPr>
            <a:stCxn id="125" idx="3"/>
            <a:endCxn id="127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" name="Google Shape;167;p13"/>
          <p:cNvCxnSpPr>
            <a:stCxn id="128" idx="3"/>
            <a:endCxn id="134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Google Shape;168;p13"/>
          <p:cNvCxnSpPr>
            <a:cxnSpLocks/>
            <a:stCxn id="126" idx="3"/>
            <a:endCxn id="129" idx="1"/>
          </p:cNvCxnSpPr>
          <p:nvPr/>
        </p:nvCxnSpPr>
        <p:spPr>
          <a:xfrm flipV="1">
            <a:off x="4028300" y="8970568"/>
            <a:ext cx="544675" cy="21506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" name="Google Shape;170;p13"/>
          <p:cNvCxnSpPr>
            <a:stCxn id="162" idx="3"/>
            <a:endCxn id="130" idx="1"/>
          </p:cNvCxnSpPr>
          <p:nvPr/>
        </p:nvCxnSpPr>
        <p:spPr>
          <a:xfrm flipV="1">
            <a:off x="4007350" y="9504975"/>
            <a:ext cx="537050" cy="71845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" name="Google Shape;171;p13"/>
          <p:cNvCxnSpPr>
            <a:stCxn id="162" idx="3"/>
            <a:endCxn id="132" idx="1"/>
          </p:cNvCxnSpPr>
          <p:nvPr/>
        </p:nvCxnSpPr>
        <p:spPr>
          <a:xfrm>
            <a:off x="4007350" y="10223425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" name="Google Shape;172;p13"/>
          <p:cNvCxnSpPr>
            <a:stCxn id="127" idx="3"/>
            <a:endCxn id="132" idx="1"/>
          </p:cNvCxnSpPr>
          <p:nvPr/>
        </p:nvCxnSpPr>
        <p:spPr>
          <a:xfrm rot="10800000" flipH="1">
            <a:off x="4028300" y="10697900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3" name="Google Shape;173;p13"/>
          <p:cNvCxnSpPr>
            <a:stCxn id="127" idx="3"/>
            <a:endCxn id="135" idx="1"/>
          </p:cNvCxnSpPr>
          <p:nvPr/>
        </p:nvCxnSpPr>
        <p:spPr>
          <a:xfrm>
            <a:off x="4028300" y="11305400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" name="Google Shape;174;p13"/>
          <p:cNvCxnSpPr>
            <a:stCxn id="132" idx="3"/>
            <a:endCxn id="133" idx="1"/>
          </p:cNvCxnSpPr>
          <p:nvPr/>
        </p:nvCxnSpPr>
        <p:spPr>
          <a:xfrm flipV="1">
            <a:off x="5653875" y="9994450"/>
            <a:ext cx="563400" cy="7034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" name="Google Shape;175;p13"/>
          <p:cNvCxnSpPr>
            <a:stCxn id="132" idx="3"/>
          </p:cNvCxnSpPr>
          <p:nvPr/>
        </p:nvCxnSpPr>
        <p:spPr>
          <a:xfrm>
            <a:off x="5653875" y="106978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" name="Google Shape;176;p13"/>
          <p:cNvCxnSpPr>
            <a:cxnSpLocks/>
            <a:stCxn id="129" idx="3"/>
            <a:endCxn id="136" idx="1"/>
          </p:cNvCxnSpPr>
          <p:nvPr/>
        </p:nvCxnSpPr>
        <p:spPr>
          <a:xfrm flipV="1">
            <a:off x="10440975" y="8966218"/>
            <a:ext cx="504250" cy="435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" name="Google Shape;178;p13"/>
          <p:cNvCxnSpPr>
            <a:stCxn id="130" idx="3"/>
            <a:endCxn id="138" idx="1"/>
          </p:cNvCxnSpPr>
          <p:nvPr/>
        </p:nvCxnSpPr>
        <p:spPr>
          <a:xfrm>
            <a:off x="10440900" y="9504975"/>
            <a:ext cx="504325" cy="12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9" name="Google Shape;179;p13"/>
          <p:cNvCxnSpPr>
            <a:stCxn id="133" idx="3"/>
            <a:endCxn id="139" idx="1"/>
          </p:cNvCxnSpPr>
          <p:nvPr/>
        </p:nvCxnSpPr>
        <p:spPr>
          <a:xfrm>
            <a:off x="10451775" y="9994450"/>
            <a:ext cx="493450" cy="12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0" name="Google Shape;180;p13"/>
          <p:cNvCxnSpPr>
            <a:stCxn id="135" idx="3"/>
            <a:endCxn id="142" idx="1"/>
          </p:cNvCxnSpPr>
          <p:nvPr/>
        </p:nvCxnSpPr>
        <p:spPr>
          <a:xfrm>
            <a:off x="10451700" y="1170070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" name="Google Shape;181;p13"/>
          <p:cNvCxnSpPr>
            <a:stCxn id="143" idx="3"/>
            <a:endCxn id="144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13"/>
          <p:cNvCxnSpPr>
            <a:stCxn id="143" idx="3"/>
            <a:endCxn id="145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p13"/>
          <p:cNvCxnSpPr>
            <a:stCxn id="143" idx="3"/>
            <a:endCxn id="146" idx="1"/>
          </p:cNvCxnSpPr>
          <p:nvPr/>
        </p:nvCxnSpPr>
        <p:spPr>
          <a:xfrm>
            <a:off x="1186125" y="12825875"/>
            <a:ext cx="515100" cy="47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13"/>
          <p:cNvCxnSpPr>
            <a:stCxn id="144" idx="3"/>
            <a:endCxn id="148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13"/>
          <p:cNvCxnSpPr>
            <a:stCxn id="145" idx="3"/>
            <a:endCxn id="148" idx="1"/>
          </p:cNvCxnSpPr>
          <p:nvPr/>
        </p:nvCxnSpPr>
        <p:spPr>
          <a:xfrm rot="10800000" flipH="1">
            <a:off x="4028300" y="12557075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" name="Google Shape;186;p13"/>
          <p:cNvCxnSpPr>
            <a:stCxn id="145" idx="3"/>
            <a:endCxn id="149" idx="1"/>
          </p:cNvCxnSpPr>
          <p:nvPr/>
        </p:nvCxnSpPr>
        <p:spPr>
          <a:xfrm>
            <a:off x="4028300" y="12796475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" name="Google Shape;187;p13"/>
          <p:cNvCxnSpPr>
            <a:stCxn id="147" idx="3"/>
            <a:endCxn id="150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p13"/>
          <p:cNvCxnSpPr>
            <a:stCxn id="148" idx="3"/>
            <a:endCxn id="151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13"/>
          <p:cNvCxnSpPr>
            <a:stCxn id="149" idx="3"/>
            <a:endCxn id="152" idx="1"/>
          </p:cNvCxnSpPr>
          <p:nvPr/>
        </p:nvCxnSpPr>
        <p:spPr>
          <a:xfrm>
            <a:off x="10441050" y="129567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13"/>
          <p:cNvCxnSpPr>
            <a:stCxn id="156" idx="3"/>
            <a:endCxn id="157" idx="1"/>
          </p:cNvCxnSpPr>
          <p:nvPr/>
        </p:nvCxnSpPr>
        <p:spPr>
          <a:xfrm rot="10800000" flipH="1">
            <a:off x="3986500" y="13921275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191;p13"/>
          <p:cNvCxnSpPr>
            <a:stCxn id="156" idx="3"/>
            <a:endCxn id="158" idx="1"/>
          </p:cNvCxnSpPr>
          <p:nvPr/>
        </p:nvCxnSpPr>
        <p:spPr>
          <a:xfrm>
            <a:off x="3986500" y="14057475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13"/>
          <p:cNvCxnSpPr>
            <a:stCxn id="155" idx="3"/>
            <a:endCxn id="161" idx="1"/>
          </p:cNvCxnSpPr>
          <p:nvPr/>
        </p:nvCxnSpPr>
        <p:spPr>
          <a:xfrm>
            <a:off x="3986500" y="14650100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13"/>
          <p:cNvCxnSpPr>
            <a:stCxn id="157" idx="3"/>
            <a:endCxn id="160" idx="1"/>
          </p:cNvCxnSpPr>
          <p:nvPr/>
        </p:nvCxnSpPr>
        <p:spPr>
          <a:xfrm rot="10800000" flipH="1">
            <a:off x="10315401" y="13918750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13"/>
          <p:cNvCxnSpPr>
            <a:stCxn id="158" idx="3"/>
            <a:endCxn id="159" idx="1"/>
          </p:cNvCxnSpPr>
          <p:nvPr/>
        </p:nvCxnSpPr>
        <p:spPr>
          <a:xfrm>
            <a:off x="10296500" y="14299150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13"/>
          <p:cNvCxnSpPr>
            <a:stCxn id="154" idx="3"/>
            <a:endCxn id="156" idx="1"/>
          </p:cNvCxnSpPr>
          <p:nvPr/>
        </p:nvCxnSpPr>
        <p:spPr>
          <a:xfrm rot="10800000" flipH="1">
            <a:off x="1186125" y="14057473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13"/>
          <p:cNvCxnSpPr>
            <a:stCxn id="154" idx="3"/>
            <a:endCxn id="155" idx="1"/>
          </p:cNvCxnSpPr>
          <p:nvPr/>
        </p:nvCxnSpPr>
        <p:spPr>
          <a:xfrm>
            <a:off x="1186125" y="14293573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7" name="Google Shape;197;p13"/>
          <p:cNvSpPr/>
          <p:nvPr/>
        </p:nvSpPr>
        <p:spPr>
          <a:xfrm>
            <a:off x="6217275" y="104982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variants in this exon are not frequent in the general population and exon is present in biologically-relevant transcript(s)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9220300" y="10345825"/>
            <a:ext cx="1231500" cy="5380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≥200 aa</a:t>
            </a:r>
            <a:endParaRPr lang="en-US" sz="1200" dirty="0"/>
          </a:p>
        </p:txBody>
      </p:sp>
      <p:sp>
        <p:nvSpPr>
          <p:cNvPr id="199" name="Google Shape;199;p13"/>
          <p:cNvSpPr/>
          <p:nvPr/>
        </p:nvSpPr>
        <p:spPr>
          <a:xfrm>
            <a:off x="9220225" y="10928500"/>
            <a:ext cx="1231500" cy="548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&lt;200 aa</a:t>
            </a:r>
          </a:p>
        </p:txBody>
      </p:sp>
      <p:cxnSp>
        <p:nvCxnSpPr>
          <p:cNvPr id="200" name="Google Shape;200;p13"/>
          <p:cNvCxnSpPr>
            <a:cxnSpLocks/>
            <a:stCxn id="197" idx="3"/>
            <a:endCxn id="198" idx="1"/>
          </p:cNvCxnSpPr>
          <p:nvPr/>
        </p:nvCxnSpPr>
        <p:spPr>
          <a:xfrm flipV="1">
            <a:off x="8835375" y="10614850"/>
            <a:ext cx="384925" cy="3728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1" name="Google Shape;201;p13"/>
          <p:cNvCxnSpPr>
            <a:cxnSpLocks/>
            <a:stCxn id="197" idx="3"/>
            <a:endCxn id="199" idx="1"/>
          </p:cNvCxnSpPr>
          <p:nvPr/>
        </p:nvCxnSpPr>
        <p:spPr>
          <a:xfrm>
            <a:off x="8835375" y="10987675"/>
            <a:ext cx="384850" cy="2151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" name="Google Shape;202;p13"/>
          <p:cNvCxnSpPr>
            <a:cxnSpLocks/>
            <a:stCxn id="198" idx="3"/>
            <a:endCxn id="140" idx="1"/>
          </p:cNvCxnSpPr>
          <p:nvPr/>
        </p:nvCxnSpPr>
        <p:spPr>
          <a:xfrm>
            <a:off x="10451800" y="10614850"/>
            <a:ext cx="493425" cy="812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" name="Google Shape;203;p13"/>
          <p:cNvCxnSpPr>
            <a:cxnSpLocks/>
            <a:stCxn id="199" idx="3"/>
            <a:endCxn id="141" idx="1"/>
          </p:cNvCxnSpPr>
          <p:nvPr/>
        </p:nvCxnSpPr>
        <p:spPr>
          <a:xfrm>
            <a:off x="10451725" y="11202800"/>
            <a:ext cx="493500" cy="985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4" name="Google Shape;204;p13"/>
          <p:cNvSpPr/>
          <p:nvPr/>
        </p:nvSpPr>
        <p:spPr>
          <a:xfrm>
            <a:off x="4536350" y="6111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6180650" y="60994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6180650" y="66689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not frequent in the general population and exon is present in biologically-relevant transcript(s)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9183675" y="6587101"/>
            <a:ext cx="1231500" cy="5345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≥200 aa</a:t>
            </a:r>
            <a:endParaRPr lang="en-US" sz="1200" dirty="0"/>
          </a:p>
        </p:txBody>
      </p:sp>
      <p:sp>
        <p:nvSpPr>
          <p:cNvPr id="208" name="Google Shape;208;p13"/>
          <p:cNvSpPr/>
          <p:nvPr/>
        </p:nvSpPr>
        <p:spPr>
          <a:xfrm>
            <a:off x="10945225" y="6144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10945225" y="66950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10945225" y="7286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VS1_Moderate</a:t>
            </a: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9183600" y="7195099"/>
            <a:ext cx="1231500" cy="5551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&lt;200 aa</a:t>
            </a:r>
          </a:p>
        </p:txBody>
      </p:sp>
      <p:cxnSp>
        <p:nvCxnSpPr>
          <p:cNvPr id="212" name="Google Shape;212;p13"/>
          <p:cNvCxnSpPr>
            <a:endCxn id="205" idx="1"/>
          </p:cNvCxnSpPr>
          <p:nvPr/>
        </p:nvCxnSpPr>
        <p:spPr>
          <a:xfrm rot="10800000" flipH="1">
            <a:off x="5617250" y="6330250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Google Shape;213;p13"/>
          <p:cNvCxnSpPr>
            <a:endCxn id="206" idx="1"/>
          </p:cNvCxnSpPr>
          <p:nvPr/>
        </p:nvCxnSpPr>
        <p:spPr>
          <a:xfrm>
            <a:off x="5617250" y="68685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" name="Google Shape;214;p13"/>
          <p:cNvCxnSpPr>
            <a:cxnSpLocks/>
            <a:stCxn id="206" idx="3"/>
            <a:endCxn id="207" idx="1"/>
          </p:cNvCxnSpPr>
          <p:nvPr/>
        </p:nvCxnSpPr>
        <p:spPr>
          <a:xfrm flipV="1">
            <a:off x="8798750" y="6854363"/>
            <a:ext cx="384925" cy="30401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p13"/>
          <p:cNvCxnSpPr>
            <a:cxnSpLocks/>
            <a:stCxn id="206" idx="3"/>
            <a:endCxn id="211" idx="1"/>
          </p:cNvCxnSpPr>
          <p:nvPr/>
        </p:nvCxnSpPr>
        <p:spPr>
          <a:xfrm>
            <a:off x="8798750" y="7158375"/>
            <a:ext cx="384850" cy="31428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13"/>
          <p:cNvCxnSpPr>
            <a:stCxn id="205" idx="3"/>
            <a:endCxn id="208" idx="1"/>
          </p:cNvCxnSpPr>
          <p:nvPr/>
        </p:nvCxnSpPr>
        <p:spPr>
          <a:xfrm>
            <a:off x="10415150" y="6330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217;p13"/>
          <p:cNvCxnSpPr>
            <a:cxnSpLocks/>
            <a:stCxn id="207" idx="3"/>
            <a:endCxn id="209" idx="1"/>
          </p:cNvCxnSpPr>
          <p:nvPr/>
        </p:nvCxnSpPr>
        <p:spPr>
          <a:xfrm>
            <a:off x="10415175" y="6854363"/>
            <a:ext cx="530050" cy="281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8" name="Google Shape;218;p13"/>
          <p:cNvCxnSpPr>
            <a:cxnSpLocks/>
            <a:stCxn id="211" idx="3"/>
            <a:endCxn id="210" idx="1"/>
          </p:cNvCxnSpPr>
          <p:nvPr/>
        </p:nvCxnSpPr>
        <p:spPr>
          <a:xfrm flipV="1">
            <a:off x="10415100" y="7472250"/>
            <a:ext cx="530125" cy="41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13"/>
          <p:cNvCxnSpPr>
            <a:stCxn id="83" idx="3"/>
            <a:endCxn id="204" idx="1"/>
          </p:cNvCxnSpPr>
          <p:nvPr/>
        </p:nvCxnSpPr>
        <p:spPr>
          <a:xfrm rot="10800000" flipH="1">
            <a:off x="4028325" y="6890300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13"/>
          <p:cNvCxnSpPr>
            <a:stCxn id="83" idx="3"/>
            <a:endCxn id="91" idx="1"/>
          </p:cNvCxnSpPr>
          <p:nvPr/>
        </p:nvCxnSpPr>
        <p:spPr>
          <a:xfrm>
            <a:off x="4028325" y="7069400"/>
            <a:ext cx="505500" cy="8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13"/>
          <p:cNvCxnSpPr>
            <a:stCxn id="146" idx="3"/>
            <a:endCxn id="153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13"/>
          <p:cNvCxnSpPr>
            <a:stCxn id="144" idx="3"/>
            <a:endCxn id="147" idx="1"/>
          </p:cNvCxnSpPr>
          <p:nvPr/>
        </p:nvCxnSpPr>
        <p:spPr>
          <a:xfrm rot="10800000" flipH="1">
            <a:off x="4028300" y="12189775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6987</TotalTime>
  <Words>770</Words>
  <Application>Microsoft Macintosh PowerPoint</Application>
  <PresentationFormat>Custom</PresentationFormat>
  <Paragraphs>108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Smith, Lacey</cp:lastModifiedBy>
  <cp:revision>19</cp:revision>
  <dcterms:modified xsi:type="dcterms:W3CDTF">2024-12-17T15:17:33Z</dcterms:modified>
</cp:coreProperties>
</file>