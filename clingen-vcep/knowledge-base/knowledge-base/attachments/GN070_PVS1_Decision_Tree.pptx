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4"/>
    <p:restoredTop sz="79116"/>
  </p:normalViewPr>
  <p:slideViewPr>
    <p:cSldViewPr snapToGrid="0">
      <p:cViewPr varScale="1">
        <p:scale>
          <a:sx n="38" d="100"/>
          <a:sy n="38" d="100"/>
        </p:scale>
        <p:origin x="1688" y="19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Two biologically-relevant transcripts, NM_001330260.2 (adult isoform; MANE Select) and NM_014191.4 (neonatal isoform; MANE Plus Clinical). These isoforms are developmentally regulated, and differ by the alternatively spliced coding exon 5A/5N. Exons 5A/5N differ by a single amino acid at position 213 (</a:t>
            </a:r>
            <a:r>
              <a:rPr lang="en-US" noProof="0" dirty="0" err="1"/>
              <a:t>Asn</a:t>
            </a:r>
            <a:r>
              <a:rPr lang="en-US" noProof="0" dirty="0"/>
              <a:t> </a:t>
            </a:r>
            <a:r>
              <a:rPr lang="en-US" dirty="0"/>
              <a:t>in the neonatal isoform and Asp in the adult isoform).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Truncated/altered region critical to protein function defined as either a) presence of non-truncating, pathogenic (per these criteria) variants or b) located within a Pathogenic Enriched Region defined by PM1.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In-Frame coding exons: 1, 3, 4, 6, 9, 10, 11, 14, 15, 16, 19, 20, 21, 22, 23, 24; Out-of-frame coding exons: 2, 5A/5N, 7, 8, 12, 13, 17, 18, 25, 26.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endParaRPr lang="en" sz="1200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Stop codon 5’ of p.Thr1582</a:t>
            </a:r>
            <a:endParaRPr dirty="0"/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3’ of p.Thr1582</a:t>
            </a:r>
            <a:endParaRPr lang="en-US" sz="1200" dirty="0"/>
          </a:p>
        </p:txBody>
      </p:sp>
      <p:sp>
        <p:nvSpPr>
          <p:cNvPr id="57" name="Google Shape;57;p13"/>
          <p:cNvSpPr/>
          <p:nvPr/>
        </p:nvSpPr>
        <p:spPr>
          <a:xfrm>
            <a:off x="4536350" y="337078"/>
            <a:ext cx="5868000" cy="4350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59" name="Google Shape;59;p13"/>
          <p:cNvSpPr/>
          <p:nvPr/>
        </p:nvSpPr>
        <p:spPr>
          <a:xfrm>
            <a:off x="10945225" y="40124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29000" y="95228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201875" y="133665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0945225" y="96832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0945225" y="139784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002114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945225" y="271328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  <p:sp>
        <p:nvSpPr>
          <p:cNvPr id="68" name="Google Shape;68;p13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204900" y="1894756"/>
            <a:ext cx="1231500" cy="5288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≥198 aa</a:t>
            </a:r>
            <a:endParaRPr lang="en-US" sz="1200" dirty="0"/>
          </a:p>
        </p:txBody>
      </p:sp>
      <p:sp>
        <p:nvSpPr>
          <p:cNvPr id="70" name="Google Shape;70;p13"/>
          <p:cNvSpPr/>
          <p:nvPr/>
        </p:nvSpPr>
        <p:spPr>
          <a:xfrm>
            <a:off x="9204825" y="2592424"/>
            <a:ext cx="1231500" cy="60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&lt;198 aa</a:t>
            </a:r>
            <a:endParaRPr dirty="0"/>
          </a:p>
        </p:txBody>
      </p:sp>
      <p:cxnSp>
        <p:nvCxnSpPr>
          <p:cNvPr id="71" name="Google Shape;71;p13"/>
          <p:cNvCxnSpPr>
            <a:cxnSpLocks/>
            <a:stCxn id="68" idx="3"/>
            <a:endCxn id="69" idx="1"/>
          </p:cNvCxnSpPr>
          <p:nvPr/>
        </p:nvCxnSpPr>
        <p:spPr>
          <a:xfrm flipV="1">
            <a:off x="8819975" y="2159166"/>
            <a:ext cx="384925" cy="39653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cxnSpLocks/>
            <a:stCxn id="68" idx="3"/>
            <a:endCxn id="70" idx="1"/>
          </p:cNvCxnSpPr>
          <p:nvPr/>
        </p:nvCxnSpPr>
        <p:spPr>
          <a:xfrm>
            <a:off x="8819975" y="2555700"/>
            <a:ext cx="384850" cy="3383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55" idx="3"/>
            <a:endCxn id="57" idx="1"/>
          </p:cNvCxnSpPr>
          <p:nvPr/>
        </p:nvCxnSpPr>
        <p:spPr>
          <a:xfrm flipV="1">
            <a:off x="4038775" y="554616"/>
            <a:ext cx="497575" cy="145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flipV="1">
            <a:off x="4038775" y="1090730"/>
            <a:ext cx="490225" cy="8534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stCxn id="62" idx="3"/>
            <a:endCxn id="63" idx="1"/>
          </p:cNvCxnSpPr>
          <p:nvPr/>
        </p:nvCxnSpPr>
        <p:spPr>
          <a:xfrm flipV="1">
            <a:off x="5638475" y="1567505"/>
            <a:ext cx="563400" cy="62419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lang="en" sz="1200" b="1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(if applied, PP3 not to be used in combination)</a:t>
            </a:r>
            <a:endParaRPr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p.Thr1582</a:t>
            </a:r>
            <a:endParaRPr lang="en-US" sz="1200" dirty="0"/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84" name="Google Shape;84;p13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85" name="Google Shape;85;p13"/>
          <p:cNvSpPr/>
          <p:nvPr/>
        </p:nvSpPr>
        <p:spPr>
          <a:xfrm>
            <a:off x="4507775" y="3890237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180650" y="4386906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83675" y="4876888"/>
            <a:ext cx="1231500" cy="577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≥198 aa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45225" y="389023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0945225" y="443205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0945225" y="5005257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0945225" y="5559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9183600" y="5437674"/>
            <a:ext cx="1231500" cy="6099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&lt;198 aa</a:t>
            </a:r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p.Thr1582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100" idx="3"/>
            <a:endCxn id="85" idx="1"/>
          </p:cNvCxnSpPr>
          <p:nvPr/>
        </p:nvCxnSpPr>
        <p:spPr>
          <a:xfrm flipV="1">
            <a:off x="4038825" y="4028687"/>
            <a:ext cx="468950" cy="1093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stCxn id="100" idx="3"/>
            <a:endCxn id="87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3"/>
          <p:cNvCxnSpPr>
            <a:stCxn id="87" idx="3"/>
            <a:endCxn id="88" idx="1"/>
          </p:cNvCxnSpPr>
          <p:nvPr/>
        </p:nvCxnSpPr>
        <p:spPr>
          <a:xfrm flipV="1">
            <a:off x="5617250" y="4617756"/>
            <a:ext cx="563400" cy="65061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7" idx="3"/>
            <a:endCxn id="89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cxnSpLocks/>
            <a:stCxn id="89" idx="3"/>
            <a:endCxn id="90" idx="1"/>
          </p:cNvCxnSpPr>
          <p:nvPr/>
        </p:nvCxnSpPr>
        <p:spPr>
          <a:xfrm flipV="1">
            <a:off x="8798750" y="5165750"/>
            <a:ext cx="384925" cy="392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cxnSpLocks/>
            <a:stCxn id="89" idx="3"/>
            <a:endCxn id="99" idx="1"/>
          </p:cNvCxnSpPr>
          <p:nvPr/>
        </p:nvCxnSpPr>
        <p:spPr>
          <a:xfrm>
            <a:off x="8798750" y="5558175"/>
            <a:ext cx="384850" cy="1844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57" idx="3"/>
            <a:endCxn id="59" idx="1"/>
          </p:cNvCxnSpPr>
          <p:nvPr/>
        </p:nvCxnSpPr>
        <p:spPr>
          <a:xfrm flipV="1">
            <a:off x="10404350" y="539696"/>
            <a:ext cx="540875" cy="1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10425500" y="1090730"/>
            <a:ext cx="519725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stCxn id="63" idx="3"/>
            <a:endCxn id="65" idx="1"/>
          </p:cNvCxnSpPr>
          <p:nvPr/>
        </p:nvCxnSpPr>
        <p:spPr>
          <a:xfrm>
            <a:off x="10436375" y="1567505"/>
            <a:ext cx="508850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cxnSpLocks/>
            <a:stCxn id="69" idx="3"/>
            <a:endCxn id="66" idx="1"/>
          </p:cNvCxnSpPr>
          <p:nvPr/>
        </p:nvCxnSpPr>
        <p:spPr>
          <a:xfrm>
            <a:off x="10436400" y="2159166"/>
            <a:ext cx="508825" cy="50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70" idx="3"/>
            <a:endCxn id="67" idx="1"/>
          </p:cNvCxnSpPr>
          <p:nvPr/>
        </p:nvCxnSpPr>
        <p:spPr>
          <a:xfrm>
            <a:off x="10436325" y="2894087"/>
            <a:ext cx="508900" cy="48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85" idx="3"/>
            <a:endCxn id="94" idx="1"/>
          </p:cNvCxnSpPr>
          <p:nvPr/>
        </p:nvCxnSpPr>
        <p:spPr>
          <a:xfrm>
            <a:off x="10404275" y="4028687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3"/>
          <p:cNvCxnSpPr>
            <a:stCxn id="88" idx="3"/>
            <a:endCxn id="95" idx="1"/>
          </p:cNvCxnSpPr>
          <p:nvPr/>
        </p:nvCxnSpPr>
        <p:spPr>
          <a:xfrm>
            <a:off x="10415150" y="4617756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cxnSpLocks/>
            <a:stCxn id="90" idx="3"/>
            <a:endCxn id="96" idx="1"/>
          </p:cNvCxnSpPr>
          <p:nvPr/>
        </p:nvCxnSpPr>
        <p:spPr>
          <a:xfrm>
            <a:off x="10415175" y="5165750"/>
            <a:ext cx="530050" cy="165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13"/>
          <p:cNvCxnSpPr>
            <a:cxnSpLocks/>
            <a:stCxn id="99" idx="3"/>
            <a:endCxn id="97" idx="1"/>
          </p:cNvCxnSpPr>
          <p:nvPr/>
        </p:nvCxnSpPr>
        <p:spPr>
          <a:xfrm>
            <a:off x="10415100" y="5742637"/>
            <a:ext cx="530125" cy="241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stCxn id="91" idx="3"/>
            <a:endCxn id="98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25174"/>
            <a:ext cx="2327100" cy="920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p.Thr1582</a:t>
            </a:r>
            <a:endParaRPr lang="en-US" sz="1200" dirty="0"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dirty="0"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87636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130" name="Google Shape;130;p13"/>
          <p:cNvSpPr/>
          <p:nvPr/>
        </p:nvSpPr>
        <p:spPr>
          <a:xfrm>
            <a:off x="4544400" y="93665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dirty="0"/>
          </a:p>
        </p:txBody>
      </p:sp>
      <p:sp>
        <p:nvSpPr>
          <p:cNvPr id="132" name="Google Shape;132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6217275" y="97636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0945225" y="87636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3792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10945225" y="98214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10945225" y="104608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10945225" y="110269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5" name="Google Shape;155;p13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p.Thr1582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cxnSpLocks/>
            <a:stCxn id="125" idx="3"/>
            <a:endCxn id="126" idx="1"/>
          </p:cNvCxnSpPr>
          <p:nvPr/>
        </p:nvCxnSpPr>
        <p:spPr>
          <a:xfrm flipV="1">
            <a:off x="1186125" y="9185637"/>
            <a:ext cx="515075" cy="8817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cxnSpLocks/>
            <a:stCxn id="126" idx="3"/>
            <a:endCxn id="129" idx="1"/>
          </p:cNvCxnSpPr>
          <p:nvPr/>
        </p:nvCxnSpPr>
        <p:spPr>
          <a:xfrm flipV="1">
            <a:off x="4028300" y="8902050"/>
            <a:ext cx="544675" cy="2835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stCxn id="162" idx="3"/>
            <a:endCxn id="130" idx="1"/>
          </p:cNvCxnSpPr>
          <p:nvPr/>
        </p:nvCxnSpPr>
        <p:spPr>
          <a:xfrm flipV="1">
            <a:off x="4007350" y="9504975"/>
            <a:ext cx="537050" cy="7184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stCxn id="162" idx="3"/>
            <a:endCxn id="132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132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stCxn id="127" idx="3"/>
            <a:endCxn id="135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13"/>
          <p:cNvCxnSpPr>
            <a:stCxn id="132" idx="3"/>
            <a:endCxn id="133" idx="1"/>
          </p:cNvCxnSpPr>
          <p:nvPr/>
        </p:nvCxnSpPr>
        <p:spPr>
          <a:xfrm flipV="1">
            <a:off x="5653875" y="9994450"/>
            <a:ext cx="563400" cy="703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3"/>
          <p:cNvCxnSpPr>
            <a:stCxn id="132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10440975" y="8902050"/>
            <a:ext cx="50425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3"/>
          <p:cNvCxnSpPr>
            <a:stCxn id="130" idx="3"/>
            <a:endCxn id="138" idx="1"/>
          </p:cNvCxnSpPr>
          <p:nvPr/>
        </p:nvCxnSpPr>
        <p:spPr>
          <a:xfrm>
            <a:off x="10440900" y="9504975"/>
            <a:ext cx="504325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3"/>
          <p:cNvCxnSpPr>
            <a:stCxn id="133" idx="3"/>
            <a:endCxn id="139" idx="1"/>
          </p:cNvCxnSpPr>
          <p:nvPr/>
        </p:nvCxnSpPr>
        <p:spPr>
          <a:xfrm>
            <a:off x="10451775" y="9994450"/>
            <a:ext cx="493450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3"/>
          <p:cNvCxnSpPr>
            <a:stCxn id="135" idx="3"/>
            <a:endCxn id="142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stCxn id="154" idx="3"/>
            <a:endCxn id="155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3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220300" y="10345825"/>
            <a:ext cx="1231500" cy="538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≥198 aa</a:t>
            </a:r>
            <a:endParaRPr lang="en-US" sz="1200" dirty="0"/>
          </a:p>
        </p:txBody>
      </p:sp>
      <p:sp>
        <p:nvSpPr>
          <p:cNvPr id="199" name="Google Shape;199;p13"/>
          <p:cNvSpPr/>
          <p:nvPr/>
        </p:nvSpPr>
        <p:spPr>
          <a:xfrm>
            <a:off x="9220225" y="10928500"/>
            <a:ext cx="1231500" cy="54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&lt;198 aa</a:t>
            </a:r>
          </a:p>
        </p:txBody>
      </p:sp>
      <p:cxnSp>
        <p:nvCxnSpPr>
          <p:cNvPr id="200" name="Google Shape;200;p13"/>
          <p:cNvCxnSpPr>
            <a:cxnSpLocks/>
            <a:stCxn id="197" idx="3"/>
            <a:endCxn id="198" idx="1"/>
          </p:cNvCxnSpPr>
          <p:nvPr/>
        </p:nvCxnSpPr>
        <p:spPr>
          <a:xfrm flipV="1">
            <a:off x="8835375" y="10614850"/>
            <a:ext cx="384925" cy="3728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13"/>
          <p:cNvCxnSpPr>
            <a:cxnSpLocks/>
            <a:stCxn id="197" idx="3"/>
            <a:endCxn id="199" idx="1"/>
          </p:cNvCxnSpPr>
          <p:nvPr/>
        </p:nvCxnSpPr>
        <p:spPr>
          <a:xfrm>
            <a:off x="8835375" y="10987675"/>
            <a:ext cx="384850" cy="215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3"/>
          <p:cNvCxnSpPr>
            <a:cxnSpLocks/>
            <a:stCxn id="198" idx="3"/>
            <a:endCxn id="140" idx="1"/>
          </p:cNvCxnSpPr>
          <p:nvPr/>
        </p:nvCxnSpPr>
        <p:spPr>
          <a:xfrm>
            <a:off x="10451800" y="10614850"/>
            <a:ext cx="493425" cy="81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13"/>
          <p:cNvCxnSpPr>
            <a:cxnSpLocks/>
            <a:stCxn id="199" idx="3"/>
            <a:endCxn id="141" idx="1"/>
          </p:cNvCxnSpPr>
          <p:nvPr/>
        </p:nvCxnSpPr>
        <p:spPr>
          <a:xfrm>
            <a:off x="10451725" y="11202800"/>
            <a:ext cx="493500" cy="98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183675" y="6587101"/>
            <a:ext cx="1231500" cy="5345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≥198 aa</a:t>
            </a:r>
            <a:endParaRPr lang="en-US" sz="1200" dirty="0"/>
          </a:p>
        </p:txBody>
      </p:sp>
      <p:sp>
        <p:nvSpPr>
          <p:cNvPr id="208" name="Google Shape;208;p13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0945225" y="66950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7286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9183600" y="7195099"/>
            <a:ext cx="1231500" cy="55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&lt;198 aa</a:t>
            </a:r>
          </a:p>
        </p:txBody>
      </p:sp>
      <p:cxnSp>
        <p:nvCxnSpPr>
          <p:cNvPr id="212" name="Google Shape;212;p13"/>
          <p:cNvCxnSpPr>
            <a:endCxn id="205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3"/>
          <p:cNvCxnSpPr>
            <a:endCxn id="206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3"/>
          <p:cNvCxnSpPr>
            <a:cxnSpLocks/>
            <a:stCxn id="206" idx="3"/>
            <a:endCxn id="207" idx="1"/>
          </p:cNvCxnSpPr>
          <p:nvPr/>
        </p:nvCxnSpPr>
        <p:spPr>
          <a:xfrm flipV="1">
            <a:off x="8798750" y="6854363"/>
            <a:ext cx="384925" cy="3040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cxnSpLocks/>
            <a:stCxn id="206" idx="3"/>
            <a:endCxn id="211" idx="1"/>
          </p:cNvCxnSpPr>
          <p:nvPr/>
        </p:nvCxnSpPr>
        <p:spPr>
          <a:xfrm>
            <a:off x="8798750" y="7158375"/>
            <a:ext cx="384850" cy="3142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3"/>
          <p:cNvCxnSpPr>
            <a:stCxn id="205" idx="3"/>
            <a:endCxn id="208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cxnSpLocks/>
            <a:stCxn id="207" idx="3"/>
            <a:endCxn id="209" idx="1"/>
          </p:cNvCxnSpPr>
          <p:nvPr/>
        </p:nvCxnSpPr>
        <p:spPr>
          <a:xfrm>
            <a:off x="10415175" y="6854363"/>
            <a:ext cx="530050" cy="28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cxnSpLocks/>
            <a:stCxn id="211" idx="3"/>
            <a:endCxn id="210" idx="1"/>
          </p:cNvCxnSpPr>
          <p:nvPr/>
        </p:nvCxnSpPr>
        <p:spPr>
          <a:xfrm flipV="1">
            <a:off x="10415100" y="7472250"/>
            <a:ext cx="530125" cy="4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stCxn id="83" idx="3"/>
            <a:endCxn id="204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stCxn id="83" idx="3"/>
            <a:endCxn id="91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6948</TotalTime>
  <Words>890</Words>
  <Application>Microsoft Macintosh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Smith, Lacey</cp:lastModifiedBy>
  <cp:revision>14</cp:revision>
  <dcterms:modified xsi:type="dcterms:W3CDTF">2024-12-17T15:30:24Z</dcterms:modified>
</cp:coreProperties>
</file>