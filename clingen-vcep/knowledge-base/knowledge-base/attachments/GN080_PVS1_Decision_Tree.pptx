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7"/>
  </p:notesMasterIdLst>
  <p:sldIdLst>
    <p:sldId id="258" r:id="rId5"/>
    <p:sldId id="257" r:id="rId6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66" autoAdjust="0"/>
  </p:normalViewPr>
  <p:slideViewPr>
    <p:cSldViewPr snapToGrid="0">
      <p:cViewPr>
        <p:scale>
          <a:sx n="70" d="100"/>
          <a:sy n="70" d="100"/>
        </p:scale>
        <p:origin x="1272" y="-252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F9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L</a:t>
            </a:r>
            <a:r>
              <a:rPr lang="en" dirty="0"/>
              <a:t>ast nonsense variant, c.1369A&gt;T, is near C terminal and leads t</a:t>
            </a:r>
            <a:r>
              <a:rPr lang="en" baseline="0" dirty="0"/>
              <a:t>o severe hemophilia. Most nonsense variants in exon 8 result in severe HB (show EAHAD F9 to show all nonsense variants.) Upgrade to PVS1 from strong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baseline="0" dirty="0"/>
              <a:t>Exon 1 deletion results in severe disease in patients, and removes prepropeptide. Upgrade to PVS1 from strong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baseline="0" dirty="0"/>
              <a:t>The upgrade to PVS1 may be applicable to other coag factors, at least serine proteases.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baseline="0" dirty="0"/>
              <a:t>EAHAD – exon 5-8 (severity not specified), 1-6 duplications result in severe disease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788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Downstream of c.6852: 3 variants get to LP or P without PVS1 based on VCEP rules and 2 ClinVar missense variants are classified P and therefore warrant use of PVS1 at the strong level. 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Exons 8 and 14, contain all the PM1_Strong residues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in-frame start codon at 32 (c.96; kozak: -3G; +4G); at least 4 P/LP variants in ClinVar upstream of c.96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9-db.eahad.org/advance_search_results.ph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216325"/>
            <a:ext cx="2374200" cy="86266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up to c.788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-1/+2 up to c.730</a:t>
            </a:r>
          </a:p>
          <a:p>
            <a:pPr lvl="0" algn="ctr"/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+1/-2 up to c.773</a:t>
            </a:r>
            <a:endParaRPr lang="en" sz="1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aseline="30000" dirty="0"/>
          </a:p>
        </p:txBody>
      </p:sp>
      <p:sp>
        <p:nvSpPr>
          <p:cNvPr id="56" name="Google Shape;56;p13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</a:p>
          <a:p>
            <a:pPr lvl="0" algn="ctr"/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from c.789</a:t>
            </a:r>
          </a:p>
          <a:p>
            <a:pPr lvl="0" algn="ctr"/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-1/+2 from c.731</a:t>
            </a:r>
          </a:p>
          <a:p>
            <a:pPr lvl="0" algn="ctr"/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Frameshift +1/-2 from c.774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p13"/>
          <p:cNvSpPr/>
          <p:nvPr/>
        </p:nvSpPr>
        <p:spPr>
          <a:xfrm>
            <a:off x="4549050" y="5102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0907125" y="5102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548050" y="1619250"/>
            <a:ext cx="5896500" cy="66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Several patients with severe hemophilia B reported in the EAHAD database warranting PVS1 - </a:t>
            </a:r>
            <a:r>
              <a:rPr lang="en-US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https://f9-db.eahad.org/advance_search_results.php</a:t>
            </a:r>
            <a:r>
              <a:rPr lang="en-US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0907125" y="18112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</a:p>
        </p:txBody>
      </p: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flipV="1">
            <a:off x="1186125" y="647659"/>
            <a:ext cx="478450" cy="98786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stCxn id="55" idx="3"/>
            <a:endCxn id="57" idx="1"/>
          </p:cNvCxnSpPr>
          <p:nvPr/>
        </p:nvCxnSpPr>
        <p:spPr>
          <a:xfrm>
            <a:off x="4038775" y="647659"/>
            <a:ext cx="510275" cy="99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>
            <a:off x="4038775" y="1944175"/>
            <a:ext cx="509275" cy="79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baseline="30000"/>
          </a:p>
        </p:txBody>
      </p:sp>
      <p:sp>
        <p:nvSpPr>
          <p:cNvPr id="82" name="Google Shape;82;p13"/>
          <p:cNvSpPr/>
          <p:nvPr/>
        </p:nvSpPr>
        <p:spPr>
          <a:xfrm>
            <a:off x="1664575" y="3127248"/>
            <a:ext cx="2374200" cy="98395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predicted to undergo NMD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Exons 2, 3, 6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</a:p>
          <a:p>
            <a:pPr lvl="0" algn="ctr"/>
            <a:r>
              <a:rPr lang="en" sz="1200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Exons 1, 4, 5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 dirty="0"/>
          </a:p>
        </p:txBody>
      </p:sp>
      <p:sp>
        <p:nvSpPr>
          <p:cNvPr id="85" name="Google Shape;85;p13"/>
          <p:cNvSpPr/>
          <p:nvPr/>
        </p:nvSpPr>
        <p:spPr>
          <a:xfrm>
            <a:off x="4564925" y="4648200"/>
            <a:ext cx="5896500" cy="6769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Several patients with severe hemophilia B reported in the EAHAD database warranting PVS1 - </a:t>
            </a:r>
            <a:r>
              <a:rPr lang="en-US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https://f9-db.eahad.org/advance_search_results.php</a:t>
            </a:r>
            <a:r>
              <a:rPr lang="en-US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533750" y="6699250"/>
            <a:ext cx="5907300" cy="7302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- </a:t>
            </a:r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1 deletion removes signal peptide, exons 4 and 5 encode critical protein domains and variants in all these exons have been seen in patients with severe HB</a:t>
            </a:r>
            <a:endParaRPr sz="1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0957925" y="48514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dirty="0"/>
          </a:p>
        </p:txBody>
      </p:sp>
      <p:sp>
        <p:nvSpPr>
          <p:cNvPr id="98" name="Google Shape;98;p13"/>
          <p:cNvSpPr/>
          <p:nvPr/>
        </p:nvSpPr>
        <p:spPr>
          <a:xfrm>
            <a:off x="10919825" y="6927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endParaRPr lang="en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Exon 7</a:t>
            </a:r>
            <a:endParaRPr dirty="0">
              <a:solidFill>
                <a:srgbClr val="C00000"/>
              </a:solidFill>
            </a:endParaRPr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flipV="1">
            <a:off x="1186125" y="3619224"/>
            <a:ext cx="478450" cy="199037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82" idx="3"/>
            <a:endCxn id="84" idx="1"/>
          </p:cNvCxnSpPr>
          <p:nvPr/>
        </p:nvCxnSpPr>
        <p:spPr>
          <a:xfrm flipV="1">
            <a:off x="4038775" y="3370950"/>
            <a:ext cx="497575" cy="24827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stCxn id="100" idx="3"/>
            <a:endCxn id="85" idx="1"/>
          </p:cNvCxnSpPr>
          <p:nvPr/>
        </p:nvCxnSpPr>
        <p:spPr>
          <a:xfrm flipV="1">
            <a:off x="4038825" y="4986688"/>
            <a:ext cx="526100" cy="1351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stCxn id="57" idx="3"/>
            <a:endCxn id="59" idx="1"/>
          </p:cNvCxnSpPr>
          <p:nvPr/>
        </p:nvCxnSpPr>
        <p:spPr>
          <a:xfrm>
            <a:off x="10417050" y="648650"/>
            <a:ext cx="490075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 flipV="1">
            <a:off x="10444550" y="1949650"/>
            <a:ext cx="462575" cy="24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stCxn id="84" idx="3"/>
            <a:endCxn id="92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stCxn id="85" idx="3"/>
            <a:endCxn id="94" idx="1"/>
          </p:cNvCxnSpPr>
          <p:nvPr/>
        </p:nvCxnSpPr>
        <p:spPr>
          <a:xfrm>
            <a:off x="10461425" y="4986688"/>
            <a:ext cx="496500" cy="318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3"/>
          <p:cNvCxnSpPr>
            <a:stCxn id="91" idx="3"/>
            <a:endCxn id="98" idx="1"/>
          </p:cNvCxnSpPr>
          <p:nvPr/>
        </p:nvCxnSpPr>
        <p:spPr>
          <a:xfrm>
            <a:off x="10441050" y="7064375"/>
            <a:ext cx="478775" cy="13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41225" y="901125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 dirty="0"/>
          </a:p>
        </p:txBody>
      </p:sp>
      <p:sp>
        <p:nvSpPr>
          <p:cNvPr id="130" name="Google Shape;130;p13"/>
          <p:cNvSpPr/>
          <p:nvPr/>
        </p:nvSpPr>
        <p:spPr>
          <a:xfrm>
            <a:off x="4519000" y="9880874"/>
            <a:ext cx="5896500" cy="6728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Several patients with severe hemophilia B reported in the EAHAD database warranting PVS1 - </a:t>
            </a:r>
            <a:r>
              <a:rPr lang="en-US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https://f9-db.eahad.org/advance_search_results.php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trike="sngStrike" baseline="30000" dirty="0"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35" name="Google Shape;135;p13"/>
          <p:cNvSpPr/>
          <p:nvPr/>
        </p:nvSpPr>
        <p:spPr>
          <a:xfrm>
            <a:off x="4519000" y="11042650"/>
            <a:ext cx="5907300" cy="580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-US" sz="12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1 deletion removes signal peptide, exons 4 and 5 encode critical protein domains and variants in all these exons have been seen in patients with severe HB</a:t>
            </a:r>
          </a:p>
        </p:txBody>
      </p:sp>
      <p:sp>
        <p:nvSpPr>
          <p:cNvPr id="136" name="Google Shape;136;p13"/>
          <p:cNvSpPr/>
          <p:nvPr/>
        </p:nvSpPr>
        <p:spPr>
          <a:xfrm>
            <a:off x="10951575" y="90176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0926175" y="10084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142" name="Google Shape;142;p13"/>
          <p:cNvSpPr/>
          <p:nvPr/>
        </p:nvSpPr>
        <p:spPr>
          <a:xfrm>
            <a:off x="10913475" y="11206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 (Exons 1, 4, 5)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6" name="Google Shape;156;p13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4552850" y="13671550"/>
            <a:ext cx="5762700" cy="781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 </a:t>
            </a:r>
            <a:r>
              <a:rPr lang="en" sz="1200" b="0" i="0" u="none" cap="none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- </a:t>
            </a:r>
            <a:r>
              <a:rPr 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in-frame ATGs at codon 6 (c.16; </a:t>
            </a:r>
            <a:r>
              <a:rPr lang="en-US" sz="1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kozak</a:t>
            </a:r>
            <a:r>
              <a:rPr 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-3A; +4A), 8 (c.22; </a:t>
            </a:r>
            <a:r>
              <a:rPr lang="en-US" sz="1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kozak</a:t>
            </a:r>
            <a:r>
              <a:rPr 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-3A; +4G),  (from CCDS); variants at codons 3 and 7 in EAHAD and ClinVar, but with benign or CONF interpretations</a:t>
            </a:r>
            <a:endParaRPr sz="1200" b="0" i="0" u="none" cap="none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938875" y="13932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dirty="0"/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stCxn id="126" idx="3"/>
            <a:endCxn id="129" idx="1"/>
          </p:cNvCxnSpPr>
          <p:nvPr/>
        </p:nvCxnSpPr>
        <p:spPr>
          <a:xfrm>
            <a:off x="4028300" y="9139450"/>
            <a:ext cx="512925" cy="102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stCxn id="162" idx="3"/>
            <a:endCxn id="130" idx="1"/>
          </p:cNvCxnSpPr>
          <p:nvPr/>
        </p:nvCxnSpPr>
        <p:spPr>
          <a:xfrm flipV="1">
            <a:off x="4007350" y="10217287"/>
            <a:ext cx="511650" cy="61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stCxn id="127" idx="3"/>
            <a:endCxn id="135" idx="1"/>
          </p:cNvCxnSpPr>
          <p:nvPr/>
        </p:nvCxnSpPr>
        <p:spPr>
          <a:xfrm>
            <a:off x="4028300" y="11305400"/>
            <a:ext cx="490700" cy="275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>
            <a:off x="10409225" y="9149700"/>
            <a:ext cx="542350" cy="63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13"/>
          <p:cNvCxnSpPr>
            <a:stCxn id="130" idx="3"/>
            <a:endCxn id="138" idx="1"/>
          </p:cNvCxnSpPr>
          <p:nvPr/>
        </p:nvCxnSpPr>
        <p:spPr>
          <a:xfrm>
            <a:off x="10415500" y="10217287"/>
            <a:ext cx="510675" cy="52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13"/>
          <p:cNvCxnSpPr>
            <a:stCxn id="135" idx="3"/>
            <a:endCxn id="142" idx="1"/>
          </p:cNvCxnSpPr>
          <p:nvPr/>
        </p:nvCxnSpPr>
        <p:spPr>
          <a:xfrm>
            <a:off x="10426300" y="11332950"/>
            <a:ext cx="487175" cy="121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3986500" y="14057475"/>
            <a:ext cx="566350" cy="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>
            <a:stCxn id="158" idx="3"/>
            <a:endCxn id="159" idx="1"/>
          </p:cNvCxnSpPr>
          <p:nvPr/>
        </p:nvCxnSpPr>
        <p:spPr>
          <a:xfrm>
            <a:off x="10315550" y="14062075"/>
            <a:ext cx="623325" cy="847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stCxn id="154" idx="3"/>
            <a:endCxn id="156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stCxn id="83" idx="3"/>
            <a:endCxn id="91" idx="1"/>
          </p:cNvCxnSpPr>
          <p:nvPr/>
        </p:nvCxnSpPr>
        <p:spPr>
          <a:xfrm flipV="1">
            <a:off x="4028325" y="7064375"/>
            <a:ext cx="505425" cy="5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6934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"/>
          <p:cNvGrpSpPr/>
          <p:nvPr/>
        </p:nvGrpSpPr>
        <p:grpSpPr>
          <a:xfrm>
            <a:off x="99250" y="213707"/>
            <a:ext cx="12145900" cy="3657300"/>
            <a:chOff x="80325" y="8238775"/>
            <a:chExt cx="12145900" cy="3657300"/>
          </a:xfrm>
        </p:grpSpPr>
        <p:sp>
          <p:nvSpPr>
            <p:cNvPr id="167" name="Google Shape;167;p2"/>
            <p:cNvSpPr txBox="1"/>
            <p:nvPr/>
          </p:nvSpPr>
          <p:spPr>
            <a:xfrm>
              <a:off x="80325" y="8238775"/>
              <a:ext cx="1105800" cy="36573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RNA Splicing Data</a:t>
              </a:r>
              <a:endParaRPr sz="12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701200" y="8738200"/>
              <a:ext cx="2327100" cy="802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variant-specific observed impact for silent/intronic alterations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716000" y="10437442"/>
              <a:ext cx="2327100" cy="802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Variant-specific impac</a:t>
              </a:r>
              <a:r>
                <a:rPr lang="en" sz="1200" dirty="0">
                  <a:latin typeface="Times New Roman"/>
                  <a:ea typeface="Times New Roman"/>
                  <a:cs typeface="Times New Roman"/>
                  <a:sym typeface="Times New Roman"/>
                </a:rPr>
                <a:t>t shown by assay compared to control (</a:t>
              </a:r>
              <a:r>
                <a:rPr lang="en" sz="12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all coding and non-coding variants</a:t>
              </a:r>
              <a:r>
                <a:rPr lang="en" sz="1200" dirty="0"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642927" y="8991475"/>
              <a:ext cx="2820096" cy="29595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SpliceAI delta score </a:t>
              </a:r>
              <a:r>
                <a:rPr lang="en" sz="1200" b="0" i="0" u="sng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&lt;</a:t>
              </a: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572975" y="10098829"/>
              <a:ext cx="3620530" cy="622445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Complete loss of protein (no evidence of normal spliced mRNA)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567761" y="11070383"/>
              <a:ext cx="3620529" cy="60638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Near complete loss of protein (some evidence of normal spiced mRNA)</a:t>
              </a:r>
              <a:endParaRPr sz="12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0945225" y="8982717"/>
              <a:ext cx="1281000" cy="276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BP7_Strong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0938875" y="10242793"/>
              <a:ext cx="1281000" cy="3243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PVS1*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929426" y="11251387"/>
              <a:ext cx="1281000" cy="276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PVS1_Strong*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" name="Google Shape;176;p2"/>
            <p:cNvCxnSpPr>
              <a:stCxn id="167" idx="3"/>
              <a:endCxn id="168" idx="1"/>
            </p:cNvCxnSpPr>
            <p:nvPr/>
          </p:nvCxnSpPr>
          <p:spPr>
            <a:xfrm rot="10800000" flipH="1">
              <a:off x="1186125" y="9139525"/>
              <a:ext cx="515100" cy="9279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7" name="Google Shape;177;p2"/>
            <p:cNvCxnSpPr>
              <a:stCxn id="167" idx="3"/>
              <a:endCxn id="169" idx="1"/>
            </p:cNvCxnSpPr>
            <p:nvPr/>
          </p:nvCxnSpPr>
          <p:spPr>
            <a:xfrm>
              <a:off x="1186125" y="10067425"/>
              <a:ext cx="529800" cy="7713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8" name="Google Shape;178;p2"/>
            <p:cNvCxnSpPr>
              <a:stCxn id="168" idx="3"/>
              <a:endCxn id="170" idx="1"/>
            </p:cNvCxnSpPr>
            <p:nvPr/>
          </p:nvCxnSpPr>
          <p:spPr>
            <a:xfrm>
              <a:off x="4028300" y="9139450"/>
              <a:ext cx="614700" cy="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9" name="Google Shape;179;p2"/>
            <p:cNvCxnSpPr>
              <a:stCxn id="169" idx="3"/>
              <a:endCxn id="171" idx="1"/>
            </p:cNvCxnSpPr>
            <p:nvPr/>
          </p:nvCxnSpPr>
          <p:spPr>
            <a:xfrm rot="10800000" flipH="1">
              <a:off x="4043100" y="10409992"/>
              <a:ext cx="529800" cy="4287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0" name="Google Shape;180;p2"/>
            <p:cNvCxnSpPr>
              <a:stCxn id="169" idx="3"/>
              <a:endCxn id="172" idx="1"/>
            </p:cNvCxnSpPr>
            <p:nvPr/>
          </p:nvCxnSpPr>
          <p:spPr>
            <a:xfrm>
              <a:off x="4043100" y="10838692"/>
              <a:ext cx="524700" cy="5349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" name="Google Shape;181;p2"/>
            <p:cNvCxnSpPr>
              <a:stCxn id="171" idx="3"/>
              <a:endCxn id="174" idx="1"/>
            </p:cNvCxnSpPr>
            <p:nvPr/>
          </p:nvCxnSpPr>
          <p:spPr>
            <a:xfrm rot="10800000" flipH="1">
              <a:off x="8193505" y="10404952"/>
              <a:ext cx="2745300" cy="51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2" name="Google Shape;182;p2"/>
            <p:cNvCxnSpPr>
              <a:stCxn id="170" idx="3"/>
              <a:endCxn id="173" idx="1"/>
            </p:cNvCxnSpPr>
            <p:nvPr/>
          </p:nvCxnSpPr>
          <p:spPr>
            <a:xfrm rot="10800000" flipH="1">
              <a:off x="7463023" y="9121150"/>
              <a:ext cx="3482100" cy="183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3" name="Google Shape;183;p2"/>
            <p:cNvCxnSpPr>
              <a:stCxn id="172" idx="3"/>
              <a:endCxn id="175" idx="1"/>
            </p:cNvCxnSpPr>
            <p:nvPr/>
          </p:nvCxnSpPr>
          <p:spPr>
            <a:xfrm>
              <a:off x="8188290" y="11373573"/>
              <a:ext cx="2741100" cy="16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84" name="Google Shape;184;p2"/>
          <p:cNvSpPr txBox="1"/>
          <p:nvPr/>
        </p:nvSpPr>
        <p:spPr>
          <a:xfrm>
            <a:off x="541421" y="4150895"/>
            <a:ext cx="114781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*When PVS1 is applied using RNA splicing data, PP3 cannot be applied.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93AEFD595263468CEA26E4B584D716" ma:contentTypeVersion="14" ma:contentTypeDescription="Create a new document." ma:contentTypeScope="" ma:versionID="d4986a21dd6e6bd2ca1c88e8be4ed681">
  <xsd:schema xmlns:xsd="http://www.w3.org/2001/XMLSchema" xmlns:xs="http://www.w3.org/2001/XMLSchema" xmlns:p="http://schemas.microsoft.com/office/2006/metadata/properties" xmlns:ns3="f7d0c790-c4ff-4ea4-97d5-98dea7988b9b" xmlns:ns4="837ea372-e31a-4263-ae56-4abf58ee75fc" targetNamespace="http://schemas.microsoft.com/office/2006/metadata/properties" ma:root="true" ma:fieldsID="e3d5869a52103a318f47219349479764" ns3:_="" ns4:_="">
    <xsd:import namespace="f7d0c790-c4ff-4ea4-97d5-98dea7988b9b"/>
    <xsd:import namespace="837ea372-e31a-4263-ae56-4abf58ee75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d0c790-c4ff-4ea4-97d5-98dea7988b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7ea372-e31a-4263-ae56-4abf58ee75f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E82F98-71F7-419B-BF01-460A187D1D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06640F-3D70-4146-8ECF-2D5E58892E49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f7d0c790-c4ff-4ea4-97d5-98dea7988b9b"/>
    <ds:schemaRef ds:uri="http://schemas.microsoft.com/office/infopath/2007/PartnerControls"/>
    <ds:schemaRef ds:uri="http://schemas.openxmlformats.org/package/2006/metadata/core-properties"/>
    <ds:schemaRef ds:uri="837ea372-e31a-4263-ae56-4abf58ee75fc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1A4ECA-9BFA-4DBD-ABBC-1336D0FF07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d0c790-c4ff-4ea4-97d5-98dea7988b9b"/>
    <ds:schemaRef ds:uri="837ea372-e31a-4263-ae56-4abf58ee75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835</Words>
  <Application>Microsoft Office PowerPoint</Application>
  <PresentationFormat>Custom</PresentationFormat>
  <Paragraphs>82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Mohan, Shruthi</dc:creator>
  <cp:lastModifiedBy>Lee, Kristy</cp:lastModifiedBy>
  <cp:revision>32</cp:revision>
  <dcterms:modified xsi:type="dcterms:W3CDTF">2026-01-26T13:05:04Z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0x0101009393AEFD595263468CEA26E4B584D716</vt:lpwstr>
  </property>
</Properties>
</file>