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344400" cy="15087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72">
          <p15:clr>
            <a:srgbClr val="A4A3A4"/>
          </p15:clr>
        </p15:guide>
        <p15:guide id="2" pos="388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gHDg8LKCnDx3sL1B7sVACW7aJt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878" y="114"/>
      </p:cViewPr>
      <p:guideLst>
        <p:guide orient="horz" pos="1872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26544" y="685800"/>
            <a:ext cx="2805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27238" y="685800"/>
            <a:ext cx="2805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F8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Downstream of c.6852: 3 variants get to LP or P without PVS1 based on VCEP rules and 2 ClinVar missense variants are classified P and therefore warrant use of PVS1 at the strong level.  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Exons 8 and 14, contain all the PM1_Strong residues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 baseline="30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in-frame start codon at 32 (c.96; kozak: -3G; +4G); at least 4 P/LP variants in ClinVar upstream of c.96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27238" y="685800"/>
            <a:ext cx="2805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F8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Downstream of c.6852: 3 variants get to LP or P without PVS1 based on VCEP rules and 2 ClinVar missense variants are classified P and therefore warrant use of PVS1 at the strong level.  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Exons 8 and 14, contain all the PM1_Strong residues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 baseline="30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in-frame start codon at 32 (c.96; kozak: -3G; +4G); at least 4 P/LP variants in ClinVar upstream of c.96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ctrTitle"/>
          </p:nvPr>
        </p:nvSpPr>
        <p:spPr>
          <a:xfrm>
            <a:off x="420806" y="2184087"/>
            <a:ext cx="11502900" cy="60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subTitle" idx="1"/>
          </p:nvPr>
        </p:nvSpPr>
        <p:spPr>
          <a:xfrm>
            <a:off x="420795" y="8313433"/>
            <a:ext cx="11502900" cy="23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>
            <a:spLocks noGrp="1"/>
          </p:cNvSpPr>
          <p:nvPr>
            <p:ph type="title"/>
          </p:nvPr>
        </p:nvSpPr>
        <p:spPr>
          <a:xfrm>
            <a:off x="420795" y="6309160"/>
            <a:ext cx="11502900" cy="24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53997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body" idx="2"/>
          </p:nvPr>
        </p:nvSpPr>
        <p:spPr>
          <a:xfrm>
            <a:off x="6523740" y="3380593"/>
            <a:ext cx="53997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420795" y="1629760"/>
            <a:ext cx="3790800" cy="22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420795" y="4076160"/>
            <a:ext cx="3790800" cy="9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/>
          </p:nvPr>
        </p:nvSpPr>
        <p:spPr>
          <a:xfrm>
            <a:off x="661838" y="1320440"/>
            <a:ext cx="8596500" cy="119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/>
          <p:nvPr/>
        </p:nvSpPr>
        <p:spPr>
          <a:xfrm>
            <a:off x="6172200" y="-367"/>
            <a:ext cx="6172200" cy="150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358425" y="3617313"/>
            <a:ext cx="5460900" cy="43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358425" y="8222353"/>
            <a:ext cx="5460900" cy="3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6668325" y="2123953"/>
            <a:ext cx="5180100" cy="108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444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420795" y="12409687"/>
            <a:ext cx="8098500" cy="17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>
            <a:spLocks noGrp="1"/>
          </p:cNvSpPr>
          <p:nvPr>
            <p:ph type="title" hasCustomPrompt="1"/>
          </p:nvPr>
        </p:nvSpPr>
        <p:spPr>
          <a:xfrm>
            <a:off x="420795" y="3244633"/>
            <a:ext cx="11502900" cy="57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>
            <a:spLocks noGrp="1"/>
          </p:cNvSpPr>
          <p:nvPr>
            <p:ph type="body" idx="1"/>
          </p:nvPr>
        </p:nvSpPr>
        <p:spPr>
          <a:xfrm>
            <a:off x="420795" y="9246527"/>
            <a:ext cx="11502900" cy="3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ctr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marR="0" lvl="0" indent="-444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Arial"/>
              <a:buChar char="●"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370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80325" y="225673"/>
            <a:ext cx="1105800" cy="2819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1664575" y="216325"/>
            <a:ext cx="2374200" cy="86266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to undergo NMD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Nonsense up to c.6851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Frameshift -1/+2 up to c.6826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Frameshift +1/-2 up to c.6728</a:t>
            </a:r>
            <a:endParaRPr sz="120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1664575" y="1464775"/>
            <a:ext cx="2374200" cy="958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Nonsense from c.6852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Frameshift -1/+2 from c.6827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Frameshift +1/-2 from c.6729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4536350" y="516550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10938875" y="5165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4529000" y="1811200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b="0" i="0" u="none" strike="noStrike" cap="none" baseline="30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200" b="0" i="0" u="none" strike="noStrike" cap="none" baseline="300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10932525" y="17985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p1"/>
          <p:cNvCxnSpPr>
            <a:stCxn id="54" idx="3"/>
            <a:endCxn id="55" idx="1"/>
          </p:cNvCxnSpPr>
          <p:nvPr/>
        </p:nvCxnSpPr>
        <p:spPr>
          <a:xfrm rot="10800000" flipH="1">
            <a:off x="1186125" y="647623"/>
            <a:ext cx="478500" cy="987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2" name="Google Shape;62;p1"/>
          <p:cNvCxnSpPr>
            <a:stCxn id="54" idx="3"/>
            <a:endCxn id="56" idx="1"/>
          </p:cNvCxnSpPr>
          <p:nvPr/>
        </p:nvCxnSpPr>
        <p:spPr>
          <a:xfrm>
            <a:off x="1186125" y="1635523"/>
            <a:ext cx="478500" cy="308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" name="Google Shape;63;p1"/>
          <p:cNvCxnSpPr>
            <a:stCxn id="55" idx="3"/>
            <a:endCxn id="57" idx="1"/>
          </p:cNvCxnSpPr>
          <p:nvPr/>
        </p:nvCxnSpPr>
        <p:spPr>
          <a:xfrm>
            <a:off x="4038775" y="647659"/>
            <a:ext cx="497700" cy="7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4" name="Google Shape;64;p1"/>
          <p:cNvCxnSpPr>
            <a:stCxn id="56" idx="3"/>
            <a:endCxn id="59" idx="1"/>
          </p:cNvCxnSpPr>
          <p:nvPr/>
        </p:nvCxnSpPr>
        <p:spPr>
          <a:xfrm>
            <a:off x="4038775" y="1944175"/>
            <a:ext cx="490200" cy="5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5" name="Google Shape;65;p1"/>
          <p:cNvSpPr txBox="1"/>
          <p:nvPr/>
        </p:nvSpPr>
        <p:spPr>
          <a:xfrm>
            <a:off x="80325" y="3209450"/>
            <a:ext cx="1105800" cy="480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r>
              <a:rPr lang="en" sz="1200" b="1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400" b="1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1664575" y="3127248"/>
            <a:ext cx="2374200" cy="98395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predicted to undergo NMD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Exons 1, 2, 7-12, 14, 15, 17, 21, 23, 24 </a:t>
            </a:r>
            <a:endParaRPr sz="14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1654125" y="6290300"/>
            <a:ext cx="23742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preserves reading frame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Exons 3-6, 13, 16, 18-20, 22, 26</a:t>
            </a:r>
            <a:endParaRPr sz="14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4504600" y="3473800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4463325" y="4495800"/>
            <a:ext cx="5896500" cy="1263649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Downstream of c.6852: 3 variants get to LP or P without PVS1 based on VCEP rules and 2 ClinVar missense variants are classified P and therefore warrant use of PVS1 at the strong level</a:t>
            </a:r>
            <a:endParaRPr sz="120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4489300" y="751740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applies to exon 26</a:t>
            </a:r>
            <a:endParaRPr sz="120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"/>
          <p:cNvSpPr/>
          <p:nvPr/>
        </p:nvSpPr>
        <p:spPr>
          <a:xfrm>
            <a:off x="10938875" y="34738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"/>
          <p:cNvSpPr/>
          <p:nvPr/>
        </p:nvSpPr>
        <p:spPr>
          <a:xfrm>
            <a:off x="10907125" y="49974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10907125" y="75051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"/>
          <p:cNvSpPr/>
          <p:nvPr/>
        </p:nvSpPr>
        <p:spPr>
          <a:xfrm>
            <a:off x="1643625" y="4315725"/>
            <a:ext cx="2395200" cy="1612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</a:t>
            </a: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25</a:t>
            </a:r>
            <a:endParaRPr sz="14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1"/>
          <p:cNvCxnSpPr>
            <a:stCxn id="65" idx="3"/>
            <a:endCxn id="66" idx="1"/>
          </p:cNvCxnSpPr>
          <p:nvPr/>
        </p:nvCxnSpPr>
        <p:spPr>
          <a:xfrm rot="10800000" flipH="1">
            <a:off x="1186125" y="3619100"/>
            <a:ext cx="478500" cy="1990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6" name="Google Shape;76;p1"/>
          <p:cNvCxnSpPr>
            <a:stCxn id="65" idx="3"/>
            <a:endCxn id="74" idx="1"/>
          </p:cNvCxnSpPr>
          <p:nvPr/>
        </p:nvCxnSpPr>
        <p:spPr>
          <a:xfrm rot="10800000" flipH="1">
            <a:off x="1186125" y="5121800"/>
            <a:ext cx="457500" cy="487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7" name="Google Shape;77;p1"/>
          <p:cNvCxnSpPr>
            <a:stCxn id="65" idx="3"/>
            <a:endCxn id="67" idx="1"/>
          </p:cNvCxnSpPr>
          <p:nvPr/>
        </p:nvCxnSpPr>
        <p:spPr>
          <a:xfrm>
            <a:off x="1186125" y="5609600"/>
            <a:ext cx="468000" cy="145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8" name="Google Shape;78;p1"/>
          <p:cNvCxnSpPr>
            <a:stCxn id="66" idx="3"/>
            <a:endCxn id="68" idx="1"/>
          </p:cNvCxnSpPr>
          <p:nvPr/>
        </p:nvCxnSpPr>
        <p:spPr>
          <a:xfrm rot="10800000" flipH="1">
            <a:off x="4038775" y="3612324"/>
            <a:ext cx="465900" cy="6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9" name="Google Shape;79;p1"/>
          <p:cNvCxnSpPr>
            <a:stCxn id="74" idx="3"/>
            <a:endCxn id="69" idx="1"/>
          </p:cNvCxnSpPr>
          <p:nvPr/>
        </p:nvCxnSpPr>
        <p:spPr>
          <a:xfrm>
            <a:off x="4038825" y="5121825"/>
            <a:ext cx="424500" cy="5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0" name="Google Shape;80;p1"/>
          <p:cNvCxnSpPr>
            <a:stCxn id="57" idx="3"/>
            <a:endCxn id="58" idx="1"/>
          </p:cNvCxnSpPr>
          <p:nvPr/>
        </p:nvCxnSpPr>
        <p:spPr>
          <a:xfrm>
            <a:off x="10404350" y="655000"/>
            <a:ext cx="5346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1" name="Google Shape;81;p1"/>
          <p:cNvCxnSpPr>
            <a:stCxn id="59" idx="3"/>
            <a:endCxn id="60" idx="1"/>
          </p:cNvCxnSpPr>
          <p:nvPr/>
        </p:nvCxnSpPr>
        <p:spPr>
          <a:xfrm rot="10800000" flipH="1">
            <a:off x="10425500" y="1937050"/>
            <a:ext cx="507000" cy="12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2" name="Google Shape;82;p1"/>
          <p:cNvCxnSpPr>
            <a:stCxn id="68" idx="3"/>
            <a:endCxn id="71" idx="1"/>
          </p:cNvCxnSpPr>
          <p:nvPr/>
        </p:nvCxnSpPr>
        <p:spPr>
          <a:xfrm>
            <a:off x="10372600" y="3612250"/>
            <a:ext cx="5664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3" name="Google Shape;83;p1"/>
          <p:cNvCxnSpPr>
            <a:stCxn id="69" idx="3"/>
            <a:endCxn id="72" idx="1"/>
          </p:cNvCxnSpPr>
          <p:nvPr/>
        </p:nvCxnSpPr>
        <p:spPr>
          <a:xfrm>
            <a:off x="10359825" y="5127625"/>
            <a:ext cx="547200" cy="8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4" name="Google Shape;84;p1"/>
          <p:cNvCxnSpPr>
            <a:stCxn id="70" idx="3"/>
            <a:endCxn id="73" idx="1"/>
          </p:cNvCxnSpPr>
          <p:nvPr/>
        </p:nvCxnSpPr>
        <p:spPr>
          <a:xfrm rot="10800000" flipH="1">
            <a:off x="10396600" y="7643550"/>
            <a:ext cx="510600" cy="12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5" name="Google Shape;85;p1"/>
          <p:cNvSpPr txBox="1"/>
          <p:nvPr/>
        </p:nvSpPr>
        <p:spPr>
          <a:xfrm>
            <a:off x="80325" y="8238775"/>
            <a:ext cx="1105800" cy="36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701200" y="873820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predicted to undergo NMD</a:t>
            </a:r>
            <a:r>
              <a:rPr lang="e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1701200" y="1090415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701200" y="8253750"/>
            <a:ext cx="23271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4579325" y="8719150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544400" y="9118600"/>
            <a:ext cx="5896500" cy="68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400" b="0" i="0" u="none" strike="noStrike" cap="none" baseline="30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</a:t>
            </a:r>
            <a:r>
              <a:rPr lang="en" sz="12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Downstream of c.6852: 3 variants get to LP or P without PVS1 based on VCEP rules and 2 ClinVar missense variants are classified P and therefore warrant use of PVS1 at the strong level</a:t>
            </a: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572975" y="9918775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0945225" y="82537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544400" y="115622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applies to exon 26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10919825" y="87382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0938875" y="951892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10938875" y="102703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0932525" y="108364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10945225" y="115622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80325" y="12085325"/>
            <a:ext cx="1105800" cy="1481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1701200" y="12052375"/>
            <a:ext cx="23271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1701200" y="12571475"/>
            <a:ext cx="2327100" cy="450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1701200" y="13068275"/>
            <a:ext cx="23271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4533725" y="12051213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4533625" y="124186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or unknown impact on reading frame and NMD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4533750" y="1281830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10945225" y="120512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10945225" y="12418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10945225" y="128183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10945225" y="131606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0325" y="13755673"/>
            <a:ext cx="1105800" cy="107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Initiation Codon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1538750" y="14027175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4483001" y="13925550"/>
            <a:ext cx="5781600" cy="7810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≥1 pathogenic variant(s) upstream of closest potential in-frame start codon </a:t>
            </a:r>
            <a:r>
              <a:rPr lang="en" sz="12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Next in-frame start codon at 32 (c.96; kozak: -3G; +4G); at least 4 P/LP variants in ClinVar upstream of c.96</a:t>
            </a:r>
            <a:endParaRPr sz="120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10945225" y="141614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1680250" y="9768325"/>
            <a:ext cx="2327100" cy="91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</a:t>
            </a: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1"/>
          <p:cNvCxnSpPr>
            <a:stCxn id="85" idx="3"/>
            <a:endCxn id="88" idx="1"/>
          </p:cNvCxnSpPr>
          <p:nvPr/>
        </p:nvCxnSpPr>
        <p:spPr>
          <a:xfrm rot="10800000" flipH="1">
            <a:off x="1186125" y="8392225"/>
            <a:ext cx="515100" cy="1675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6" name="Google Shape;116;p1"/>
          <p:cNvCxnSpPr>
            <a:stCxn id="85" idx="3"/>
            <a:endCxn id="86" idx="1"/>
          </p:cNvCxnSpPr>
          <p:nvPr/>
        </p:nvCxnSpPr>
        <p:spPr>
          <a:xfrm rot="10800000" flipH="1">
            <a:off x="1186125" y="9139525"/>
            <a:ext cx="515100" cy="927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7" name="Google Shape;117;p1"/>
          <p:cNvCxnSpPr>
            <a:stCxn id="85" idx="3"/>
            <a:endCxn id="114" idx="1"/>
          </p:cNvCxnSpPr>
          <p:nvPr/>
        </p:nvCxnSpPr>
        <p:spPr>
          <a:xfrm>
            <a:off x="1186125" y="10067425"/>
            <a:ext cx="494100" cy="156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8" name="Google Shape;118;p1"/>
          <p:cNvCxnSpPr>
            <a:stCxn id="85" idx="3"/>
            <a:endCxn id="87" idx="1"/>
          </p:cNvCxnSpPr>
          <p:nvPr/>
        </p:nvCxnSpPr>
        <p:spPr>
          <a:xfrm>
            <a:off x="1186125" y="10067425"/>
            <a:ext cx="515100" cy="1238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9" name="Google Shape;119;p1"/>
          <p:cNvCxnSpPr>
            <a:stCxn id="88" idx="3"/>
            <a:endCxn id="92" idx="1"/>
          </p:cNvCxnSpPr>
          <p:nvPr/>
        </p:nvCxnSpPr>
        <p:spPr>
          <a:xfrm>
            <a:off x="4028300" y="8392200"/>
            <a:ext cx="6916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0" name="Google Shape;120;p1"/>
          <p:cNvCxnSpPr>
            <a:stCxn id="86" idx="3"/>
            <a:endCxn id="89" idx="1"/>
          </p:cNvCxnSpPr>
          <p:nvPr/>
        </p:nvCxnSpPr>
        <p:spPr>
          <a:xfrm rot="10800000" flipH="1">
            <a:off x="4028300" y="8857450"/>
            <a:ext cx="551100" cy="282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1" name="Google Shape;121;p1"/>
          <p:cNvCxnSpPr>
            <a:stCxn id="114" idx="3"/>
            <a:endCxn id="90" idx="1"/>
          </p:cNvCxnSpPr>
          <p:nvPr/>
        </p:nvCxnSpPr>
        <p:spPr>
          <a:xfrm rot="10800000" flipH="1">
            <a:off x="4007350" y="9461425"/>
            <a:ext cx="537000" cy="762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2" name="Google Shape;122;p1"/>
          <p:cNvCxnSpPr>
            <a:stCxn id="87" idx="3"/>
            <a:endCxn id="91" idx="1"/>
          </p:cNvCxnSpPr>
          <p:nvPr/>
        </p:nvCxnSpPr>
        <p:spPr>
          <a:xfrm rot="10800000" flipH="1">
            <a:off x="4028300" y="10697900"/>
            <a:ext cx="544800" cy="60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3" name="Google Shape;123;p1"/>
          <p:cNvCxnSpPr>
            <a:stCxn id="87" idx="3"/>
            <a:endCxn id="93" idx="1"/>
          </p:cNvCxnSpPr>
          <p:nvPr/>
        </p:nvCxnSpPr>
        <p:spPr>
          <a:xfrm>
            <a:off x="4028300" y="11305400"/>
            <a:ext cx="516000" cy="395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4" name="Google Shape;124;p1"/>
          <p:cNvCxnSpPr>
            <a:stCxn id="91" idx="3"/>
            <a:endCxn id="125" idx="1"/>
          </p:cNvCxnSpPr>
          <p:nvPr/>
        </p:nvCxnSpPr>
        <p:spPr>
          <a:xfrm>
            <a:off x="5653875" y="10697875"/>
            <a:ext cx="544500" cy="4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6" name="Google Shape;126;p1"/>
          <p:cNvCxnSpPr>
            <a:stCxn id="89" idx="3"/>
            <a:endCxn id="94" idx="1"/>
          </p:cNvCxnSpPr>
          <p:nvPr/>
        </p:nvCxnSpPr>
        <p:spPr>
          <a:xfrm>
            <a:off x="10447325" y="8857600"/>
            <a:ext cx="472500" cy="19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7" name="Google Shape;127;p1"/>
          <p:cNvCxnSpPr>
            <a:stCxn id="90" idx="3"/>
            <a:endCxn id="95" idx="1"/>
          </p:cNvCxnSpPr>
          <p:nvPr/>
        </p:nvCxnSpPr>
        <p:spPr>
          <a:xfrm>
            <a:off x="10440900" y="9461500"/>
            <a:ext cx="498000" cy="195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8" name="Google Shape;128;p1"/>
          <p:cNvCxnSpPr>
            <a:stCxn id="93" idx="3"/>
            <a:endCxn id="98" idx="1"/>
          </p:cNvCxnSpPr>
          <p:nvPr/>
        </p:nvCxnSpPr>
        <p:spPr>
          <a:xfrm>
            <a:off x="10451700" y="11700700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9" name="Google Shape;129;p1"/>
          <p:cNvCxnSpPr>
            <a:stCxn id="99" idx="3"/>
            <a:endCxn id="100" idx="1"/>
          </p:cNvCxnSpPr>
          <p:nvPr/>
        </p:nvCxnSpPr>
        <p:spPr>
          <a:xfrm rot="10800000" flipH="1">
            <a:off x="1186125" y="12238175"/>
            <a:ext cx="515100" cy="587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0" name="Google Shape;130;p1"/>
          <p:cNvCxnSpPr>
            <a:stCxn id="99" idx="3"/>
            <a:endCxn id="101" idx="1"/>
          </p:cNvCxnSpPr>
          <p:nvPr/>
        </p:nvCxnSpPr>
        <p:spPr>
          <a:xfrm rot="10800000" flipH="1">
            <a:off x="1186125" y="12796475"/>
            <a:ext cx="515100" cy="2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1" name="Google Shape;131;p1"/>
          <p:cNvCxnSpPr>
            <a:stCxn id="99" idx="3"/>
            <a:endCxn id="102" idx="1"/>
          </p:cNvCxnSpPr>
          <p:nvPr/>
        </p:nvCxnSpPr>
        <p:spPr>
          <a:xfrm>
            <a:off x="1186125" y="12825875"/>
            <a:ext cx="515100" cy="473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2" name="Google Shape;132;p1"/>
          <p:cNvCxnSpPr>
            <a:stCxn id="100" idx="3"/>
            <a:endCxn id="104" idx="1"/>
          </p:cNvCxnSpPr>
          <p:nvPr/>
        </p:nvCxnSpPr>
        <p:spPr>
          <a:xfrm>
            <a:off x="4028300" y="12238075"/>
            <a:ext cx="505200" cy="318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3" name="Google Shape;133;p1"/>
          <p:cNvCxnSpPr>
            <a:stCxn id="101" idx="3"/>
            <a:endCxn id="104" idx="1"/>
          </p:cNvCxnSpPr>
          <p:nvPr/>
        </p:nvCxnSpPr>
        <p:spPr>
          <a:xfrm rot="10800000" flipH="1">
            <a:off x="4028300" y="12557075"/>
            <a:ext cx="505200" cy="23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4" name="Google Shape;134;p1"/>
          <p:cNvCxnSpPr>
            <a:stCxn id="101" idx="3"/>
            <a:endCxn id="105" idx="1"/>
          </p:cNvCxnSpPr>
          <p:nvPr/>
        </p:nvCxnSpPr>
        <p:spPr>
          <a:xfrm>
            <a:off x="4028300" y="12796475"/>
            <a:ext cx="505500" cy="160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5" name="Google Shape;135;p1"/>
          <p:cNvCxnSpPr>
            <a:stCxn id="103" idx="3"/>
            <a:endCxn id="106" idx="1"/>
          </p:cNvCxnSpPr>
          <p:nvPr/>
        </p:nvCxnSpPr>
        <p:spPr>
          <a:xfrm>
            <a:off x="10441025" y="1218966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6" name="Google Shape;136;p1"/>
          <p:cNvCxnSpPr>
            <a:stCxn id="104" idx="3"/>
            <a:endCxn id="107" idx="1"/>
          </p:cNvCxnSpPr>
          <p:nvPr/>
        </p:nvCxnSpPr>
        <p:spPr>
          <a:xfrm>
            <a:off x="10440925" y="1255710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7" name="Google Shape;137;p1"/>
          <p:cNvCxnSpPr>
            <a:stCxn id="105" idx="3"/>
            <a:endCxn id="108" idx="1"/>
          </p:cNvCxnSpPr>
          <p:nvPr/>
        </p:nvCxnSpPr>
        <p:spPr>
          <a:xfrm>
            <a:off x="10441050" y="1295675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8" name="Google Shape;138;p1"/>
          <p:cNvCxnSpPr>
            <a:stCxn id="111" idx="3"/>
            <a:endCxn id="112" idx="1"/>
          </p:cNvCxnSpPr>
          <p:nvPr/>
        </p:nvCxnSpPr>
        <p:spPr>
          <a:xfrm>
            <a:off x="3865850" y="14305125"/>
            <a:ext cx="617100" cy="11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9" name="Google Shape;139;p1"/>
          <p:cNvCxnSpPr>
            <a:stCxn id="112" idx="3"/>
            <a:endCxn id="113" idx="1"/>
          </p:cNvCxnSpPr>
          <p:nvPr/>
        </p:nvCxnSpPr>
        <p:spPr>
          <a:xfrm rot="10800000" flipH="1">
            <a:off x="10264601" y="14299875"/>
            <a:ext cx="680700" cy="16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0" name="Google Shape;140;p1"/>
          <p:cNvCxnSpPr>
            <a:stCxn id="110" idx="3"/>
            <a:endCxn id="111" idx="1"/>
          </p:cNvCxnSpPr>
          <p:nvPr/>
        </p:nvCxnSpPr>
        <p:spPr>
          <a:xfrm>
            <a:off x="1186125" y="14293573"/>
            <a:ext cx="352500" cy="11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5" name="Google Shape;125;p1"/>
          <p:cNvSpPr/>
          <p:nvPr/>
        </p:nvSpPr>
        <p:spPr>
          <a:xfrm>
            <a:off x="6198225" y="1021247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"/>
          <p:cNvSpPr/>
          <p:nvPr/>
        </p:nvSpPr>
        <p:spPr>
          <a:xfrm>
            <a:off x="9188550" y="102061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/>
          <p:nvPr/>
        </p:nvSpPr>
        <p:spPr>
          <a:xfrm>
            <a:off x="9188475" y="1079580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1"/>
          <p:cNvCxnSpPr>
            <a:stCxn id="125" idx="3"/>
            <a:endCxn id="141" idx="1"/>
          </p:cNvCxnSpPr>
          <p:nvPr/>
        </p:nvCxnSpPr>
        <p:spPr>
          <a:xfrm rot="10800000" flipH="1">
            <a:off x="8816325" y="10432525"/>
            <a:ext cx="372300" cy="26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4" name="Google Shape;144;p1"/>
          <p:cNvCxnSpPr>
            <a:stCxn id="125" idx="3"/>
            <a:endCxn id="142" idx="1"/>
          </p:cNvCxnSpPr>
          <p:nvPr/>
        </p:nvCxnSpPr>
        <p:spPr>
          <a:xfrm>
            <a:off x="8816325" y="10701925"/>
            <a:ext cx="372300" cy="320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5" name="Google Shape;145;p1"/>
          <p:cNvCxnSpPr>
            <a:stCxn id="141" idx="3"/>
            <a:endCxn id="96" idx="1"/>
          </p:cNvCxnSpPr>
          <p:nvPr/>
        </p:nvCxnSpPr>
        <p:spPr>
          <a:xfrm>
            <a:off x="10420050" y="10432475"/>
            <a:ext cx="5187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6" name="Google Shape;146;p1"/>
          <p:cNvCxnSpPr>
            <a:stCxn id="142" idx="3"/>
            <a:endCxn id="97" idx="1"/>
          </p:cNvCxnSpPr>
          <p:nvPr/>
        </p:nvCxnSpPr>
        <p:spPr>
          <a:xfrm>
            <a:off x="10419975" y="11022150"/>
            <a:ext cx="5127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7" name="Google Shape;147;p1"/>
          <p:cNvCxnSpPr>
            <a:endCxn id="70" idx="1"/>
          </p:cNvCxnSpPr>
          <p:nvPr/>
        </p:nvCxnSpPr>
        <p:spPr>
          <a:xfrm rot="10800000" flipH="1">
            <a:off x="4028200" y="7655850"/>
            <a:ext cx="461100" cy="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8" name="Google Shape;148;p1"/>
          <p:cNvCxnSpPr>
            <a:stCxn id="102" idx="3"/>
            <a:endCxn id="109" idx="1"/>
          </p:cNvCxnSpPr>
          <p:nvPr/>
        </p:nvCxnSpPr>
        <p:spPr>
          <a:xfrm>
            <a:off x="4028300" y="13299125"/>
            <a:ext cx="691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9" name="Google Shape;149;p1"/>
          <p:cNvCxnSpPr>
            <a:stCxn id="100" idx="3"/>
            <a:endCxn id="103" idx="1"/>
          </p:cNvCxnSpPr>
          <p:nvPr/>
        </p:nvCxnSpPr>
        <p:spPr>
          <a:xfrm rot="10800000" flipH="1">
            <a:off x="4028300" y="12189775"/>
            <a:ext cx="505500" cy="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0" name="Google Shape;150;p1"/>
          <p:cNvSpPr/>
          <p:nvPr/>
        </p:nvSpPr>
        <p:spPr>
          <a:xfrm>
            <a:off x="4509475" y="5823025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"/>
          <p:cNvSpPr/>
          <p:nvPr/>
        </p:nvSpPr>
        <p:spPr>
          <a:xfrm>
            <a:off x="10875375" y="617457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"/>
          <p:cNvSpPr/>
          <p:nvPr/>
        </p:nvSpPr>
        <p:spPr>
          <a:xfrm>
            <a:off x="10869025" y="674070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1"/>
          <p:cNvCxnSpPr>
            <a:stCxn id="67" idx="3"/>
            <a:endCxn id="150" idx="1"/>
          </p:cNvCxnSpPr>
          <p:nvPr/>
        </p:nvCxnSpPr>
        <p:spPr>
          <a:xfrm rot="10800000" flipH="1">
            <a:off x="4028325" y="6602000"/>
            <a:ext cx="481200" cy="467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4" name="Google Shape;154;p1"/>
          <p:cNvCxnSpPr>
            <a:stCxn id="150" idx="3"/>
            <a:endCxn id="155" idx="1"/>
          </p:cNvCxnSpPr>
          <p:nvPr/>
        </p:nvCxnSpPr>
        <p:spPr>
          <a:xfrm>
            <a:off x="5590375" y="6602125"/>
            <a:ext cx="544500" cy="4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5" name="Google Shape;155;p1"/>
          <p:cNvSpPr/>
          <p:nvPr/>
        </p:nvSpPr>
        <p:spPr>
          <a:xfrm>
            <a:off x="6134725" y="61167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1"/>
          <p:cNvSpPr/>
          <p:nvPr/>
        </p:nvSpPr>
        <p:spPr>
          <a:xfrm>
            <a:off x="9125050" y="611037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"/>
          <p:cNvSpPr/>
          <p:nvPr/>
        </p:nvSpPr>
        <p:spPr>
          <a:xfrm>
            <a:off x="9124975" y="670005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1"/>
          <p:cNvCxnSpPr>
            <a:stCxn id="155" idx="3"/>
            <a:endCxn id="156" idx="1"/>
          </p:cNvCxnSpPr>
          <p:nvPr/>
        </p:nvCxnSpPr>
        <p:spPr>
          <a:xfrm rot="10800000" flipH="1">
            <a:off x="8752825" y="6336775"/>
            <a:ext cx="372300" cy="26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9" name="Google Shape;159;p1"/>
          <p:cNvCxnSpPr>
            <a:stCxn id="155" idx="3"/>
            <a:endCxn id="157" idx="1"/>
          </p:cNvCxnSpPr>
          <p:nvPr/>
        </p:nvCxnSpPr>
        <p:spPr>
          <a:xfrm>
            <a:off x="8752825" y="6606175"/>
            <a:ext cx="372300" cy="320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0" name="Google Shape;160;p1"/>
          <p:cNvCxnSpPr>
            <a:stCxn id="156" idx="3"/>
            <a:endCxn id="151" idx="1"/>
          </p:cNvCxnSpPr>
          <p:nvPr/>
        </p:nvCxnSpPr>
        <p:spPr>
          <a:xfrm>
            <a:off x="10356550" y="6336725"/>
            <a:ext cx="5187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1" name="Google Shape;161;p1"/>
          <p:cNvCxnSpPr>
            <a:stCxn id="157" idx="3"/>
            <a:endCxn id="152" idx="1"/>
          </p:cNvCxnSpPr>
          <p:nvPr/>
        </p:nvCxnSpPr>
        <p:spPr>
          <a:xfrm>
            <a:off x="10356475" y="6926400"/>
            <a:ext cx="5127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2"/>
          <p:cNvGrpSpPr/>
          <p:nvPr/>
        </p:nvGrpSpPr>
        <p:grpSpPr>
          <a:xfrm>
            <a:off x="99250" y="213707"/>
            <a:ext cx="12145900" cy="3657300"/>
            <a:chOff x="80325" y="8238775"/>
            <a:chExt cx="12145900" cy="3657300"/>
          </a:xfrm>
        </p:grpSpPr>
        <p:sp>
          <p:nvSpPr>
            <p:cNvPr id="167" name="Google Shape;167;p2"/>
            <p:cNvSpPr txBox="1"/>
            <p:nvPr/>
          </p:nvSpPr>
          <p:spPr>
            <a:xfrm>
              <a:off x="80325" y="8238775"/>
              <a:ext cx="1105800" cy="36573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1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RNA Splicing Data</a:t>
              </a:r>
              <a:endParaRPr sz="120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1701200" y="8738200"/>
              <a:ext cx="2327100" cy="8025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 variant-specific observed impact for silent/intronic alterations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1716000" y="10437442"/>
              <a:ext cx="2327100" cy="8025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Variant-specific impac</a:t>
              </a:r>
              <a:r>
                <a:rPr lang="en" sz="1200">
                  <a:latin typeface="Times New Roman"/>
                  <a:ea typeface="Times New Roman"/>
                  <a:cs typeface="Times New Roman"/>
                  <a:sym typeface="Times New Roman"/>
                </a:rPr>
                <a:t>t shown by assay compared to control (</a:t>
              </a:r>
              <a:r>
                <a:rPr lang="en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 all coding and non-coding variants</a:t>
              </a:r>
              <a:r>
                <a:rPr lang="en" sz="1200"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4642927" y="8991475"/>
              <a:ext cx="2820096" cy="29595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SpliceAI delta score </a:t>
              </a:r>
              <a:r>
                <a:rPr lang="en" sz="1200" b="0" i="0" u="sng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&lt;</a:t>
              </a:r>
              <a:r>
                <a:rPr lang="en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4572975" y="10098829"/>
              <a:ext cx="3620530" cy="622445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Complete loss of protein (no evidence of normal spliced mRNA)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4567761" y="11070383"/>
              <a:ext cx="3620529" cy="60638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Near complete loss of protein (some evidence of normal spiced mRNA)</a:t>
              </a:r>
              <a:endParaRPr sz="12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0945225" y="8982717"/>
              <a:ext cx="1281000" cy="2769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BP7_Strong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10938875" y="10242793"/>
              <a:ext cx="1281000" cy="3243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PVS1*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0929426" y="11251387"/>
              <a:ext cx="1281000" cy="2769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PVS1_Strong*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6" name="Google Shape;176;p2"/>
            <p:cNvCxnSpPr>
              <a:stCxn id="167" idx="3"/>
              <a:endCxn id="168" idx="1"/>
            </p:cNvCxnSpPr>
            <p:nvPr/>
          </p:nvCxnSpPr>
          <p:spPr>
            <a:xfrm rot="10800000" flipH="1">
              <a:off x="1186125" y="9139525"/>
              <a:ext cx="515100" cy="92790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77" name="Google Shape;177;p2"/>
            <p:cNvCxnSpPr>
              <a:stCxn id="167" idx="3"/>
              <a:endCxn id="169" idx="1"/>
            </p:cNvCxnSpPr>
            <p:nvPr/>
          </p:nvCxnSpPr>
          <p:spPr>
            <a:xfrm>
              <a:off x="1186125" y="10067425"/>
              <a:ext cx="529800" cy="77130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78" name="Google Shape;178;p2"/>
            <p:cNvCxnSpPr>
              <a:stCxn id="168" idx="3"/>
              <a:endCxn id="170" idx="1"/>
            </p:cNvCxnSpPr>
            <p:nvPr/>
          </p:nvCxnSpPr>
          <p:spPr>
            <a:xfrm>
              <a:off x="4028300" y="9139450"/>
              <a:ext cx="614700" cy="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79" name="Google Shape;179;p2"/>
            <p:cNvCxnSpPr>
              <a:stCxn id="169" idx="3"/>
              <a:endCxn id="171" idx="1"/>
            </p:cNvCxnSpPr>
            <p:nvPr/>
          </p:nvCxnSpPr>
          <p:spPr>
            <a:xfrm rot="10800000" flipH="1">
              <a:off x="4043100" y="10409992"/>
              <a:ext cx="529800" cy="42870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0" name="Google Shape;180;p2"/>
            <p:cNvCxnSpPr>
              <a:stCxn id="169" idx="3"/>
              <a:endCxn id="172" idx="1"/>
            </p:cNvCxnSpPr>
            <p:nvPr/>
          </p:nvCxnSpPr>
          <p:spPr>
            <a:xfrm>
              <a:off x="4043100" y="10838692"/>
              <a:ext cx="524700" cy="53490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1" name="Google Shape;181;p2"/>
            <p:cNvCxnSpPr>
              <a:stCxn id="171" idx="3"/>
              <a:endCxn id="174" idx="1"/>
            </p:cNvCxnSpPr>
            <p:nvPr/>
          </p:nvCxnSpPr>
          <p:spPr>
            <a:xfrm rot="10800000" flipH="1">
              <a:off x="8193505" y="10404952"/>
              <a:ext cx="2745300" cy="510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2" name="Google Shape;182;p2"/>
            <p:cNvCxnSpPr>
              <a:stCxn id="170" idx="3"/>
              <a:endCxn id="173" idx="1"/>
            </p:cNvCxnSpPr>
            <p:nvPr/>
          </p:nvCxnSpPr>
          <p:spPr>
            <a:xfrm rot="10800000" flipH="1">
              <a:off x="7463023" y="9121150"/>
              <a:ext cx="3482100" cy="1830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3" name="Google Shape;183;p2"/>
            <p:cNvCxnSpPr>
              <a:stCxn id="172" idx="3"/>
              <a:endCxn id="175" idx="1"/>
            </p:cNvCxnSpPr>
            <p:nvPr/>
          </p:nvCxnSpPr>
          <p:spPr>
            <a:xfrm>
              <a:off x="8188290" y="11373573"/>
              <a:ext cx="2741100" cy="1620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184" name="Google Shape;184;p2"/>
          <p:cNvSpPr txBox="1"/>
          <p:nvPr/>
        </p:nvSpPr>
        <p:spPr>
          <a:xfrm>
            <a:off x="541421" y="4150895"/>
            <a:ext cx="114781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*When PVS1 is applied using RNA splicing data, PP3 cannot be applied.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855</Words>
  <Application>Microsoft Office PowerPoint</Application>
  <PresentationFormat>Custom</PresentationFormat>
  <Paragraphs>95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Times New Roman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Mohan, Shruthi</dc:creator>
  <cp:lastModifiedBy>Lee, Kristy</cp:lastModifiedBy>
  <cp:revision>1</cp:revision>
  <dcterms:modified xsi:type="dcterms:W3CDTF">2024-09-27T12:16:05Z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0x0101009393AEFD595263468CEA26E4B584D716</vt:lpwstr>
  </property>
</Properties>
</file>