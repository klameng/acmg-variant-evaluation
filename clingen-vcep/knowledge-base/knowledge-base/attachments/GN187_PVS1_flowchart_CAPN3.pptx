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344400" cy="164592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42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hE5CM89sIJY3oPbbhw6VH2Sftk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48" y="-2752"/>
      </p:cViewPr>
      <p:guideLst>
        <p:guide orient="horz" pos="204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13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se, Amanda" userId="08e9fc0f-92ac-4595-ab91-dd80063314a5" providerId="ADAL" clId="{0D9B6E7B-6C17-45F9-AEA8-30AD62F2AEF0}"/>
    <pc:docChg chg="modSld">
      <pc:chgData name="Clause, Amanda" userId="08e9fc0f-92ac-4595-ab91-dd80063314a5" providerId="ADAL" clId="{0D9B6E7B-6C17-45F9-AEA8-30AD62F2AEF0}" dt="2025-06-05T18:09:19.957" v="6" actId="20577"/>
      <pc:docMkLst>
        <pc:docMk/>
      </pc:docMkLst>
      <pc:sldChg chg="modSp mod">
        <pc:chgData name="Clause, Amanda" userId="08e9fc0f-92ac-4595-ab91-dd80063314a5" providerId="ADAL" clId="{0D9B6E7B-6C17-45F9-AEA8-30AD62F2AEF0}" dt="2025-06-05T18:09:19.957" v="6" actId="20577"/>
        <pc:sldMkLst>
          <pc:docMk/>
          <pc:sldMk cId="0" sldId="257"/>
        </pc:sldMkLst>
        <pc:spChg chg="mod">
          <ac:chgData name="Clause, Amanda" userId="08e9fc0f-92ac-4595-ab91-dd80063314a5" providerId="ADAL" clId="{0D9B6E7B-6C17-45F9-AEA8-30AD62F2AEF0}" dt="2025-06-05T18:09:19.957" v="6" actId="20577"/>
          <ac:spMkLst>
            <pc:docMk/>
            <pc:sldMk cId="0" sldId="257"/>
            <ac:spMk id="8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33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33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PLEASE NOTE – highlighted areas are where the VCEP should provide guidance for each gene under specification.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Weights may be adjusted if appropriate (e.g start codon)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420806" y="2382640"/>
            <a:ext cx="11502900" cy="656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20795" y="9069199"/>
            <a:ext cx="11502900" cy="2536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20795" y="6882720"/>
            <a:ext cx="11502900" cy="269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420795" y="3687920"/>
            <a:ext cx="53997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6523740" y="3687920"/>
            <a:ext cx="53997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20795" y="1777920"/>
            <a:ext cx="3790800" cy="241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420795" y="4446720"/>
            <a:ext cx="3790800" cy="10173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661838" y="1440480"/>
            <a:ext cx="8596500" cy="13090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6172200" y="-400"/>
            <a:ext cx="6172200" cy="1645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358425" y="3946160"/>
            <a:ext cx="5460900" cy="4743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358425" y="8969840"/>
            <a:ext cx="5460900" cy="3952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6668325" y="2317039"/>
            <a:ext cx="5180100" cy="1182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20795" y="13537840"/>
            <a:ext cx="8098500" cy="193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420795" y="3539600"/>
            <a:ext cx="11502900" cy="628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420795" y="10087120"/>
            <a:ext cx="11502900" cy="41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20795" y="3687920"/>
            <a:ext cx="115029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Char char="●"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370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pliceailookup.broadinstitute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80325" y="911472"/>
            <a:ext cx="1105800" cy="332747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61" name="Google Shape;61;p1"/>
          <p:cNvSpPr/>
          <p:nvPr/>
        </p:nvSpPr>
        <p:spPr>
          <a:xfrm>
            <a:off x="1643625" y="902125"/>
            <a:ext cx="2395150" cy="96570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>
              <a:solidFill>
                <a:schemeClr val="tx1"/>
              </a:solidFill>
            </a:endParaRPr>
          </a:p>
          <a:p>
            <a:pPr algn="ctr">
              <a:buSzPts val="1200"/>
            </a:pPr>
            <a:endParaRPr lang="en"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(Premature truncation in codons 35-795)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1664575" y="239441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sp>
        <p:nvSpPr>
          <p:cNvPr id="63" name="Google Shape;63;p1"/>
          <p:cNvSpPr/>
          <p:nvPr/>
        </p:nvSpPr>
        <p:spPr>
          <a:xfrm>
            <a:off x="4536350" y="878500"/>
            <a:ext cx="5868000" cy="27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NM_000070.3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536275" y="13070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NM_000070.3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0945225" y="878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10945225" y="13070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4529000" y="179850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557575" y="21729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6201875" y="2182875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</a:t>
            </a:r>
            <a:endParaRPr dirty="0"/>
          </a:p>
        </p:txBody>
      </p:sp>
      <p:sp>
        <p:nvSpPr>
          <p:cNvPr id="70" name="Google Shape;70;p1"/>
          <p:cNvSpPr/>
          <p:nvPr/>
        </p:nvSpPr>
        <p:spPr>
          <a:xfrm>
            <a:off x="10945225" y="1798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71" name="Google Shape;71;p1"/>
          <p:cNvSpPr/>
          <p:nvPr/>
        </p:nvSpPr>
        <p:spPr>
          <a:xfrm>
            <a:off x="10945225" y="22280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10945225" y="2816250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10945225" y="331887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6201875" y="27520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9204900" y="275205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76" name="Google Shape;76;p1"/>
          <p:cNvSpPr/>
          <p:nvPr/>
        </p:nvSpPr>
        <p:spPr>
          <a:xfrm>
            <a:off x="9204825" y="32782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77" name="Google Shape;77;p1"/>
          <p:cNvCxnSpPr>
            <a:stCxn id="74" idx="3"/>
            <a:endCxn id="75" idx="1"/>
          </p:cNvCxnSpPr>
          <p:nvPr/>
        </p:nvCxnSpPr>
        <p:spPr>
          <a:xfrm rot="10800000" flipH="1">
            <a:off x="8819975" y="29784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8" name="Google Shape;78;p1"/>
          <p:cNvCxnSpPr>
            <a:stCxn id="74" idx="3"/>
            <a:endCxn id="76" idx="1"/>
          </p:cNvCxnSpPr>
          <p:nvPr/>
        </p:nvCxnSpPr>
        <p:spPr>
          <a:xfrm>
            <a:off x="8819975" y="32415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" name="Google Shape;79;p1"/>
          <p:cNvCxnSpPr>
            <a:cxnSpLocks/>
            <a:endCxn id="61" idx="1"/>
          </p:cNvCxnSpPr>
          <p:nvPr/>
        </p:nvCxnSpPr>
        <p:spPr>
          <a:xfrm flipV="1">
            <a:off x="1193712" y="1384979"/>
            <a:ext cx="449913" cy="152399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80;p1"/>
          <p:cNvCxnSpPr>
            <a:cxnSpLocks/>
          </p:cNvCxnSpPr>
          <p:nvPr/>
        </p:nvCxnSpPr>
        <p:spPr>
          <a:xfrm>
            <a:off x="1184860" y="2901600"/>
            <a:ext cx="463645" cy="294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1" name="Google Shape;81;p1"/>
          <p:cNvCxnSpPr>
            <a:cxnSpLocks/>
            <a:stCxn id="61" idx="3"/>
            <a:endCxn id="63" idx="1"/>
          </p:cNvCxnSpPr>
          <p:nvPr/>
        </p:nvCxnSpPr>
        <p:spPr>
          <a:xfrm flipV="1">
            <a:off x="4038775" y="1016950"/>
            <a:ext cx="497575" cy="36802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" name="Google Shape;82;p1"/>
          <p:cNvCxnSpPr>
            <a:cxnSpLocks/>
            <a:stCxn id="61" idx="3"/>
            <a:endCxn id="64" idx="1"/>
          </p:cNvCxnSpPr>
          <p:nvPr/>
        </p:nvCxnSpPr>
        <p:spPr>
          <a:xfrm>
            <a:off x="4038775" y="1384979"/>
            <a:ext cx="497500" cy="6054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1"/>
          <p:cNvCxnSpPr>
            <a:stCxn id="62" idx="3"/>
            <a:endCxn id="67" idx="1"/>
          </p:cNvCxnSpPr>
          <p:nvPr/>
        </p:nvCxnSpPr>
        <p:spPr>
          <a:xfrm flipV="1">
            <a:off x="4038775" y="1936950"/>
            <a:ext cx="490225" cy="93686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1"/>
          <p:cNvCxnSpPr>
            <a:stCxn id="62" idx="3"/>
            <a:endCxn id="68" idx="1"/>
          </p:cNvCxnSpPr>
          <p:nvPr/>
        </p:nvCxnSpPr>
        <p:spPr>
          <a:xfrm>
            <a:off x="4038775" y="2873815"/>
            <a:ext cx="518800" cy="368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5" name="Google Shape;85;p1"/>
          <p:cNvCxnSpPr>
            <a:stCxn id="68" idx="3"/>
            <a:endCxn id="69" idx="1"/>
          </p:cNvCxnSpPr>
          <p:nvPr/>
        </p:nvCxnSpPr>
        <p:spPr>
          <a:xfrm rot="10800000" flipH="1">
            <a:off x="5638475" y="2413700"/>
            <a:ext cx="563400" cy="463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6" name="Google Shape;86;p1"/>
          <p:cNvCxnSpPr>
            <a:stCxn id="68" idx="3"/>
            <a:endCxn id="74" idx="1"/>
          </p:cNvCxnSpPr>
          <p:nvPr/>
        </p:nvCxnSpPr>
        <p:spPr>
          <a:xfrm>
            <a:off x="5638475" y="28775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7" name="Google Shape;87;p1"/>
          <p:cNvSpPr txBox="1"/>
          <p:nvPr/>
        </p:nvSpPr>
        <p:spPr>
          <a:xfrm>
            <a:off x="80325" y="4470788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</a:p>
          <a:p>
            <a:pPr algn="ctr">
              <a:buSzPts val="1200"/>
            </a:pPr>
            <a:endParaRPr lang="en" sz="1200" b="1" baseline="30000" dirty="0">
              <a:latin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Use </a:t>
            </a:r>
            <a:r>
              <a:rPr lang="en" sz="1200">
                <a:latin typeface="Times New Roman"/>
                <a:cs typeface="Times New Roman"/>
                <a:sym typeface="Times New Roman"/>
              </a:rPr>
              <a:t>the SpliceAI </a:t>
            </a:r>
            <a:r>
              <a:rPr lang="en" sz="1200" dirty="0">
                <a:latin typeface="Times New Roman"/>
                <a:cs typeface="Times New Roman"/>
                <a:sym typeface="Times New Roman"/>
              </a:rPr>
              <a:t>prediction of the most likely splice effect and then determine the expected protein consequence </a:t>
            </a:r>
          </a:p>
          <a:p>
            <a:pPr>
              <a:buSzPts val="1200"/>
            </a:pPr>
            <a:endParaRPr lang="en" sz="1200" dirty="0">
              <a:latin typeface="Times New Roman"/>
              <a:cs typeface="Times New Roman"/>
              <a:sym typeface="Times New Roman"/>
            </a:endParaRPr>
          </a:p>
          <a:p>
            <a:pPr>
              <a:buSzPts val="1200"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https://spliceailookup.broadinstitute.org</a:t>
            </a:r>
            <a:endParaRPr lang="en-US" sz="12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SzPts val="1200"/>
            </a:pPr>
            <a:endParaRPr lang="en" sz="1200" dirty="0"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664575" y="4570038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sp>
        <p:nvSpPr>
          <p:cNvPr id="89" name="Google Shape;89;p1"/>
          <p:cNvSpPr/>
          <p:nvPr/>
        </p:nvSpPr>
        <p:spPr>
          <a:xfrm>
            <a:off x="1654125" y="7551638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dirty="0"/>
          </a:p>
          <a:p>
            <a:pPr>
              <a:buSzPts val="1200"/>
            </a:pPr>
            <a:endParaRPr lang="en" sz="1200" dirty="0">
              <a:solidFill>
                <a:srgbClr val="FF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Inframe exons for which exon skipping is not expected to result in NMD</a:t>
            </a:r>
            <a:r>
              <a:rPr lang="en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1, </a:t>
            </a:r>
            <a:r>
              <a:rPr lang="en-US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7, 9, 12, 15, 16, 17, 20</a:t>
            </a:r>
            <a:r>
              <a:rPr lang="en-US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22, 24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536350" y="4493838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NM_000070.3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507775" y="5376163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536275" y="4922413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NM_000070.3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36350" y="57506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6180650" y="57605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6180650" y="63300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NM_000070.3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83675" y="63300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4533750" y="90136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945225" y="44938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10945225" y="49224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10945225" y="537616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01" name="Google Shape;101;p1"/>
          <p:cNvSpPr/>
          <p:nvPr/>
        </p:nvSpPr>
        <p:spPr>
          <a:xfrm>
            <a:off x="10945225" y="58056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10945225" y="63942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10945225" y="68968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10945225" y="90204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05" name="Google Shape;105;p1"/>
          <p:cNvSpPr/>
          <p:nvPr/>
        </p:nvSpPr>
        <p:spPr>
          <a:xfrm>
            <a:off x="9183600" y="68562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1643625" y="5577062"/>
            <a:ext cx="2395200" cy="18143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predicted to undergo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7" name="Google Shape;107;p1"/>
          <p:cNvCxnSpPr>
            <a:stCxn id="87" idx="3"/>
            <a:endCxn id="88" idx="1"/>
          </p:cNvCxnSpPr>
          <p:nvPr/>
        </p:nvCxnSpPr>
        <p:spPr>
          <a:xfrm rot="10800000" flipH="1">
            <a:off x="1186125" y="4971338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" name="Google Shape;108;p1"/>
          <p:cNvCxnSpPr>
            <a:cxnSpLocks/>
            <a:stCxn id="87" idx="3"/>
            <a:endCxn id="106" idx="1"/>
          </p:cNvCxnSpPr>
          <p:nvPr/>
        </p:nvCxnSpPr>
        <p:spPr>
          <a:xfrm flipV="1">
            <a:off x="1186125" y="6484250"/>
            <a:ext cx="457500" cy="38668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9" name="Google Shape;109;p1"/>
          <p:cNvCxnSpPr>
            <a:stCxn id="87" idx="3"/>
            <a:endCxn id="89" idx="1"/>
          </p:cNvCxnSpPr>
          <p:nvPr/>
        </p:nvCxnSpPr>
        <p:spPr>
          <a:xfrm>
            <a:off x="1186125" y="6870938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0" name="Google Shape;110;p1"/>
          <p:cNvCxnSpPr>
            <a:stCxn id="88" idx="3"/>
            <a:endCxn id="90" idx="1"/>
          </p:cNvCxnSpPr>
          <p:nvPr/>
        </p:nvCxnSpPr>
        <p:spPr>
          <a:xfrm rot="10800000" flipH="1">
            <a:off x="4038775" y="4632288"/>
            <a:ext cx="4977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11;p1"/>
          <p:cNvCxnSpPr>
            <a:stCxn id="88" idx="3"/>
            <a:endCxn id="92" idx="1"/>
          </p:cNvCxnSpPr>
          <p:nvPr/>
        </p:nvCxnSpPr>
        <p:spPr>
          <a:xfrm>
            <a:off x="4038775" y="4971288"/>
            <a:ext cx="4974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" name="Google Shape;112;p1"/>
          <p:cNvCxnSpPr>
            <a:cxnSpLocks/>
            <a:stCxn id="106" idx="3"/>
            <a:endCxn id="91" idx="1"/>
          </p:cNvCxnSpPr>
          <p:nvPr/>
        </p:nvCxnSpPr>
        <p:spPr>
          <a:xfrm flipV="1">
            <a:off x="4038825" y="5514613"/>
            <a:ext cx="468950" cy="96963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1"/>
          <p:cNvCxnSpPr>
            <a:cxnSpLocks/>
            <a:stCxn id="106" idx="3"/>
            <a:endCxn id="93" idx="1"/>
          </p:cNvCxnSpPr>
          <p:nvPr/>
        </p:nvCxnSpPr>
        <p:spPr>
          <a:xfrm>
            <a:off x="4038825" y="6484250"/>
            <a:ext cx="497525" cy="4546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4" name="Google Shape;114;p1"/>
          <p:cNvCxnSpPr>
            <a:stCxn id="93" idx="3"/>
            <a:endCxn id="94" idx="1"/>
          </p:cNvCxnSpPr>
          <p:nvPr/>
        </p:nvCxnSpPr>
        <p:spPr>
          <a:xfrm rot="10800000" flipH="1">
            <a:off x="5617250" y="5991513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1"/>
          <p:cNvCxnSpPr>
            <a:stCxn id="93" idx="3"/>
            <a:endCxn id="95" idx="1"/>
          </p:cNvCxnSpPr>
          <p:nvPr/>
        </p:nvCxnSpPr>
        <p:spPr>
          <a:xfrm>
            <a:off x="5617250" y="65297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" name="Google Shape;116;p1"/>
          <p:cNvCxnSpPr>
            <a:stCxn id="95" idx="3"/>
            <a:endCxn id="96" idx="1"/>
          </p:cNvCxnSpPr>
          <p:nvPr/>
        </p:nvCxnSpPr>
        <p:spPr>
          <a:xfrm rot="10800000" flipH="1">
            <a:off x="8798750" y="65564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7" name="Google Shape;117;p1"/>
          <p:cNvCxnSpPr>
            <a:stCxn id="95" idx="3"/>
            <a:endCxn id="105" idx="1"/>
          </p:cNvCxnSpPr>
          <p:nvPr/>
        </p:nvCxnSpPr>
        <p:spPr>
          <a:xfrm>
            <a:off x="8798750" y="68195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1"/>
          <p:cNvCxnSpPr>
            <a:stCxn id="63" idx="3"/>
            <a:endCxn id="65" idx="1"/>
          </p:cNvCxnSpPr>
          <p:nvPr/>
        </p:nvCxnSpPr>
        <p:spPr>
          <a:xfrm>
            <a:off x="10404350" y="10169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1"/>
          <p:cNvCxnSpPr>
            <a:stCxn id="64" idx="3"/>
            <a:endCxn id="66" idx="1"/>
          </p:cNvCxnSpPr>
          <p:nvPr/>
        </p:nvCxnSpPr>
        <p:spPr>
          <a:xfrm>
            <a:off x="10404275" y="14455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1"/>
          <p:cNvCxnSpPr>
            <a:stCxn id="67" idx="3"/>
            <a:endCxn id="70" idx="1"/>
          </p:cNvCxnSpPr>
          <p:nvPr/>
        </p:nvCxnSpPr>
        <p:spPr>
          <a:xfrm>
            <a:off x="10425500" y="1936950"/>
            <a:ext cx="519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1"/>
          <p:cNvCxnSpPr>
            <a:stCxn id="69" idx="3"/>
            <a:endCxn id="71" idx="1"/>
          </p:cNvCxnSpPr>
          <p:nvPr/>
        </p:nvCxnSpPr>
        <p:spPr>
          <a:xfrm>
            <a:off x="10436375" y="24137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" name="Google Shape;122;p1"/>
          <p:cNvCxnSpPr>
            <a:stCxn id="75" idx="3"/>
            <a:endCxn id="72" idx="1"/>
          </p:cNvCxnSpPr>
          <p:nvPr/>
        </p:nvCxnSpPr>
        <p:spPr>
          <a:xfrm>
            <a:off x="10436400" y="297840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1"/>
          <p:cNvCxnSpPr>
            <a:stCxn id="76" idx="3"/>
            <a:endCxn id="73" idx="1"/>
          </p:cNvCxnSpPr>
          <p:nvPr/>
        </p:nvCxnSpPr>
        <p:spPr>
          <a:xfrm>
            <a:off x="10436325" y="350457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1"/>
          <p:cNvCxnSpPr>
            <a:stCxn id="90" idx="3"/>
            <a:endCxn id="98" idx="1"/>
          </p:cNvCxnSpPr>
          <p:nvPr/>
        </p:nvCxnSpPr>
        <p:spPr>
          <a:xfrm>
            <a:off x="10404350" y="4632288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" name="Google Shape;125;p1"/>
          <p:cNvCxnSpPr>
            <a:stCxn id="92" idx="3"/>
            <a:endCxn id="99" idx="1"/>
          </p:cNvCxnSpPr>
          <p:nvPr/>
        </p:nvCxnSpPr>
        <p:spPr>
          <a:xfrm>
            <a:off x="10404275" y="5060863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6" name="Google Shape;126;p1"/>
          <p:cNvCxnSpPr>
            <a:stCxn id="91" idx="3"/>
            <a:endCxn id="100" idx="1"/>
          </p:cNvCxnSpPr>
          <p:nvPr/>
        </p:nvCxnSpPr>
        <p:spPr>
          <a:xfrm>
            <a:off x="10404275" y="5514613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" name="Google Shape;127;p1"/>
          <p:cNvCxnSpPr>
            <a:stCxn id="94" idx="3"/>
            <a:endCxn id="101" idx="1"/>
          </p:cNvCxnSpPr>
          <p:nvPr/>
        </p:nvCxnSpPr>
        <p:spPr>
          <a:xfrm>
            <a:off x="10415150" y="59913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1"/>
          <p:cNvCxnSpPr>
            <a:stCxn id="96" idx="3"/>
            <a:endCxn id="102" idx="1"/>
          </p:cNvCxnSpPr>
          <p:nvPr/>
        </p:nvCxnSpPr>
        <p:spPr>
          <a:xfrm>
            <a:off x="10415175" y="6556413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p1"/>
          <p:cNvCxnSpPr>
            <a:stCxn id="105" idx="3"/>
            <a:endCxn id="103" idx="1"/>
          </p:cNvCxnSpPr>
          <p:nvPr/>
        </p:nvCxnSpPr>
        <p:spPr>
          <a:xfrm>
            <a:off x="10415100" y="70825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p1"/>
          <p:cNvCxnSpPr>
            <a:stCxn id="97" idx="3"/>
            <a:endCxn id="104" idx="1"/>
          </p:cNvCxnSpPr>
          <p:nvPr/>
        </p:nvCxnSpPr>
        <p:spPr>
          <a:xfrm>
            <a:off x="10441050" y="9152138"/>
            <a:ext cx="504300" cy="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p1"/>
          <p:cNvSpPr txBox="1"/>
          <p:nvPr/>
        </p:nvSpPr>
        <p:spPr>
          <a:xfrm>
            <a:off x="80325" y="9500113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000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400"/>
            </a:pPr>
            <a:endParaRPr/>
          </a:p>
        </p:txBody>
      </p:sp>
      <p:sp>
        <p:nvSpPr>
          <p:cNvPr id="132" name="Google Shape;132;p1"/>
          <p:cNvSpPr/>
          <p:nvPr/>
        </p:nvSpPr>
        <p:spPr>
          <a:xfrm>
            <a:off x="1701200" y="9999538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33" name="Google Shape;133;p1"/>
          <p:cNvSpPr/>
          <p:nvPr/>
        </p:nvSpPr>
        <p:spPr>
          <a:xfrm>
            <a:off x="1701200" y="12165488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/>
          </a:p>
        </p:txBody>
      </p:sp>
      <p:sp>
        <p:nvSpPr>
          <p:cNvPr id="134" name="Google Shape;134;p1"/>
          <p:cNvSpPr/>
          <p:nvPr/>
        </p:nvSpPr>
        <p:spPr>
          <a:xfrm>
            <a:off x="1701200" y="9515088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135" name="Google Shape;135;p1"/>
          <p:cNvSpPr/>
          <p:nvPr/>
        </p:nvSpPr>
        <p:spPr>
          <a:xfrm>
            <a:off x="4572975" y="9923338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NM_000070.3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544400" y="10805663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baseline="30000" dirty="0"/>
          </a:p>
        </p:txBody>
      </p:sp>
      <p:sp>
        <p:nvSpPr>
          <p:cNvPr id="137" name="Google Shape;137;p1"/>
          <p:cNvSpPr/>
          <p:nvPr/>
        </p:nvSpPr>
        <p:spPr>
          <a:xfrm>
            <a:off x="4572900" y="10351913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NM_000070.3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4572975" y="11180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dirty="0"/>
          </a:p>
        </p:txBody>
      </p:sp>
      <p:sp>
        <p:nvSpPr>
          <p:cNvPr id="139" name="Google Shape;139;p1"/>
          <p:cNvSpPr/>
          <p:nvPr/>
        </p:nvSpPr>
        <p:spPr>
          <a:xfrm>
            <a:off x="6217275" y="111900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</a:t>
            </a:r>
            <a:endParaRPr dirty="0"/>
          </a:p>
        </p:txBody>
      </p:sp>
      <p:sp>
        <p:nvSpPr>
          <p:cNvPr id="140" name="Google Shape;140;p1"/>
          <p:cNvSpPr/>
          <p:nvPr/>
        </p:nvSpPr>
        <p:spPr>
          <a:xfrm>
            <a:off x="10945225" y="95150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1200" baseline="30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aseline="30000"/>
          </a:p>
        </p:txBody>
      </p:sp>
      <p:sp>
        <p:nvSpPr>
          <p:cNvPr id="141" name="Google Shape;141;p1"/>
          <p:cNvSpPr/>
          <p:nvPr/>
        </p:nvSpPr>
        <p:spPr>
          <a:xfrm>
            <a:off x="4544400" y="128235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0945225" y="99233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10945225" y="103519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4" name="Google Shape;144;p1"/>
          <p:cNvSpPr/>
          <p:nvPr/>
        </p:nvSpPr>
        <p:spPr>
          <a:xfrm>
            <a:off x="10945225" y="1080566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45" name="Google Shape;145;p1"/>
          <p:cNvSpPr/>
          <p:nvPr/>
        </p:nvSpPr>
        <p:spPr>
          <a:xfrm>
            <a:off x="10945225" y="112351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6" name="Google Shape;146;p1"/>
          <p:cNvSpPr/>
          <p:nvPr/>
        </p:nvSpPr>
        <p:spPr>
          <a:xfrm>
            <a:off x="10945225" y="118237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7" name="Google Shape;147;p1"/>
          <p:cNvSpPr/>
          <p:nvPr/>
        </p:nvSpPr>
        <p:spPr>
          <a:xfrm>
            <a:off x="10945225" y="123263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48" name="Google Shape;148;p1"/>
          <p:cNvSpPr/>
          <p:nvPr/>
        </p:nvSpPr>
        <p:spPr>
          <a:xfrm>
            <a:off x="10945225" y="128235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49" name="Google Shape;149;p1"/>
          <p:cNvSpPr txBox="1"/>
          <p:nvPr/>
        </p:nvSpPr>
        <p:spPr>
          <a:xfrm>
            <a:off x="80325" y="13346663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000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1701200" y="13313713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151" name="Google Shape;151;p1"/>
          <p:cNvSpPr/>
          <p:nvPr/>
        </p:nvSpPr>
        <p:spPr>
          <a:xfrm>
            <a:off x="1701200" y="13832813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/>
          </a:p>
        </p:txBody>
      </p:sp>
      <p:sp>
        <p:nvSpPr>
          <p:cNvPr id="152" name="Google Shape;152;p1"/>
          <p:cNvSpPr/>
          <p:nvPr/>
        </p:nvSpPr>
        <p:spPr>
          <a:xfrm>
            <a:off x="1701200" y="14329613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4533725" y="13312551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/>
          </a:p>
        </p:txBody>
      </p:sp>
      <p:sp>
        <p:nvSpPr>
          <p:cNvPr id="154" name="Google Shape;154;p1"/>
          <p:cNvSpPr/>
          <p:nvPr/>
        </p:nvSpPr>
        <p:spPr>
          <a:xfrm>
            <a:off x="4533625" y="136799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 predicted to occur</a:t>
            </a:r>
            <a:endParaRPr dirty="0"/>
          </a:p>
        </p:txBody>
      </p:sp>
      <p:sp>
        <p:nvSpPr>
          <p:cNvPr id="155" name="Google Shape;155;p1"/>
          <p:cNvSpPr/>
          <p:nvPr/>
        </p:nvSpPr>
        <p:spPr>
          <a:xfrm>
            <a:off x="4533750" y="1407963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/>
          </a:p>
        </p:txBody>
      </p:sp>
      <p:sp>
        <p:nvSpPr>
          <p:cNvPr id="156" name="Google Shape;156;p1"/>
          <p:cNvSpPr/>
          <p:nvPr/>
        </p:nvSpPr>
        <p:spPr>
          <a:xfrm>
            <a:off x="10945225" y="13312551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57" name="Google Shape;157;p1"/>
          <p:cNvSpPr/>
          <p:nvPr/>
        </p:nvSpPr>
        <p:spPr>
          <a:xfrm>
            <a:off x="10945225" y="136799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10945225" y="140796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59" name="Google Shape;159;p1"/>
          <p:cNvSpPr/>
          <p:nvPr/>
        </p:nvSpPr>
        <p:spPr>
          <a:xfrm>
            <a:off x="10945225" y="144220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60" name="Google Shape;160;p1"/>
          <p:cNvSpPr txBox="1"/>
          <p:nvPr/>
        </p:nvSpPr>
        <p:spPr>
          <a:xfrm>
            <a:off x="80325" y="15017011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Initiation Codon</a:t>
            </a:r>
            <a:endParaRPr b="1" dirty="0"/>
          </a:p>
        </p:txBody>
      </p:sp>
      <p:sp>
        <p:nvSpPr>
          <p:cNvPr id="161" name="Google Shape;161;p1"/>
          <p:cNvSpPr/>
          <p:nvPr/>
        </p:nvSpPr>
        <p:spPr>
          <a:xfrm>
            <a:off x="1659400" y="15633488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strike="sngStrike" dirty="0"/>
          </a:p>
        </p:txBody>
      </p:sp>
      <p:sp>
        <p:nvSpPr>
          <p:cNvPr id="162" name="Google Shape;162;p1"/>
          <p:cNvSpPr/>
          <p:nvPr/>
        </p:nvSpPr>
        <p:spPr>
          <a:xfrm>
            <a:off x="1659400" y="15040863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/>
          </a:p>
        </p:txBody>
      </p:sp>
      <p:sp>
        <p:nvSpPr>
          <p:cNvPr id="163" name="Google Shape;163;p1"/>
          <p:cNvSpPr/>
          <p:nvPr/>
        </p:nvSpPr>
        <p:spPr>
          <a:xfrm>
            <a:off x="4533801" y="15045388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4533800" y="15423388"/>
            <a:ext cx="57627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strike="sngStrike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0945225" y="154220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strike="sngStrike" dirty="0"/>
          </a:p>
        </p:txBody>
      </p:sp>
      <p:sp>
        <p:nvSpPr>
          <p:cNvPr id="166" name="Google Shape;166;p1"/>
          <p:cNvSpPr/>
          <p:nvPr/>
        </p:nvSpPr>
        <p:spPr>
          <a:xfrm>
            <a:off x="10945225" y="150417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67" name="Google Shape;167;p1"/>
          <p:cNvSpPr/>
          <p:nvPr/>
        </p:nvSpPr>
        <p:spPr>
          <a:xfrm>
            <a:off x="10945225" y="157729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trike="sngStrike" dirty="0"/>
          </a:p>
        </p:txBody>
      </p:sp>
      <p:sp>
        <p:nvSpPr>
          <p:cNvPr id="168" name="Google Shape;168;p1"/>
          <p:cNvSpPr/>
          <p:nvPr/>
        </p:nvSpPr>
        <p:spPr>
          <a:xfrm>
            <a:off x="1680250" y="11029663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cxnSp>
        <p:nvCxnSpPr>
          <p:cNvPr id="169" name="Google Shape;169;p1"/>
          <p:cNvCxnSpPr>
            <a:stCxn id="131" idx="3"/>
            <a:endCxn id="134" idx="1"/>
          </p:cNvCxnSpPr>
          <p:nvPr/>
        </p:nvCxnSpPr>
        <p:spPr>
          <a:xfrm rot="10800000" flipH="1">
            <a:off x="1186125" y="9653563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1"/>
          <p:cNvCxnSpPr>
            <a:stCxn id="131" idx="3"/>
            <a:endCxn id="132" idx="1"/>
          </p:cNvCxnSpPr>
          <p:nvPr/>
        </p:nvCxnSpPr>
        <p:spPr>
          <a:xfrm rot="10800000" flipH="1">
            <a:off x="1186125" y="10400863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1" name="Google Shape;171;p1"/>
          <p:cNvCxnSpPr>
            <a:stCxn id="131" idx="3"/>
            <a:endCxn id="168" idx="1"/>
          </p:cNvCxnSpPr>
          <p:nvPr/>
        </p:nvCxnSpPr>
        <p:spPr>
          <a:xfrm>
            <a:off x="1186125" y="11328763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1"/>
          <p:cNvCxnSpPr>
            <a:stCxn id="131" idx="3"/>
            <a:endCxn id="133" idx="1"/>
          </p:cNvCxnSpPr>
          <p:nvPr/>
        </p:nvCxnSpPr>
        <p:spPr>
          <a:xfrm>
            <a:off x="1186125" y="11328763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1"/>
          <p:cNvCxnSpPr>
            <a:stCxn id="134" idx="3"/>
            <a:endCxn id="140" idx="1"/>
          </p:cNvCxnSpPr>
          <p:nvPr/>
        </p:nvCxnSpPr>
        <p:spPr>
          <a:xfrm>
            <a:off x="4028300" y="9653538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1"/>
          <p:cNvCxnSpPr>
            <a:stCxn id="132" idx="3"/>
            <a:endCxn id="135" idx="1"/>
          </p:cNvCxnSpPr>
          <p:nvPr/>
        </p:nvCxnSpPr>
        <p:spPr>
          <a:xfrm rot="10800000" flipH="1">
            <a:off x="4028300" y="10061788"/>
            <a:ext cx="5448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1"/>
          <p:cNvCxnSpPr>
            <a:stCxn id="132" idx="3"/>
            <a:endCxn id="137" idx="1"/>
          </p:cNvCxnSpPr>
          <p:nvPr/>
        </p:nvCxnSpPr>
        <p:spPr>
          <a:xfrm>
            <a:off x="4028300" y="10400788"/>
            <a:ext cx="5445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1"/>
          <p:cNvCxnSpPr>
            <a:stCxn id="168" idx="3"/>
            <a:endCxn id="136" idx="1"/>
          </p:cNvCxnSpPr>
          <p:nvPr/>
        </p:nvCxnSpPr>
        <p:spPr>
          <a:xfrm rot="10800000" flipH="1">
            <a:off x="4007350" y="10944163"/>
            <a:ext cx="537000" cy="540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1"/>
          <p:cNvCxnSpPr>
            <a:stCxn id="168" idx="3"/>
            <a:endCxn id="138" idx="1"/>
          </p:cNvCxnSpPr>
          <p:nvPr/>
        </p:nvCxnSpPr>
        <p:spPr>
          <a:xfrm>
            <a:off x="4007350" y="11484763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" name="Google Shape;178;p1"/>
          <p:cNvCxnSpPr>
            <a:stCxn id="133" idx="3"/>
            <a:endCxn id="138" idx="1"/>
          </p:cNvCxnSpPr>
          <p:nvPr/>
        </p:nvCxnSpPr>
        <p:spPr>
          <a:xfrm rot="10800000" flipH="1">
            <a:off x="4028300" y="11959238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p1"/>
          <p:cNvCxnSpPr>
            <a:stCxn id="133" idx="3"/>
            <a:endCxn id="141" idx="1"/>
          </p:cNvCxnSpPr>
          <p:nvPr/>
        </p:nvCxnSpPr>
        <p:spPr>
          <a:xfrm>
            <a:off x="4028300" y="12566738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1"/>
          <p:cNvCxnSpPr>
            <a:stCxn id="138" idx="3"/>
            <a:endCxn id="139" idx="1"/>
          </p:cNvCxnSpPr>
          <p:nvPr/>
        </p:nvCxnSpPr>
        <p:spPr>
          <a:xfrm rot="10800000" flipH="1">
            <a:off x="5653875" y="11421013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1" name="Google Shape;181;p1"/>
          <p:cNvCxnSpPr>
            <a:stCxn id="138" idx="3"/>
          </p:cNvCxnSpPr>
          <p:nvPr/>
        </p:nvCxnSpPr>
        <p:spPr>
          <a:xfrm>
            <a:off x="5653875" y="119592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2" name="Google Shape;182;p1"/>
          <p:cNvCxnSpPr>
            <a:stCxn id="135" idx="3"/>
            <a:endCxn id="142" idx="1"/>
          </p:cNvCxnSpPr>
          <p:nvPr/>
        </p:nvCxnSpPr>
        <p:spPr>
          <a:xfrm>
            <a:off x="10440975" y="1006178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3" name="Google Shape;183;p1"/>
          <p:cNvCxnSpPr>
            <a:stCxn id="137" idx="3"/>
            <a:endCxn id="143" idx="1"/>
          </p:cNvCxnSpPr>
          <p:nvPr/>
        </p:nvCxnSpPr>
        <p:spPr>
          <a:xfrm>
            <a:off x="10440900" y="104903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" name="Google Shape;184;p1"/>
          <p:cNvCxnSpPr>
            <a:stCxn id="136" idx="3"/>
            <a:endCxn id="144" idx="1"/>
          </p:cNvCxnSpPr>
          <p:nvPr/>
        </p:nvCxnSpPr>
        <p:spPr>
          <a:xfrm>
            <a:off x="10440900" y="1094411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p1"/>
          <p:cNvCxnSpPr>
            <a:stCxn id="139" idx="3"/>
            <a:endCxn id="145" idx="1"/>
          </p:cNvCxnSpPr>
          <p:nvPr/>
        </p:nvCxnSpPr>
        <p:spPr>
          <a:xfrm>
            <a:off x="10451775" y="1142088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6" name="Google Shape;186;p1"/>
          <p:cNvCxnSpPr>
            <a:stCxn id="141" idx="3"/>
            <a:endCxn id="148" idx="1"/>
          </p:cNvCxnSpPr>
          <p:nvPr/>
        </p:nvCxnSpPr>
        <p:spPr>
          <a:xfrm>
            <a:off x="10451700" y="1296203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1"/>
          <p:cNvCxnSpPr>
            <a:stCxn id="149" idx="3"/>
            <a:endCxn id="150" idx="1"/>
          </p:cNvCxnSpPr>
          <p:nvPr/>
        </p:nvCxnSpPr>
        <p:spPr>
          <a:xfrm rot="10800000" flipH="1">
            <a:off x="1186125" y="13499513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1"/>
          <p:cNvCxnSpPr>
            <a:stCxn id="149" idx="3"/>
            <a:endCxn id="151" idx="1"/>
          </p:cNvCxnSpPr>
          <p:nvPr/>
        </p:nvCxnSpPr>
        <p:spPr>
          <a:xfrm rot="10800000" flipH="1">
            <a:off x="1186125" y="14057813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9" name="Google Shape;189;p1"/>
          <p:cNvCxnSpPr>
            <a:stCxn id="149" idx="3"/>
            <a:endCxn id="152" idx="1"/>
          </p:cNvCxnSpPr>
          <p:nvPr/>
        </p:nvCxnSpPr>
        <p:spPr>
          <a:xfrm>
            <a:off x="1186125" y="14087213"/>
            <a:ext cx="515100" cy="473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0" name="Google Shape;190;p1"/>
          <p:cNvCxnSpPr>
            <a:stCxn id="150" idx="3"/>
            <a:endCxn id="154" idx="1"/>
          </p:cNvCxnSpPr>
          <p:nvPr/>
        </p:nvCxnSpPr>
        <p:spPr>
          <a:xfrm>
            <a:off x="4028300" y="13499413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1" name="Google Shape;191;p1"/>
          <p:cNvCxnSpPr>
            <a:stCxn id="151" idx="3"/>
            <a:endCxn id="154" idx="1"/>
          </p:cNvCxnSpPr>
          <p:nvPr/>
        </p:nvCxnSpPr>
        <p:spPr>
          <a:xfrm rot="10800000" flipH="1">
            <a:off x="4028300" y="13818413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2" name="Google Shape;192;p1"/>
          <p:cNvCxnSpPr>
            <a:stCxn id="151" idx="3"/>
            <a:endCxn id="155" idx="1"/>
          </p:cNvCxnSpPr>
          <p:nvPr/>
        </p:nvCxnSpPr>
        <p:spPr>
          <a:xfrm>
            <a:off x="4028300" y="14057813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3" name="Google Shape;193;p1"/>
          <p:cNvCxnSpPr>
            <a:stCxn id="153" idx="3"/>
            <a:endCxn id="156" idx="1"/>
          </p:cNvCxnSpPr>
          <p:nvPr/>
        </p:nvCxnSpPr>
        <p:spPr>
          <a:xfrm>
            <a:off x="10441025" y="13451001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4" name="Google Shape;194;p1"/>
          <p:cNvCxnSpPr>
            <a:stCxn id="154" idx="3"/>
            <a:endCxn id="157" idx="1"/>
          </p:cNvCxnSpPr>
          <p:nvPr/>
        </p:nvCxnSpPr>
        <p:spPr>
          <a:xfrm>
            <a:off x="10440925" y="1381843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5" name="Google Shape;195;p1"/>
          <p:cNvCxnSpPr>
            <a:stCxn id="155" idx="3"/>
            <a:endCxn id="158" idx="1"/>
          </p:cNvCxnSpPr>
          <p:nvPr/>
        </p:nvCxnSpPr>
        <p:spPr>
          <a:xfrm>
            <a:off x="10441050" y="1421808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6" name="Google Shape;196;p1"/>
          <p:cNvCxnSpPr>
            <a:stCxn id="162" idx="3"/>
            <a:endCxn id="163" idx="1"/>
          </p:cNvCxnSpPr>
          <p:nvPr/>
        </p:nvCxnSpPr>
        <p:spPr>
          <a:xfrm rot="10800000" flipH="1">
            <a:off x="3986500" y="15182613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7" name="Google Shape;197;p1"/>
          <p:cNvCxnSpPr>
            <a:stCxn id="162" idx="3"/>
            <a:endCxn id="164" idx="1"/>
          </p:cNvCxnSpPr>
          <p:nvPr/>
        </p:nvCxnSpPr>
        <p:spPr>
          <a:xfrm>
            <a:off x="3986500" y="15318813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8" name="Google Shape;198;p1"/>
          <p:cNvCxnSpPr>
            <a:stCxn id="161" idx="3"/>
            <a:endCxn id="167" idx="1"/>
          </p:cNvCxnSpPr>
          <p:nvPr/>
        </p:nvCxnSpPr>
        <p:spPr>
          <a:xfrm>
            <a:off x="3986500" y="15911438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9" name="Google Shape;199;p1"/>
          <p:cNvCxnSpPr>
            <a:stCxn id="163" idx="3"/>
            <a:endCxn id="166" idx="1"/>
          </p:cNvCxnSpPr>
          <p:nvPr/>
        </p:nvCxnSpPr>
        <p:spPr>
          <a:xfrm rot="10800000" flipH="1">
            <a:off x="10315401" y="15180088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0" name="Google Shape;200;p1"/>
          <p:cNvCxnSpPr>
            <a:stCxn id="164" idx="3"/>
            <a:endCxn id="165" idx="1"/>
          </p:cNvCxnSpPr>
          <p:nvPr/>
        </p:nvCxnSpPr>
        <p:spPr>
          <a:xfrm>
            <a:off x="10296500" y="15560488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"/>
          <p:cNvCxnSpPr>
            <a:stCxn id="160" idx="3"/>
            <a:endCxn id="162" idx="1"/>
          </p:cNvCxnSpPr>
          <p:nvPr/>
        </p:nvCxnSpPr>
        <p:spPr>
          <a:xfrm rot="10800000" flipH="1">
            <a:off x="1186125" y="15318811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2" name="Google Shape;202;p1"/>
          <p:cNvCxnSpPr>
            <a:stCxn id="160" idx="3"/>
            <a:endCxn id="161" idx="1"/>
          </p:cNvCxnSpPr>
          <p:nvPr/>
        </p:nvCxnSpPr>
        <p:spPr>
          <a:xfrm>
            <a:off x="1186125" y="15554911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3" name="Google Shape;203;p1"/>
          <p:cNvSpPr/>
          <p:nvPr/>
        </p:nvSpPr>
        <p:spPr>
          <a:xfrm>
            <a:off x="6217275" y="117595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NM_000070.3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9220300" y="117595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205" name="Google Shape;205;p1"/>
          <p:cNvSpPr/>
          <p:nvPr/>
        </p:nvSpPr>
        <p:spPr>
          <a:xfrm>
            <a:off x="9220225" y="122857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206" name="Google Shape;206;p1"/>
          <p:cNvCxnSpPr>
            <a:stCxn id="203" idx="3"/>
            <a:endCxn id="204" idx="1"/>
          </p:cNvCxnSpPr>
          <p:nvPr/>
        </p:nvCxnSpPr>
        <p:spPr>
          <a:xfrm rot="10800000" flipH="1">
            <a:off x="8835375" y="119859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203" idx="3"/>
            <a:endCxn id="205" idx="1"/>
          </p:cNvCxnSpPr>
          <p:nvPr/>
        </p:nvCxnSpPr>
        <p:spPr>
          <a:xfrm>
            <a:off x="8835375" y="122490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4" idx="3"/>
            <a:endCxn id="146" idx="1"/>
          </p:cNvCxnSpPr>
          <p:nvPr/>
        </p:nvCxnSpPr>
        <p:spPr>
          <a:xfrm>
            <a:off x="10451800" y="11985913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9" name="Google Shape;209;p1"/>
          <p:cNvCxnSpPr>
            <a:stCxn id="205" idx="3"/>
            <a:endCxn id="147" idx="1"/>
          </p:cNvCxnSpPr>
          <p:nvPr/>
        </p:nvCxnSpPr>
        <p:spPr>
          <a:xfrm>
            <a:off x="10451725" y="1251208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0" name="Google Shape;210;p1"/>
          <p:cNvSpPr/>
          <p:nvPr/>
        </p:nvSpPr>
        <p:spPr>
          <a:xfrm>
            <a:off x="4536350" y="7372451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211" name="Google Shape;211;p1"/>
          <p:cNvSpPr/>
          <p:nvPr/>
        </p:nvSpPr>
        <p:spPr>
          <a:xfrm>
            <a:off x="6180650" y="73607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 </a:t>
            </a:r>
            <a:endParaRPr dirty="0"/>
          </a:p>
        </p:txBody>
      </p:sp>
      <p:sp>
        <p:nvSpPr>
          <p:cNvPr id="212" name="Google Shape;212;p1"/>
          <p:cNvSpPr/>
          <p:nvPr/>
        </p:nvSpPr>
        <p:spPr>
          <a:xfrm>
            <a:off x="6180650" y="79302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NM_000070.3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183675" y="79302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214" name="Google Shape;214;p1"/>
          <p:cNvSpPr/>
          <p:nvPr/>
        </p:nvSpPr>
        <p:spPr>
          <a:xfrm>
            <a:off x="10945225" y="74058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215" name="Google Shape;215;p1"/>
          <p:cNvSpPr/>
          <p:nvPr/>
        </p:nvSpPr>
        <p:spPr>
          <a:xfrm>
            <a:off x="10945225" y="79944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216" name="Google Shape;216;p1"/>
          <p:cNvSpPr/>
          <p:nvPr/>
        </p:nvSpPr>
        <p:spPr>
          <a:xfrm>
            <a:off x="10945225" y="84970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217" name="Google Shape;217;p1"/>
          <p:cNvSpPr/>
          <p:nvPr/>
        </p:nvSpPr>
        <p:spPr>
          <a:xfrm>
            <a:off x="9183600" y="84564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218" name="Google Shape;218;p1"/>
          <p:cNvCxnSpPr>
            <a:endCxn id="211" idx="1"/>
          </p:cNvCxnSpPr>
          <p:nvPr/>
        </p:nvCxnSpPr>
        <p:spPr>
          <a:xfrm rot="10800000" flipH="1">
            <a:off x="5617250" y="7591588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p1"/>
          <p:cNvCxnSpPr>
            <a:endCxn id="212" idx="1"/>
          </p:cNvCxnSpPr>
          <p:nvPr/>
        </p:nvCxnSpPr>
        <p:spPr>
          <a:xfrm>
            <a:off x="5617250" y="81299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0" name="Google Shape;220;p1"/>
          <p:cNvCxnSpPr>
            <a:stCxn id="212" idx="3"/>
            <a:endCxn id="213" idx="1"/>
          </p:cNvCxnSpPr>
          <p:nvPr/>
        </p:nvCxnSpPr>
        <p:spPr>
          <a:xfrm rot="10800000" flipH="1">
            <a:off x="8798750" y="81566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1"/>
          <p:cNvCxnSpPr>
            <a:stCxn id="212" idx="3"/>
            <a:endCxn id="217" idx="1"/>
          </p:cNvCxnSpPr>
          <p:nvPr/>
        </p:nvCxnSpPr>
        <p:spPr>
          <a:xfrm>
            <a:off x="8798750" y="84197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1"/>
          <p:cNvCxnSpPr>
            <a:stCxn id="211" idx="3"/>
            <a:endCxn id="214" idx="1"/>
          </p:cNvCxnSpPr>
          <p:nvPr/>
        </p:nvCxnSpPr>
        <p:spPr>
          <a:xfrm>
            <a:off x="10415150" y="75915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1"/>
          <p:cNvCxnSpPr>
            <a:stCxn id="213" idx="3"/>
            <a:endCxn id="215" idx="1"/>
          </p:cNvCxnSpPr>
          <p:nvPr/>
        </p:nvCxnSpPr>
        <p:spPr>
          <a:xfrm>
            <a:off x="10415175" y="8156613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4" name="Google Shape;224;p1"/>
          <p:cNvCxnSpPr>
            <a:stCxn id="217" idx="3"/>
            <a:endCxn id="216" idx="1"/>
          </p:cNvCxnSpPr>
          <p:nvPr/>
        </p:nvCxnSpPr>
        <p:spPr>
          <a:xfrm>
            <a:off x="10415100" y="86827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5" name="Google Shape;225;p1"/>
          <p:cNvCxnSpPr>
            <a:stCxn id="89" idx="3"/>
            <a:endCxn id="210" idx="1"/>
          </p:cNvCxnSpPr>
          <p:nvPr/>
        </p:nvCxnSpPr>
        <p:spPr>
          <a:xfrm rot="10800000" flipH="1">
            <a:off x="4028325" y="8151638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6" name="Google Shape;226;p1"/>
          <p:cNvCxnSpPr>
            <a:stCxn id="89" idx="3"/>
            <a:endCxn id="97" idx="1"/>
          </p:cNvCxnSpPr>
          <p:nvPr/>
        </p:nvCxnSpPr>
        <p:spPr>
          <a:xfrm>
            <a:off x="4028325" y="8330738"/>
            <a:ext cx="505500" cy="8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1"/>
          <p:cNvCxnSpPr>
            <a:stCxn id="152" idx="3"/>
            <a:endCxn id="159" idx="1"/>
          </p:cNvCxnSpPr>
          <p:nvPr/>
        </p:nvCxnSpPr>
        <p:spPr>
          <a:xfrm>
            <a:off x="4028300" y="14560463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" name="Google Shape;228;p1"/>
          <p:cNvCxnSpPr>
            <a:stCxn id="150" idx="3"/>
            <a:endCxn id="153" idx="1"/>
          </p:cNvCxnSpPr>
          <p:nvPr/>
        </p:nvCxnSpPr>
        <p:spPr>
          <a:xfrm rot="10800000" flipH="1">
            <a:off x="4028300" y="13451113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B1F3ADF-291C-4323-E6D5-658AF01056F4}"/>
              </a:ext>
            </a:extLst>
          </p:cNvPr>
          <p:cNvSpPr/>
          <p:nvPr/>
        </p:nvSpPr>
        <p:spPr>
          <a:xfrm>
            <a:off x="4557474" y="3842075"/>
            <a:ext cx="5878625" cy="40276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B8008-3A41-A2E7-854D-BBECF48B83DF}"/>
              </a:ext>
            </a:extLst>
          </p:cNvPr>
          <p:cNvSpPr txBox="1"/>
          <p:nvPr/>
        </p:nvSpPr>
        <p:spPr>
          <a:xfrm>
            <a:off x="4572800" y="3900926"/>
            <a:ext cx="50129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Premature truncation within the first 100 bp (codons 1-34) (PMID: 27618451)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73;p1">
            <a:extLst>
              <a:ext uri="{FF2B5EF4-FFF2-40B4-BE49-F238E27FC236}">
                <a16:creationId xmlns:a16="http://schemas.microsoft.com/office/drawing/2014/main" id="{4A2B60B2-40C2-C2C4-CFAC-98B5C00791FD}"/>
              </a:ext>
            </a:extLst>
          </p:cNvPr>
          <p:cNvSpPr/>
          <p:nvPr/>
        </p:nvSpPr>
        <p:spPr>
          <a:xfrm>
            <a:off x="10945100" y="38554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cxnSp>
        <p:nvCxnSpPr>
          <p:cNvPr id="9" name="Google Shape;123;p1">
            <a:extLst>
              <a:ext uri="{FF2B5EF4-FFF2-40B4-BE49-F238E27FC236}">
                <a16:creationId xmlns:a16="http://schemas.microsoft.com/office/drawing/2014/main" id="{FB24ED6A-F63F-4D1A-DC0E-DC3DA4BEE604}"/>
              </a:ext>
            </a:extLst>
          </p:cNvPr>
          <p:cNvCxnSpPr>
            <a:endCxn id="8" idx="1"/>
          </p:cNvCxnSpPr>
          <p:nvPr/>
        </p:nvCxnSpPr>
        <p:spPr>
          <a:xfrm>
            <a:off x="10436200" y="40411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" name="Google Shape;80;p1">
            <a:extLst>
              <a:ext uri="{FF2B5EF4-FFF2-40B4-BE49-F238E27FC236}">
                <a16:creationId xmlns:a16="http://schemas.microsoft.com/office/drawing/2014/main" id="{B51DCC38-9AA5-3D52-481F-D77DB9F405FE}"/>
              </a:ext>
            </a:extLst>
          </p:cNvPr>
          <p:cNvCxnSpPr>
            <a:cxnSpLocks/>
            <a:stCxn id="62" idx="3"/>
            <a:endCxn id="6" idx="1"/>
          </p:cNvCxnSpPr>
          <p:nvPr/>
        </p:nvCxnSpPr>
        <p:spPr>
          <a:xfrm>
            <a:off x="4038775" y="2873815"/>
            <a:ext cx="518699" cy="116964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5B5C3E4-0DE0-AD56-7B45-27A67255080C}"/>
              </a:ext>
            </a:extLst>
          </p:cNvPr>
          <p:cNvSpPr txBox="1"/>
          <p:nvPr/>
        </p:nvSpPr>
        <p:spPr>
          <a:xfrm>
            <a:off x="0" y="188588"/>
            <a:ext cx="26164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PVS1 decision tree </a:t>
            </a:r>
            <a:r>
              <a:rPr lang="en-US"/>
              <a:t>for CAPN3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878</Words>
  <Application>Microsoft Office PowerPoint</Application>
  <PresentationFormat>Custom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Amanda Clause</dc:creator>
  <cp:lastModifiedBy>Clause, Amanda</cp:lastModifiedBy>
  <cp:revision>4</cp:revision>
  <dcterms:modified xsi:type="dcterms:W3CDTF">2025-06-05T18:09:27Z</dcterms:modified>
</cp:coreProperties>
</file>