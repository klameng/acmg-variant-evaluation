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77669"/>
              </p:ext>
            </p:extLst>
          </p:nvPr>
        </p:nvGraphicFramePr>
        <p:xfrm>
          <a:off x="559293" y="47922"/>
          <a:ext cx="8788891" cy="4307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9218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167696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402323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364827">
                  <a:extLst>
                    <a:ext uri="{9D8B030D-6E8A-4147-A177-3AD203B41FA5}">
                      <a16:colId xmlns:a16="http://schemas.microsoft.com/office/drawing/2014/main" val="1299042226"/>
                    </a:ext>
                  </a:extLst>
                </a:gridCol>
                <a:gridCol w="1364827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Moderate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clinical</a:t>
                      </a:r>
                      <a:r>
                        <a:rPr lang="en-US" sz="1800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progressive limb-girdle pattern of muscle weakness observed over ≥6 </a:t>
                      </a:r>
                      <a:r>
                        <a:rPr lang="en-US" sz="1800" dirty="0" err="1"/>
                        <a:t>mo</a:t>
                      </a:r>
                      <a:r>
                        <a:rPr lang="en-US" sz="1800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  <a:p>
                      <a:pPr algn="ctr"/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genetic testing</a:t>
                      </a:r>
                      <a:r>
                        <a:rPr lang="en-US" sz="1800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 presumed diagnostic</a:t>
                      </a:r>
                      <a:r>
                        <a:rPr lang="en-US" sz="1800" baseline="30000" dirty="0"/>
                        <a:t>3</a:t>
                      </a:r>
                      <a:r>
                        <a:rPr lang="en-US" sz="1800" dirty="0"/>
                        <a:t> variants in </a:t>
                      </a:r>
                      <a:r>
                        <a:rPr lang="en-US" sz="1800" i="1" dirty="0"/>
                        <a:t>SGCD</a:t>
                      </a:r>
                      <a:r>
                        <a:rPr lang="en-US" sz="1800" dirty="0"/>
                        <a:t>, 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US" sz="1800" dirty="0"/>
                        <a:t>severely reduced</a:t>
                      </a:r>
                      <a:r>
                        <a:rPr lang="en-US" sz="1800" baseline="30000" dirty="0"/>
                        <a:t>4</a:t>
                      </a:r>
                      <a:r>
                        <a:rPr lang="en-US" sz="1800" baseline="0" dirty="0"/>
                        <a:t>; or 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US" sz="1800" dirty="0"/>
                        <a:t>absent</a:t>
                      </a:r>
                      <a:r>
                        <a:rPr lang="en-US" sz="1800" baseline="30000" dirty="0"/>
                        <a:t>5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/>
                        <a:t>expression of full-length protein in skeletal muscle (e.g., WB or IHC)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2" y="4355762"/>
            <a:ext cx="87888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SGCD</a:t>
            </a:r>
            <a:r>
              <a:rPr lang="en-US" sz="1200" dirty="0"/>
              <a:t> required for Supporting</a:t>
            </a:r>
            <a:r>
              <a:rPr lang="en-US" sz="1200" i="1" dirty="0"/>
              <a:t>. </a:t>
            </a:r>
            <a:r>
              <a:rPr lang="en-US" sz="1200" dirty="0"/>
              <a:t>To apply at Moderate or Strong, screening of </a:t>
            </a:r>
            <a:r>
              <a:rPr lang="en-US" sz="1200" i="1" dirty="0"/>
              <a:t>SGCA</a:t>
            </a:r>
            <a:r>
              <a:rPr lang="en-US" sz="1200" dirty="0"/>
              <a:t>, </a:t>
            </a:r>
            <a:r>
              <a:rPr lang="en-US" sz="1200" i="1" dirty="0"/>
              <a:t>SGCB</a:t>
            </a:r>
            <a:r>
              <a:rPr lang="en-US" sz="1200" dirty="0"/>
              <a:t>,</a:t>
            </a:r>
            <a:r>
              <a:rPr lang="en-US" sz="1200" i="1" dirty="0"/>
              <a:t> </a:t>
            </a:r>
            <a:r>
              <a:rPr lang="en-US" sz="1200" dirty="0"/>
              <a:t>and </a:t>
            </a:r>
            <a:r>
              <a:rPr lang="en-US" sz="1200" i="1" dirty="0"/>
              <a:t>SGCG</a:t>
            </a:r>
            <a:r>
              <a:rPr lang="en-US" sz="1200" dirty="0"/>
              <a:t> also required. Do not apply if 2 presumed diagnostic variants also identified in </a:t>
            </a:r>
            <a:r>
              <a:rPr lang="en-US" sz="1200" i="1" dirty="0"/>
              <a:t>SGCA</a:t>
            </a:r>
            <a:r>
              <a:rPr lang="en-US" sz="1200" dirty="0"/>
              <a:t>, </a:t>
            </a:r>
            <a:r>
              <a:rPr lang="en-US" sz="1200" i="1" dirty="0"/>
              <a:t>SGCB</a:t>
            </a:r>
            <a:r>
              <a:rPr lang="en-US" sz="1200" dirty="0"/>
              <a:t>, or </a:t>
            </a:r>
            <a:r>
              <a:rPr lang="en-US" sz="1200" i="1" dirty="0"/>
              <a:t>SGCG</a:t>
            </a:r>
            <a:r>
              <a:rPr lang="en-US" sz="1200" dirty="0"/>
              <a:t>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</a:t>
            </a:r>
            <a:r>
              <a:rPr lang="en-US" sz="1200" i="1" dirty="0"/>
              <a:t>in cis </a:t>
            </a:r>
            <a:r>
              <a:rPr lang="en-US" sz="1200" dirty="0"/>
              <a:t>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also be described as “</a:t>
            </a:r>
            <a:r>
              <a:rPr lang="en-US" sz="1200"/>
              <a:t>severely” /“</a:t>
            </a:r>
            <a:r>
              <a:rPr lang="en-US" sz="1200" dirty="0"/>
              <a:t>drastically</a:t>
            </a:r>
            <a:r>
              <a:rPr lang="en-US" sz="1200"/>
              <a:t>” / </a:t>
            </a:r>
            <a:r>
              <a:rPr lang="en-US" sz="1200" dirty="0"/>
              <a:t>“strongly” reduced </a:t>
            </a:r>
          </a:p>
          <a:p>
            <a:r>
              <a:rPr lang="en-US" sz="1200" baseline="30000" dirty="0"/>
              <a:t>5</a:t>
            </a:r>
            <a:r>
              <a:rPr lang="en-US" sz="1200" dirty="0"/>
              <a:t> may also be described as “trace” or “barely detectable”</a:t>
            </a:r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4011</TotalTime>
  <Words>368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5</cp:revision>
  <dcterms:created xsi:type="dcterms:W3CDTF">2024-09-04T20:20:17Z</dcterms:created>
  <dcterms:modified xsi:type="dcterms:W3CDTF">2024-12-11T20:05:30Z</dcterms:modified>
</cp:coreProperties>
</file>