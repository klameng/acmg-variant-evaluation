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8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67966-C700-4CCE-9606-EF7E1AF51DD6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EC0BF-F5E0-4308-8CB7-521246B9D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99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from Rob Hufnagel:</a:t>
            </a:r>
          </a:p>
          <a:p>
            <a:endParaRPr lang="en-US" dirty="0"/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ABCA4 features would be maculopathy, scotoma, central visual deficit, typically adolescent or young adult onset (childhood and later adulthood more rare), normal </a:t>
            </a:r>
            <a:r>
              <a:rPr lang="en-US" sz="18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ffERG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 (+/- delayed implicit time) and abnormal </a:t>
            </a:r>
            <a:r>
              <a:rPr lang="en-US" sz="18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mfERG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 – unless at end stage or with CRD phenotype where </a:t>
            </a:r>
            <a:r>
              <a:rPr lang="en-US" sz="18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ffERG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 is diminished.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8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Pisciform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 flecks and peripapillary sparing are common and fairly specific to ABCA4 – not seen in all cases and may be seen in some with PRPH2.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Fibrotic patches can be seen. Bony spicules and peripheral atrophy are rarely seen aside from end stage CRD.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B5A4B-D9EF-4482-97F7-4723FE5769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17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9793-8582-15E7-5AB7-4FCD7431F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0116D-A31C-BB48-4854-1351FC46D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4FED2-6275-A2EE-ED01-EA80308C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21D92-A93D-4677-3C81-047E8C1E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1CEAB-C604-F071-56FE-2D003242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65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890F-27E4-C50A-BBE4-5A4C24F2E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1154F-5A29-08C1-6C53-02E49803E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2534-C0CD-0151-A98E-256B1D8B5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BFCAE-80B3-8ECA-86D5-503082F3D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75B7F-4A1E-7306-BA82-B5931CBB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8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CA5D-5786-7B61-379B-2B7627BC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234DC-6A9F-569B-DB25-2ABBC55C5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2BA3C-2386-565C-E5D4-12D0F65A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6B1AC-159B-0D6E-CEE4-F4A6148D7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A6A3D-687B-9C95-D81E-0F5B3B85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7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9720A-9F0C-5101-7672-C596C9AE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0FF9C-A692-EFD4-B041-D5970D68D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4A6BC-1F1B-0AF4-9340-E05BEB4D4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04D5A-09F7-4C63-80E9-24BBA248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C1A94-8663-9B79-6AB4-0DF02E9B0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AE0F7-AF35-6B68-EF82-8FA509CF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7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A18E-7DB4-D79F-513F-C22D2584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C4D3D-A425-3275-0F03-8522D400D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A5B78-04CD-1320-45C0-08E6B239B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39C53-D66C-6EBD-268A-3A9489CD10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63CA4-A8BD-E729-B2C4-EDA027CB5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ACDAAC-0530-7D55-6D9A-45AC68D2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2B1039-8A69-3198-EE11-1EA1F1C5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8165F-1473-57C2-DEF1-7450F78D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1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5216-1396-C60A-ECCE-1E5E2F89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FF470-1021-54BC-D3FB-EB930080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75350-413E-558A-6E53-27976E27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EEECF-48BB-90E6-7BCA-E231D39B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1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6B7F1-278D-C270-0B13-2D00136A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866B5-B522-A318-86F4-68C6568C6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3C972-387F-9A59-FB25-48B700BD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0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F55E-D0A4-D07D-AB23-D33DA54C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20D10-ECF5-3BC6-09A1-186D5AD40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E780F-9D1D-0483-42D5-CFD78F741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41C4E-DB0C-D9D8-34F6-CA083B89E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884A3-D58F-B3E0-E16C-CD047B6C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40DDE-348B-8419-CB3D-7D80E7F8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2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7235-1116-F3CA-B314-F149F22A1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226B0-3943-F1FD-73AC-6805B79F3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C62D8-17BB-4B62-2F45-3E34DAA99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4BA3C-80DD-A078-9157-7AF4258F9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7E0E5-60F6-E3B6-7451-4BD5C527B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ACFE3-7269-3BF4-54FE-6A7C7B82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3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F9AF-AEFA-84D4-686E-F792D4B4B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39493-7712-780F-0D73-DA559A736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B6470-FD64-4A64-5FD2-EDCCC1E6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33ABD-0BDB-911F-790E-FE64E4F4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7819F-97DD-59AB-FEE5-8D6C82ED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55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B9A6E0-7954-B303-B86B-D0F344726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C8507-F173-7028-BCA9-2BD3FD029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93D6D-6858-7A97-BAC6-5DEEFAC3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EB162-9C2A-2B8A-4388-DCF6C840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629C4-CF59-88BC-0D7B-385D5885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7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4BD25-918A-CE38-7E89-F17176C2F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C70AD-8094-7CA6-B7DB-BD68562B3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9379D-5269-9F51-698C-D5DE6445F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21699-8235-46E8-8397-15FB6740ACD8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F7D78-0DCB-F0AF-759E-BCBFA5434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78F7F-EA3C-B8D5-1A5B-92F9B66DD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908C3-EE1F-4D15-8C02-6F7A6BCAF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5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C9902-5DB7-906B-D48C-8E26975F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5087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alibri"/>
              </a:rPr>
              <a:t>PP4 specifications for </a:t>
            </a:r>
            <a:r>
              <a:rPr lang="en-US" sz="4000" i="1" dirty="0">
                <a:latin typeface="Calibri"/>
              </a:rPr>
              <a:t>ABCA4</a:t>
            </a:r>
            <a:r>
              <a:rPr lang="en-US" sz="4000" dirty="0">
                <a:latin typeface="Calibri"/>
              </a:rPr>
              <a:t> </a:t>
            </a:r>
            <a:endParaRPr lang="en-US" sz="4000" dirty="0">
              <a:cs typeface="Calibri Light" panose="020F0302020204030204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9D2E09-ECE2-22A8-647E-C6A152DE7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639468"/>
              </p:ext>
            </p:extLst>
          </p:nvPr>
        </p:nvGraphicFramePr>
        <p:xfrm>
          <a:off x="490162" y="916706"/>
          <a:ext cx="11229635" cy="5221329"/>
        </p:xfrm>
        <a:graphic>
          <a:graphicData uri="http://schemas.openxmlformats.org/drawingml/2006/table">
            <a:tbl>
              <a:tblPr/>
              <a:tblGrid>
                <a:gridCol w="11229635">
                  <a:extLst>
                    <a:ext uri="{9D8B030D-6E8A-4147-A177-3AD203B41FA5}">
                      <a16:colId xmlns:a16="http://schemas.microsoft.com/office/drawing/2014/main" val="3387220663"/>
                    </a:ext>
                  </a:extLst>
                </a:gridCol>
              </a:tblGrid>
              <a:tr h="15705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Required for use of PP4 (0.5 points each)</a:t>
                      </a:r>
                      <a:endParaRPr lang="en-US" sz="1400" dirty="0">
                        <a:solidFill>
                          <a:srgbClr val="0070C0"/>
                        </a:solidFill>
                        <a:effectLst/>
                        <a:latin typeface="Calibri"/>
                      </a:endParaRP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24773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Macular flecks on imaging and/or fundus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autofluoresence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</a:endParaRP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253615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Onset under 18 years of age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053175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Presence of at least two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ABCA4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variants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32722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Specific </a:t>
                      </a:r>
                      <a:r>
                        <a:rPr lang="en-US" sz="1400" b="0" i="1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ABCA4</a:t>
                      </a:r>
                      <a:r>
                        <a:rPr lang="en-US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 Phenotype Findings List (2 points each)</a:t>
                      </a:r>
                      <a:endParaRPr lang="en-US" sz="1400" dirty="0">
                        <a:solidFill>
                          <a:srgbClr val="0070C0"/>
                        </a:solidFill>
                        <a:effectLst/>
                        <a:latin typeface="Calibri"/>
                      </a:endParaRP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964243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Peripapillary sparing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870618"/>
                  </a:ext>
                </a:extLst>
              </a:tr>
              <a:tr h="258096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Previous exome, genome or 100+ retinal dystrophy gene panel testing that did not provide an alternative explanation for visual impairment.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192250"/>
                  </a:ext>
                </a:extLst>
              </a:tr>
              <a:tr h="23966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Consistent with </a:t>
                      </a:r>
                      <a:r>
                        <a:rPr lang="en-US" sz="1400" b="0" i="1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ABCA4</a:t>
                      </a:r>
                      <a:r>
                        <a:rPr lang="en-US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 Phenotype Findings List (0.5 or 1 point each)</a:t>
                      </a:r>
                      <a:endParaRPr lang="en-US" sz="1400" dirty="0">
                        <a:solidFill>
                          <a:srgbClr val="0070C0"/>
                        </a:solidFill>
                        <a:effectLst/>
                        <a:latin typeface="Calibri"/>
                      </a:endParaRP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349324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Absent or decreased rod and/or cone electroretinogram (ERG)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responses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(0.5)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927093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Optic nerve pallor (0.5)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426482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Bull's eye maculopathy (1)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571850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Choriocapillaris dystrophy (1)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289290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Pigmentary retinopathy with attenuated vessels (0.5)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466627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White/yellow dots on color photography of the type seen in fundus </a:t>
                      </a:r>
                      <a:r>
                        <a:rPr lang="en-US" sz="14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albipunctatus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081705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Posterior subcapsular cataract (0.5)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176167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RPE mottling (0.5)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495666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Macular atrophy (0.5)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931570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cystoid macular edema (0.5)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358463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Decreased peripheral vision (1)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704267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 blindness/nyctalopia (0.5)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982043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Decreased central visual acuity (1)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774962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Chorioretinopathy (1)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500249"/>
                  </a:ext>
                </a:extLst>
              </a:tr>
              <a:tr h="1570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Scotoma (0.5)</a:t>
                      </a:r>
                    </a:p>
                  </a:txBody>
                  <a:tcPr marL="79356" marR="79356" marT="3306" marB="826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982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14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4D03-CE49-99C6-0DC3-D4A27931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Phenotype scoring cutoffs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9F256-0C3E-339D-3170-52695434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PP4_Moderate = </a:t>
            </a:r>
            <a:r>
              <a:rPr lang="en-US" u="sng" dirty="0"/>
              <a:t>&gt;</a:t>
            </a:r>
            <a:r>
              <a:rPr lang="en-US" dirty="0"/>
              <a:t>8 points</a:t>
            </a:r>
          </a:p>
          <a:p>
            <a:endParaRPr lang="en-US" dirty="0"/>
          </a:p>
          <a:p>
            <a:r>
              <a:rPr lang="en-US" dirty="0"/>
              <a:t>PP4 </a:t>
            </a:r>
            <a:r>
              <a:rPr lang="en-US"/>
              <a:t>= 3-7.5 </a:t>
            </a:r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435129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313</Words>
  <Application>Microsoft Office PowerPoint</Application>
  <PresentationFormat>Widescreen</PresentationFormat>
  <Paragraphs>36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PP4 specifications for ABCA4 </vt:lpstr>
      <vt:lpstr>Phenotype scoring cutoffs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PP4 specifications for ABCA4</dc:title>
  <dc:creator>Lee, Kristy</dc:creator>
  <cp:lastModifiedBy>Lee, Kristy</cp:lastModifiedBy>
  <cp:revision>5</cp:revision>
  <dcterms:created xsi:type="dcterms:W3CDTF">2023-08-21T12:39:58Z</dcterms:created>
  <dcterms:modified xsi:type="dcterms:W3CDTF">2025-09-01T16:50:04Z</dcterms:modified>
</cp:coreProperties>
</file>