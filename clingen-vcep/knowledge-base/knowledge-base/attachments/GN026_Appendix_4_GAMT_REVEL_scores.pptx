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GAMT</cx:pt>
          <cx:pt idx="1">GAMT</cx:pt>
          <cx:pt idx="2">GAMT</cx:pt>
          <cx:pt idx="3">GAMT</cx:pt>
          <cx:pt idx="4">GAMT</cx:pt>
          <cx:pt idx="5">GAMT</cx:pt>
          <cx:pt idx="6">GAMT</cx:pt>
          <cx:pt idx="7">GAMT</cx:pt>
        </cx:lvl>
      </cx:strDim>
      <cx:numDim type="val">
        <cx:f>Sheet1!$B$2:$B$9</cx:f>
        <cx:lvl ptCount="8" formatCode="General">
          <cx:pt idx="0">0.72099999999999997</cx:pt>
          <cx:pt idx="1">0.92300000000000004</cx:pt>
          <cx:pt idx="2">0.81399999999999995</cx:pt>
          <cx:pt idx="3">0.89400000000000002</cx:pt>
          <cx:pt idx="4">0.93000000000000005</cx:pt>
          <cx:pt idx="5">0.79400000000000004</cx:pt>
          <cx:pt idx="6">0.92800000000000005</cx:pt>
          <cx:pt idx="7">0.95799999999999996</cx:pt>
        </cx:lvl>
      </cx:numDim>
    </cx:data>
    <cx:data id="1">
      <cx:strDim type="cat">
        <cx:f>Sheet1!$A$2:$A$9</cx:f>
        <cx:lvl ptCount="8">
          <cx:pt idx="0">GAMT</cx:pt>
          <cx:pt idx="1">GAMT</cx:pt>
          <cx:pt idx="2">GAMT</cx:pt>
          <cx:pt idx="3">GAMT</cx:pt>
          <cx:pt idx="4">GAMT</cx:pt>
          <cx:pt idx="5">GAMT</cx:pt>
          <cx:pt idx="6">GAMT</cx:pt>
          <cx:pt idx="7">GAMT</cx:pt>
        </cx:lvl>
      </cx:strDim>
      <cx:numDim type="val">
        <cx:f>Sheet1!$C$2:$C$9</cx:f>
        <cx:lvl ptCount="8" formatCode="General">
          <cx:pt idx="0">0.76000000000000001</cx:pt>
          <cx:pt idx="1">0.99399999999999999</cx:pt>
          <cx:pt idx="2">0.47899999999999998</cx:pt>
          <cx:pt idx="3">0.94299999999999995</cx:pt>
          <cx:pt idx="4">0.92000000000000004</cx:pt>
          <cx:pt idx="5">0.751</cx:pt>
          <cx:pt idx="6">0.80000000000000004</cx:pt>
          <cx:pt idx="7">0.88800000000000001</cx:pt>
        </cx:lvl>
      </cx:numDim>
    </cx:data>
    <cx:data id="2">
      <cx:strDim type="cat">
        <cx:f>Sheet1!$A$2:$A$9</cx:f>
        <cx:lvl ptCount="8">
          <cx:pt idx="0">GAMT</cx:pt>
          <cx:pt idx="1">GAMT</cx:pt>
          <cx:pt idx="2">GAMT</cx:pt>
          <cx:pt idx="3">GAMT</cx:pt>
          <cx:pt idx="4">GAMT</cx:pt>
          <cx:pt idx="5">GAMT</cx:pt>
          <cx:pt idx="6">GAMT</cx:pt>
          <cx:pt idx="7">GAMT</cx:pt>
        </cx:lvl>
      </cx:strDim>
      <cx:numDim type="val">
        <cx:f>Sheet1!$D$2:$D$9</cx:f>
        <cx:lvl ptCount="8" formatCode="General">
          <cx:pt idx="0">0.496</cx:pt>
          <cx:pt idx="1">0.313</cx:pt>
          <cx:pt idx="2">0.65200000000000002</cx:pt>
        </cx:lvl>
      </cx:numDim>
    </cx:data>
  </cx:chartData>
  <cx:chart>
    <cx:plotArea>
      <cx:plotAreaRegion>
        <cx:series layoutId="boxWhisker" uniqueId="{39EDCD4B-C117-4983-904B-247212CCAB96}">
          <cx:tx>
            <cx:txData>
              <cx:f>Sheet1!$B$1</cx:f>
              <cx:v>P/LP</cx:v>
            </cx:txData>
          </cx:tx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91CD7C33-63E7-49FB-B162-14F02EF5CF31}">
          <cx:tx>
            <cx:txData>
              <cx:f>Sheet1!$C$1</cx:f>
              <cx:v>VUS</cx:v>
            </cx:txData>
          </cx:tx>
          <cx:dataId val="1"/>
          <cx:layoutPr>
            <cx:visibility meanLine="0" meanMarker="1" nonoutliers="0" outliers="1"/>
            <cx:statistics quartileMethod="exclusive"/>
          </cx:layoutPr>
        </cx:series>
        <cx:series layoutId="boxWhisker" uniqueId="{DC436150-D243-4716-ABDB-56F4857204F2}">
          <cx:tx>
            <cx:txData>
              <cx:f>Sheet1!$D$1</cx:f>
              <cx:v>B/LB</cx:v>
            </cx:txData>
          </cx:tx>
          <cx:dataId val="2"/>
          <cx:layoutPr>
            <cx:visibility meanLine="0" meanMarker="1" nonoutliers="0" outliers="1"/>
            <cx:statistics quartileMethod="exclusive"/>
          </cx:layoutPr>
        </cx:series>
      </cx:plotAreaRegion>
      <cx:axis id="0" hidden="1">
        <cx:catScaling gapWidth="1"/>
        <cx:minorGridlines/>
        <cx:majorTickMarks type="in"/>
        <cx:tickLabels/>
        <cx:txPr>
          <a:bodyPr rot="-60000000" spcFirstLastPara="1" vertOverflow="ellipsis" horzOverflow="overflow" vert="horz" wrap="square" lIns="0" tIns="0" rIns="0" bIns="0" anchor="ctr" anchorCtr="1"/>
          <a:lstStyle/>
          <a:p>
            <a:pPr algn="ctr" rtl="0">
              <a:defRPr sz="2400"/>
            </a:pPr>
            <a:endParaRPr lang="en-US" sz="2400" b="0" i="0" u="none" strike="noStrike" kern="1200" baseline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endParaRPr>
          </a:p>
        </cx:txPr>
      </cx:axis>
      <cx:axis id="1">
        <cx:valScaling max="1"/>
        <cx:majorGridlines/>
        <cx:tickLabels/>
        <cx:txPr>
          <a:bodyPr rot="-60000000" spcFirstLastPara="1" vertOverflow="ellipsis" horzOverflow="overflow" vert="horz" wrap="square" lIns="0" tIns="0" rIns="0" bIns="0" anchor="ctr" anchorCtr="1"/>
          <a:lstStyle/>
          <a:p>
            <a:pPr algn="ctr" rtl="0">
              <a:defRPr sz="1600" b="0">
                <a:solidFill>
                  <a:schemeClr val="tx1">
                    <a:lumMod val="85000"/>
                    <a:lumOff val="15000"/>
                  </a:schemeClr>
                </a:solidFill>
              </a:defRPr>
            </a:pPr>
            <a:endParaRPr lang="en-US" sz="1600" b="0" i="0" u="none" strike="noStrike" kern="1200" baseline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  <cs:bodyPr rot="-60000000" vert="horz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</cs:dropLine>
  <cs:errorBar>
    <cs:lnRef idx="0"/>
    <cs:fillRef idx="0"/>
    <cs:effectRef idx="0"/>
    <cs:fontRef idx="minor">
      <a:schemeClr val="tx1"/>
    </cs:fontRef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15000"/>
            <a:lumOff val="8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  <cs:bodyPr rot="-60000000" vert="horz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  <cs:bodyPr rot="0" vert="horz"/>
  </cs:title>
  <cs:trendline>
    <cs:lnRef idx="0"/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  <cs:bodyPr rot="-60000000" vert="horz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A918-ACEF-596B-F114-E4A57F320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5B93A-1351-C7F4-5FD4-DDE33C7DB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4F86C-0EA5-4CA0-EAB6-ED31BE69D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5B015-48B3-0C82-98E1-B4DB94489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6409D-E250-7022-EAA3-F5EC0429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4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D8594-E119-0A2A-59B4-705709B0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EBF79-4931-5E60-BEB9-4BD3F370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12A5B-AE6D-DABE-6F5A-C44F84FF2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38B65-D9F7-4C0F-081B-90FE12F9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82355-585D-8D63-C2D1-18DBD805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1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4752-9C0D-370A-6320-7ACD7D12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94A14-56EE-210C-E5B1-7E32419E8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93339-3645-522E-A728-17EDC8DB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4CFA-28BF-8B4D-AAEA-F6000712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13E4-8E56-2C2E-D7FD-457F3BBF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0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9391C-B99E-57B4-F229-47D13FAD9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4BF80-1EC2-FB93-10B6-BAE7558FB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F56FE-0742-F0B3-6778-5583262F3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E569E-2652-CAF5-CAB8-47D5CB01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3E8E2-F6A2-7595-CFBE-83A053371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6842A-783E-134A-0B66-0A363E35E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0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AB53-BE24-ADF6-2178-B3911BFFC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533E4-15CE-32DA-7377-7DFD803C7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088F1-FE07-F013-A10F-1BF5206DC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55A8C-B075-226F-7609-F86B81509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91A5BB-6604-F780-CFBC-625C13330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50D2F-F722-5B76-CB02-45465033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FA11E8-7DC5-B707-D3E3-697B240E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9D80B1-5A64-B6F9-7DAE-44E460689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993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9D2B-B9A5-0A5F-7F4F-4CDCB035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7D45F-99C3-3A99-3D3B-DCC4973B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A5941-6C43-9F69-C63C-2C2C612E0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389DF-AC3E-CD90-DD8C-15271105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1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558B2-FD86-F7D1-48A3-705D45FB1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D2179-0DD8-10C4-C3CC-4072114C1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5BBEA-9748-AE5D-E89E-380DEAD5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9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5424-5685-75D0-84FC-051465026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0B5CD-E026-9757-7280-4105E1614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21648-2D98-C443-1D19-81B20AD8E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EBAC0-83AA-49EA-5DBE-B9CA0FE9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FDFFC-C784-0AD5-BED5-E38C4966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8324F-6C15-5B2B-2658-CAE8A400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2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A607-9585-5291-D2AF-2356DC19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A33039-E053-642E-9D19-7C7B16FD3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161C0-3C2F-8755-9379-8DA28F66E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49016-43BA-81A8-AAD1-A8AAE361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3646F-B4D1-2989-9BAA-69F14CA10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F39B-0897-FA36-E747-D89C3C1F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0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F642-6F0B-B613-401A-99778336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82007-C5CE-6F77-DCA3-5976F4799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224E2-30BB-E8EE-B2F8-9B7F7DFE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DF875-D5EC-AE32-A7FC-E17FAB1E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69CCF-D61E-78D9-CCFE-E6D20176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9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EA93F-4A0E-AB0C-9601-C8DA549A9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8E43B-E3BD-C898-4883-62639D5FE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F76F0-8021-CB75-FBFE-3CD2AB7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BB372-C38B-62B0-7D0D-E5CA269CB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79547-7F50-5183-C1A2-596EB3297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3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CD9262-E4FF-9614-8297-ECC2A38E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5087F-4E92-BAD0-DA23-71B16721F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D3FCD-C6DB-D0F8-7CD5-3ABB721FA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F795E-77D9-4EAE-A80B-7F68F4DA64D2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77850-6B87-514D-4B3C-0B4251E25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B1F1B-17BA-9121-68E1-7912E2A7E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09678-E28B-4240-95ED-6629DAF1D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24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/>
              <p:cNvGraphicFramePr/>
              <p:nvPr/>
            </p:nvGraphicFramePr>
            <p:xfrm>
              <a:off x="2261937" y="1655576"/>
              <a:ext cx="7495674" cy="48462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61937" y="1655576"/>
                <a:ext cx="7495674" cy="484626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ECF580F-62FC-E65C-85DF-FE9651E7AF03}"/>
              </a:ext>
            </a:extLst>
          </p:cNvPr>
          <p:cNvSpPr txBox="1"/>
          <p:nvPr/>
        </p:nvSpPr>
        <p:spPr>
          <a:xfrm>
            <a:off x="3792727" y="236621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AB1CC-5821-98D9-C2BD-A56F7765710A}"/>
              </a:ext>
            </a:extLst>
          </p:cNvPr>
          <p:cNvSpPr txBox="1"/>
          <p:nvPr/>
        </p:nvSpPr>
        <p:spPr>
          <a:xfrm>
            <a:off x="6635416" y="236621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349F98-A7F1-7416-840D-4919E55A2752}"/>
              </a:ext>
            </a:extLst>
          </p:cNvPr>
          <p:cNvSpPr txBox="1"/>
          <p:nvPr/>
        </p:nvSpPr>
        <p:spPr>
          <a:xfrm>
            <a:off x="7797889" y="3709377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A62815-706F-A2C0-D432-1FE714FB57CC}"/>
              </a:ext>
            </a:extLst>
          </p:cNvPr>
          <p:cNvSpPr txBox="1"/>
          <p:nvPr/>
        </p:nvSpPr>
        <p:spPr>
          <a:xfrm>
            <a:off x="2032000" y="457690"/>
            <a:ext cx="8859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REVEL scores for GAMT variants classified WITHOUT in silico evidence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D6AC91-AD4E-6AB3-464E-E26EC83D71C5}"/>
              </a:ext>
            </a:extLst>
          </p:cNvPr>
          <p:cNvSpPr txBox="1"/>
          <p:nvPr/>
        </p:nvSpPr>
        <p:spPr>
          <a:xfrm>
            <a:off x="4592882" y="1501011"/>
            <a:ext cx="666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P/LP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2962C-A17A-A10F-9FA1-4E9D74401EC3}"/>
              </a:ext>
            </a:extLst>
          </p:cNvPr>
          <p:cNvSpPr txBox="1"/>
          <p:nvPr/>
        </p:nvSpPr>
        <p:spPr>
          <a:xfrm>
            <a:off x="5822454" y="1501011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FDC63-4ECC-3596-C425-912252E03A89}"/>
              </a:ext>
            </a:extLst>
          </p:cNvPr>
          <p:cNvSpPr txBox="1"/>
          <p:nvPr/>
        </p:nvSpPr>
        <p:spPr>
          <a:xfrm>
            <a:off x="6970822" y="4916106"/>
            <a:ext cx="982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B/LB</a:t>
            </a:r>
          </a:p>
        </p:txBody>
      </p:sp>
    </p:spTree>
    <p:extLst>
      <p:ext uri="{BB962C8B-B14F-4D97-AF65-F5344CB8AC3E}">
        <p14:creationId xmlns:p14="http://schemas.microsoft.com/office/powerpoint/2010/main" val="3683465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Goldstein, Jenny</dc:creator>
  <cp:lastModifiedBy>Goldstein, Jenny</cp:lastModifiedBy>
  <cp:revision>2</cp:revision>
  <dcterms:created xsi:type="dcterms:W3CDTF">2024-02-13T14:56:04Z</dcterms:created>
  <dcterms:modified xsi:type="dcterms:W3CDTF">2024-02-13T15:35:50Z</dcterms:modified>
</cp:coreProperties>
</file>