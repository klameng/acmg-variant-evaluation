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8" r:id="rId2"/>
    <p:sldId id="272" r:id="rId3"/>
    <p:sldId id="271" r:id="rId4"/>
    <p:sldId id="27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17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40364-8C99-408E-943D-1C5DF93B5238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CD3AD0-B84A-47FD-9BCD-D3E5A107A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75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2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29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1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66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812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64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29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5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1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3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1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rdiodb.org/allelefrequencyapp/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GATM (AGAT) allele frequency thresholds</a:t>
            </a:r>
            <a:endParaRPr lang="en-US" sz="4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ClinGen</a:t>
            </a:r>
            <a:r>
              <a:rPr lang="en-US" dirty="0" smtClean="0"/>
              <a:t> CCDS VCEP</a:t>
            </a:r>
          </a:p>
          <a:p>
            <a:r>
              <a:rPr lang="en-US" dirty="0" smtClean="0"/>
              <a:t>Oct 10, 2019</a:t>
            </a:r>
          </a:p>
        </p:txBody>
      </p:sp>
    </p:spTree>
    <p:extLst>
      <p:ext uri="{BB962C8B-B14F-4D97-AF65-F5344CB8AC3E}">
        <p14:creationId xmlns:p14="http://schemas.microsoft.com/office/powerpoint/2010/main" val="2767778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AGAT deficiency (</a:t>
            </a:r>
            <a:r>
              <a:rPr lang="en-US" sz="3600" b="1" i="1" dirty="0" smtClean="0"/>
              <a:t>GATM</a:t>
            </a:r>
            <a:r>
              <a:rPr lang="en-US" sz="3600" b="1" dirty="0" smtClean="0"/>
              <a:t>)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Prevalence</a:t>
            </a:r>
          </a:p>
          <a:p>
            <a:pPr lvl="1"/>
            <a:r>
              <a:rPr lang="en-US" dirty="0" smtClean="0"/>
              <a:t>Based </a:t>
            </a:r>
            <a:r>
              <a:rPr lang="en-US" dirty="0"/>
              <a:t>on the seven pathogenic </a:t>
            </a:r>
            <a:r>
              <a:rPr lang="en-US" i="1" dirty="0"/>
              <a:t>GATM</a:t>
            </a:r>
            <a:r>
              <a:rPr lang="en-US" dirty="0"/>
              <a:t> missense variants in 6,503 individuals (one in 929) in the EVS database, the carrier frequency of GATM deficiency was 0.11% (CI 0.03%–0.19%) and estimated incidence of GATM deficiency was </a:t>
            </a:r>
            <a:r>
              <a:rPr lang="en-US" b="1" dirty="0"/>
              <a:t>one in 3,450,000 </a:t>
            </a:r>
            <a:r>
              <a:rPr lang="en-US" dirty="0"/>
              <a:t>in the general </a:t>
            </a:r>
            <a:r>
              <a:rPr lang="en-US" dirty="0" smtClean="0"/>
              <a:t>population (Des </a:t>
            </a:r>
            <a:r>
              <a:rPr lang="en-US" dirty="0" err="1" smtClean="0"/>
              <a:t>Roches</a:t>
            </a:r>
            <a:r>
              <a:rPr lang="en-US" dirty="0" smtClean="0"/>
              <a:t> et al).</a:t>
            </a:r>
          </a:p>
          <a:p>
            <a:pPr lvl="1"/>
            <a:r>
              <a:rPr lang="en-US" dirty="0" smtClean="0"/>
              <a:t>Would be higher if included other variant types?</a:t>
            </a:r>
          </a:p>
          <a:p>
            <a:r>
              <a:rPr lang="en-US" dirty="0" smtClean="0"/>
              <a:t>Penetrance – 100%?</a:t>
            </a:r>
          </a:p>
          <a:p>
            <a:r>
              <a:rPr lang="en-US" dirty="0" smtClean="0"/>
              <a:t>Maximum allelic contribution </a:t>
            </a:r>
          </a:p>
          <a:p>
            <a:pPr lvl="1"/>
            <a:r>
              <a:rPr lang="en-US" dirty="0" smtClean="0"/>
              <a:t>6/26 or 0.23 (calculated per case), 2/16 or 0.125 (calculated per family; some families have multiple affected children) (Des </a:t>
            </a:r>
            <a:r>
              <a:rPr lang="en-US" dirty="0" err="1" smtClean="0"/>
              <a:t>Roches</a:t>
            </a:r>
            <a:r>
              <a:rPr lang="en-US" dirty="0" smtClean="0"/>
              <a:t> et al)</a:t>
            </a:r>
          </a:p>
        </p:txBody>
      </p:sp>
    </p:spTree>
    <p:extLst>
      <p:ext uri="{BB962C8B-B14F-4D97-AF65-F5344CB8AC3E}">
        <p14:creationId xmlns:p14="http://schemas.microsoft.com/office/powerpoint/2010/main" val="325040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224014"/>
              </p:ext>
            </p:extLst>
          </p:nvPr>
        </p:nvGraphicFramePr>
        <p:xfrm>
          <a:off x="4716019" y="3385774"/>
          <a:ext cx="275996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559">
                  <a:extLst>
                    <a:ext uri="{9D8B030D-6E8A-4147-A177-3AD203B41FA5}">
                      <a16:colId xmlns:a16="http://schemas.microsoft.com/office/drawing/2014/main" val="2210887936"/>
                    </a:ext>
                  </a:extLst>
                </a:gridCol>
                <a:gridCol w="1056402">
                  <a:extLst>
                    <a:ext uri="{9D8B030D-6E8A-4147-A177-3AD203B41FA5}">
                      <a16:colId xmlns:a16="http://schemas.microsoft.com/office/drawing/2014/main" val="224166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Prevalence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5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in 3,450,000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0.0001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05944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47258" y="2645544"/>
            <a:ext cx="3283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 allelic contribution = 25%</a:t>
            </a:r>
          </a:p>
          <a:p>
            <a:r>
              <a:rPr lang="en-US" dirty="0" smtClean="0"/>
              <a:t>Max genetic contribution = 100%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894684"/>
              </p:ext>
            </p:extLst>
          </p:nvPr>
        </p:nvGraphicFramePr>
        <p:xfrm>
          <a:off x="779048" y="3385774"/>
          <a:ext cx="305485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062">
                  <a:extLst>
                    <a:ext uri="{9D8B030D-6E8A-4147-A177-3AD203B41FA5}">
                      <a16:colId xmlns:a16="http://schemas.microsoft.com/office/drawing/2014/main" val="3668085406"/>
                    </a:ext>
                  </a:extLst>
                </a:gridCol>
                <a:gridCol w="1076788">
                  <a:extLst>
                    <a:ext uri="{9D8B030D-6E8A-4147-A177-3AD203B41FA5}">
                      <a16:colId xmlns:a16="http://schemas.microsoft.com/office/drawing/2014/main" val="185936758"/>
                    </a:ext>
                  </a:extLst>
                </a:gridCol>
              </a:tblGrid>
              <a:tr h="3499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Prevalence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334839"/>
                  </a:ext>
                </a:extLst>
              </a:tr>
              <a:tr h="349975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in 3,450,000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0.0005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78271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4677" y="2660397"/>
            <a:ext cx="3283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 allelic contribution = 100%</a:t>
            </a:r>
          </a:p>
          <a:p>
            <a:r>
              <a:rPr lang="en-US" dirty="0" smtClean="0"/>
              <a:t>Max genetic contribution =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232" y="4612964"/>
            <a:ext cx="91949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Highest population minor allele frequency in </a:t>
            </a:r>
            <a:r>
              <a:rPr lang="en-US" sz="2000" dirty="0" err="1" smtClean="0"/>
              <a:t>gnomAD</a:t>
            </a:r>
            <a:r>
              <a:rPr lang="en-US" sz="2000" dirty="0" smtClean="0"/>
              <a:t> ~ </a:t>
            </a:r>
            <a:r>
              <a:rPr lang="en-US" sz="2000" dirty="0" smtClean="0">
                <a:solidFill>
                  <a:schemeClr val="dk1"/>
                </a:solidFill>
              </a:rPr>
              <a:t>0.000055</a:t>
            </a:r>
            <a:endParaRPr lang="en-US" sz="2000" dirty="0" smtClean="0">
              <a:solidFill>
                <a:schemeClr val="dk1"/>
              </a:solidFill>
            </a:endParaRPr>
          </a:p>
          <a:p>
            <a:r>
              <a:rPr lang="en-US" sz="2000" dirty="0" smtClean="0">
                <a:solidFill>
                  <a:schemeClr val="dk1"/>
                </a:solidFill>
              </a:rPr>
              <a:t>(based on frequency of LOF variants, under the assumption that all LOF are pathogenic)</a:t>
            </a:r>
            <a:endParaRPr lang="en-US" sz="2000" dirty="0" smtClean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64677" y="1056746"/>
            <a:ext cx="4826225" cy="1358479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Calculations for </a:t>
            </a:r>
            <a:r>
              <a:rPr lang="en-US" sz="2800" b="1" i="1" dirty="0" smtClean="0"/>
              <a:t>GATM</a:t>
            </a:r>
            <a:r>
              <a:rPr lang="en-US" sz="2800" b="1" dirty="0" smtClean="0"/>
              <a:t> </a:t>
            </a:r>
            <a:endParaRPr lang="en-US" sz="2800" b="1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874927"/>
              </p:ext>
            </p:extLst>
          </p:nvPr>
        </p:nvGraphicFramePr>
        <p:xfrm>
          <a:off x="8251288" y="3379691"/>
          <a:ext cx="310251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995">
                  <a:extLst>
                    <a:ext uri="{9D8B030D-6E8A-4147-A177-3AD203B41FA5}">
                      <a16:colId xmlns:a16="http://schemas.microsoft.com/office/drawing/2014/main" val="2210887936"/>
                    </a:ext>
                  </a:extLst>
                </a:gridCol>
                <a:gridCol w="1187517">
                  <a:extLst>
                    <a:ext uri="{9D8B030D-6E8A-4147-A177-3AD203B41FA5}">
                      <a16:colId xmlns:a16="http://schemas.microsoft.com/office/drawing/2014/main" val="224166058"/>
                    </a:ext>
                  </a:extLst>
                </a:gridCol>
              </a:tblGrid>
              <a:tr h="34981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Prevalence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55876"/>
                  </a:ext>
                </a:extLst>
              </a:tr>
              <a:tr h="3498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in 3,450,000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0.00003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05944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251288" y="2633657"/>
            <a:ext cx="3283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 allelic contribution = </a:t>
            </a:r>
            <a:r>
              <a:rPr lang="en-US" dirty="0"/>
              <a:t>6</a:t>
            </a:r>
            <a:r>
              <a:rPr lang="en-US" dirty="0" smtClean="0"/>
              <a:t>%</a:t>
            </a:r>
          </a:p>
          <a:p>
            <a:r>
              <a:rPr lang="en-US" dirty="0" smtClean="0"/>
              <a:t>Max genetic contribution = 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802" y="6320941"/>
            <a:ext cx="36300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2"/>
              </a:rPr>
              <a:t>https://www.cardiodb.org/allelefrequencyapp/</a:t>
            </a: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555135" y="3758122"/>
            <a:ext cx="55752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BA1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379886" y="3785164"/>
            <a:ext cx="53251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BS1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093619" y="4606881"/>
            <a:ext cx="61747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PM2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26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104" y="194221"/>
            <a:ext cx="3039423" cy="1796421"/>
          </a:xfrm>
        </p:spPr>
        <p:txBody>
          <a:bodyPr>
            <a:normAutofit/>
          </a:bodyPr>
          <a:lstStyle/>
          <a:p>
            <a:pPr algn="r"/>
            <a:r>
              <a:rPr lang="en-US" sz="2400" b="1" dirty="0" smtClean="0"/>
              <a:t>Highest population </a:t>
            </a:r>
            <a:r>
              <a:rPr lang="en-US" sz="2400" b="1" dirty="0" err="1" smtClean="0"/>
              <a:t>gnomAD</a:t>
            </a:r>
            <a:r>
              <a:rPr lang="en-US" sz="2400" b="1" dirty="0" smtClean="0"/>
              <a:t> frequency of suspected</a:t>
            </a:r>
            <a:br>
              <a:rPr lang="en-US" sz="2400" b="1" dirty="0" smtClean="0"/>
            </a:br>
            <a:r>
              <a:rPr lang="en-US" sz="2400" b="1" dirty="0" smtClean="0"/>
              <a:t>pathogenic variants in </a:t>
            </a:r>
            <a:r>
              <a:rPr lang="en-US" sz="2400" b="1" i="1" dirty="0" smtClean="0"/>
              <a:t>GATM</a:t>
            </a:r>
            <a:endParaRPr lang="en-US" sz="2400" b="1" i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833310"/>
              </p:ext>
            </p:extLst>
          </p:nvPr>
        </p:nvGraphicFramePr>
        <p:xfrm>
          <a:off x="8302380" y="130457"/>
          <a:ext cx="360129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647">
                  <a:extLst>
                    <a:ext uri="{9D8B030D-6E8A-4147-A177-3AD203B41FA5}">
                      <a16:colId xmlns:a16="http://schemas.microsoft.com/office/drawing/2014/main" val="548551728"/>
                    </a:ext>
                  </a:extLst>
                </a:gridCol>
                <a:gridCol w="2100648">
                  <a:extLst>
                    <a:ext uri="{9D8B030D-6E8A-4147-A177-3AD203B41FA5}">
                      <a16:colId xmlns:a16="http://schemas.microsoft.com/office/drawing/2014/main" val="4216852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GATM variant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600" dirty="0" err="1" smtClean="0"/>
                        <a:t>gnomAD</a:t>
                      </a:r>
                      <a:r>
                        <a:rPr lang="en-US" sz="1600" dirty="0" smtClean="0"/>
                        <a:t> highest MAF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429751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c.484+1G&gt;T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0.00005437 (E. Asian)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1894398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p.Arg169Ter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0.00005013 (E. Asian)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1592314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p.Glu181Lys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0.000008794 (Euro NF)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187823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p.Arg189Cys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0.00006155 (African)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3502536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p.Ala208Thr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0.00005437 (E. Asian)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542670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p.Arg282His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0.00002892 (Latino)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4070444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p.Leu329Val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0.00001759 (Euro NF)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134967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p.Pro346Leu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0.000008795 (Euro NF)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570745708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994" y="3612912"/>
            <a:ext cx="10340070" cy="278887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12187"/>
              </p:ext>
            </p:extLst>
          </p:nvPr>
        </p:nvGraphicFramePr>
        <p:xfrm>
          <a:off x="4442527" y="130457"/>
          <a:ext cx="3713151" cy="3360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776">
                  <a:extLst>
                    <a:ext uri="{9D8B030D-6E8A-4147-A177-3AD203B41FA5}">
                      <a16:colId xmlns:a16="http://schemas.microsoft.com/office/drawing/2014/main" val="548551728"/>
                    </a:ext>
                  </a:extLst>
                </a:gridCol>
                <a:gridCol w="2062375">
                  <a:extLst>
                    <a:ext uri="{9D8B030D-6E8A-4147-A177-3AD203B41FA5}">
                      <a16:colId xmlns:a16="http://schemas.microsoft.com/office/drawing/2014/main" val="4216852619"/>
                    </a:ext>
                  </a:extLst>
                </a:gridCol>
              </a:tblGrid>
              <a:tr h="39309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GATM variant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600" dirty="0" err="1" smtClean="0"/>
                        <a:t>gnomAD</a:t>
                      </a:r>
                      <a:r>
                        <a:rPr lang="en-US" sz="1600" dirty="0" smtClean="0"/>
                        <a:t> highest MAF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429751912"/>
                  </a:ext>
                </a:extLst>
              </a:tr>
              <a:tr h="345655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p.Trp149Ter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600" dirty="0" smtClean="0"/>
                        <a:t>Not</a:t>
                      </a:r>
                      <a:r>
                        <a:rPr lang="en-US" sz="1600" baseline="0" dirty="0" smtClean="0"/>
                        <a:t> listed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2197121562"/>
                  </a:ext>
                </a:extLst>
              </a:tr>
              <a:tr h="38158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c.1111_1112insA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600" dirty="0" smtClean="0"/>
                        <a:t>Not listed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2413150943"/>
                  </a:ext>
                </a:extLst>
              </a:tr>
              <a:tr h="34335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p.Trp203Ser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Not</a:t>
                      </a:r>
                      <a:r>
                        <a:rPr lang="en-US" sz="1600" baseline="0" dirty="0" smtClean="0"/>
                        <a:t> listed</a:t>
                      </a:r>
                      <a:endParaRPr lang="en-US" sz="1600" dirty="0" smtClean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1967709439"/>
                  </a:ext>
                </a:extLst>
              </a:tr>
              <a:tr h="370703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p.Arg413Gln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Not</a:t>
                      </a:r>
                      <a:r>
                        <a:rPr lang="en-US" sz="1600" baseline="0" dirty="0" smtClean="0"/>
                        <a:t> listed</a:t>
                      </a:r>
                      <a:endParaRPr lang="en-US" sz="1600" dirty="0" smtClean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2866328533"/>
                  </a:ext>
                </a:extLst>
              </a:tr>
              <a:tr h="38158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p.Arg413Trp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Not</a:t>
                      </a:r>
                      <a:r>
                        <a:rPr lang="en-US" sz="1600" baseline="0" dirty="0" smtClean="0"/>
                        <a:t> listed</a:t>
                      </a:r>
                      <a:endParaRPr lang="en-US" sz="1600" dirty="0" smtClean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350971945"/>
                  </a:ext>
                </a:extLst>
              </a:tr>
              <a:tr h="38158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p.Trp210Ter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600" dirty="0" smtClean="0"/>
                        <a:t>Not listed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491961872"/>
                  </a:ext>
                </a:extLst>
              </a:tr>
              <a:tr h="38158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p.Ala185Pro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600" dirty="0" smtClean="0"/>
                        <a:t>Not listed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1618957539"/>
                  </a:ext>
                </a:extLst>
              </a:tr>
              <a:tr h="381580">
                <a:tc>
                  <a:txBody>
                    <a:bodyPr/>
                    <a:lstStyle/>
                    <a:p>
                      <a:pPr marL="0"/>
                      <a:r>
                        <a:rPr lang="en-US" sz="1600" dirty="0" smtClean="0"/>
                        <a:t>p.Pro105Leu</a:t>
                      </a:r>
                      <a:endParaRPr lang="en-US" sz="1600" dirty="0"/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600" dirty="0" smtClean="0"/>
                        <a:t>Not listed</a:t>
                      </a:r>
                      <a:endParaRPr lang="en-US" sz="1600" dirty="0"/>
                    </a:p>
                  </a:txBody>
                  <a:tcPr marT="9144" marB="9144" anchor="ctr"/>
                </a:tc>
                <a:extLst>
                  <a:ext uri="{0D108BD9-81ED-4DB2-BD59-A6C34878D82A}">
                    <a16:rowId xmlns:a16="http://schemas.microsoft.com/office/drawing/2014/main" val="1635688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38897" y="4064900"/>
            <a:ext cx="1682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LOF variants in </a:t>
            </a:r>
            <a:r>
              <a:rPr lang="en-US" sz="2400" dirty="0" err="1" smtClean="0"/>
              <a:t>gnomAD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8302380" y="1618408"/>
            <a:ext cx="3601295" cy="3722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465469" y="4386744"/>
            <a:ext cx="930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0.00006156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469" y="4602813"/>
            <a:ext cx="930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0.00005013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469" y="4836426"/>
            <a:ext cx="930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0.00006164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469" y="5073259"/>
            <a:ext cx="930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0.00005437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469" y="5337346"/>
            <a:ext cx="928459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 smtClean="0"/>
              <a:t>0.0006410*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3465469" y="5543705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0.000008858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469" y="5762977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0.000008814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469" y="6014151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0.000008967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9744" y="6416065"/>
            <a:ext cx="5109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</a:t>
            </a:r>
            <a:r>
              <a:rPr lang="en-US" sz="1400" dirty="0" smtClean="0"/>
              <a:t>1 </a:t>
            </a:r>
            <a:r>
              <a:rPr lang="en-US" sz="1400" dirty="0"/>
              <a:t>in 1560 alleles, E. </a:t>
            </a:r>
            <a:r>
              <a:rPr lang="en-US" sz="1400" dirty="0" smtClean="0"/>
              <a:t>Asian (does not meet 2000 allele requirement)</a:t>
            </a: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9051131" y="1805976"/>
            <a:ext cx="1510350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VUS in </a:t>
            </a:r>
            <a:r>
              <a:rPr lang="en-US" dirty="0" err="1" smtClean="0"/>
              <a:t>ClinVar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8302380" y="557211"/>
            <a:ext cx="2641845" cy="6858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00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340</Words>
  <Application>Microsoft Office PowerPoint</Application>
  <PresentationFormat>Widescreen</PresentationFormat>
  <Paragraphs>83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GATM (AGAT) allele frequency thresholds</vt:lpstr>
      <vt:lpstr>AGAT deficiency (GATM)</vt:lpstr>
      <vt:lpstr>Calculations for GATM </vt:lpstr>
      <vt:lpstr>Highest population gnomAD frequency of suspected pathogenic variants in GATM</vt:lpstr>
    </vt:vector>
  </TitlesOfParts>
  <Company>UNC Chapel 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Allele frequency rules</dc:title>
  <dc:creator>Jenny Goldstein</dc:creator>
  <cp:lastModifiedBy>Goldstein, Jenny</cp:lastModifiedBy>
  <cp:revision>58</cp:revision>
  <dcterms:created xsi:type="dcterms:W3CDTF">2019-02-14T02:54:28Z</dcterms:created>
  <dcterms:modified xsi:type="dcterms:W3CDTF">2021-01-12T19:46:29Z</dcterms:modified>
</cp:coreProperties>
</file>