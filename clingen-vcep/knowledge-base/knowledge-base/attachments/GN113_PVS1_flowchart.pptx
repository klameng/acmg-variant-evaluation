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6"/>
  </p:notesMasterIdLst>
  <p:sldIdLst>
    <p:sldId id="256" r:id="rId5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yne Ross" initials="JR" lastIdx="5" clrIdx="0">
    <p:extLst>
      <p:ext uri="{19B8F6BF-5375-455C-9EA6-DF929625EA0E}">
        <p15:presenceInfo xmlns:p15="http://schemas.microsoft.com/office/powerpoint/2012/main" userId="Justyne Ros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883" autoAdjust="0"/>
    <p:restoredTop sz="96310" autoAdjust="0"/>
  </p:normalViewPr>
  <p:slideViewPr>
    <p:cSldViewPr snapToGrid="0">
      <p:cViewPr>
        <p:scale>
          <a:sx n="100" d="100"/>
          <a:sy n="100" d="100"/>
        </p:scale>
        <p:origin x="966" y="72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NOTE - Download as a Powerpoint or make a copy of this slide and save elsewhere - this is a template for general use.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" name="Google Shape;176;p13"/>
          <p:cNvCxnSpPr>
            <a:cxnSpLocks/>
            <a:stCxn id="129" idx="3"/>
            <a:endCxn id="136" idx="1"/>
          </p:cNvCxnSpPr>
          <p:nvPr/>
        </p:nvCxnSpPr>
        <p:spPr>
          <a:xfrm>
            <a:off x="10664148" y="8288483"/>
            <a:ext cx="281077" cy="737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" name="Google Shape;116;p13">
            <a:extLst>
              <a:ext uri="{FF2B5EF4-FFF2-40B4-BE49-F238E27FC236}">
                <a16:creationId xmlns:a16="http://schemas.microsoft.com/office/drawing/2014/main" id="{379895D0-DA4A-E21A-01D0-C1E0D5FC4502}"/>
              </a:ext>
            </a:extLst>
          </p:cNvPr>
          <p:cNvCxnSpPr/>
          <p:nvPr/>
        </p:nvCxnSpPr>
        <p:spPr>
          <a:xfrm>
            <a:off x="10621777" y="6270812"/>
            <a:ext cx="300574" cy="743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" name="Google Shape;54;p13"/>
          <p:cNvSpPr txBox="1"/>
          <p:nvPr/>
        </p:nvSpPr>
        <p:spPr>
          <a:xfrm>
            <a:off x="80325" y="225673"/>
            <a:ext cx="1105800" cy="325675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55" name="Google Shape;55;p13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aseline="30000"/>
          </a:p>
        </p:txBody>
      </p:sp>
      <p:sp>
        <p:nvSpPr>
          <p:cNvPr id="57" name="Google Shape;57;p13"/>
          <p:cNvSpPr/>
          <p:nvPr/>
        </p:nvSpPr>
        <p:spPr>
          <a:xfrm>
            <a:off x="4536349" y="192700"/>
            <a:ext cx="6084449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4536274" y="621275"/>
            <a:ext cx="6084525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0945225" y="19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10945225" y="6212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4557575" y="17919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6201874" y="1801875"/>
            <a:ext cx="4418923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variants in this exon are frequent in the general population and/or exon is absent from biologically-relevant transcript(s)</a:t>
            </a:r>
            <a:endParaRPr dirty="0"/>
          </a:p>
        </p:txBody>
      </p:sp>
      <p:sp>
        <p:nvSpPr>
          <p:cNvPr id="65" name="Google Shape;65;p13"/>
          <p:cNvSpPr/>
          <p:nvPr/>
        </p:nvSpPr>
        <p:spPr>
          <a:xfrm>
            <a:off x="10945225" y="18470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0945225" y="2318251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67" name="Google Shape;67;p13"/>
          <p:cNvSpPr/>
          <p:nvPr/>
        </p:nvSpPr>
        <p:spPr>
          <a:xfrm>
            <a:off x="10945225" y="3124713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6201875" y="2371049"/>
            <a:ext cx="1642250" cy="1113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7952100" y="2363076"/>
            <a:ext cx="846650" cy="7197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  <a:endParaRPr dirty="0"/>
          </a:p>
        </p:txBody>
      </p:sp>
      <p:sp>
        <p:nvSpPr>
          <p:cNvPr id="70" name="Google Shape;70;p13"/>
          <p:cNvSpPr/>
          <p:nvPr/>
        </p:nvSpPr>
        <p:spPr>
          <a:xfrm>
            <a:off x="7987778" y="3214532"/>
            <a:ext cx="2656872" cy="1876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  <a:endParaRPr dirty="0"/>
          </a:p>
        </p:txBody>
      </p:sp>
      <p:cxnSp>
        <p:nvCxnSpPr>
          <p:cNvPr id="71" name="Google Shape;71;p13"/>
          <p:cNvCxnSpPr>
            <a:stCxn id="68" idx="3"/>
            <a:endCxn id="69" idx="1"/>
          </p:cNvCxnSpPr>
          <p:nvPr/>
        </p:nvCxnSpPr>
        <p:spPr>
          <a:xfrm flipV="1">
            <a:off x="7844125" y="2722970"/>
            <a:ext cx="107975" cy="20485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72;p13"/>
          <p:cNvCxnSpPr>
            <a:cxnSpLocks/>
            <a:stCxn id="68" idx="3"/>
            <a:endCxn id="70" idx="1"/>
          </p:cNvCxnSpPr>
          <p:nvPr/>
        </p:nvCxnSpPr>
        <p:spPr>
          <a:xfrm>
            <a:off x="7844125" y="2927825"/>
            <a:ext cx="143653" cy="38052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3"/>
          <p:cNvCxnSpPr>
            <a:stCxn id="54" idx="3"/>
            <a:endCxn id="55" idx="1"/>
          </p:cNvCxnSpPr>
          <p:nvPr/>
        </p:nvCxnSpPr>
        <p:spPr>
          <a:xfrm flipV="1">
            <a:off x="1186125" y="569125"/>
            <a:ext cx="478450" cy="128492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cxnSpLocks/>
            <a:stCxn id="54" idx="3"/>
          </p:cNvCxnSpPr>
          <p:nvPr/>
        </p:nvCxnSpPr>
        <p:spPr>
          <a:xfrm>
            <a:off x="1186125" y="1854051"/>
            <a:ext cx="478500" cy="9017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cxnSpLocks/>
            <a:stCxn id="55" idx="3"/>
            <a:endCxn id="57" idx="1"/>
          </p:cNvCxnSpPr>
          <p:nvPr/>
        </p:nvCxnSpPr>
        <p:spPr>
          <a:xfrm flipV="1">
            <a:off x="4038775" y="331150"/>
            <a:ext cx="497574" cy="23797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76;p13"/>
          <p:cNvCxnSpPr>
            <a:cxnSpLocks/>
            <a:stCxn id="55" idx="3"/>
            <a:endCxn id="58" idx="1"/>
          </p:cNvCxnSpPr>
          <p:nvPr/>
        </p:nvCxnSpPr>
        <p:spPr>
          <a:xfrm>
            <a:off x="4038775" y="569125"/>
            <a:ext cx="497499" cy="19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3"/>
          <p:cNvCxnSpPr>
            <a:cxnSpLocks/>
            <a:endCxn id="339" idx="1"/>
          </p:cNvCxnSpPr>
          <p:nvPr/>
        </p:nvCxnSpPr>
        <p:spPr>
          <a:xfrm flipV="1">
            <a:off x="4038775" y="1352798"/>
            <a:ext cx="518612" cy="59137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3"/>
          <p:cNvCxnSpPr>
            <a:cxnSpLocks/>
            <a:endCxn id="62" idx="1"/>
          </p:cNvCxnSpPr>
          <p:nvPr/>
        </p:nvCxnSpPr>
        <p:spPr>
          <a:xfrm>
            <a:off x="4038775" y="2248975"/>
            <a:ext cx="518800" cy="2475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" name="Google Shape;79;p13"/>
          <p:cNvCxnSpPr>
            <a:cxnSpLocks/>
            <a:stCxn id="62" idx="3"/>
            <a:endCxn id="63" idx="1"/>
          </p:cNvCxnSpPr>
          <p:nvPr/>
        </p:nvCxnSpPr>
        <p:spPr>
          <a:xfrm flipV="1">
            <a:off x="5638475" y="2032725"/>
            <a:ext cx="563399" cy="46377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3"/>
          <p:cNvCxnSpPr>
            <a:stCxn id="62" idx="3"/>
            <a:endCxn id="68" idx="1"/>
          </p:cNvCxnSpPr>
          <p:nvPr/>
        </p:nvCxnSpPr>
        <p:spPr>
          <a:xfrm>
            <a:off x="5638475" y="2496500"/>
            <a:ext cx="563400" cy="4313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80325" y="3599975"/>
            <a:ext cx="1105800" cy="394676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baseline="30000"/>
          </a:p>
        </p:txBody>
      </p:sp>
      <p:sp>
        <p:nvSpPr>
          <p:cNvPr id="82" name="Google Shape;82;p13"/>
          <p:cNvSpPr/>
          <p:nvPr/>
        </p:nvSpPr>
        <p:spPr>
          <a:xfrm>
            <a:off x="1664575" y="3699225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 and is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1654125" y="6680825"/>
            <a:ext cx="2374200" cy="8508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reserves reading frame</a:t>
            </a:r>
            <a:endParaRPr dirty="0"/>
          </a:p>
        </p:txBody>
      </p:sp>
      <p:sp>
        <p:nvSpPr>
          <p:cNvPr id="84" name="Google Shape;84;p13"/>
          <p:cNvSpPr/>
          <p:nvPr/>
        </p:nvSpPr>
        <p:spPr>
          <a:xfrm>
            <a:off x="4536349" y="3623025"/>
            <a:ext cx="6099829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4536275" y="4051600"/>
            <a:ext cx="6099828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0945225" y="36230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10945225" y="40516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10938799" y="470728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cxnSp>
        <p:nvCxnSpPr>
          <p:cNvPr id="101" name="Google Shape;101;p13"/>
          <p:cNvCxnSpPr>
            <a:stCxn id="81" idx="3"/>
            <a:endCxn id="82" idx="1"/>
          </p:cNvCxnSpPr>
          <p:nvPr/>
        </p:nvCxnSpPr>
        <p:spPr>
          <a:xfrm flipV="1">
            <a:off x="1186125" y="4100475"/>
            <a:ext cx="478450" cy="147288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cxnSpLocks/>
            <a:stCxn id="81" idx="3"/>
          </p:cNvCxnSpPr>
          <p:nvPr/>
        </p:nvCxnSpPr>
        <p:spPr>
          <a:xfrm flipV="1">
            <a:off x="1186125" y="5512325"/>
            <a:ext cx="457500" cy="6103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1186125" y="5573357"/>
            <a:ext cx="468000" cy="153290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3"/>
          <p:cNvCxnSpPr>
            <a:cxnSpLocks/>
            <a:stCxn id="82" idx="3"/>
            <a:endCxn id="84" idx="1"/>
          </p:cNvCxnSpPr>
          <p:nvPr/>
        </p:nvCxnSpPr>
        <p:spPr>
          <a:xfrm flipV="1">
            <a:off x="4038775" y="3761475"/>
            <a:ext cx="497574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05;p13"/>
          <p:cNvCxnSpPr>
            <a:cxnSpLocks/>
            <a:stCxn id="82" idx="3"/>
            <a:endCxn id="86" idx="1"/>
          </p:cNvCxnSpPr>
          <p:nvPr/>
        </p:nvCxnSpPr>
        <p:spPr>
          <a:xfrm>
            <a:off x="4038775" y="4100475"/>
            <a:ext cx="497500" cy="8957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3"/>
          <p:cNvCxnSpPr>
            <a:cxnSpLocks/>
            <a:endCxn id="256" idx="1"/>
          </p:cNvCxnSpPr>
          <p:nvPr/>
        </p:nvCxnSpPr>
        <p:spPr>
          <a:xfrm flipV="1">
            <a:off x="4038824" y="4705532"/>
            <a:ext cx="498874" cy="78915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p13"/>
          <p:cNvCxnSpPr>
            <a:cxnSpLocks/>
            <a:stCxn id="248" idx="3"/>
            <a:endCxn id="204" idx="1"/>
          </p:cNvCxnSpPr>
          <p:nvPr/>
        </p:nvCxnSpPr>
        <p:spPr>
          <a:xfrm>
            <a:off x="4038825" y="5572125"/>
            <a:ext cx="497525" cy="37092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cxnSpLocks/>
            <a:stCxn id="57" idx="3"/>
            <a:endCxn id="59" idx="1"/>
          </p:cNvCxnSpPr>
          <p:nvPr/>
        </p:nvCxnSpPr>
        <p:spPr>
          <a:xfrm>
            <a:off x="10620798" y="331150"/>
            <a:ext cx="324427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13"/>
          <p:cNvCxnSpPr>
            <a:cxnSpLocks/>
            <a:stCxn id="58" idx="3"/>
            <a:endCxn id="60" idx="1"/>
          </p:cNvCxnSpPr>
          <p:nvPr/>
        </p:nvCxnSpPr>
        <p:spPr>
          <a:xfrm>
            <a:off x="10620799" y="759725"/>
            <a:ext cx="324426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3"/>
          <p:cNvCxnSpPr>
            <a:cxnSpLocks/>
            <a:stCxn id="63" idx="3"/>
            <a:endCxn id="65" idx="1"/>
          </p:cNvCxnSpPr>
          <p:nvPr/>
        </p:nvCxnSpPr>
        <p:spPr>
          <a:xfrm>
            <a:off x="10620797" y="2032725"/>
            <a:ext cx="324428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16;p13"/>
          <p:cNvCxnSpPr>
            <a:cxnSpLocks/>
            <a:stCxn id="223" idx="3"/>
            <a:endCxn id="66" idx="1"/>
          </p:cNvCxnSpPr>
          <p:nvPr/>
        </p:nvCxnSpPr>
        <p:spPr>
          <a:xfrm flipV="1">
            <a:off x="10644651" y="2480401"/>
            <a:ext cx="300574" cy="36269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17;p13"/>
          <p:cNvCxnSpPr>
            <a:cxnSpLocks/>
            <a:stCxn id="70" idx="3"/>
            <a:endCxn id="67" idx="1"/>
          </p:cNvCxnSpPr>
          <p:nvPr/>
        </p:nvCxnSpPr>
        <p:spPr>
          <a:xfrm>
            <a:off x="10644650" y="3308351"/>
            <a:ext cx="300575" cy="206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13"/>
          <p:cNvCxnSpPr>
            <a:cxnSpLocks/>
            <a:stCxn id="84" idx="3"/>
            <a:endCxn id="92" idx="1"/>
          </p:cNvCxnSpPr>
          <p:nvPr/>
        </p:nvCxnSpPr>
        <p:spPr>
          <a:xfrm>
            <a:off x="10636178" y="3761475"/>
            <a:ext cx="309047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119;p13"/>
          <p:cNvCxnSpPr>
            <a:cxnSpLocks/>
            <a:stCxn id="86" idx="3"/>
            <a:endCxn id="93" idx="1"/>
          </p:cNvCxnSpPr>
          <p:nvPr/>
        </p:nvCxnSpPr>
        <p:spPr>
          <a:xfrm>
            <a:off x="10636103" y="4190050"/>
            <a:ext cx="309122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13"/>
          <p:cNvCxnSpPr>
            <a:stCxn id="23" idx="3"/>
            <a:endCxn id="94" idx="1"/>
          </p:cNvCxnSpPr>
          <p:nvPr/>
        </p:nvCxnSpPr>
        <p:spPr>
          <a:xfrm flipV="1">
            <a:off x="10780537" y="4845733"/>
            <a:ext cx="158262" cy="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80325" y="7657981"/>
            <a:ext cx="1105800" cy="432400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701200" y="8157407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1680225" y="10799461"/>
            <a:ext cx="2327100" cy="11925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exon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1701200" y="7825084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572974" y="8150033"/>
            <a:ext cx="6091174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4572899" y="8509781"/>
            <a:ext cx="6091249" cy="27774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0945225" y="7825084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/>
          </a:p>
        </p:txBody>
      </p:sp>
      <p:sp>
        <p:nvSpPr>
          <p:cNvPr id="136" name="Google Shape;136;p13"/>
          <p:cNvSpPr/>
          <p:nvPr/>
        </p:nvSpPr>
        <p:spPr>
          <a:xfrm>
            <a:off x="10945225" y="815740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10945225" y="8509782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80325" y="12085325"/>
            <a:ext cx="1105800" cy="155280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1701200" y="1215069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1701200" y="12679627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1701200" y="13176427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4533725" y="12217268"/>
            <a:ext cx="6130422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4533624" y="12586070"/>
            <a:ext cx="6130421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or unknown i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mpact on reading frame and NMD</a:t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4533749" y="12926452"/>
            <a:ext cx="6130295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10945225" y="1221726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10945225" y="12577604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10945225" y="12926452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10945225" y="13268827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b="1"/>
          </a:p>
        </p:txBody>
      </p:sp>
      <p:sp>
        <p:nvSpPr>
          <p:cNvPr id="155" name="Google Shape;155;p13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4533800" y="13784050"/>
            <a:ext cx="6130243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</a:t>
            </a:r>
            <a:r>
              <a:rPr lang="en" sz="12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codon (Met28)</a:t>
            </a:r>
            <a:endParaRPr sz="1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4533799" y="14162050"/>
            <a:ext cx="6130243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</a:t>
            </a:r>
            <a:r>
              <a:rPr lang="en" sz="12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codon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(Met28</a:t>
            </a:r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flipV="1">
            <a:off x="1186125" y="7963534"/>
            <a:ext cx="515075" cy="18564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stCxn id="125" idx="3"/>
            <a:endCxn id="126" idx="1"/>
          </p:cNvCxnSpPr>
          <p:nvPr/>
        </p:nvCxnSpPr>
        <p:spPr>
          <a:xfrm flipV="1">
            <a:off x="1186125" y="8558657"/>
            <a:ext cx="515075" cy="126132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cxnSpLocks/>
            <a:stCxn id="125" idx="3"/>
          </p:cNvCxnSpPr>
          <p:nvPr/>
        </p:nvCxnSpPr>
        <p:spPr>
          <a:xfrm flipV="1">
            <a:off x="1186125" y="9642632"/>
            <a:ext cx="494100" cy="17735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1186125" y="9819984"/>
            <a:ext cx="494100" cy="157573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4028300" y="7963534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cxnSpLocks/>
            <a:stCxn id="126" idx="3"/>
            <a:endCxn id="129" idx="1"/>
          </p:cNvCxnSpPr>
          <p:nvPr/>
        </p:nvCxnSpPr>
        <p:spPr>
          <a:xfrm flipV="1">
            <a:off x="4028300" y="8288483"/>
            <a:ext cx="544674" cy="27017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" name="Google Shape;169;p13"/>
          <p:cNvCxnSpPr>
            <a:cxnSpLocks/>
            <a:stCxn id="126" idx="3"/>
            <a:endCxn id="131" idx="1"/>
          </p:cNvCxnSpPr>
          <p:nvPr/>
        </p:nvCxnSpPr>
        <p:spPr>
          <a:xfrm>
            <a:off x="4028300" y="8558657"/>
            <a:ext cx="544599" cy="8999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13"/>
          <p:cNvCxnSpPr>
            <a:cxnSpLocks/>
            <a:endCxn id="292" idx="1"/>
          </p:cNvCxnSpPr>
          <p:nvPr/>
        </p:nvCxnSpPr>
        <p:spPr>
          <a:xfrm flipV="1">
            <a:off x="4007350" y="9155814"/>
            <a:ext cx="578961" cy="4868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13"/>
          <p:cNvCxnSpPr>
            <a:cxnSpLocks/>
            <a:endCxn id="283" idx="1"/>
          </p:cNvCxnSpPr>
          <p:nvPr/>
        </p:nvCxnSpPr>
        <p:spPr>
          <a:xfrm>
            <a:off x="4007350" y="9642632"/>
            <a:ext cx="577613" cy="75070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13"/>
          <p:cNvCxnSpPr>
            <a:stCxn id="127" idx="3"/>
            <a:endCxn id="283" idx="1"/>
          </p:cNvCxnSpPr>
          <p:nvPr/>
        </p:nvCxnSpPr>
        <p:spPr>
          <a:xfrm flipV="1">
            <a:off x="4007325" y="10393336"/>
            <a:ext cx="577638" cy="100238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73;p13"/>
          <p:cNvCxnSpPr>
            <a:cxnSpLocks/>
            <a:stCxn id="127" idx="3"/>
            <a:endCxn id="315" idx="1"/>
          </p:cNvCxnSpPr>
          <p:nvPr/>
        </p:nvCxnSpPr>
        <p:spPr>
          <a:xfrm>
            <a:off x="4007325" y="11395718"/>
            <a:ext cx="578986" cy="32265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7" name="Google Shape;177;p13"/>
          <p:cNvCxnSpPr>
            <a:cxnSpLocks/>
            <a:stCxn id="131" idx="3"/>
            <a:endCxn id="137" idx="1"/>
          </p:cNvCxnSpPr>
          <p:nvPr/>
        </p:nvCxnSpPr>
        <p:spPr>
          <a:xfrm flipV="1">
            <a:off x="10664148" y="8648232"/>
            <a:ext cx="281077" cy="42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cxnSpLocks/>
          </p:cNvCxnSpPr>
          <p:nvPr/>
        </p:nvCxnSpPr>
        <p:spPr>
          <a:xfrm rot="10800000" flipH="1">
            <a:off x="1186125" y="12346327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cxnSpLocks/>
            <a:endCxn id="145" idx="1"/>
          </p:cNvCxnSpPr>
          <p:nvPr/>
        </p:nvCxnSpPr>
        <p:spPr>
          <a:xfrm rot="10800000" flipH="1">
            <a:off x="1186125" y="12904627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cxnSpLocks/>
            <a:endCxn id="146" idx="1"/>
          </p:cNvCxnSpPr>
          <p:nvPr/>
        </p:nvCxnSpPr>
        <p:spPr>
          <a:xfrm>
            <a:off x="1186125" y="12934027"/>
            <a:ext cx="515100" cy="47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cxnSpLocks/>
            <a:endCxn id="148" idx="1"/>
          </p:cNvCxnSpPr>
          <p:nvPr/>
        </p:nvCxnSpPr>
        <p:spPr>
          <a:xfrm>
            <a:off x="4028300" y="12346227"/>
            <a:ext cx="505324" cy="37829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cxnSpLocks/>
            <a:stCxn id="145" idx="3"/>
            <a:endCxn id="148" idx="1"/>
          </p:cNvCxnSpPr>
          <p:nvPr/>
        </p:nvCxnSpPr>
        <p:spPr>
          <a:xfrm flipV="1">
            <a:off x="4028300" y="12724520"/>
            <a:ext cx="505324" cy="18010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cxnSpLocks/>
            <a:stCxn id="145" idx="3"/>
            <a:endCxn id="149" idx="1"/>
          </p:cNvCxnSpPr>
          <p:nvPr/>
        </p:nvCxnSpPr>
        <p:spPr>
          <a:xfrm>
            <a:off x="4028300" y="12904627"/>
            <a:ext cx="505449" cy="16027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cxnSpLocks/>
          </p:cNvCxnSpPr>
          <p:nvPr/>
        </p:nvCxnSpPr>
        <p:spPr>
          <a:xfrm>
            <a:off x="10664147" y="12365550"/>
            <a:ext cx="281078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cxnSpLocks/>
            <a:stCxn id="148" idx="3"/>
            <a:endCxn id="151" idx="1"/>
          </p:cNvCxnSpPr>
          <p:nvPr/>
        </p:nvCxnSpPr>
        <p:spPr>
          <a:xfrm flipV="1">
            <a:off x="10664045" y="12716054"/>
            <a:ext cx="281180" cy="846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cxnSpLocks/>
            <a:stCxn id="149" idx="3"/>
            <a:endCxn id="152" idx="1"/>
          </p:cNvCxnSpPr>
          <p:nvPr/>
        </p:nvCxnSpPr>
        <p:spPr>
          <a:xfrm>
            <a:off x="10664044" y="13064902"/>
            <a:ext cx="281181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3"/>
          <p:cNvCxnSpPr>
            <a:cxnSpLocks/>
            <a:stCxn id="156" idx="3"/>
            <a:endCxn id="157" idx="1"/>
          </p:cNvCxnSpPr>
          <p:nvPr/>
        </p:nvCxnSpPr>
        <p:spPr>
          <a:xfrm flipV="1">
            <a:off x="3986500" y="13921150"/>
            <a:ext cx="547300" cy="1363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13"/>
          <p:cNvCxnSpPr>
            <a:cxnSpLocks/>
            <a:stCxn id="156" idx="3"/>
            <a:endCxn id="158" idx="1"/>
          </p:cNvCxnSpPr>
          <p:nvPr/>
        </p:nvCxnSpPr>
        <p:spPr>
          <a:xfrm>
            <a:off x="3986500" y="14057475"/>
            <a:ext cx="547299" cy="24167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13"/>
          <p:cNvCxnSpPr>
            <a:stCxn id="155" idx="3"/>
            <a:endCxn id="161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13"/>
          <p:cNvCxnSpPr>
            <a:cxnSpLocks/>
            <a:stCxn id="157" idx="3"/>
            <a:endCxn id="160" idx="1"/>
          </p:cNvCxnSpPr>
          <p:nvPr/>
        </p:nvCxnSpPr>
        <p:spPr>
          <a:xfrm flipV="1">
            <a:off x="10664043" y="13918850"/>
            <a:ext cx="281182" cy="23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3"/>
          <p:cNvCxnSpPr>
            <a:cxnSpLocks/>
            <a:stCxn id="158" idx="3"/>
            <a:endCxn id="159" idx="1"/>
          </p:cNvCxnSpPr>
          <p:nvPr/>
        </p:nvCxnSpPr>
        <p:spPr>
          <a:xfrm>
            <a:off x="10664042" y="14299150"/>
            <a:ext cx="281183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stCxn id="154" idx="3"/>
            <a:endCxn id="156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13"/>
          <p:cNvCxnSpPr>
            <a:stCxn id="154" idx="3"/>
            <a:endCxn id="155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" name="Google Shape;204;p13"/>
          <p:cNvSpPr/>
          <p:nvPr/>
        </p:nvSpPr>
        <p:spPr>
          <a:xfrm>
            <a:off x="4536350" y="5053299"/>
            <a:ext cx="1080900" cy="177951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6180649" y="5149740"/>
            <a:ext cx="4472457" cy="3535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 dirty="0"/>
          </a:p>
        </p:txBody>
      </p:sp>
      <p:sp>
        <p:nvSpPr>
          <p:cNvPr id="208" name="Google Shape;208;p13"/>
          <p:cNvSpPr/>
          <p:nvPr/>
        </p:nvSpPr>
        <p:spPr>
          <a:xfrm>
            <a:off x="10930823" y="5168570"/>
            <a:ext cx="1281000" cy="33889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dirty="0"/>
          </a:p>
        </p:txBody>
      </p:sp>
      <p:cxnSp>
        <p:nvCxnSpPr>
          <p:cNvPr id="212" name="Google Shape;212;p13"/>
          <p:cNvCxnSpPr>
            <a:cxnSpLocks/>
            <a:endCxn id="205" idx="1"/>
          </p:cNvCxnSpPr>
          <p:nvPr/>
        </p:nvCxnSpPr>
        <p:spPr>
          <a:xfrm flipV="1">
            <a:off x="5617250" y="5326513"/>
            <a:ext cx="563399" cy="48412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13"/>
          <p:cNvCxnSpPr>
            <a:cxnSpLocks/>
          </p:cNvCxnSpPr>
          <p:nvPr/>
        </p:nvCxnSpPr>
        <p:spPr>
          <a:xfrm>
            <a:off x="5617250" y="5810761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13"/>
          <p:cNvCxnSpPr>
            <a:cxnSpLocks/>
            <a:stCxn id="205" idx="3"/>
            <a:endCxn id="208" idx="1"/>
          </p:cNvCxnSpPr>
          <p:nvPr/>
        </p:nvCxnSpPr>
        <p:spPr>
          <a:xfrm>
            <a:off x="10653106" y="5326513"/>
            <a:ext cx="277717" cy="11504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3"/>
          <p:cNvCxnSpPr>
            <a:cxnSpLocks/>
            <a:stCxn id="83" idx="3"/>
            <a:endCxn id="204" idx="1"/>
          </p:cNvCxnSpPr>
          <p:nvPr/>
        </p:nvCxnSpPr>
        <p:spPr>
          <a:xfrm flipV="1">
            <a:off x="4028325" y="5943054"/>
            <a:ext cx="508025" cy="11632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3"/>
          <p:cNvCxnSpPr>
            <a:cxnSpLocks/>
            <a:stCxn id="83" idx="3"/>
            <a:endCxn id="264" idx="1"/>
          </p:cNvCxnSpPr>
          <p:nvPr/>
        </p:nvCxnSpPr>
        <p:spPr>
          <a:xfrm>
            <a:off x="4028325" y="7106265"/>
            <a:ext cx="509373" cy="16182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stCxn id="146" idx="3"/>
            <a:endCxn id="153" idx="1"/>
          </p:cNvCxnSpPr>
          <p:nvPr/>
        </p:nvCxnSpPr>
        <p:spPr>
          <a:xfrm>
            <a:off x="4028300" y="13407277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cxnSpLocks/>
          </p:cNvCxnSpPr>
          <p:nvPr/>
        </p:nvCxnSpPr>
        <p:spPr>
          <a:xfrm>
            <a:off x="4028300" y="12346227"/>
            <a:ext cx="505425" cy="1932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3" name="Google Shape;69;p13"/>
          <p:cNvSpPr/>
          <p:nvPr/>
        </p:nvSpPr>
        <p:spPr>
          <a:xfrm>
            <a:off x="8962708" y="2319076"/>
            <a:ext cx="1681943" cy="3951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 pathogenic variant present downstream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Google Shape;67;p13"/>
          <p:cNvSpPr/>
          <p:nvPr/>
        </p:nvSpPr>
        <p:spPr>
          <a:xfrm>
            <a:off x="10945225" y="2696839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cxnSp>
        <p:nvCxnSpPr>
          <p:cNvPr id="225" name="Google Shape;115;p13"/>
          <p:cNvCxnSpPr>
            <a:stCxn id="69" idx="3"/>
            <a:endCxn id="223" idx="1"/>
          </p:cNvCxnSpPr>
          <p:nvPr/>
        </p:nvCxnSpPr>
        <p:spPr>
          <a:xfrm flipV="1">
            <a:off x="8798750" y="2516670"/>
            <a:ext cx="163958" cy="206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0" name="Google Shape;69;p13"/>
          <p:cNvSpPr/>
          <p:nvPr/>
        </p:nvSpPr>
        <p:spPr>
          <a:xfrm>
            <a:off x="8964704" y="2770348"/>
            <a:ext cx="1679948" cy="3857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known  downstream pathogenic variants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Google Shape;72;p13"/>
          <p:cNvCxnSpPr>
            <a:stCxn id="69" idx="3"/>
            <a:endCxn id="230" idx="1"/>
          </p:cNvCxnSpPr>
          <p:nvPr/>
        </p:nvCxnSpPr>
        <p:spPr>
          <a:xfrm>
            <a:off x="8798750" y="2722970"/>
            <a:ext cx="165954" cy="24027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" name="Google Shape;116;p13"/>
          <p:cNvCxnSpPr/>
          <p:nvPr/>
        </p:nvCxnSpPr>
        <p:spPr>
          <a:xfrm>
            <a:off x="10630250" y="2875400"/>
            <a:ext cx="300574" cy="743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" name="Rectangle 236"/>
          <p:cNvSpPr/>
          <p:nvPr/>
        </p:nvSpPr>
        <p:spPr>
          <a:xfrm>
            <a:off x="6106219" y="2289428"/>
            <a:ext cx="6172961" cy="1224173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/>
          <p:cNvSpPr/>
          <p:nvPr/>
        </p:nvSpPr>
        <p:spPr>
          <a:xfrm>
            <a:off x="6104662" y="5535789"/>
            <a:ext cx="6163750" cy="1346559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Google Shape;61;p13"/>
          <p:cNvSpPr/>
          <p:nvPr/>
        </p:nvSpPr>
        <p:spPr>
          <a:xfrm>
            <a:off x="4537698" y="4441914"/>
            <a:ext cx="1679576" cy="527236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</a:t>
            </a:r>
            <a:r>
              <a:rPr lang="en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66;p13">
            <a:extLst>
              <a:ext uri="{FF2B5EF4-FFF2-40B4-BE49-F238E27FC236}">
                <a16:creationId xmlns:a16="http://schemas.microsoft.com/office/drawing/2014/main" id="{4515BA00-A5F9-74BF-007E-7B91BE0988DB}"/>
              </a:ext>
            </a:extLst>
          </p:cNvPr>
          <p:cNvSpPr/>
          <p:nvPr/>
        </p:nvSpPr>
        <p:spPr>
          <a:xfrm>
            <a:off x="10936752" y="5698271"/>
            <a:ext cx="1281000" cy="26376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35" name="Google Shape;67;p13">
            <a:extLst>
              <a:ext uri="{FF2B5EF4-FFF2-40B4-BE49-F238E27FC236}">
                <a16:creationId xmlns:a16="http://schemas.microsoft.com/office/drawing/2014/main" id="{0977DFF7-7C07-23EB-50B5-1A0AE8471E08}"/>
              </a:ext>
            </a:extLst>
          </p:cNvPr>
          <p:cNvSpPr/>
          <p:nvPr/>
        </p:nvSpPr>
        <p:spPr>
          <a:xfrm>
            <a:off x="10936752" y="6564413"/>
            <a:ext cx="1281000" cy="31045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dirty="0"/>
          </a:p>
        </p:txBody>
      </p:sp>
      <p:sp>
        <p:nvSpPr>
          <p:cNvPr id="36" name="Google Shape;68;p13">
            <a:extLst>
              <a:ext uri="{FF2B5EF4-FFF2-40B4-BE49-F238E27FC236}">
                <a16:creationId xmlns:a16="http://schemas.microsoft.com/office/drawing/2014/main" id="{E633A64C-80B8-4F43-6FD7-35EE9CAEB29F}"/>
              </a:ext>
            </a:extLst>
          </p:cNvPr>
          <p:cNvSpPr/>
          <p:nvPr/>
        </p:nvSpPr>
        <p:spPr>
          <a:xfrm>
            <a:off x="6193402" y="5622799"/>
            <a:ext cx="1642250" cy="1113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69;p13">
            <a:extLst>
              <a:ext uri="{FF2B5EF4-FFF2-40B4-BE49-F238E27FC236}">
                <a16:creationId xmlns:a16="http://schemas.microsoft.com/office/drawing/2014/main" id="{627C18B1-9974-F8CA-8332-8E9AD8E8EF01}"/>
              </a:ext>
            </a:extLst>
          </p:cNvPr>
          <p:cNvSpPr/>
          <p:nvPr/>
        </p:nvSpPr>
        <p:spPr>
          <a:xfrm>
            <a:off x="7943627" y="5623293"/>
            <a:ext cx="846650" cy="8057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  <a:endParaRPr dirty="0"/>
          </a:p>
        </p:txBody>
      </p:sp>
      <p:sp>
        <p:nvSpPr>
          <p:cNvPr id="38" name="Google Shape;70;p13">
            <a:extLst>
              <a:ext uri="{FF2B5EF4-FFF2-40B4-BE49-F238E27FC236}">
                <a16:creationId xmlns:a16="http://schemas.microsoft.com/office/drawing/2014/main" id="{50D95E25-955D-5ED6-8DD3-90C63ADBAC54}"/>
              </a:ext>
            </a:extLst>
          </p:cNvPr>
          <p:cNvSpPr/>
          <p:nvPr/>
        </p:nvSpPr>
        <p:spPr>
          <a:xfrm>
            <a:off x="7979305" y="6644088"/>
            <a:ext cx="2650944" cy="1629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  <a:endParaRPr dirty="0"/>
          </a:p>
        </p:txBody>
      </p:sp>
      <p:cxnSp>
        <p:nvCxnSpPr>
          <p:cNvPr id="39" name="Google Shape;71;p13">
            <a:extLst>
              <a:ext uri="{FF2B5EF4-FFF2-40B4-BE49-F238E27FC236}">
                <a16:creationId xmlns:a16="http://schemas.microsoft.com/office/drawing/2014/main" id="{418DC92C-86A9-DA55-3163-0A664D686CC0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 flipV="1">
            <a:off x="7835652" y="6026188"/>
            <a:ext cx="107975" cy="1533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72;p13">
            <a:extLst>
              <a:ext uri="{FF2B5EF4-FFF2-40B4-BE49-F238E27FC236}">
                <a16:creationId xmlns:a16="http://schemas.microsoft.com/office/drawing/2014/main" id="{5722DEAE-9686-E57E-FC3E-BBFCAEF94295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7835652" y="6179575"/>
            <a:ext cx="143653" cy="54601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116;p13">
            <a:extLst>
              <a:ext uri="{FF2B5EF4-FFF2-40B4-BE49-F238E27FC236}">
                <a16:creationId xmlns:a16="http://schemas.microsoft.com/office/drawing/2014/main" id="{781A12C7-5A91-316E-0832-D9FFECF15E31}"/>
              </a:ext>
            </a:extLst>
          </p:cNvPr>
          <p:cNvCxnSpPr>
            <a:cxnSpLocks/>
            <a:stCxn id="43" idx="3"/>
            <a:endCxn id="34" idx="1"/>
          </p:cNvCxnSpPr>
          <p:nvPr/>
        </p:nvCxnSpPr>
        <p:spPr>
          <a:xfrm>
            <a:off x="10644650" y="5826467"/>
            <a:ext cx="292102" cy="368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117;p13">
            <a:extLst>
              <a:ext uri="{FF2B5EF4-FFF2-40B4-BE49-F238E27FC236}">
                <a16:creationId xmlns:a16="http://schemas.microsoft.com/office/drawing/2014/main" id="{542BBCDD-535B-EE6E-ECA7-BC0AEFC5D3B0}"/>
              </a:ext>
            </a:extLst>
          </p:cNvPr>
          <p:cNvCxnSpPr>
            <a:cxnSpLocks/>
            <a:stCxn id="38" idx="3"/>
            <a:endCxn id="35" idx="1"/>
          </p:cNvCxnSpPr>
          <p:nvPr/>
        </p:nvCxnSpPr>
        <p:spPr>
          <a:xfrm flipV="1">
            <a:off x="10630249" y="6719640"/>
            <a:ext cx="306503" cy="594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" name="Google Shape;69;p13">
            <a:extLst>
              <a:ext uri="{FF2B5EF4-FFF2-40B4-BE49-F238E27FC236}">
                <a16:creationId xmlns:a16="http://schemas.microsoft.com/office/drawing/2014/main" id="{2047F79E-3220-D070-B957-1A3028327AB0}"/>
              </a:ext>
            </a:extLst>
          </p:cNvPr>
          <p:cNvSpPr/>
          <p:nvPr/>
        </p:nvSpPr>
        <p:spPr>
          <a:xfrm>
            <a:off x="8954235" y="5570826"/>
            <a:ext cx="1690415" cy="5112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 pathogenic variant present within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deleted/truncated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Google Shape;67;p13">
            <a:extLst>
              <a:ext uri="{FF2B5EF4-FFF2-40B4-BE49-F238E27FC236}">
                <a16:creationId xmlns:a16="http://schemas.microsoft.com/office/drawing/2014/main" id="{C08E4867-5420-D1DA-F7C8-689928379893}"/>
              </a:ext>
            </a:extLst>
          </p:cNvPr>
          <p:cNvSpPr/>
          <p:nvPr/>
        </p:nvSpPr>
        <p:spPr>
          <a:xfrm>
            <a:off x="10936752" y="6075594"/>
            <a:ext cx="1281000" cy="32371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cxnSp>
        <p:nvCxnSpPr>
          <p:cNvPr id="45" name="Google Shape;115;p13">
            <a:extLst>
              <a:ext uri="{FF2B5EF4-FFF2-40B4-BE49-F238E27FC236}">
                <a16:creationId xmlns:a16="http://schemas.microsoft.com/office/drawing/2014/main" id="{A28CB9A2-EA50-627B-5827-552A1778AC15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 flipV="1">
            <a:off x="8790277" y="5826467"/>
            <a:ext cx="163958" cy="19972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" name="Google Shape;69;p13">
            <a:extLst>
              <a:ext uri="{FF2B5EF4-FFF2-40B4-BE49-F238E27FC236}">
                <a16:creationId xmlns:a16="http://schemas.microsoft.com/office/drawing/2014/main" id="{D8C2EDC2-B2AF-0CAB-F7ED-452B55C72824}"/>
              </a:ext>
            </a:extLst>
          </p:cNvPr>
          <p:cNvSpPr/>
          <p:nvPr/>
        </p:nvSpPr>
        <p:spPr>
          <a:xfrm>
            <a:off x="8956231" y="6106768"/>
            <a:ext cx="1679948" cy="4848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known pathogenic variants within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deleted/truncated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Google Shape;72;p13">
            <a:extLst>
              <a:ext uri="{FF2B5EF4-FFF2-40B4-BE49-F238E27FC236}">
                <a16:creationId xmlns:a16="http://schemas.microsoft.com/office/drawing/2014/main" id="{3F36851F-4BD6-6357-148E-073CFBDC85F2}"/>
              </a:ext>
            </a:extLst>
          </p:cNvPr>
          <p:cNvCxnSpPr>
            <a:cxnSpLocks/>
            <a:stCxn id="37" idx="3"/>
            <a:endCxn id="46" idx="1"/>
          </p:cNvCxnSpPr>
          <p:nvPr/>
        </p:nvCxnSpPr>
        <p:spPr>
          <a:xfrm>
            <a:off x="8790277" y="6026188"/>
            <a:ext cx="165954" cy="32299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7" name="Google Shape;56;p13">
            <a:extLst>
              <a:ext uri="{FF2B5EF4-FFF2-40B4-BE49-F238E27FC236}">
                <a16:creationId xmlns:a16="http://schemas.microsoft.com/office/drawing/2014/main" id="{59E22DB5-8847-ECAE-D7D3-27DBCEEC8B90}"/>
              </a:ext>
            </a:extLst>
          </p:cNvPr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"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/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(i.e. premature stop codon in the last exon or the last 50 nucleotides of the penultimate exon [</a:t>
            </a:r>
            <a:r>
              <a:rPr lang="en-US" sz="1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c.1577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(codon </a:t>
            </a:r>
            <a:r>
              <a:rPr lang="en-US" sz="1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526)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exon </a:t>
            </a:r>
            <a:r>
              <a:rPr lang="en-US" sz="1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8])</a:t>
            </a:r>
            <a:endParaRPr dirty="0"/>
          </a:p>
        </p:txBody>
      </p:sp>
      <p:sp>
        <p:nvSpPr>
          <p:cNvPr id="248" name="Google Shape;100;p13">
            <a:extLst>
              <a:ext uri="{FF2B5EF4-FFF2-40B4-BE49-F238E27FC236}">
                <a16:creationId xmlns:a16="http://schemas.microsoft.com/office/drawing/2014/main" id="{676A666D-5A3D-EB2E-1B6B-5D2882442591}"/>
              </a:ext>
            </a:extLst>
          </p:cNvPr>
          <p:cNvSpPr/>
          <p:nvPr/>
        </p:nvSpPr>
        <p:spPr>
          <a:xfrm>
            <a:off x="1643625" y="4706250"/>
            <a:ext cx="2395200" cy="17317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</a:p>
          <a:p>
            <a:pPr lvl="0" algn="ctr"/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(i.e. premature stop codon in the last exon or the last 50 nucleotides of the penultimate exon [c.1577 (codon 526) in exon 8</a:t>
            </a:r>
            <a:r>
              <a:rPr lang="en-US" sz="1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])</a:t>
            </a:r>
            <a:endParaRPr lang="en-US" sz="1200" dirty="0"/>
          </a:p>
        </p:txBody>
      </p:sp>
      <p:sp>
        <p:nvSpPr>
          <p:cNvPr id="249" name="Google Shape;162;p13">
            <a:extLst>
              <a:ext uri="{FF2B5EF4-FFF2-40B4-BE49-F238E27FC236}">
                <a16:creationId xmlns:a16="http://schemas.microsoft.com/office/drawing/2014/main" id="{F5DD5592-C9A5-28CD-286E-1AC3680FFE91}"/>
              </a:ext>
            </a:extLst>
          </p:cNvPr>
          <p:cNvSpPr/>
          <p:nvPr/>
        </p:nvSpPr>
        <p:spPr>
          <a:xfrm>
            <a:off x="1701200" y="9006081"/>
            <a:ext cx="2327100" cy="16888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</a:p>
          <a:p>
            <a:pPr lvl="0" algn="ctr"/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(i.e. premature stop codon in the last exon or the last 50 nucleotides of the penultimate exon [c.1577 (codon 526) in exon 8])</a:t>
            </a:r>
            <a:endParaRPr lang="en-US" sz="1100" dirty="0"/>
          </a:p>
        </p:txBody>
      </p:sp>
      <p:sp>
        <p:nvSpPr>
          <p:cNvPr id="5" name="Rectangle 4"/>
          <p:cNvSpPr/>
          <p:nvPr/>
        </p:nvSpPr>
        <p:spPr>
          <a:xfrm>
            <a:off x="6591274" y="4384978"/>
            <a:ext cx="4189263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Occurs within the </a:t>
            </a:r>
            <a:r>
              <a:rPr lang="en-US" sz="12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forkhead</a:t>
            </a:r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domain (amino acids </a:t>
            </a:r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270-367)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87285" y="4707283"/>
            <a:ext cx="4193252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Occurs within the transactivation domain (amino acids 511-563)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4" name="Google Shape;105;p13"/>
          <p:cNvCxnSpPr>
            <a:cxnSpLocks/>
            <a:endCxn id="5" idx="1"/>
          </p:cNvCxnSpPr>
          <p:nvPr/>
        </p:nvCxnSpPr>
        <p:spPr>
          <a:xfrm flipV="1">
            <a:off x="6210330" y="4523478"/>
            <a:ext cx="380944" cy="18668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105;p13"/>
          <p:cNvCxnSpPr>
            <a:cxnSpLocks/>
            <a:endCxn id="23" idx="1"/>
          </p:cNvCxnSpPr>
          <p:nvPr/>
        </p:nvCxnSpPr>
        <p:spPr>
          <a:xfrm>
            <a:off x="6210330" y="4710158"/>
            <a:ext cx="376955" cy="1356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0" name="Google Shape;94;p13"/>
          <p:cNvSpPr/>
          <p:nvPr/>
        </p:nvSpPr>
        <p:spPr>
          <a:xfrm>
            <a:off x="10945225" y="4383871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dirty="0"/>
          </a:p>
        </p:txBody>
      </p:sp>
      <p:cxnSp>
        <p:nvCxnSpPr>
          <p:cNvPr id="261" name="Google Shape;120;p13"/>
          <p:cNvCxnSpPr>
            <a:endCxn id="260" idx="1"/>
          </p:cNvCxnSpPr>
          <p:nvPr/>
        </p:nvCxnSpPr>
        <p:spPr>
          <a:xfrm flipV="1">
            <a:off x="10786963" y="4522321"/>
            <a:ext cx="158262" cy="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2" name="Google Shape;94;p13"/>
          <p:cNvSpPr/>
          <p:nvPr/>
        </p:nvSpPr>
        <p:spPr>
          <a:xfrm>
            <a:off x="10938799" y="72698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cxnSp>
        <p:nvCxnSpPr>
          <p:cNvPr id="263" name="Google Shape;120;p13"/>
          <p:cNvCxnSpPr>
            <a:stCxn id="266" idx="3"/>
            <a:endCxn id="262" idx="1"/>
          </p:cNvCxnSpPr>
          <p:nvPr/>
        </p:nvCxnSpPr>
        <p:spPr>
          <a:xfrm flipV="1">
            <a:off x="10780537" y="7408288"/>
            <a:ext cx="158262" cy="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4" name="Google Shape;61;p13"/>
          <p:cNvSpPr/>
          <p:nvPr/>
        </p:nvSpPr>
        <p:spPr>
          <a:xfrm>
            <a:off x="4537698" y="7004469"/>
            <a:ext cx="1679576" cy="527236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</a:t>
            </a:r>
            <a:r>
              <a:rPr lang="en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6591274" y="6947533"/>
            <a:ext cx="4189263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Occurs within the </a:t>
            </a:r>
            <a:r>
              <a:rPr lang="en-US" sz="12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forkhead</a:t>
            </a:r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domain (amino acids </a:t>
            </a:r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270-367)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6587285" y="7269838"/>
            <a:ext cx="4193252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Occurs within the transactivation domain (amino acids 511-563)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7" name="Google Shape;105;p13"/>
          <p:cNvCxnSpPr>
            <a:cxnSpLocks/>
            <a:endCxn id="265" idx="1"/>
          </p:cNvCxnSpPr>
          <p:nvPr/>
        </p:nvCxnSpPr>
        <p:spPr>
          <a:xfrm flipV="1">
            <a:off x="6210330" y="7086033"/>
            <a:ext cx="380944" cy="18668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" name="Google Shape;105;p13"/>
          <p:cNvCxnSpPr>
            <a:cxnSpLocks/>
            <a:endCxn id="266" idx="1"/>
          </p:cNvCxnSpPr>
          <p:nvPr/>
        </p:nvCxnSpPr>
        <p:spPr>
          <a:xfrm>
            <a:off x="6210330" y="7272713"/>
            <a:ext cx="376955" cy="1356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9" name="Google Shape;94;p13"/>
          <p:cNvSpPr/>
          <p:nvPr/>
        </p:nvSpPr>
        <p:spPr>
          <a:xfrm>
            <a:off x="10945225" y="6946426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dirty="0"/>
          </a:p>
        </p:txBody>
      </p:sp>
      <p:cxnSp>
        <p:nvCxnSpPr>
          <p:cNvPr id="270" name="Google Shape;120;p13"/>
          <p:cNvCxnSpPr>
            <a:endCxn id="269" idx="1"/>
          </p:cNvCxnSpPr>
          <p:nvPr/>
        </p:nvCxnSpPr>
        <p:spPr>
          <a:xfrm flipV="1">
            <a:off x="10786963" y="7084876"/>
            <a:ext cx="158262" cy="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" name="Google Shape;116;p13">
            <a:extLst>
              <a:ext uri="{FF2B5EF4-FFF2-40B4-BE49-F238E27FC236}">
                <a16:creationId xmlns:a16="http://schemas.microsoft.com/office/drawing/2014/main" id="{379895D0-DA4A-E21A-01D0-C1E0D5FC4502}"/>
              </a:ext>
            </a:extLst>
          </p:cNvPr>
          <p:cNvCxnSpPr/>
          <p:nvPr/>
        </p:nvCxnSpPr>
        <p:spPr>
          <a:xfrm>
            <a:off x="10670390" y="10721094"/>
            <a:ext cx="300574" cy="743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9" name="Google Shape;94;p13"/>
          <p:cNvSpPr/>
          <p:nvPr/>
        </p:nvSpPr>
        <p:spPr>
          <a:xfrm>
            <a:off x="10987412" y="915756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cxnSp>
        <p:nvCxnSpPr>
          <p:cNvPr id="282" name="Google Shape;120;p13"/>
          <p:cNvCxnSpPr>
            <a:stCxn id="308" idx="3"/>
            <a:endCxn id="279" idx="1"/>
          </p:cNvCxnSpPr>
          <p:nvPr/>
        </p:nvCxnSpPr>
        <p:spPr>
          <a:xfrm flipV="1">
            <a:off x="10829150" y="9296015"/>
            <a:ext cx="158262" cy="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3" name="Google Shape;204;p13"/>
          <p:cNvSpPr/>
          <p:nvPr/>
        </p:nvSpPr>
        <p:spPr>
          <a:xfrm>
            <a:off x="4584963" y="9503581"/>
            <a:ext cx="1080900" cy="177951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84" name="Google Shape;205;p13"/>
          <p:cNvSpPr/>
          <p:nvPr/>
        </p:nvSpPr>
        <p:spPr>
          <a:xfrm>
            <a:off x="6229262" y="9600022"/>
            <a:ext cx="4472457" cy="3535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frequent in the general population and/or exon is absent from biologically-relevant transcript(s)</a:t>
            </a:r>
            <a:endParaRPr dirty="0"/>
          </a:p>
        </p:txBody>
      </p:sp>
      <p:sp>
        <p:nvSpPr>
          <p:cNvPr id="285" name="Google Shape;208;p13"/>
          <p:cNvSpPr/>
          <p:nvPr/>
        </p:nvSpPr>
        <p:spPr>
          <a:xfrm>
            <a:off x="10979436" y="9618852"/>
            <a:ext cx="1281000" cy="33889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dirty="0"/>
          </a:p>
        </p:txBody>
      </p:sp>
      <p:cxnSp>
        <p:nvCxnSpPr>
          <p:cNvPr id="286" name="Google Shape;212;p13"/>
          <p:cNvCxnSpPr>
            <a:cxnSpLocks/>
            <a:endCxn id="284" idx="1"/>
          </p:cNvCxnSpPr>
          <p:nvPr/>
        </p:nvCxnSpPr>
        <p:spPr>
          <a:xfrm flipV="1">
            <a:off x="5665863" y="9776795"/>
            <a:ext cx="563399" cy="48412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" name="Google Shape;213;p13"/>
          <p:cNvCxnSpPr>
            <a:cxnSpLocks/>
          </p:cNvCxnSpPr>
          <p:nvPr/>
        </p:nvCxnSpPr>
        <p:spPr>
          <a:xfrm>
            <a:off x="5665863" y="1026104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16;p13"/>
          <p:cNvCxnSpPr>
            <a:cxnSpLocks/>
            <a:stCxn id="284" idx="3"/>
            <a:endCxn id="285" idx="1"/>
          </p:cNvCxnSpPr>
          <p:nvPr/>
        </p:nvCxnSpPr>
        <p:spPr>
          <a:xfrm>
            <a:off x="10701719" y="9776795"/>
            <a:ext cx="277717" cy="11504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1" name="Rectangle 290"/>
          <p:cNvSpPr/>
          <p:nvPr/>
        </p:nvSpPr>
        <p:spPr>
          <a:xfrm>
            <a:off x="6153275" y="9986071"/>
            <a:ext cx="6163750" cy="1346559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Google Shape;61;p13"/>
          <p:cNvSpPr/>
          <p:nvPr/>
        </p:nvSpPr>
        <p:spPr>
          <a:xfrm>
            <a:off x="4586311" y="8892196"/>
            <a:ext cx="1679576" cy="527236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</a:t>
            </a:r>
            <a:r>
              <a:rPr lang="en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66;p13">
            <a:extLst>
              <a:ext uri="{FF2B5EF4-FFF2-40B4-BE49-F238E27FC236}">
                <a16:creationId xmlns:a16="http://schemas.microsoft.com/office/drawing/2014/main" id="{4515BA00-A5F9-74BF-007E-7B91BE0988DB}"/>
              </a:ext>
            </a:extLst>
          </p:cNvPr>
          <p:cNvSpPr/>
          <p:nvPr/>
        </p:nvSpPr>
        <p:spPr>
          <a:xfrm>
            <a:off x="10985365" y="10148553"/>
            <a:ext cx="1281000" cy="26376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294" name="Google Shape;67;p13">
            <a:extLst>
              <a:ext uri="{FF2B5EF4-FFF2-40B4-BE49-F238E27FC236}">
                <a16:creationId xmlns:a16="http://schemas.microsoft.com/office/drawing/2014/main" id="{0977DFF7-7C07-23EB-50B5-1A0AE8471E08}"/>
              </a:ext>
            </a:extLst>
          </p:cNvPr>
          <p:cNvSpPr/>
          <p:nvPr/>
        </p:nvSpPr>
        <p:spPr>
          <a:xfrm>
            <a:off x="10985365" y="11014695"/>
            <a:ext cx="1281000" cy="31045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dirty="0"/>
          </a:p>
        </p:txBody>
      </p:sp>
      <p:sp>
        <p:nvSpPr>
          <p:cNvPr id="295" name="Google Shape;68;p13">
            <a:extLst>
              <a:ext uri="{FF2B5EF4-FFF2-40B4-BE49-F238E27FC236}">
                <a16:creationId xmlns:a16="http://schemas.microsoft.com/office/drawing/2014/main" id="{E633A64C-80B8-4F43-6FD7-35EE9CAEB29F}"/>
              </a:ext>
            </a:extLst>
          </p:cNvPr>
          <p:cNvSpPr/>
          <p:nvPr/>
        </p:nvSpPr>
        <p:spPr>
          <a:xfrm>
            <a:off x="6242015" y="10073081"/>
            <a:ext cx="1642250" cy="1113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69;p13">
            <a:extLst>
              <a:ext uri="{FF2B5EF4-FFF2-40B4-BE49-F238E27FC236}">
                <a16:creationId xmlns:a16="http://schemas.microsoft.com/office/drawing/2014/main" id="{627C18B1-9974-F8CA-8332-8E9AD8E8EF01}"/>
              </a:ext>
            </a:extLst>
          </p:cNvPr>
          <p:cNvSpPr/>
          <p:nvPr/>
        </p:nvSpPr>
        <p:spPr>
          <a:xfrm>
            <a:off x="7992240" y="10073575"/>
            <a:ext cx="846650" cy="8057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  <a:endParaRPr dirty="0"/>
          </a:p>
        </p:txBody>
      </p:sp>
      <p:sp>
        <p:nvSpPr>
          <p:cNvPr id="297" name="Google Shape;70;p13">
            <a:extLst>
              <a:ext uri="{FF2B5EF4-FFF2-40B4-BE49-F238E27FC236}">
                <a16:creationId xmlns:a16="http://schemas.microsoft.com/office/drawing/2014/main" id="{50D95E25-955D-5ED6-8DD3-90C63ADBAC54}"/>
              </a:ext>
            </a:extLst>
          </p:cNvPr>
          <p:cNvSpPr/>
          <p:nvPr/>
        </p:nvSpPr>
        <p:spPr>
          <a:xfrm>
            <a:off x="8027918" y="11094370"/>
            <a:ext cx="2650944" cy="1629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  <a:endParaRPr dirty="0"/>
          </a:p>
        </p:txBody>
      </p:sp>
      <p:cxnSp>
        <p:nvCxnSpPr>
          <p:cNvPr id="298" name="Google Shape;71;p13">
            <a:extLst>
              <a:ext uri="{FF2B5EF4-FFF2-40B4-BE49-F238E27FC236}">
                <a16:creationId xmlns:a16="http://schemas.microsoft.com/office/drawing/2014/main" id="{418DC92C-86A9-DA55-3163-0A664D686CC0}"/>
              </a:ext>
            </a:extLst>
          </p:cNvPr>
          <p:cNvCxnSpPr>
            <a:cxnSpLocks/>
            <a:stCxn id="295" idx="3"/>
            <a:endCxn id="296" idx="1"/>
          </p:cNvCxnSpPr>
          <p:nvPr/>
        </p:nvCxnSpPr>
        <p:spPr>
          <a:xfrm flipV="1">
            <a:off x="7884265" y="10476470"/>
            <a:ext cx="107975" cy="1533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9" name="Google Shape;72;p13">
            <a:extLst>
              <a:ext uri="{FF2B5EF4-FFF2-40B4-BE49-F238E27FC236}">
                <a16:creationId xmlns:a16="http://schemas.microsoft.com/office/drawing/2014/main" id="{5722DEAE-9686-E57E-FC3E-BBFCAEF94295}"/>
              </a:ext>
            </a:extLst>
          </p:cNvPr>
          <p:cNvCxnSpPr>
            <a:cxnSpLocks/>
            <a:stCxn id="295" idx="3"/>
            <a:endCxn id="297" idx="1"/>
          </p:cNvCxnSpPr>
          <p:nvPr/>
        </p:nvCxnSpPr>
        <p:spPr>
          <a:xfrm>
            <a:off x="7884265" y="10629857"/>
            <a:ext cx="143653" cy="54601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0" name="Google Shape;116;p13">
            <a:extLst>
              <a:ext uri="{FF2B5EF4-FFF2-40B4-BE49-F238E27FC236}">
                <a16:creationId xmlns:a16="http://schemas.microsoft.com/office/drawing/2014/main" id="{781A12C7-5A91-316E-0832-D9FFECF15E31}"/>
              </a:ext>
            </a:extLst>
          </p:cNvPr>
          <p:cNvCxnSpPr>
            <a:cxnSpLocks/>
            <a:stCxn id="302" idx="3"/>
            <a:endCxn id="293" idx="1"/>
          </p:cNvCxnSpPr>
          <p:nvPr/>
        </p:nvCxnSpPr>
        <p:spPr>
          <a:xfrm>
            <a:off x="10693263" y="10276749"/>
            <a:ext cx="292102" cy="368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" name="Google Shape;117;p13">
            <a:extLst>
              <a:ext uri="{FF2B5EF4-FFF2-40B4-BE49-F238E27FC236}">
                <a16:creationId xmlns:a16="http://schemas.microsoft.com/office/drawing/2014/main" id="{542BBCDD-535B-EE6E-ECA7-BC0AEFC5D3B0}"/>
              </a:ext>
            </a:extLst>
          </p:cNvPr>
          <p:cNvCxnSpPr>
            <a:cxnSpLocks/>
            <a:stCxn id="297" idx="3"/>
            <a:endCxn id="294" idx="1"/>
          </p:cNvCxnSpPr>
          <p:nvPr/>
        </p:nvCxnSpPr>
        <p:spPr>
          <a:xfrm flipV="1">
            <a:off x="10678862" y="11169922"/>
            <a:ext cx="306503" cy="594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2" name="Google Shape;69;p13">
            <a:extLst>
              <a:ext uri="{FF2B5EF4-FFF2-40B4-BE49-F238E27FC236}">
                <a16:creationId xmlns:a16="http://schemas.microsoft.com/office/drawing/2014/main" id="{2047F79E-3220-D070-B957-1A3028327AB0}"/>
              </a:ext>
            </a:extLst>
          </p:cNvPr>
          <p:cNvSpPr/>
          <p:nvPr/>
        </p:nvSpPr>
        <p:spPr>
          <a:xfrm>
            <a:off x="9002848" y="10021108"/>
            <a:ext cx="1690415" cy="5112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 pathogenic variant present within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deleted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Google Shape;67;p13">
            <a:extLst>
              <a:ext uri="{FF2B5EF4-FFF2-40B4-BE49-F238E27FC236}">
                <a16:creationId xmlns:a16="http://schemas.microsoft.com/office/drawing/2014/main" id="{C08E4867-5420-D1DA-F7C8-689928379893}"/>
              </a:ext>
            </a:extLst>
          </p:cNvPr>
          <p:cNvSpPr/>
          <p:nvPr/>
        </p:nvSpPr>
        <p:spPr>
          <a:xfrm>
            <a:off x="10985365" y="10525876"/>
            <a:ext cx="1281000" cy="32371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cxnSp>
        <p:nvCxnSpPr>
          <p:cNvPr id="304" name="Google Shape;115;p13">
            <a:extLst>
              <a:ext uri="{FF2B5EF4-FFF2-40B4-BE49-F238E27FC236}">
                <a16:creationId xmlns:a16="http://schemas.microsoft.com/office/drawing/2014/main" id="{A28CB9A2-EA50-627B-5827-552A1778AC15}"/>
              </a:ext>
            </a:extLst>
          </p:cNvPr>
          <p:cNvCxnSpPr>
            <a:cxnSpLocks/>
            <a:stCxn id="296" idx="3"/>
            <a:endCxn id="302" idx="1"/>
          </p:cNvCxnSpPr>
          <p:nvPr/>
        </p:nvCxnSpPr>
        <p:spPr>
          <a:xfrm flipV="1">
            <a:off x="8838890" y="10276749"/>
            <a:ext cx="163958" cy="19972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5" name="Google Shape;69;p13">
            <a:extLst>
              <a:ext uri="{FF2B5EF4-FFF2-40B4-BE49-F238E27FC236}">
                <a16:creationId xmlns:a16="http://schemas.microsoft.com/office/drawing/2014/main" id="{D8C2EDC2-B2AF-0CAB-F7ED-452B55C72824}"/>
              </a:ext>
            </a:extLst>
          </p:cNvPr>
          <p:cNvSpPr/>
          <p:nvPr/>
        </p:nvSpPr>
        <p:spPr>
          <a:xfrm>
            <a:off x="9004844" y="10557050"/>
            <a:ext cx="1679948" cy="4848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known pathogenic variants within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deleted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6" name="Google Shape;72;p13">
            <a:extLst>
              <a:ext uri="{FF2B5EF4-FFF2-40B4-BE49-F238E27FC236}">
                <a16:creationId xmlns:a16="http://schemas.microsoft.com/office/drawing/2014/main" id="{3F36851F-4BD6-6357-148E-073CFBDC85F2}"/>
              </a:ext>
            </a:extLst>
          </p:cNvPr>
          <p:cNvCxnSpPr>
            <a:cxnSpLocks/>
            <a:stCxn id="296" idx="3"/>
            <a:endCxn id="305" idx="1"/>
          </p:cNvCxnSpPr>
          <p:nvPr/>
        </p:nvCxnSpPr>
        <p:spPr>
          <a:xfrm>
            <a:off x="8838890" y="10476470"/>
            <a:ext cx="165954" cy="32299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7" name="Rectangle 306"/>
          <p:cNvSpPr/>
          <p:nvPr/>
        </p:nvSpPr>
        <p:spPr>
          <a:xfrm>
            <a:off x="6639887" y="8835260"/>
            <a:ext cx="4189263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Occurs within the </a:t>
            </a:r>
            <a:r>
              <a:rPr lang="en-US" sz="12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forkhead</a:t>
            </a:r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domain (amino acids </a:t>
            </a:r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270-367)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Rectangle 307"/>
          <p:cNvSpPr/>
          <p:nvPr/>
        </p:nvSpPr>
        <p:spPr>
          <a:xfrm>
            <a:off x="6635898" y="9157565"/>
            <a:ext cx="4193252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Occurs within the transactivation domain (amino acids 511-563)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9" name="Google Shape;105;p13"/>
          <p:cNvCxnSpPr>
            <a:cxnSpLocks/>
            <a:endCxn id="307" idx="1"/>
          </p:cNvCxnSpPr>
          <p:nvPr/>
        </p:nvCxnSpPr>
        <p:spPr>
          <a:xfrm flipV="1">
            <a:off x="6258943" y="8973760"/>
            <a:ext cx="380944" cy="18668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" name="Google Shape;105;p13"/>
          <p:cNvCxnSpPr>
            <a:cxnSpLocks/>
            <a:endCxn id="308" idx="1"/>
          </p:cNvCxnSpPr>
          <p:nvPr/>
        </p:nvCxnSpPr>
        <p:spPr>
          <a:xfrm>
            <a:off x="6258943" y="9160440"/>
            <a:ext cx="376955" cy="1356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1" name="Google Shape;94;p13"/>
          <p:cNvSpPr/>
          <p:nvPr/>
        </p:nvSpPr>
        <p:spPr>
          <a:xfrm>
            <a:off x="10993838" y="883415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dirty="0"/>
          </a:p>
        </p:txBody>
      </p:sp>
      <p:cxnSp>
        <p:nvCxnSpPr>
          <p:cNvPr id="312" name="Google Shape;120;p13"/>
          <p:cNvCxnSpPr>
            <a:endCxn id="311" idx="1"/>
          </p:cNvCxnSpPr>
          <p:nvPr/>
        </p:nvCxnSpPr>
        <p:spPr>
          <a:xfrm flipV="1">
            <a:off x="10835576" y="8972603"/>
            <a:ext cx="158262" cy="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3" name="Google Shape;94;p13"/>
          <p:cNvSpPr/>
          <p:nvPr/>
        </p:nvSpPr>
        <p:spPr>
          <a:xfrm>
            <a:off x="10987412" y="1172012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cxnSp>
        <p:nvCxnSpPr>
          <p:cNvPr id="314" name="Google Shape;120;p13"/>
          <p:cNvCxnSpPr>
            <a:stCxn id="317" idx="3"/>
            <a:endCxn id="313" idx="1"/>
          </p:cNvCxnSpPr>
          <p:nvPr/>
        </p:nvCxnSpPr>
        <p:spPr>
          <a:xfrm flipV="1">
            <a:off x="10829150" y="11858570"/>
            <a:ext cx="158262" cy="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5" name="Google Shape;61;p13"/>
          <p:cNvSpPr/>
          <p:nvPr/>
        </p:nvSpPr>
        <p:spPr>
          <a:xfrm>
            <a:off x="4586311" y="11454751"/>
            <a:ext cx="1679576" cy="527236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</a:t>
            </a:r>
            <a:r>
              <a:rPr lang="en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Rectangle 315"/>
          <p:cNvSpPr/>
          <p:nvPr/>
        </p:nvSpPr>
        <p:spPr>
          <a:xfrm>
            <a:off x="6639887" y="11397815"/>
            <a:ext cx="4189263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Occurs within the </a:t>
            </a:r>
            <a:r>
              <a:rPr lang="en-US" sz="12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forkhead</a:t>
            </a:r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domain (amino acids </a:t>
            </a:r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270-367)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Rectangle 316"/>
          <p:cNvSpPr/>
          <p:nvPr/>
        </p:nvSpPr>
        <p:spPr>
          <a:xfrm>
            <a:off x="6635898" y="11720120"/>
            <a:ext cx="4193252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Occurs within the transactivation domain (amino acids 511-563)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8" name="Google Shape;105;p13"/>
          <p:cNvCxnSpPr>
            <a:cxnSpLocks/>
            <a:endCxn id="316" idx="1"/>
          </p:cNvCxnSpPr>
          <p:nvPr/>
        </p:nvCxnSpPr>
        <p:spPr>
          <a:xfrm flipV="1">
            <a:off x="6258943" y="11536315"/>
            <a:ext cx="380944" cy="18668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9" name="Google Shape;105;p13"/>
          <p:cNvCxnSpPr>
            <a:cxnSpLocks/>
            <a:endCxn id="317" idx="1"/>
          </p:cNvCxnSpPr>
          <p:nvPr/>
        </p:nvCxnSpPr>
        <p:spPr>
          <a:xfrm>
            <a:off x="6258943" y="11722995"/>
            <a:ext cx="376955" cy="1356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0" name="Google Shape;94;p13"/>
          <p:cNvSpPr/>
          <p:nvPr/>
        </p:nvSpPr>
        <p:spPr>
          <a:xfrm>
            <a:off x="10993838" y="1139670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dirty="0"/>
          </a:p>
        </p:txBody>
      </p:sp>
      <p:cxnSp>
        <p:nvCxnSpPr>
          <p:cNvPr id="321" name="Google Shape;120;p13"/>
          <p:cNvCxnSpPr>
            <a:endCxn id="320" idx="1"/>
          </p:cNvCxnSpPr>
          <p:nvPr/>
        </p:nvCxnSpPr>
        <p:spPr>
          <a:xfrm flipV="1">
            <a:off x="10835576" y="11535158"/>
            <a:ext cx="158262" cy="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7" name="Google Shape;94;p13"/>
          <p:cNvSpPr/>
          <p:nvPr/>
        </p:nvSpPr>
        <p:spPr>
          <a:xfrm>
            <a:off x="10958488" y="1354549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cxnSp>
        <p:nvCxnSpPr>
          <p:cNvPr id="338" name="Google Shape;120;p13"/>
          <p:cNvCxnSpPr>
            <a:stCxn id="341" idx="3"/>
            <a:endCxn id="337" idx="1"/>
          </p:cNvCxnSpPr>
          <p:nvPr/>
        </p:nvCxnSpPr>
        <p:spPr>
          <a:xfrm flipV="1">
            <a:off x="10800226" y="1492999"/>
            <a:ext cx="158262" cy="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9" name="Google Shape;61;p13"/>
          <p:cNvSpPr/>
          <p:nvPr/>
        </p:nvSpPr>
        <p:spPr>
          <a:xfrm>
            <a:off x="4557387" y="1089180"/>
            <a:ext cx="1679576" cy="527236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</a:t>
            </a:r>
            <a:r>
              <a:rPr lang="en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Rectangle 339"/>
          <p:cNvSpPr/>
          <p:nvPr/>
        </p:nvSpPr>
        <p:spPr>
          <a:xfrm>
            <a:off x="6610963" y="1032244"/>
            <a:ext cx="4189263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Occurs within the </a:t>
            </a:r>
            <a:r>
              <a:rPr lang="en-US" sz="12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forkhead</a:t>
            </a:r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domain (amino acids </a:t>
            </a:r>
            <a:r>
              <a:rPr lang="en-US" sz="1200" dirty="0" smtClean="0">
                <a:latin typeface="Times New Roman"/>
                <a:ea typeface="Times New Roman"/>
                <a:cs typeface="Times New Roman"/>
                <a:sym typeface="Times New Roman"/>
              </a:rPr>
              <a:t>270-367)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Rectangle 340"/>
          <p:cNvSpPr/>
          <p:nvPr/>
        </p:nvSpPr>
        <p:spPr>
          <a:xfrm>
            <a:off x="6606974" y="1354549"/>
            <a:ext cx="4193252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Occurs within the transactivation domain (amino acids 511-563)</a:t>
            </a: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2" name="Google Shape;105;p13"/>
          <p:cNvCxnSpPr>
            <a:cxnSpLocks/>
            <a:endCxn id="340" idx="1"/>
          </p:cNvCxnSpPr>
          <p:nvPr/>
        </p:nvCxnSpPr>
        <p:spPr>
          <a:xfrm flipV="1">
            <a:off x="6230019" y="1170744"/>
            <a:ext cx="380944" cy="18668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3" name="Google Shape;105;p13"/>
          <p:cNvCxnSpPr>
            <a:cxnSpLocks/>
            <a:endCxn id="341" idx="1"/>
          </p:cNvCxnSpPr>
          <p:nvPr/>
        </p:nvCxnSpPr>
        <p:spPr>
          <a:xfrm>
            <a:off x="6230019" y="1357424"/>
            <a:ext cx="376955" cy="1356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4" name="Google Shape;94;p13"/>
          <p:cNvSpPr/>
          <p:nvPr/>
        </p:nvSpPr>
        <p:spPr>
          <a:xfrm>
            <a:off x="10964914" y="1031137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dirty="0"/>
          </a:p>
        </p:txBody>
      </p:sp>
      <p:cxnSp>
        <p:nvCxnSpPr>
          <p:cNvPr id="345" name="Google Shape;120;p13"/>
          <p:cNvCxnSpPr>
            <a:endCxn id="344" idx="1"/>
          </p:cNvCxnSpPr>
          <p:nvPr/>
        </p:nvCxnSpPr>
        <p:spPr>
          <a:xfrm flipV="1">
            <a:off x="10806652" y="1169587"/>
            <a:ext cx="158262" cy="5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2E98927948A45BD855BFC16A16160" ma:contentTypeVersion="12" ma:contentTypeDescription="Create a new document." ma:contentTypeScope="" ma:versionID="476ccf3bfbf92cba38cb8612d357bb08">
  <xsd:schema xmlns:xsd="http://www.w3.org/2001/XMLSchema" xmlns:xs="http://www.w3.org/2001/XMLSchema" xmlns:p="http://schemas.microsoft.com/office/2006/metadata/properties" xmlns:ns3="5c4a09cb-a38e-4d41-a65e-952036e753c6" targetNamespace="http://schemas.microsoft.com/office/2006/metadata/properties" ma:root="true" ma:fieldsID="6346a7f79c11eea045580b82dd9521c4" ns3:_="">
    <xsd:import namespace="5c4a09cb-a38e-4d41-a65e-952036e753c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4a09cb-a38e-4d41-a65e-952036e75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03DA61-736F-4F66-8E91-EEB4511F17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FC3701-C4D9-4974-8889-6E7A20A2BBA7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5c4a09cb-a38e-4d41-a65e-952036e753c6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A0BCF54-8EAA-419B-8987-53176DB461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4a09cb-a38e-4d41-a65e-952036e753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773</Words>
  <Application>Microsoft Office PowerPoint</Application>
  <PresentationFormat>Custom</PresentationFormat>
  <Paragraphs>113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Justyne</dc:creator>
  <cp:lastModifiedBy>Justyne Ross</cp:lastModifiedBy>
  <cp:revision>13</cp:revision>
  <dcterms:modified xsi:type="dcterms:W3CDTF">2023-08-01T18:20:57Z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0x0101007442E98927948A45BD855BFC16A16160</vt:lpwstr>
  </property>
</Properties>
</file>