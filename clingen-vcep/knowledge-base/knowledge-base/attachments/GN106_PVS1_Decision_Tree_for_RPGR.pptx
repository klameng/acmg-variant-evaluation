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17"/>
  </p:notesMasterIdLst>
  <p:sldIdLst>
    <p:sldId id="262" r:id="rId2"/>
    <p:sldId id="278" r:id="rId3"/>
    <p:sldId id="265" r:id="rId4"/>
    <p:sldId id="266" r:id="rId5"/>
    <p:sldId id="279" r:id="rId6"/>
    <p:sldId id="280" r:id="rId7"/>
    <p:sldId id="281" r:id="rId8"/>
    <p:sldId id="260" r:id="rId9"/>
    <p:sldId id="272" r:id="rId10"/>
    <p:sldId id="283" r:id="rId11"/>
    <p:sldId id="282" r:id="rId12"/>
    <p:sldId id="273" r:id="rId13"/>
    <p:sldId id="274" r:id="rId14"/>
    <p:sldId id="277" r:id="rId15"/>
    <p:sldId id="276" r:id="rId16"/>
  </p:sldIdLst>
  <p:sldSz cx="12344400" cy="150876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872">
          <p15:clr>
            <a:srgbClr val="A4A3A4"/>
          </p15:clr>
        </p15:guide>
        <p15:guide id="2" pos="3888">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9A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741"/>
    <p:restoredTop sz="97450"/>
  </p:normalViewPr>
  <p:slideViewPr>
    <p:cSldViewPr snapToGrid="0">
      <p:cViewPr>
        <p:scale>
          <a:sx n="101" d="100"/>
          <a:sy n="101" d="100"/>
        </p:scale>
        <p:origin x="456" y="-2600"/>
      </p:cViewPr>
      <p:guideLst>
        <p:guide orient="horz" pos="1872"/>
        <p:guide pos="3888"/>
      </p:guideLst>
    </p:cSldViewPr>
  </p:slideViewPr>
  <p:notesTextViewPr>
    <p:cViewPr>
      <p:scale>
        <a:sx n="1" d="1"/>
        <a:sy n="1" d="1"/>
      </p:scale>
      <p:origin x="0" y="0"/>
    </p:cViewPr>
  </p:notesTextViewPr>
  <p:sorterViewPr>
    <p:cViewPr>
      <p:scale>
        <a:sx n="80" d="100"/>
        <a:sy n="8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2026544" y="685800"/>
            <a:ext cx="28056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68082155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g1ccc49f7bb7_0_0:notes"/>
          <p:cNvSpPr>
            <a:spLocks noGrp="1" noRot="1" noChangeAspect="1"/>
          </p:cNvSpPr>
          <p:nvPr>
            <p:ph type="sldImg" idx="2"/>
          </p:nvPr>
        </p:nvSpPr>
        <p:spPr>
          <a:xfrm>
            <a:off x="2027238" y="685800"/>
            <a:ext cx="28051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g1ccc49f7bb7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p1:notes"/>
          <p:cNvSpPr>
            <a:spLocks noGrp="1" noRot="1" noChangeAspect="1"/>
          </p:cNvSpPr>
          <p:nvPr>
            <p:ph type="sldImg" idx="2"/>
          </p:nvPr>
        </p:nvSpPr>
        <p:spPr>
          <a:xfrm>
            <a:off x="2027238" y="685800"/>
            <a:ext cx="2805112"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8" name="Google Shape;58;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
              <a:t>PLEASE NOTE – highlighted areas are where the VCEP should provide guidance for each gene under specification. </a:t>
            </a:r>
            <a:endParaRPr/>
          </a:p>
          <a:p>
            <a:pPr marL="0" lvl="0" indent="0" algn="l" rtl="0">
              <a:lnSpc>
                <a:spcPct val="100000"/>
              </a:lnSpc>
              <a:spcBef>
                <a:spcPts val="0"/>
              </a:spcBef>
              <a:spcAft>
                <a:spcPts val="0"/>
              </a:spcAft>
              <a:buSzPts val="1100"/>
              <a:buNone/>
            </a:pPr>
            <a:endParaRPr/>
          </a:p>
          <a:p>
            <a:pPr marL="0" lvl="0" indent="0" algn="l" rtl="0">
              <a:lnSpc>
                <a:spcPct val="100000"/>
              </a:lnSpc>
              <a:spcBef>
                <a:spcPts val="0"/>
              </a:spcBef>
              <a:spcAft>
                <a:spcPts val="0"/>
              </a:spcAft>
              <a:buSzPts val="1100"/>
              <a:buNone/>
            </a:pPr>
            <a:r>
              <a:rPr lang="en"/>
              <a:t>Weights may be adjusted if appropriate (e.g start codon)</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2027238" y="685800"/>
            <a:ext cx="28051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PLEASE NOTE - Download as a Powerpoint or make a copy of this slide and save elsewhere - this is a template for general use.</a:t>
            </a:r>
            <a:endParaRPr/>
          </a:p>
        </p:txBody>
      </p:sp>
    </p:spTree>
    <p:extLst>
      <p:ext uri="{BB962C8B-B14F-4D97-AF65-F5344CB8AC3E}">
        <p14:creationId xmlns:p14="http://schemas.microsoft.com/office/powerpoint/2010/main" val="152459589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a:extLst>
            <a:ext uri="{FF2B5EF4-FFF2-40B4-BE49-F238E27FC236}">
              <a16:creationId xmlns:a16="http://schemas.microsoft.com/office/drawing/2014/main" id="{1D35D927-802A-DEAF-295C-87E8934F0D9D}"/>
            </a:ext>
          </a:extLst>
        </p:cNvPr>
        <p:cNvGrpSpPr/>
        <p:nvPr/>
      </p:nvGrpSpPr>
      <p:grpSpPr>
        <a:xfrm>
          <a:off x="0" y="0"/>
          <a:ext cx="0" cy="0"/>
          <a:chOff x="0" y="0"/>
          <a:chExt cx="0" cy="0"/>
        </a:xfrm>
      </p:grpSpPr>
      <p:sp>
        <p:nvSpPr>
          <p:cNvPr id="57" name="Google Shape;57;p1:notes">
            <a:extLst>
              <a:ext uri="{FF2B5EF4-FFF2-40B4-BE49-F238E27FC236}">
                <a16:creationId xmlns:a16="http://schemas.microsoft.com/office/drawing/2014/main" id="{3E291353-C465-3890-E8DF-F92B6F6B85B3}"/>
              </a:ext>
            </a:extLst>
          </p:cNvPr>
          <p:cNvSpPr>
            <a:spLocks noGrp="1" noRot="1" noChangeAspect="1"/>
          </p:cNvSpPr>
          <p:nvPr>
            <p:ph type="sldImg" idx="2"/>
          </p:nvPr>
        </p:nvSpPr>
        <p:spPr>
          <a:xfrm>
            <a:off x="2027238" y="685800"/>
            <a:ext cx="2805112"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8" name="Google Shape;58;p1:notes">
            <a:extLst>
              <a:ext uri="{FF2B5EF4-FFF2-40B4-BE49-F238E27FC236}">
                <a16:creationId xmlns:a16="http://schemas.microsoft.com/office/drawing/2014/main" id="{2712EE12-E8BA-3389-0F66-52AA71119CE7}"/>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US" dirty="0"/>
              <a:t>Use this template for splicing </a:t>
            </a:r>
            <a:endParaRPr dirty="0"/>
          </a:p>
        </p:txBody>
      </p:sp>
    </p:spTree>
    <p:extLst>
      <p:ext uri="{BB962C8B-B14F-4D97-AF65-F5344CB8AC3E}">
        <p14:creationId xmlns:p14="http://schemas.microsoft.com/office/powerpoint/2010/main" val="192850701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82503774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027238" y="685800"/>
            <a:ext cx="2805112" cy="34290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dirty="0"/>
              <a:t>Figure 1 Taken from SVI recommendations for PVS1 interpretation (</a:t>
            </a:r>
            <a:r>
              <a:rPr lang="en-US" dirty="0" err="1"/>
              <a:t>Tayoun</a:t>
            </a:r>
            <a:r>
              <a:rPr lang="en-US" dirty="0"/>
              <a:t> et al., 2018). Legend for this figure includes this text: PVS1 decision tree. Refer to text for detailed description. (a) This criterion should not be applied in combination with in silico splicing predictions (PP3). Additionally, splice site variants must have no detectable nearby (+/- 20nts) strong consensus splice sequence that may constitute in-frame splicing. (b) NMD prediction based on the premature termination codon not occurring in the 3’ most exon or in the 3’ most 50bp of the penultimate exon</a:t>
            </a:r>
            <a:r>
              <a:rPr lang="en-US" sz="1100" dirty="0">
                <a:solidFill>
                  <a:srgbClr val="009ACC"/>
                </a:solidFill>
                <a:latin typeface="Times New Roman" panose="02020603050405020304" pitchFamily="18" charset="0"/>
                <a:cs typeface="Times New Roman" panose="02020603050405020304" pitchFamily="18" charset="0"/>
              </a:rPr>
              <a:t>. </a:t>
            </a:r>
            <a:r>
              <a:rPr lang="en-US" dirty="0">
                <a:solidFill>
                  <a:srgbClr val="009ACC"/>
                </a:solidFill>
              </a:rPr>
              <a:t>(c) Relevant domain indicated by experimental evidence proving a critical role of the domain and/or presence of non-truncating pathogenic variants in the region. (d) For a full gene deletion of a known </a:t>
            </a:r>
            <a:r>
              <a:rPr lang="en-US" dirty="0" err="1">
                <a:solidFill>
                  <a:srgbClr val="009ACC"/>
                </a:solidFill>
              </a:rPr>
              <a:t>haploinsufficient</a:t>
            </a:r>
            <a:r>
              <a:rPr lang="en-US" dirty="0">
                <a:solidFill>
                  <a:srgbClr val="009ACC"/>
                </a:solidFill>
              </a:rPr>
              <a:t> gene, a pathogenic classification is warranted (in the absence of conflicting data) even though application of PVS1 alone would not reach a pathogenic classification using the combining rules in Richards et al., (2017). NMD, nonsense-mediated decay; </a:t>
            </a:r>
            <a:r>
              <a:rPr lang="en-US" dirty="0" err="1">
                <a:solidFill>
                  <a:srgbClr val="009ACC"/>
                </a:solidFill>
              </a:rPr>
              <a:t>LoF</a:t>
            </a:r>
            <a:r>
              <a:rPr lang="en-US" dirty="0">
                <a:solidFill>
                  <a:srgbClr val="009ACC"/>
                </a:solidFill>
              </a:rPr>
              <a:t>, loss of function.</a:t>
            </a:r>
            <a:endParaRPr lang="en-US" baseline="30000" dirty="0">
              <a:solidFill>
                <a:srgbClr val="009ACC"/>
              </a:solidFill>
            </a:endParaRPr>
          </a:p>
          <a:p>
            <a:endParaRPr lang="en-US" dirty="0"/>
          </a:p>
          <a:p>
            <a:r>
              <a:rPr lang="en-US" dirty="0"/>
              <a:t>Additional footnotes which contain genomic coordinates:</a:t>
            </a:r>
          </a:p>
          <a:p>
            <a:r>
              <a:rPr lang="en-US" b="1" dirty="0"/>
              <a:t>e. </a:t>
            </a:r>
            <a:r>
              <a:rPr lang="en-US" sz="1100" dirty="0">
                <a:latin typeface="Times New Roman" panose="02020603050405020304" pitchFamily="18" charset="0"/>
                <a:ea typeface="Times New Roman"/>
                <a:cs typeface="Times New Roman" panose="02020603050405020304" pitchFamily="18" charset="0"/>
                <a:sym typeface="Times New Roman"/>
              </a:rPr>
              <a:t>V</a:t>
            </a:r>
            <a:r>
              <a:rPr lang="en-US" sz="1100" b="0" i="0" u="none" strike="noStrike" cap="none" dirty="0">
                <a:solidFill>
                  <a:srgbClr val="000000"/>
                </a:solidFill>
                <a:latin typeface="Times New Roman" panose="02020603050405020304" pitchFamily="18" charset="0"/>
                <a:ea typeface="Times New Roman"/>
                <a:cs typeface="Times New Roman" panose="02020603050405020304" pitchFamily="18" charset="0"/>
                <a:sym typeface="Times New Roman"/>
              </a:rPr>
              <a:t>ariants that </a:t>
            </a:r>
            <a:r>
              <a:rPr lang="en-US" sz="1100" b="0" i="0" u="none" strike="noStrike" cap="none" dirty="0">
                <a:solidFill>
                  <a:srgbClr val="009ACC"/>
                </a:solidFill>
                <a:latin typeface="Times New Roman" panose="02020603050405020304" pitchFamily="18" charset="0"/>
                <a:ea typeface="Times New Roman"/>
                <a:cs typeface="Times New Roman" panose="02020603050405020304" pitchFamily="18" charset="0"/>
                <a:sym typeface="Times New Roman"/>
              </a:rPr>
              <a:t>terminate in codons 2-619 </a:t>
            </a:r>
            <a:r>
              <a:rPr lang="en-US" sz="1100" dirty="0">
                <a:solidFill>
                  <a:srgbClr val="009ACC"/>
                </a:solidFill>
                <a:latin typeface="Times New Roman" panose="02020603050405020304" pitchFamily="18" charset="0"/>
                <a:ea typeface="Times New Roman"/>
                <a:cs typeface="Times New Roman" panose="02020603050405020304" pitchFamily="18" charset="0"/>
                <a:sym typeface="Times New Roman"/>
              </a:rPr>
              <a:t>in transcripts </a:t>
            </a:r>
            <a:r>
              <a:rPr lang="en-US" sz="1100" dirty="0">
                <a:solidFill>
                  <a:srgbClr val="009ACC"/>
                </a:solidFill>
                <a:latin typeface="Times New Roman" panose="02020603050405020304" pitchFamily="18" charset="0"/>
                <a:cs typeface="Times New Roman" panose="02020603050405020304" pitchFamily="18" charset="0"/>
              </a:rPr>
              <a:t>NM_001034853.2</a:t>
            </a:r>
            <a:r>
              <a:rPr lang="en-US" sz="1100" dirty="0">
                <a:solidFill>
                  <a:srgbClr val="009ACC"/>
                </a:solidFill>
                <a:latin typeface="Times New Roman" panose="02020603050405020304" pitchFamily="18" charset="0"/>
                <a:ea typeface="Times New Roman"/>
                <a:cs typeface="Times New Roman" panose="02020603050405020304" pitchFamily="18" charset="0"/>
                <a:sym typeface="Times New Roman"/>
              </a:rPr>
              <a:t> and </a:t>
            </a:r>
            <a:r>
              <a:rPr lang="en-US" sz="1100" dirty="0">
                <a:solidFill>
                  <a:srgbClr val="009ACC"/>
                </a:solidFill>
                <a:latin typeface="Times New Roman" panose="02020603050405020304" pitchFamily="18" charset="0"/>
                <a:cs typeface="Times New Roman" panose="02020603050405020304" pitchFamily="18" charset="0"/>
              </a:rPr>
              <a:t>NM_00328.3 </a:t>
            </a:r>
            <a:r>
              <a:rPr lang="en-US" sz="1100" b="0" i="0" u="none" strike="noStrike" cap="none" dirty="0">
                <a:solidFill>
                  <a:srgbClr val="009ACC"/>
                </a:solidFill>
                <a:latin typeface="Times New Roman" panose="02020603050405020304" pitchFamily="18" charset="0"/>
                <a:ea typeface="Times New Roman"/>
                <a:cs typeface="Times New Roman" panose="02020603050405020304" pitchFamily="18" charset="0"/>
                <a:sym typeface="Times New Roman"/>
              </a:rPr>
              <a:t>(</a:t>
            </a:r>
            <a:r>
              <a:rPr lang="en-US" sz="1100" dirty="0">
                <a:solidFill>
                  <a:srgbClr val="009ACC"/>
                </a:solidFill>
                <a:latin typeface="Times New Roman" panose="02020603050405020304" pitchFamily="18" charset="0"/>
                <a:ea typeface="Times New Roman"/>
                <a:cs typeface="Times New Roman" panose="02020603050405020304" pitchFamily="18" charset="0"/>
                <a:sym typeface="Times New Roman"/>
              </a:rPr>
              <a:t>before transcript base 1859) (genomic regions 38,287,910 to 38,327,367) </a:t>
            </a:r>
            <a:r>
              <a:rPr lang="en-US" sz="1100" dirty="0">
                <a:latin typeface="Times New Roman" panose="02020603050405020304" pitchFamily="18" charset="0"/>
                <a:ea typeface="Times New Roman"/>
                <a:cs typeface="Times New Roman" panose="02020603050405020304" pitchFamily="18" charset="0"/>
                <a:sym typeface="Times New Roman"/>
              </a:rPr>
              <a:t>are expected to produce transcripts that will undergo NMD</a:t>
            </a:r>
            <a:endParaRPr lang="en-US" dirty="0">
              <a:latin typeface="Times New Roman" panose="02020603050405020304" pitchFamily="18" charset="0"/>
              <a:cs typeface="Times New Roman" panose="02020603050405020304" pitchFamily="18" charset="0"/>
            </a:endParaRPr>
          </a:p>
          <a:p>
            <a:r>
              <a:rPr lang="en-US" sz="1100" b="1" dirty="0">
                <a:solidFill>
                  <a:srgbClr val="000000"/>
                </a:solidFill>
                <a:latin typeface="Times New Roman" panose="02020603050405020304" pitchFamily="18" charset="0"/>
                <a:ea typeface="Times New Roman"/>
                <a:cs typeface="Times New Roman" panose="02020603050405020304" pitchFamily="18" charset="0"/>
                <a:sym typeface="Times New Roman"/>
              </a:rPr>
              <a:t>f. </a:t>
            </a:r>
            <a:r>
              <a:rPr lang="en-US" sz="1100" dirty="0">
                <a:latin typeface="Times New Roman" panose="02020603050405020304" pitchFamily="18" charset="0"/>
                <a:ea typeface="Times New Roman"/>
                <a:cs typeface="Times New Roman" panose="02020603050405020304" pitchFamily="18" charset="0"/>
                <a:sym typeface="Times New Roman"/>
              </a:rPr>
              <a:t>V</a:t>
            </a:r>
            <a:r>
              <a:rPr lang="en-US" sz="1100" b="0" i="0" u="none" strike="noStrike" cap="none" dirty="0">
                <a:solidFill>
                  <a:srgbClr val="000000"/>
                </a:solidFill>
                <a:latin typeface="Times New Roman" panose="02020603050405020304" pitchFamily="18" charset="0"/>
                <a:ea typeface="Times New Roman"/>
                <a:cs typeface="Times New Roman" panose="02020603050405020304" pitchFamily="18" charset="0"/>
                <a:sym typeface="Times New Roman"/>
              </a:rPr>
              <a:t>ariants that </a:t>
            </a:r>
            <a:r>
              <a:rPr lang="en-US" sz="1100" b="0" i="0" u="none" strike="noStrike" cap="none" dirty="0">
                <a:solidFill>
                  <a:srgbClr val="009ACC"/>
                </a:solidFill>
                <a:latin typeface="Times New Roman" panose="02020603050405020304" pitchFamily="18" charset="0"/>
                <a:ea typeface="Times New Roman"/>
                <a:cs typeface="Times New Roman" panose="02020603050405020304" pitchFamily="18" charset="0"/>
                <a:sym typeface="Times New Roman"/>
              </a:rPr>
              <a:t>terminate in codons 619-783 </a:t>
            </a:r>
            <a:r>
              <a:rPr lang="en-US" sz="1100" dirty="0">
                <a:solidFill>
                  <a:srgbClr val="009ACC"/>
                </a:solidFill>
                <a:latin typeface="Times New Roman" panose="02020603050405020304" pitchFamily="18" charset="0"/>
                <a:ea typeface="Times New Roman"/>
                <a:cs typeface="Times New Roman" panose="02020603050405020304" pitchFamily="18" charset="0"/>
                <a:sym typeface="Times New Roman"/>
              </a:rPr>
              <a:t>in transcript </a:t>
            </a:r>
            <a:r>
              <a:rPr lang="en-US" sz="1100" dirty="0">
                <a:solidFill>
                  <a:srgbClr val="009ACC"/>
                </a:solidFill>
                <a:latin typeface="Times New Roman" panose="02020603050405020304" pitchFamily="18" charset="0"/>
                <a:cs typeface="Times New Roman" panose="02020603050405020304" pitchFamily="18" charset="0"/>
              </a:rPr>
              <a:t>NM_00328.3 </a:t>
            </a:r>
            <a:r>
              <a:rPr lang="en-US" sz="1100" b="0" i="0" u="none" strike="noStrike" cap="none" dirty="0">
                <a:solidFill>
                  <a:srgbClr val="009ACC"/>
                </a:solidFill>
                <a:latin typeface="Times New Roman" panose="02020603050405020304" pitchFamily="18" charset="0"/>
                <a:ea typeface="Times New Roman"/>
                <a:cs typeface="Times New Roman" panose="02020603050405020304" pitchFamily="18" charset="0"/>
                <a:sym typeface="Times New Roman"/>
              </a:rPr>
              <a:t>(</a:t>
            </a:r>
            <a:r>
              <a:rPr lang="en-US" sz="1100" dirty="0">
                <a:solidFill>
                  <a:srgbClr val="009ACC"/>
                </a:solidFill>
                <a:latin typeface="Times New Roman" panose="02020603050405020304" pitchFamily="18" charset="0"/>
                <a:ea typeface="Times New Roman"/>
                <a:cs typeface="Times New Roman" panose="02020603050405020304" pitchFamily="18" charset="0"/>
                <a:sym typeface="Times New Roman"/>
              </a:rPr>
              <a:t>before transcript base 2351) (hg38 genomic regions 38,273,435 to 38,287,910) </a:t>
            </a:r>
            <a:r>
              <a:rPr lang="en-US" sz="1100" dirty="0">
                <a:latin typeface="Times New Roman" panose="02020603050405020304" pitchFamily="18" charset="0"/>
                <a:ea typeface="Times New Roman"/>
                <a:cs typeface="Times New Roman" panose="02020603050405020304" pitchFamily="18" charset="0"/>
                <a:sym typeface="Times New Roman"/>
              </a:rPr>
              <a:t>are expected to produce transcripts that will undergo NMD</a:t>
            </a:r>
            <a:endParaRPr lang="en-US" sz="1100" dirty="0">
              <a:solidFill>
                <a:srgbClr val="000000"/>
              </a:solidFill>
              <a:latin typeface="Times New Roman" panose="02020603050405020304" pitchFamily="18" charset="0"/>
              <a:ea typeface="Times New Roman"/>
              <a:cs typeface="Times New Roman" panose="02020603050405020304" pitchFamily="18" charset="0"/>
              <a:sym typeface="Times New Roman"/>
            </a:endParaRPr>
          </a:p>
          <a:p>
            <a:r>
              <a:rPr lang="en-US" sz="1100" b="1" dirty="0">
                <a:solidFill>
                  <a:srgbClr val="000000"/>
                </a:solidFill>
                <a:latin typeface="Times New Roman" panose="02020603050405020304" pitchFamily="18" charset="0"/>
                <a:ea typeface="Times New Roman"/>
                <a:cs typeface="Times New Roman" panose="02020603050405020304" pitchFamily="18" charset="0"/>
                <a:sym typeface="Times New Roman"/>
              </a:rPr>
              <a:t>g. </a:t>
            </a:r>
            <a:r>
              <a:rPr lang="en-US" sz="1100" dirty="0">
                <a:solidFill>
                  <a:srgbClr val="000000"/>
                </a:solidFill>
                <a:latin typeface="Times New Roman" panose="02020603050405020304" pitchFamily="18" charset="0"/>
                <a:ea typeface="Times New Roman"/>
                <a:cs typeface="Times New Roman" panose="02020603050405020304" pitchFamily="18" charset="0"/>
                <a:sym typeface="Times New Roman"/>
              </a:rPr>
              <a:t>Variants </a:t>
            </a:r>
            <a:r>
              <a:rPr lang="en-US" sz="1100" dirty="0">
                <a:latin typeface="Times New Roman" panose="02020603050405020304" pitchFamily="18" charset="0"/>
                <a:ea typeface="Times New Roman"/>
                <a:cs typeface="Times New Roman" panose="02020603050405020304" pitchFamily="18" charset="0"/>
                <a:sym typeface="Times New Roman"/>
              </a:rPr>
              <a:t>in </a:t>
            </a:r>
            <a:r>
              <a:rPr lang="en-US" sz="1100" dirty="0">
                <a:solidFill>
                  <a:srgbClr val="009ACC"/>
                </a:solidFill>
                <a:latin typeface="Times New Roman" panose="02020603050405020304" pitchFamily="18" charset="0"/>
                <a:ea typeface="Times New Roman"/>
                <a:cs typeface="Times New Roman" panose="02020603050405020304" pitchFamily="18" charset="0"/>
                <a:sym typeface="Times New Roman"/>
              </a:rPr>
              <a:t>transcript </a:t>
            </a:r>
            <a:r>
              <a:rPr lang="en-US" sz="1100" dirty="0">
                <a:solidFill>
                  <a:srgbClr val="009ACC"/>
                </a:solidFill>
                <a:latin typeface="Times New Roman" panose="02020603050405020304" pitchFamily="18" charset="0"/>
                <a:cs typeface="Times New Roman" panose="02020603050405020304" pitchFamily="18" charset="0"/>
              </a:rPr>
              <a:t>NM_001034853.2</a:t>
            </a:r>
            <a:r>
              <a:rPr lang="en-US" sz="1100" dirty="0">
                <a:solidFill>
                  <a:srgbClr val="009ACC"/>
                </a:solidFill>
                <a:latin typeface="Times New Roman" panose="02020603050405020304" pitchFamily="18" charset="0"/>
                <a:ea typeface="Times New Roman"/>
                <a:cs typeface="Times New Roman" panose="02020603050405020304" pitchFamily="18" charset="0"/>
                <a:sym typeface="Times New Roman"/>
              </a:rPr>
              <a:t> between bases 1859-3396 (codons 619-1132, hg38 genomic regions 38,287,910 to 38,285,759) are predicted to disrupt the glutamylation in ORF 15 </a:t>
            </a:r>
            <a:r>
              <a:rPr lang="en-US" sz="1100" dirty="0">
                <a:latin typeface="Times New Roman" panose="02020603050405020304" pitchFamily="18" charset="0"/>
                <a:ea typeface="Times New Roman"/>
                <a:cs typeface="Times New Roman" panose="02020603050405020304" pitchFamily="18" charset="0"/>
                <a:sym typeface="Times New Roman"/>
              </a:rPr>
              <a:t>a </a:t>
            </a:r>
            <a:r>
              <a:rPr lang="en-US" sz="1100" dirty="0">
                <a:solidFill>
                  <a:srgbClr val="000000"/>
                </a:solidFill>
                <a:latin typeface="Times New Roman" panose="02020603050405020304" pitchFamily="18" charset="0"/>
                <a:ea typeface="Times New Roman"/>
                <a:cs typeface="Times New Roman" panose="02020603050405020304" pitchFamily="18" charset="0"/>
                <a:sym typeface="Times New Roman"/>
              </a:rPr>
              <a:t>region that is critical to protein function </a:t>
            </a:r>
            <a:r>
              <a:rPr lang="en-US" sz="1100" baseline="30000" dirty="0">
                <a:latin typeface="Times New Roman" panose="02020603050405020304" pitchFamily="18" charset="0"/>
                <a:ea typeface="Times New Roman"/>
                <a:cs typeface="Times New Roman" panose="02020603050405020304" pitchFamily="18" charset="0"/>
                <a:sym typeface="Times New Roman"/>
              </a:rPr>
              <a:t>c</a:t>
            </a:r>
            <a:endParaRPr lang="en-US" sz="1100" b="0" baseline="30000" dirty="0">
              <a:solidFill>
                <a:srgbClr val="000000"/>
              </a:solidFill>
              <a:latin typeface="Times New Roman" panose="02020603050405020304" pitchFamily="18" charset="0"/>
              <a:ea typeface="Times New Roman"/>
              <a:cs typeface="Times New Roman" panose="02020603050405020304" pitchFamily="18" charset="0"/>
              <a:sym typeface="Times New Roman"/>
            </a:endParaRPr>
          </a:p>
          <a:p>
            <a:r>
              <a:rPr lang="en-US" sz="1100" b="1" baseline="0" dirty="0">
                <a:solidFill>
                  <a:srgbClr val="000000"/>
                </a:solidFill>
                <a:latin typeface="Times New Roman" panose="02020603050405020304" pitchFamily="18" charset="0"/>
                <a:ea typeface="Times New Roman"/>
                <a:cs typeface="Times New Roman" panose="02020603050405020304" pitchFamily="18" charset="0"/>
                <a:sym typeface="Times New Roman"/>
              </a:rPr>
              <a:t>h</a:t>
            </a:r>
            <a:r>
              <a:rPr lang="en-US" sz="1100" b="1" dirty="0">
                <a:solidFill>
                  <a:srgbClr val="000000"/>
                </a:solidFill>
                <a:latin typeface="Times New Roman" panose="02020603050405020304" pitchFamily="18" charset="0"/>
                <a:ea typeface="Times New Roman"/>
                <a:cs typeface="Times New Roman" panose="02020603050405020304" pitchFamily="18" charset="0"/>
                <a:sym typeface="Times New Roman"/>
              </a:rPr>
              <a:t>. </a:t>
            </a:r>
            <a:r>
              <a:rPr lang="en-US" sz="1100" dirty="0">
                <a:solidFill>
                  <a:srgbClr val="000000"/>
                </a:solidFill>
                <a:latin typeface="Times New Roman" panose="02020603050405020304" pitchFamily="18" charset="0"/>
                <a:ea typeface="Times New Roman"/>
                <a:cs typeface="Times New Roman" panose="02020603050405020304" pitchFamily="18" charset="0"/>
                <a:sym typeface="Times New Roman"/>
              </a:rPr>
              <a:t>Role of region in protein function is unknown. </a:t>
            </a:r>
            <a:r>
              <a:rPr lang="en-US" sz="1100" dirty="0">
                <a:solidFill>
                  <a:srgbClr val="009ACC"/>
                </a:solidFill>
                <a:latin typeface="Times New Roman" panose="02020603050405020304" pitchFamily="18" charset="0"/>
                <a:ea typeface="Times New Roman"/>
                <a:cs typeface="Times New Roman" panose="02020603050405020304" pitchFamily="18" charset="0"/>
                <a:sym typeface="Times New Roman"/>
              </a:rPr>
              <a:t>Transcript </a:t>
            </a:r>
            <a:r>
              <a:rPr lang="en-US" sz="1100" dirty="0">
                <a:solidFill>
                  <a:srgbClr val="009ACC"/>
                </a:solidFill>
                <a:latin typeface="Times New Roman" panose="02020603050405020304" pitchFamily="18" charset="0"/>
                <a:cs typeface="Times New Roman" panose="02020603050405020304" pitchFamily="18" charset="0"/>
              </a:rPr>
              <a:t>NM_001034853.2</a:t>
            </a:r>
            <a:r>
              <a:rPr lang="en-US" sz="1100" dirty="0">
                <a:solidFill>
                  <a:srgbClr val="009ACC"/>
                </a:solidFill>
                <a:latin typeface="Times New Roman" panose="02020603050405020304" pitchFamily="18" charset="0"/>
                <a:ea typeface="Times New Roman"/>
                <a:cs typeface="Times New Roman" panose="02020603050405020304" pitchFamily="18" charset="0"/>
                <a:sym typeface="Times New Roman"/>
              </a:rPr>
              <a:t> variants in bases 3397-4749 (codons 1132-1152 and 3’ UTR, correspond to hg38 between 38,285,759 to 38,284,807). Transcript NM_00328.3 variants in bases 2351-3073 (codons 584-969, and 3’ UTR), correspond to hg38 between 38,273,435 to 38,269,162).</a:t>
            </a:r>
            <a:endParaRPr lang="en-US" sz="1100" dirty="0">
              <a:solidFill>
                <a:srgbClr val="009ACC"/>
              </a:solidFill>
              <a:latin typeface="Times New Roman" panose="02020603050405020304" pitchFamily="18" charset="0"/>
              <a:cs typeface="Times New Roman" panose="02020603050405020304" pitchFamily="18" charset="0"/>
            </a:endParaRPr>
          </a:p>
          <a:p>
            <a:r>
              <a:rPr lang="en-US" b="1" dirty="0" err="1"/>
              <a:t>i</a:t>
            </a:r>
            <a:r>
              <a:rPr lang="en-US" b="1" dirty="0"/>
              <a:t>. </a:t>
            </a:r>
            <a:r>
              <a:rPr lang="en-US" sz="1100" dirty="0">
                <a:solidFill>
                  <a:srgbClr val="009ACC"/>
                </a:solidFill>
                <a:latin typeface="Times New Roman" panose="02020603050405020304" pitchFamily="18" charset="0"/>
                <a:ea typeface="Times New Roman"/>
                <a:cs typeface="Times New Roman" panose="02020603050405020304" pitchFamily="18" charset="0"/>
                <a:sym typeface="Times New Roman"/>
              </a:rPr>
              <a:t>Variants that </a:t>
            </a:r>
            <a:r>
              <a:rPr lang="en-US" sz="1100" dirty="0">
                <a:solidFill>
                  <a:srgbClr val="000000"/>
                </a:solidFill>
                <a:latin typeface="Times New Roman" panose="02020603050405020304" pitchFamily="18" charset="0"/>
                <a:ea typeface="Times New Roman"/>
                <a:cs typeface="Times New Roman" panose="02020603050405020304" pitchFamily="18" charset="0"/>
                <a:sym typeface="Times New Roman"/>
              </a:rPr>
              <a:t>skip </a:t>
            </a:r>
            <a:r>
              <a:rPr lang="en-US" sz="1100" dirty="0">
                <a:solidFill>
                  <a:srgbClr val="009ACC"/>
                </a:solidFill>
                <a:latin typeface="Times New Roman" panose="02020603050405020304" pitchFamily="18" charset="0"/>
                <a:ea typeface="Times New Roman"/>
                <a:cs typeface="Times New Roman" panose="02020603050405020304" pitchFamily="18" charset="0"/>
                <a:sym typeface="Times New Roman"/>
              </a:rPr>
              <a:t>exon 2 which has a defined pathogenic missense variant (PMID37352859) or skip or alter the RCC1 domain in exons 3, 4, 5, 6, 7, 8, or 10 affect</a:t>
            </a:r>
            <a:r>
              <a:rPr lang="en-US" sz="1100" dirty="0">
                <a:solidFill>
                  <a:srgbClr val="000000"/>
                </a:solidFill>
                <a:latin typeface="Times New Roman" panose="02020603050405020304" pitchFamily="18" charset="0"/>
                <a:ea typeface="Times New Roman"/>
                <a:cs typeface="Times New Roman" panose="02020603050405020304" pitchFamily="18" charset="0"/>
                <a:sym typeface="Times New Roman"/>
              </a:rPr>
              <a:t> region</a:t>
            </a:r>
            <a:r>
              <a:rPr lang="en-US" sz="1100" dirty="0">
                <a:solidFill>
                  <a:srgbClr val="009ACC"/>
                </a:solidFill>
                <a:latin typeface="Times New Roman" panose="02020603050405020304" pitchFamily="18" charset="0"/>
                <a:ea typeface="Times New Roman"/>
                <a:cs typeface="Times New Roman" panose="02020603050405020304" pitchFamily="18" charset="0"/>
                <a:sym typeface="Times New Roman"/>
              </a:rPr>
              <a:t>s</a:t>
            </a:r>
            <a:r>
              <a:rPr lang="en-US" sz="1100" dirty="0">
                <a:solidFill>
                  <a:srgbClr val="000000"/>
                </a:solidFill>
                <a:latin typeface="Times New Roman" panose="02020603050405020304" pitchFamily="18" charset="0"/>
                <a:ea typeface="Times New Roman"/>
                <a:cs typeface="Times New Roman" panose="02020603050405020304" pitchFamily="18" charset="0"/>
                <a:sym typeface="Times New Roman"/>
              </a:rPr>
              <a:t> critical to protein function</a:t>
            </a:r>
            <a:r>
              <a:rPr lang="en-US" sz="1100" baseline="30000" dirty="0">
                <a:latin typeface="Times New Roman" panose="02020603050405020304" pitchFamily="18" charset="0"/>
                <a:ea typeface="Times New Roman"/>
                <a:cs typeface="Times New Roman" panose="02020603050405020304" pitchFamily="18" charset="0"/>
                <a:sym typeface="Times New Roman"/>
              </a:rPr>
              <a:t> c</a:t>
            </a:r>
            <a:endParaRPr lang="en-US" sz="1100" dirty="0">
              <a:solidFill>
                <a:srgbClr val="000000"/>
              </a:solidFill>
              <a:latin typeface="Times New Roman" panose="02020603050405020304" pitchFamily="18" charset="0"/>
              <a:ea typeface="Times New Roman"/>
              <a:cs typeface="Times New Roman" panose="02020603050405020304" pitchFamily="18" charset="0"/>
              <a:sym typeface="Times New Roman"/>
            </a:endParaRPr>
          </a:p>
          <a:p>
            <a:endParaRPr lang="en-US" dirty="0"/>
          </a:p>
        </p:txBody>
      </p:sp>
    </p:spTree>
    <p:extLst>
      <p:ext uri="{BB962C8B-B14F-4D97-AF65-F5344CB8AC3E}">
        <p14:creationId xmlns:p14="http://schemas.microsoft.com/office/powerpoint/2010/main" val="418516857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a:extLst>
            <a:ext uri="{FF2B5EF4-FFF2-40B4-BE49-F238E27FC236}">
              <a16:creationId xmlns:a16="http://schemas.microsoft.com/office/drawing/2014/main" id="{1D35D927-802A-DEAF-295C-87E8934F0D9D}"/>
            </a:ext>
          </a:extLst>
        </p:cNvPr>
        <p:cNvGrpSpPr/>
        <p:nvPr/>
      </p:nvGrpSpPr>
      <p:grpSpPr>
        <a:xfrm>
          <a:off x="0" y="0"/>
          <a:ext cx="0" cy="0"/>
          <a:chOff x="0" y="0"/>
          <a:chExt cx="0" cy="0"/>
        </a:xfrm>
      </p:grpSpPr>
      <p:sp>
        <p:nvSpPr>
          <p:cNvPr id="57" name="Google Shape;57;p1:notes">
            <a:extLst>
              <a:ext uri="{FF2B5EF4-FFF2-40B4-BE49-F238E27FC236}">
                <a16:creationId xmlns:a16="http://schemas.microsoft.com/office/drawing/2014/main" id="{3E291353-C465-3890-E8DF-F92B6F6B85B3}"/>
              </a:ext>
            </a:extLst>
          </p:cNvPr>
          <p:cNvSpPr>
            <a:spLocks noGrp="1" noRot="1" noChangeAspect="1"/>
          </p:cNvSpPr>
          <p:nvPr>
            <p:ph type="sldImg" idx="2"/>
          </p:nvPr>
        </p:nvSpPr>
        <p:spPr>
          <a:xfrm>
            <a:off x="2027238" y="685800"/>
            <a:ext cx="2805112"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8" name="Google Shape;58;p1:notes">
            <a:extLst>
              <a:ext uri="{FF2B5EF4-FFF2-40B4-BE49-F238E27FC236}">
                <a16:creationId xmlns:a16="http://schemas.microsoft.com/office/drawing/2014/main" id="{2712EE12-E8BA-3389-0F66-52AA71119CE7}"/>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US" dirty="0"/>
              <a:t>Use this template for splicing </a:t>
            </a:r>
            <a:endParaRPr dirty="0"/>
          </a:p>
        </p:txBody>
      </p:sp>
    </p:spTree>
    <p:extLst>
      <p:ext uri="{BB962C8B-B14F-4D97-AF65-F5344CB8AC3E}">
        <p14:creationId xmlns:p14="http://schemas.microsoft.com/office/powerpoint/2010/main" val="192850701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027238" y="685800"/>
            <a:ext cx="2805112" cy="3429000"/>
          </a:xfrm>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184210881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027238" y="685800"/>
            <a:ext cx="2805112" cy="34290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dirty="0"/>
              <a:t>Figure 1 Taken from SVI recommendations for PVS1 interpretation (</a:t>
            </a:r>
            <a:r>
              <a:rPr lang="en-US" dirty="0" err="1"/>
              <a:t>Tayoun</a:t>
            </a:r>
            <a:r>
              <a:rPr lang="en-US" dirty="0"/>
              <a:t> et al., 2018). Legend for this figure includes this text: PVS1 decision tree. Refer to text for detailed description. (a) This criterion should not be applied in combination with in silico splicing predictions (PP3). Additionally, splice site variants must have no detectable nearby (+/- 20nts) strong consensus splice sequence that may constitute in-frame splicing. (b) NMD prediction based on the premature termination codon not occurring in the 3’ most exon or in the 3’ most 50bp of the penultimate exon</a:t>
            </a:r>
            <a:r>
              <a:rPr lang="en-US" sz="1100" dirty="0">
                <a:solidFill>
                  <a:srgbClr val="009ACC"/>
                </a:solidFill>
                <a:latin typeface="Times New Roman" panose="02020603050405020304" pitchFamily="18" charset="0"/>
                <a:cs typeface="Times New Roman" panose="02020603050405020304" pitchFamily="18" charset="0"/>
              </a:rPr>
              <a:t>. </a:t>
            </a:r>
            <a:r>
              <a:rPr lang="en-US" dirty="0">
                <a:solidFill>
                  <a:srgbClr val="009ACC"/>
                </a:solidFill>
              </a:rPr>
              <a:t>(c) Relevant domain indicated by experimental evidence proving a critical role of the domain and/or presence of non-truncating pathogenic variants in the region. (d) For a full gene deletion of a known </a:t>
            </a:r>
            <a:r>
              <a:rPr lang="en-US" dirty="0" err="1">
                <a:solidFill>
                  <a:srgbClr val="009ACC"/>
                </a:solidFill>
              </a:rPr>
              <a:t>haploinsufficient</a:t>
            </a:r>
            <a:r>
              <a:rPr lang="en-US" dirty="0">
                <a:solidFill>
                  <a:srgbClr val="009ACC"/>
                </a:solidFill>
              </a:rPr>
              <a:t> gene, a pathogenic classification is warranted (in the absence of conflicting data) even though application of PVS1 alone would not reach a pathogenic classification using the combining rules in Richards et al., (2017). NMD, nonsense-mediated decay; </a:t>
            </a:r>
            <a:r>
              <a:rPr lang="en-US" dirty="0" err="1">
                <a:solidFill>
                  <a:srgbClr val="009ACC"/>
                </a:solidFill>
              </a:rPr>
              <a:t>LoF</a:t>
            </a:r>
            <a:r>
              <a:rPr lang="en-US" dirty="0">
                <a:solidFill>
                  <a:srgbClr val="009ACC"/>
                </a:solidFill>
              </a:rPr>
              <a:t>, loss of function.</a:t>
            </a:r>
            <a:endParaRPr lang="en-US" baseline="30000" dirty="0">
              <a:solidFill>
                <a:srgbClr val="009ACC"/>
              </a:solidFill>
            </a:endParaRPr>
          </a:p>
          <a:p>
            <a:endParaRPr lang="en-US" dirty="0"/>
          </a:p>
          <a:p>
            <a:r>
              <a:rPr lang="en-US" dirty="0"/>
              <a:t>Additional footnotes which contain genomic coordinates:</a:t>
            </a:r>
          </a:p>
          <a:p>
            <a:r>
              <a:rPr lang="en-US" b="1" dirty="0"/>
              <a:t>e. </a:t>
            </a:r>
            <a:r>
              <a:rPr lang="en-US" sz="1100" dirty="0">
                <a:latin typeface="Times New Roman" panose="02020603050405020304" pitchFamily="18" charset="0"/>
                <a:ea typeface="Times New Roman"/>
                <a:cs typeface="Times New Roman" panose="02020603050405020304" pitchFamily="18" charset="0"/>
                <a:sym typeface="Times New Roman"/>
              </a:rPr>
              <a:t>V</a:t>
            </a:r>
            <a:r>
              <a:rPr lang="en-US" sz="1100" b="0" i="0" u="none" strike="noStrike" cap="none" dirty="0">
                <a:solidFill>
                  <a:srgbClr val="000000"/>
                </a:solidFill>
                <a:latin typeface="Times New Roman" panose="02020603050405020304" pitchFamily="18" charset="0"/>
                <a:ea typeface="Times New Roman"/>
                <a:cs typeface="Times New Roman" panose="02020603050405020304" pitchFamily="18" charset="0"/>
                <a:sym typeface="Times New Roman"/>
              </a:rPr>
              <a:t>ariants that </a:t>
            </a:r>
            <a:r>
              <a:rPr lang="en-US" sz="1100" b="0" i="0" u="none" strike="noStrike" cap="none" dirty="0">
                <a:solidFill>
                  <a:srgbClr val="009ACC"/>
                </a:solidFill>
                <a:latin typeface="Times New Roman" panose="02020603050405020304" pitchFamily="18" charset="0"/>
                <a:ea typeface="Times New Roman"/>
                <a:cs typeface="Times New Roman" panose="02020603050405020304" pitchFamily="18" charset="0"/>
                <a:sym typeface="Times New Roman"/>
              </a:rPr>
              <a:t>terminate in codons 2-619 </a:t>
            </a:r>
            <a:r>
              <a:rPr lang="en-US" sz="1100" dirty="0">
                <a:solidFill>
                  <a:srgbClr val="009ACC"/>
                </a:solidFill>
                <a:latin typeface="Times New Roman" panose="02020603050405020304" pitchFamily="18" charset="0"/>
                <a:ea typeface="Times New Roman"/>
                <a:cs typeface="Times New Roman" panose="02020603050405020304" pitchFamily="18" charset="0"/>
                <a:sym typeface="Times New Roman"/>
              </a:rPr>
              <a:t>in transcripts </a:t>
            </a:r>
            <a:r>
              <a:rPr lang="en-US" sz="1100" dirty="0">
                <a:solidFill>
                  <a:srgbClr val="009ACC"/>
                </a:solidFill>
                <a:latin typeface="Times New Roman" panose="02020603050405020304" pitchFamily="18" charset="0"/>
                <a:cs typeface="Times New Roman" panose="02020603050405020304" pitchFamily="18" charset="0"/>
              </a:rPr>
              <a:t>NM_001034853.2</a:t>
            </a:r>
            <a:r>
              <a:rPr lang="en-US" sz="1100" dirty="0">
                <a:solidFill>
                  <a:srgbClr val="009ACC"/>
                </a:solidFill>
                <a:latin typeface="Times New Roman" panose="02020603050405020304" pitchFamily="18" charset="0"/>
                <a:ea typeface="Times New Roman"/>
                <a:cs typeface="Times New Roman" panose="02020603050405020304" pitchFamily="18" charset="0"/>
                <a:sym typeface="Times New Roman"/>
              </a:rPr>
              <a:t> and </a:t>
            </a:r>
            <a:r>
              <a:rPr lang="en-US" sz="1100" dirty="0">
                <a:solidFill>
                  <a:srgbClr val="009ACC"/>
                </a:solidFill>
                <a:latin typeface="Times New Roman" panose="02020603050405020304" pitchFamily="18" charset="0"/>
                <a:cs typeface="Times New Roman" panose="02020603050405020304" pitchFamily="18" charset="0"/>
              </a:rPr>
              <a:t>NM_00328.3 </a:t>
            </a:r>
            <a:r>
              <a:rPr lang="en-US" sz="1100" b="0" i="0" u="none" strike="noStrike" cap="none" dirty="0">
                <a:solidFill>
                  <a:srgbClr val="009ACC"/>
                </a:solidFill>
                <a:latin typeface="Times New Roman" panose="02020603050405020304" pitchFamily="18" charset="0"/>
                <a:ea typeface="Times New Roman"/>
                <a:cs typeface="Times New Roman" panose="02020603050405020304" pitchFamily="18" charset="0"/>
                <a:sym typeface="Times New Roman"/>
              </a:rPr>
              <a:t>(</a:t>
            </a:r>
            <a:r>
              <a:rPr lang="en-US" sz="1100" dirty="0">
                <a:solidFill>
                  <a:srgbClr val="009ACC"/>
                </a:solidFill>
                <a:latin typeface="Times New Roman" panose="02020603050405020304" pitchFamily="18" charset="0"/>
                <a:ea typeface="Times New Roman"/>
                <a:cs typeface="Times New Roman" panose="02020603050405020304" pitchFamily="18" charset="0"/>
                <a:sym typeface="Times New Roman"/>
              </a:rPr>
              <a:t>before transcript base 1859) (genomic regions 38,287,910 to 38,327,367) </a:t>
            </a:r>
            <a:r>
              <a:rPr lang="en-US" sz="1100" dirty="0">
                <a:latin typeface="Times New Roman" panose="02020603050405020304" pitchFamily="18" charset="0"/>
                <a:ea typeface="Times New Roman"/>
                <a:cs typeface="Times New Roman" panose="02020603050405020304" pitchFamily="18" charset="0"/>
                <a:sym typeface="Times New Roman"/>
              </a:rPr>
              <a:t>are expected to produce transcripts that will undergo NMD</a:t>
            </a:r>
            <a:endParaRPr lang="en-US" dirty="0">
              <a:latin typeface="Times New Roman" panose="02020603050405020304" pitchFamily="18" charset="0"/>
              <a:cs typeface="Times New Roman" panose="02020603050405020304" pitchFamily="18" charset="0"/>
            </a:endParaRPr>
          </a:p>
          <a:p>
            <a:r>
              <a:rPr lang="en-US" sz="1100" b="1" dirty="0">
                <a:solidFill>
                  <a:srgbClr val="000000"/>
                </a:solidFill>
                <a:latin typeface="Times New Roman" panose="02020603050405020304" pitchFamily="18" charset="0"/>
                <a:ea typeface="Times New Roman"/>
                <a:cs typeface="Times New Roman" panose="02020603050405020304" pitchFamily="18" charset="0"/>
                <a:sym typeface="Times New Roman"/>
              </a:rPr>
              <a:t>f. </a:t>
            </a:r>
            <a:r>
              <a:rPr lang="en-US" sz="1100" dirty="0">
                <a:latin typeface="Times New Roman" panose="02020603050405020304" pitchFamily="18" charset="0"/>
                <a:ea typeface="Times New Roman"/>
                <a:cs typeface="Times New Roman" panose="02020603050405020304" pitchFamily="18" charset="0"/>
                <a:sym typeface="Times New Roman"/>
              </a:rPr>
              <a:t>V</a:t>
            </a:r>
            <a:r>
              <a:rPr lang="en-US" sz="1100" b="0" i="0" u="none" strike="noStrike" cap="none" dirty="0">
                <a:solidFill>
                  <a:srgbClr val="000000"/>
                </a:solidFill>
                <a:latin typeface="Times New Roman" panose="02020603050405020304" pitchFamily="18" charset="0"/>
                <a:ea typeface="Times New Roman"/>
                <a:cs typeface="Times New Roman" panose="02020603050405020304" pitchFamily="18" charset="0"/>
                <a:sym typeface="Times New Roman"/>
              </a:rPr>
              <a:t>ariants that </a:t>
            </a:r>
            <a:r>
              <a:rPr lang="en-US" sz="1100" b="0" i="0" u="none" strike="noStrike" cap="none" dirty="0">
                <a:solidFill>
                  <a:srgbClr val="009ACC"/>
                </a:solidFill>
                <a:latin typeface="Times New Roman" panose="02020603050405020304" pitchFamily="18" charset="0"/>
                <a:ea typeface="Times New Roman"/>
                <a:cs typeface="Times New Roman" panose="02020603050405020304" pitchFamily="18" charset="0"/>
                <a:sym typeface="Times New Roman"/>
              </a:rPr>
              <a:t>terminate in codons 619-783 </a:t>
            </a:r>
            <a:r>
              <a:rPr lang="en-US" sz="1100" dirty="0">
                <a:solidFill>
                  <a:srgbClr val="009ACC"/>
                </a:solidFill>
                <a:latin typeface="Times New Roman" panose="02020603050405020304" pitchFamily="18" charset="0"/>
                <a:ea typeface="Times New Roman"/>
                <a:cs typeface="Times New Roman" panose="02020603050405020304" pitchFamily="18" charset="0"/>
                <a:sym typeface="Times New Roman"/>
              </a:rPr>
              <a:t>in transcript </a:t>
            </a:r>
            <a:r>
              <a:rPr lang="en-US" sz="1100" dirty="0">
                <a:solidFill>
                  <a:srgbClr val="009ACC"/>
                </a:solidFill>
                <a:latin typeface="Times New Roman" panose="02020603050405020304" pitchFamily="18" charset="0"/>
                <a:cs typeface="Times New Roman" panose="02020603050405020304" pitchFamily="18" charset="0"/>
              </a:rPr>
              <a:t>NM_00328.3 </a:t>
            </a:r>
            <a:r>
              <a:rPr lang="en-US" sz="1100" b="0" i="0" u="none" strike="noStrike" cap="none" dirty="0">
                <a:solidFill>
                  <a:srgbClr val="009ACC"/>
                </a:solidFill>
                <a:latin typeface="Times New Roman" panose="02020603050405020304" pitchFamily="18" charset="0"/>
                <a:ea typeface="Times New Roman"/>
                <a:cs typeface="Times New Roman" panose="02020603050405020304" pitchFamily="18" charset="0"/>
                <a:sym typeface="Times New Roman"/>
              </a:rPr>
              <a:t>(</a:t>
            </a:r>
            <a:r>
              <a:rPr lang="en-US" sz="1100" dirty="0">
                <a:solidFill>
                  <a:srgbClr val="009ACC"/>
                </a:solidFill>
                <a:latin typeface="Times New Roman" panose="02020603050405020304" pitchFamily="18" charset="0"/>
                <a:ea typeface="Times New Roman"/>
                <a:cs typeface="Times New Roman" panose="02020603050405020304" pitchFamily="18" charset="0"/>
                <a:sym typeface="Times New Roman"/>
              </a:rPr>
              <a:t>before transcript base 2351) (hg38 genomic regions 38,273,435 to 38,287,910) </a:t>
            </a:r>
            <a:r>
              <a:rPr lang="en-US" sz="1100" dirty="0">
                <a:latin typeface="Times New Roman" panose="02020603050405020304" pitchFamily="18" charset="0"/>
                <a:ea typeface="Times New Roman"/>
                <a:cs typeface="Times New Roman" panose="02020603050405020304" pitchFamily="18" charset="0"/>
                <a:sym typeface="Times New Roman"/>
              </a:rPr>
              <a:t>are expected to produce transcripts that will undergo NMD</a:t>
            </a:r>
            <a:endParaRPr lang="en-US" sz="1100" dirty="0">
              <a:solidFill>
                <a:srgbClr val="000000"/>
              </a:solidFill>
              <a:latin typeface="Times New Roman" panose="02020603050405020304" pitchFamily="18" charset="0"/>
              <a:ea typeface="Times New Roman"/>
              <a:cs typeface="Times New Roman" panose="02020603050405020304" pitchFamily="18" charset="0"/>
              <a:sym typeface="Times New Roman"/>
            </a:endParaRPr>
          </a:p>
          <a:p>
            <a:r>
              <a:rPr lang="en-US" sz="1100" b="1" dirty="0">
                <a:solidFill>
                  <a:srgbClr val="000000"/>
                </a:solidFill>
                <a:latin typeface="Times New Roman" panose="02020603050405020304" pitchFamily="18" charset="0"/>
                <a:ea typeface="Times New Roman"/>
                <a:cs typeface="Times New Roman" panose="02020603050405020304" pitchFamily="18" charset="0"/>
                <a:sym typeface="Times New Roman"/>
              </a:rPr>
              <a:t>g. </a:t>
            </a:r>
            <a:r>
              <a:rPr lang="en-US" sz="1100" dirty="0">
                <a:solidFill>
                  <a:srgbClr val="000000"/>
                </a:solidFill>
                <a:latin typeface="Times New Roman" panose="02020603050405020304" pitchFamily="18" charset="0"/>
                <a:ea typeface="Times New Roman"/>
                <a:cs typeface="Times New Roman" panose="02020603050405020304" pitchFamily="18" charset="0"/>
                <a:sym typeface="Times New Roman"/>
              </a:rPr>
              <a:t>Variants </a:t>
            </a:r>
            <a:r>
              <a:rPr lang="en-US" sz="1100" dirty="0">
                <a:latin typeface="Times New Roman" panose="02020603050405020304" pitchFamily="18" charset="0"/>
                <a:ea typeface="Times New Roman"/>
                <a:cs typeface="Times New Roman" panose="02020603050405020304" pitchFamily="18" charset="0"/>
                <a:sym typeface="Times New Roman"/>
              </a:rPr>
              <a:t>in </a:t>
            </a:r>
            <a:r>
              <a:rPr lang="en-US" sz="1100" dirty="0">
                <a:solidFill>
                  <a:srgbClr val="009ACC"/>
                </a:solidFill>
                <a:latin typeface="Times New Roman" panose="02020603050405020304" pitchFamily="18" charset="0"/>
                <a:ea typeface="Times New Roman"/>
                <a:cs typeface="Times New Roman" panose="02020603050405020304" pitchFamily="18" charset="0"/>
                <a:sym typeface="Times New Roman"/>
              </a:rPr>
              <a:t>transcript </a:t>
            </a:r>
            <a:r>
              <a:rPr lang="en-US" sz="1100" dirty="0">
                <a:solidFill>
                  <a:srgbClr val="009ACC"/>
                </a:solidFill>
                <a:latin typeface="Times New Roman" panose="02020603050405020304" pitchFamily="18" charset="0"/>
                <a:cs typeface="Times New Roman" panose="02020603050405020304" pitchFamily="18" charset="0"/>
              </a:rPr>
              <a:t>NM_001034853.2</a:t>
            </a:r>
            <a:r>
              <a:rPr lang="en-US" sz="1100" dirty="0">
                <a:solidFill>
                  <a:srgbClr val="009ACC"/>
                </a:solidFill>
                <a:latin typeface="Times New Roman" panose="02020603050405020304" pitchFamily="18" charset="0"/>
                <a:ea typeface="Times New Roman"/>
                <a:cs typeface="Times New Roman" panose="02020603050405020304" pitchFamily="18" charset="0"/>
                <a:sym typeface="Times New Roman"/>
              </a:rPr>
              <a:t> between bases 1859-3396 (codons 619-1132, hg38 genomic regions 38,287,910 to 38,285,759) are predicted to disrupt the glutamylation in ORF 15 </a:t>
            </a:r>
            <a:r>
              <a:rPr lang="en-US" sz="1100" dirty="0">
                <a:latin typeface="Times New Roman" panose="02020603050405020304" pitchFamily="18" charset="0"/>
                <a:ea typeface="Times New Roman"/>
                <a:cs typeface="Times New Roman" panose="02020603050405020304" pitchFamily="18" charset="0"/>
                <a:sym typeface="Times New Roman"/>
              </a:rPr>
              <a:t>a </a:t>
            </a:r>
            <a:r>
              <a:rPr lang="en-US" sz="1100" dirty="0">
                <a:solidFill>
                  <a:srgbClr val="000000"/>
                </a:solidFill>
                <a:latin typeface="Times New Roman" panose="02020603050405020304" pitchFamily="18" charset="0"/>
                <a:ea typeface="Times New Roman"/>
                <a:cs typeface="Times New Roman" panose="02020603050405020304" pitchFamily="18" charset="0"/>
                <a:sym typeface="Times New Roman"/>
              </a:rPr>
              <a:t>region that is critical to protein function </a:t>
            </a:r>
            <a:r>
              <a:rPr lang="en-US" sz="1100" baseline="30000" dirty="0">
                <a:latin typeface="Times New Roman" panose="02020603050405020304" pitchFamily="18" charset="0"/>
                <a:ea typeface="Times New Roman"/>
                <a:cs typeface="Times New Roman" panose="02020603050405020304" pitchFamily="18" charset="0"/>
                <a:sym typeface="Times New Roman"/>
              </a:rPr>
              <a:t>c</a:t>
            </a:r>
            <a:endParaRPr lang="en-US" sz="1100" b="0" baseline="30000" dirty="0">
              <a:solidFill>
                <a:srgbClr val="000000"/>
              </a:solidFill>
              <a:latin typeface="Times New Roman" panose="02020603050405020304" pitchFamily="18" charset="0"/>
              <a:ea typeface="Times New Roman"/>
              <a:cs typeface="Times New Roman" panose="02020603050405020304" pitchFamily="18" charset="0"/>
              <a:sym typeface="Times New Roman"/>
            </a:endParaRPr>
          </a:p>
          <a:p>
            <a:r>
              <a:rPr lang="en-US" sz="1100" b="1" baseline="0" dirty="0">
                <a:solidFill>
                  <a:srgbClr val="000000"/>
                </a:solidFill>
                <a:latin typeface="Times New Roman" panose="02020603050405020304" pitchFamily="18" charset="0"/>
                <a:ea typeface="Times New Roman"/>
                <a:cs typeface="Times New Roman" panose="02020603050405020304" pitchFamily="18" charset="0"/>
                <a:sym typeface="Times New Roman"/>
              </a:rPr>
              <a:t>h</a:t>
            </a:r>
            <a:r>
              <a:rPr lang="en-US" sz="1100" b="1" dirty="0">
                <a:solidFill>
                  <a:srgbClr val="000000"/>
                </a:solidFill>
                <a:latin typeface="Times New Roman" panose="02020603050405020304" pitchFamily="18" charset="0"/>
                <a:ea typeface="Times New Roman"/>
                <a:cs typeface="Times New Roman" panose="02020603050405020304" pitchFamily="18" charset="0"/>
                <a:sym typeface="Times New Roman"/>
              </a:rPr>
              <a:t>. </a:t>
            </a:r>
            <a:r>
              <a:rPr lang="en-US" sz="1100" dirty="0">
                <a:solidFill>
                  <a:srgbClr val="000000"/>
                </a:solidFill>
                <a:latin typeface="Times New Roman" panose="02020603050405020304" pitchFamily="18" charset="0"/>
                <a:ea typeface="Times New Roman"/>
                <a:cs typeface="Times New Roman" panose="02020603050405020304" pitchFamily="18" charset="0"/>
                <a:sym typeface="Times New Roman"/>
              </a:rPr>
              <a:t>Role of region in protein function is unknown. </a:t>
            </a:r>
            <a:r>
              <a:rPr lang="en-US" sz="1100" dirty="0">
                <a:solidFill>
                  <a:srgbClr val="009ACC"/>
                </a:solidFill>
                <a:latin typeface="Times New Roman" panose="02020603050405020304" pitchFamily="18" charset="0"/>
                <a:ea typeface="Times New Roman"/>
                <a:cs typeface="Times New Roman" panose="02020603050405020304" pitchFamily="18" charset="0"/>
                <a:sym typeface="Times New Roman"/>
              </a:rPr>
              <a:t>Transcript </a:t>
            </a:r>
            <a:r>
              <a:rPr lang="en-US" sz="1100" dirty="0">
                <a:solidFill>
                  <a:srgbClr val="009ACC"/>
                </a:solidFill>
                <a:latin typeface="Times New Roman" panose="02020603050405020304" pitchFamily="18" charset="0"/>
                <a:cs typeface="Times New Roman" panose="02020603050405020304" pitchFamily="18" charset="0"/>
              </a:rPr>
              <a:t>NM_001034853.2</a:t>
            </a:r>
            <a:r>
              <a:rPr lang="en-US" sz="1100" dirty="0">
                <a:solidFill>
                  <a:srgbClr val="009ACC"/>
                </a:solidFill>
                <a:latin typeface="Times New Roman" panose="02020603050405020304" pitchFamily="18" charset="0"/>
                <a:ea typeface="Times New Roman"/>
                <a:cs typeface="Times New Roman" panose="02020603050405020304" pitchFamily="18" charset="0"/>
                <a:sym typeface="Times New Roman"/>
              </a:rPr>
              <a:t> variants in bases 3397-4749 (codons 1132-1152 and 3’ UTR, correspond to hg38 between 38,285,759 to 38,284,807). Transcript NM_00328.3 variants in bases 2351-3073 (codons 584-969, and 3’ UTR), correspond to hg38 between 38,273,435 to 38,269,162).</a:t>
            </a:r>
            <a:endParaRPr lang="en-US" sz="1100" dirty="0">
              <a:solidFill>
                <a:srgbClr val="009ACC"/>
              </a:solidFill>
              <a:latin typeface="Times New Roman" panose="02020603050405020304" pitchFamily="18" charset="0"/>
              <a:cs typeface="Times New Roman" panose="02020603050405020304" pitchFamily="18" charset="0"/>
            </a:endParaRPr>
          </a:p>
          <a:p>
            <a:r>
              <a:rPr lang="en-US" b="1" dirty="0" err="1"/>
              <a:t>i</a:t>
            </a:r>
            <a:r>
              <a:rPr lang="en-US" b="1" dirty="0"/>
              <a:t>. </a:t>
            </a:r>
            <a:r>
              <a:rPr lang="en-US" sz="1100" dirty="0">
                <a:solidFill>
                  <a:srgbClr val="009ACC"/>
                </a:solidFill>
                <a:latin typeface="Times New Roman" panose="02020603050405020304" pitchFamily="18" charset="0"/>
                <a:ea typeface="Times New Roman"/>
                <a:cs typeface="Times New Roman" panose="02020603050405020304" pitchFamily="18" charset="0"/>
                <a:sym typeface="Times New Roman"/>
              </a:rPr>
              <a:t>Variants that </a:t>
            </a:r>
            <a:r>
              <a:rPr lang="en-US" sz="1100" dirty="0">
                <a:solidFill>
                  <a:srgbClr val="000000"/>
                </a:solidFill>
                <a:latin typeface="Times New Roman" panose="02020603050405020304" pitchFamily="18" charset="0"/>
                <a:ea typeface="Times New Roman"/>
                <a:cs typeface="Times New Roman" panose="02020603050405020304" pitchFamily="18" charset="0"/>
                <a:sym typeface="Times New Roman"/>
              </a:rPr>
              <a:t>skip </a:t>
            </a:r>
            <a:r>
              <a:rPr lang="en-US" sz="1100" dirty="0">
                <a:solidFill>
                  <a:srgbClr val="009ACC"/>
                </a:solidFill>
                <a:latin typeface="Times New Roman" panose="02020603050405020304" pitchFamily="18" charset="0"/>
                <a:ea typeface="Times New Roman"/>
                <a:cs typeface="Times New Roman" panose="02020603050405020304" pitchFamily="18" charset="0"/>
                <a:sym typeface="Times New Roman"/>
              </a:rPr>
              <a:t>exon 2 which has a defined pathogenic missense variant (PMID37352859) or skip or alter the RCC1 domain in exons 3, 4, 5, 6, 7, 8, or 10 affect</a:t>
            </a:r>
            <a:r>
              <a:rPr lang="en-US" sz="1100" dirty="0">
                <a:solidFill>
                  <a:srgbClr val="000000"/>
                </a:solidFill>
                <a:latin typeface="Times New Roman" panose="02020603050405020304" pitchFamily="18" charset="0"/>
                <a:ea typeface="Times New Roman"/>
                <a:cs typeface="Times New Roman" panose="02020603050405020304" pitchFamily="18" charset="0"/>
                <a:sym typeface="Times New Roman"/>
              </a:rPr>
              <a:t> region</a:t>
            </a:r>
            <a:r>
              <a:rPr lang="en-US" sz="1100" dirty="0">
                <a:solidFill>
                  <a:srgbClr val="009ACC"/>
                </a:solidFill>
                <a:latin typeface="Times New Roman" panose="02020603050405020304" pitchFamily="18" charset="0"/>
                <a:ea typeface="Times New Roman"/>
                <a:cs typeface="Times New Roman" panose="02020603050405020304" pitchFamily="18" charset="0"/>
                <a:sym typeface="Times New Roman"/>
              </a:rPr>
              <a:t>s</a:t>
            </a:r>
            <a:r>
              <a:rPr lang="en-US" sz="1100" dirty="0">
                <a:solidFill>
                  <a:srgbClr val="000000"/>
                </a:solidFill>
                <a:latin typeface="Times New Roman" panose="02020603050405020304" pitchFamily="18" charset="0"/>
                <a:ea typeface="Times New Roman"/>
                <a:cs typeface="Times New Roman" panose="02020603050405020304" pitchFamily="18" charset="0"/>
                <a:sym typeface="Times New Roman"/>
              </a:rPr>
              <a:t> critical to protein function</a:t>
            </a:r>
            <a:r>
              <a:rPr lang="en-US" sz="1100" baseline="30000" dirty="0">
                <a:latin typeface="Times New Roman" panose="02020603050405020304" pitchFamily="18" charset="0"/>
                <a:ea typeface="Times New Roman"/>
                <a:cs typeface="Times New Roman" panose="02020603050405020304" pitchFamily="18" charset="0"/>
                <a:sym typeface="Times New Roman"/>
              </a:rPr>
              <a:t> c</a:t>
            </a:r>
            <a:endParaRPr lang="en-US" sz="1100" dirty="0">
              <a:solidFill>
                <a:srgbClr val="000000"/>
              </a:solidFill>
              <a:latin typeface="Times New Roman" panose="02020603050405020304" pitchFamily="18" charset="0"/>
              <a:ea typeface="Times New Roman"/>
              <a:cs typeface="Times New Roman" panose="02020603050405020304" pitchFamily="18" charset="0"/>
              <a:sym typeface="Times New Roman"/>
            </a:endParaRPr>
          </a:p>
          <a:p>
            <a:endParaRPr lang="en-US" dirty="0"/>
          </a:p>
        </p:txBody>
      </p:sp>
    </p:spTree>
    <p:extLst>
      <p:ext uri="{BB962C8B-B14F-4D97-AF65-F5344CB8AC3E}">
        <p14:creationId xmlns:p14="http://schemas.microsoft.com/office/powerpoint/2010/main" val="244356261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a:extLst>
            <a:ext uri="{FF2B5EF4-FFF2-40B4-BE49-F238E27FC236}">
              <a16:creationId xmlns:a16="http://schemas.microsoft.com/office/drawing/2014/main" id="{E2624960-EB09-A337-E138-5D1F3B0884FD}"/>
            </a:ext>
          </a:extLst>
        </p:cNvPr>
        <p:cNvGrpSpPr/>
        <p:nvPr/>
      </p:nvGrpSpPr>
      <p:grpSpPr>
        <a:xfrm>
          <a:off x="0" y="0"/>
          <a:ext cx="0" cy="0"/>
          <a:chOff x="0" y="0"/>
          <a:chExt cx="0" cy="0"/>
        </a:xfrm>
      </p:grpSpPr>
      <p:sp>
        <p:nvSpPr>
          <p:cNvPr id="57" name="Google Shape;57;p1:notes">
            <a:extLst>
              <a:ext uri="{FF2B5EF4-FFF2-40B4-BE49-F238E27FC236}">
                <a16:creationId xmlns:a16="http://schemas.microsoft.com/office/drawing/2014/main" id="{E742323D-6215-CC86-DC41-46F81290DAF1}"/>
              </a:ext>
            </a:extLst>
          </p:cNvPr>
          <p:cNvSpPr>
            <a:spLocks noGrp="1" noRot="1" noChangeAspect="1"/>
          </p:cNvSpPr>
          <p:nvPr>
            <p:ph type="sldImg" idx="2"/>
          </p:nvPr>
        </p:nvSpPr>
        <p:spPr>
          <a:xfrm>
            <a:off x="2027238" y="685800"/>
            <a:ext cx="2805112"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8" name="Google Shape;58;p1:notes">
            <a:extLst>
              <a:ext uri="{FF2B5EF4-FFF2-40B4-BE49-F238E27FC236}">
                <a16:creationId xmlns:a16="http://schemas.microsoft.com/office/drawing/2014/main" id="{57997FBC-2E26-E906-5823-8701CD2DC574}"/>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 dirty="0"/>
              <a:t>PLEASE NOTE – highlighted areas are where the VCEP should provide guidance for each gene under specification. </a:t>
            </a:r>
            <a:endParaRPr dirty="0"/>
          </a:p>
          <a:p>
            <a:pPr marL="0" lvl="0" indent="0" algn="l" rtl="0">
              <a:lnSpc>
                <a:spcPct val="100000"/>
              </a:lnSpc>
              <a:spcBef>
                <a:spcPts val="0"/>
              </a:spcBef>
              <a:spcAft>
                <a:spcPts val="0"/>
              </a:spcAft>
              <a:buSzPts val="1100"/>
              <a:buNone/>
            </a:pPr>
            <a:endParaRPr dirty="0"/>
          </a:p>
          <a:p>
            <a:pPr marL="0" lvl="0" indent="0" algn="l" rtl="0">
              <a:lnSpc>
                <a:spcPct val="100000"/>
              </a:lnSpc>
              <a:spcBef>
                <a:spcPts val="0"/>
              </a:spcBef>
              <a:spcAft>
                <a:spcPts val="0"/>
              </a:spcAft>
              <a:buSzPts val="1100"/>
              <a:buNone/>
            </a:pPr>
            <a:r>
              <a:rPr lang="en" dirty="0"/>
              <a:t>Weights may be adjusted if appropriate (</a:t>
            </a:r>
            <a:r>
              <a:rPr lang="en" dirty="0" err="1"/>
              <a:t>e.g</a:t>
            </a:r>
            <a:r>
              <a:rPr lang="en" dirty="0"/>
              <a:t> start codon)</a:t>
            </a:r>
            <a:endParaRPr dirty="0"/>
          </a:p>
        </p:txBody>
      </p:sp>
    </p:spTree>
    <p:extLst>
      <p:ext uri="{BB962C8B-B14F-4D97-AF65-F5344CB8AC3E}">
        <p14:creationId xmlns:p14="http://schemas.microsoft.com/office/powerpoint/2010/main" val="60400123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027238" y="685800"/>
            <a:ext cx="2805112"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16863148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420806" y="2184087"/>
            <a:ext cx="11502900" cy="6021000"/>
          </a:xfrm>
          <a:prstGeom prst="rect">
            <a:avLst/>
          </a:prstGeom>
        </p:spPr>
        <p:txBody>
          <a:bodyPr spcFirstLastPara="1" wrap="square" lIns="172700" tIns="172700" rIns="172700" bIns="172700" anchor="b" anchorCtr="0">
            <a:noAutofit/>
          </a:bodyPr>
          <a:lstStyle>
            <a:lvl1pPr lvl="0" algn="ctr">
              <a:spcBef>
                <a:spcPts val="0"/>
              </a:spcBef>
              <a:spcAft>
                <a:spcPts val="0"/>
              </a:spcAft>
              <a:buSzPts val="9800"/>
              <a:buNone/>
              <a:defRPr sz="9800"/>
            </a:lvl1pPr>
            <a:lvl2pPr lvl="1" algn="ctr">
              <a:spcBef>
                <a:spcPts val="0"/>
              </a:spcBef>
              <a:spcAft>
                <a:spcPts val="0"/>
              </a:spcAft>
              <a:buSzPts val="9800"/>
              <a:buNone/>
              <a:defRPr sz="9800"/>
            </a:lvl2pPr>
            <a:lvl3pPr lvl="2" algn="ctr">
              <a:spcBef>
                <a:spcPts val="0"/>
              </a:spcBef>
              <a:spcAft>
                <a:spcPts val="0"/>
              </a:spcAft>
              <a:buSzPts val="9800"/>
              <a:buNone/>
              <a:defRPr sz="9800"/>
            </a:lvl3pPr>
            <a:lvl4pPr lvl="3" algn="ctr">
              <a:spcBef>
                <a:spcPts val="0"/>
              </a:spcBef>
              <a:spcAft>
                <a:spcPts val="0"/>
              </a:spcAft>
              <a:buSzPts val="9800"/>
              <a:buNone/>
              <a:defRPr sz="9800"/>
            </a:lvl4pPr>
            <a:lvl5pPr lvl="4" algn="ctr">
              <a:spcBef>
                <a:spcPts val="0"/>
              </a:spcBef>
              <a:spcAft>
                <a:spcPts val="0"/>
              </a:spcAft>
              <a:buSzPts val="9800"/>
              <a:buNone/>
              <a:defRPr sz="9800"/>
            </a:lvl5pPr>
            <a:lvl6pPr lvl="5" algn="ctr">
              <a:spcBef>
                <a:spcPts val="0"/>
              </a:spcBef>
              <a:spcAft>
                <a:spcPts val="0"/>
              </a:spcAft>
              <a:buSzPts val="9800"/>
              <a:buNone/>
              <a:defRPr sz="9800"/>
            </a:lvl6pPr>
            <a:lvl7pPr lvl="6" algn="ctr">
              <a:spcBef>
                <a:spcPts val="0"/>
              </a:spcBef>
              <a:spcAft>
                <a:spcPts val="0"/>
              </a:spcAft>
              <a:buSzPts val="9800"/>
              <a:buNone/>
              <a:defRPr sz="9800"/>
            </a:lvl7pPr>
            <a:lvl8pPr lvl="7" algn="ctr">
              <a:spcBef>
                <a:spcPts val="0"/>
              </a:spcBef>
              <a:spcAft>
                <a:spcPts val="0"/>
              </a:spcAft>
              <a:buSzPts val="9800"/>
              <a:buNone/>
              <a:defRPr sz="9800"/>
            </a:lvl8pPr>
            <a:lvl9pPr lvl="8" algn="ctr">
              <a:spcBef>
                <a:spcPts val="0"/>
              </a:spcBef>
              <a:spcAft>
                <a:spcPts val="0"/>
              </a:spcAft>
              <a:buSzPts val="9800"/>
              <a:buNone/>
              <a:defRPr sz="9800"/>
            </a:lvl9pPr>
          </a:lstStyle>
          <a:p>
            <a:endParaRPr/>
          </a:p>
        </p:txBody>
      </p:sp>
      <p:sp>
        <p:nvSpPr>
          <p:cNvPr id="11" name="Google Shape;11;p2"/>
          <p:cNvSpPr txBox="1">
            <a:spLocks noGrp="1"/>
          </p:cNvSpPr>
          <p:nvPr>
            <p:ph type="subTitle" idx="1"/>
          </p:nvPr>
        </p:nvSpPr>
        <p:spPr>
          <a:xfrm>
            <a:off x="420795" y="8313433"/>
            <a:ext cx="11502900" cy="2325000"/>
          </a:xfrm>
          <a:prstGeom prst="rect">
            <a:avLst/>
          </a:prstGeom>
        </p:spPr>
        <p:txBody>
          <a:bodyPr spcFirstLastPara="1" wrap="square" lIns="172700" tIns="172700" rIns="172700" bIns="172700" anchor="t" anchorCtr="0">
            <a:noAutofit/>
          </a:bodyPr>
          <a:lstStyle>
            <a:lvl1pPr lvl="0" algn="ctr">
              <a:lnSpc>
                <a:spcPct val="100000"/>
              </a:lnSpc>
              <a:spcBef>
                <a:spcPts val="0"/>
              </a:spcBef>
              <a:spcAft>
                <a:spcPts val="0"/>
              </a:spcAft>
              <a:buSzPts val="5300"/>
              <a:buNone/>
              <a:defRPr sz="5300"/>
            </a:lvl1pPr>
            <a:lvl2pPr lvl="1" algn="ctr">
              <a:lnSpc>
                <a:spcPct val="100000"/>
              </a:lnSpc>
              <a:spcBef>
                <a:spcPts val="0"/>
              </a:spcBef>
              <a:spcAft>
                <a:spcPts val="0"/>
              </a:spcAft>
              <a:buSzPts val="5300"/>
              <a:buNone/>
              <a:defRPr sz="5300"/>
            </a:lvl2pPr>
            <a:lvl3pPr lvl="2" algn="ctr">
              <a:lnSpc>
                <a:spcPct val="100000"/>
              </a:lnSpc>
              <a:spcBef>
                <a:spcPts val="0"/>
              </a:spcBef>
              <a:spcAft>
                <a:spcPts val="0"/>
              </a:spcAft>
              <a:buSzPts val="5300"/>
              <a:buNone/>
              <a:defRPr sz="5300"/>
            </a:lvl3pPr>
            <a:lvl4pPr lvl="3" algn="ctr">
              <a:lnSpc>
                <a:spcPct val="100000"/>
              </a:lnSpc>
              <a:spcBef>
                <a:spcPts val="0"/>
              </a:spcBef>
              <a:spcAft>
                <a:spcPts val="0"/>
              </a:spcAft>
              <a:buSzPts val="5300"/>
              <a:buNone/>
              <a:defRPr sz="5300"/>
            </a:lvl4pPr>
            <a:lvl5pPr lvl="4" algn="ctr">
              <a:lnSpc>
                <a:spcPct val="100000"/>
              </a:lnSpc>
              <a:spcBef>
                <a:spcPts val="0"/>
              </a:spcBef>
              <a:spcAft>
                <a:spcPts val="0"/>
              </a:spcAft>
              <a:buSzPts val="5300"/>
              <a:buNone/>
              <a:defRPr sz="5300"/>
            </a:lvl5pPr>
            <a:lvl6pPr lvl="5" algn="ctr">
              <a:lnSpc>
                <a:spcPct val="100000"/>
              </a:lnSpc>
              <a:spcBef>
                <a:spcPts val="0"/>
              </a:spcBef>
              <a:spcAft>
                <a:spcPts val="0"/>
              </a:spcAft>
              <a:buSzPts val="5300"/>
              <a:buNone/>
              <a:defRPr sz="5300"/>
            </a:lvl6pPr>
            <a:lvl7pPr lvl="6" algn="ctr">
              <a:lnSpc>
                <a:spcPct val="100000"/>
              </a:lnSpc>
              <a:spcBef>
                <a:spcPts val="0"/>
              </a:spcBef>
              <a:spcAft>
                <a:spcPts val="0"/>
              </a:spcAft>
              <a:buSzPts val="5300"/>
              <a:buNone/>
              <a:defRPr sz="5300"/>
            </a:lvl7pPr>
            <a:lvl8pPr lvl="7" algn="ctr">
              <a:lnSpc>
                <a:spcPct val="100000"/>
              </a:lnSpc>
              <a:spcBef>
                <a:spcPts val="0"/>
              </a:spcBef>
              <a:spcAft>
                <a:spcPts val="0"/>
              </a:spcAft>
              <a:buSzPts val="5300"/>
              <a:buNone/>
              <a:defRPr sz="5300"/>
            </a:lvl8pPr>
            <a:lvl9pPr lvl="8" algn="ctr">
              <a:lnSpc>
                <a:spcPct val="100000"/>
              </a:lnSpc>
              <a:spcBef>
                <a:spcPts val="0"/>
              </a:spcBef>
              <a:spcAft>
                <a:spcPts val="0"/>
              </a:spcAft>
              <a:buSzPts val="5300"/>
              <a:buNone/>
              <a:defRPr sz="5300"/>
            </a:lvl9pPr>
          </a:lstStyle>
          <a:p>
            <a:endParaRPr/>
          </a:p>
        </p:txBody>
      </p:sp>
      <p:sp>
        <p:nvSpPr>
          <p:cNvPr id="12" name="Google Shape;12;p2"/>
          <p:cNvSpPr txBox="1">
            <a:spLocks noGrp="1"/>
          </p:cNvSpPr>
          <p:nvPr>
            <p:ph type="sldNum" idx="12"/>
          </p:nvPr>
        </p:nvSpPr>
        <p:spPr>
          <a:xfrm>
            <a:off x="11437818" y="13678769"/>
            <a:ext cx="740700" cy="1154700"/>
          </a:xfrm>
          <a:prstGeom prst="rect">
            <a:avLst/>
          </a:prstGeom>
        </p:spPr>
        <p:txBody>
          <a:bodyPr spcFirstLastPara="1" wrap="square" lIns="172700" tIns="172700" rIns="172700" bIns="172700"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420795" y="6309160"/>
            <a:ext cx="11502900" cy="2469300"/>
          </a:xfrm>
          <a:prstGeom prst="rect">
            <a:avLst/>
          </a:prstGeom>
        </p:spPr>
        <p:txBody>
          <a:bodyPr spcFirstLastPara="1" wrap="square" lIns="172700" tIns="172700" rIns="172700" bIns="172700" anchor="ctr" anchorCtr="0">
            <a:noAutofit/>
          </a:bodyPr>
          <a:lstStyle>
            <a:lvl1pPr lvl="0" algn="ctr">
              <a:spcBef>
                <a:spcPts val="0"/>
              </a:spcBef>
              <a:spcAft>
                <a:spcPts val="0"/>
              </a:spcAft>
              <a:buSzPts val="6800"/>
              <a:buNone/>
              <a:defRPr sz="6800"/>
            </a:lvl1pPr>
            <a:lvl2pPr lvl="1" algn="ctr">
              <a:spcBef>
                <a:spcPts val="0"/>
              </a:spcBef>
              <a:spcAft>
                <a:spcPts val="0"/>
              </a:spcAft>
              <a:buSzPts val="6800"/>
              <a:buNone/>
              <a:defRPr sz="6800"/>
            </a:lvl2pPr>
            <a:lvl3pPr lvl="2" algn="ctr">
              <a:spcBef>
                <a:spcPts val="0"/>
              </a:spcBef>
              <a:spcAft>
                <a:spcPts val="0"/>
              </a:spcAft>
              <a:buSzPts val="6800"/>
              <a:buNone/>
              <a:defRPr sz="6800"/>
            </a:lvl3pPr>
            <a:lvl4pPr lvl="3" algn="ctr">
              <a:spcBef>
                <a:spcPts val="0"/>
              </a:spcBef>
              <a:spcAft>
                <a:spcPts val="0"/>
              </a:spcAft>
              <a:buSzPts val="6800"/>
              <a:buNone/>
              <a:defRPr sz="6800"/>
            </a:lvl4pPr>
            <a:lvl5pPr lvl="4" algn="ctr">
              <a:spcBef>
                <a:spcPts val="0"/>
              </a:spcBef>
              <a:spcAft>
                <a:spcPts val="0"/>
              </a:spcAft>
              <a:buSzPts val="6800"/>
              <a:buNone/>
              <a:defRPr sz="6800"/>
            </a:lvl5pPr>
            <a:lvl6pPr lvl="5" algn="ctr">
              <a:spcBef>
                <a:spcPts val="0"/>
              </a:spcBef>
              <a:spcAft>
                <a:spcPts val="0"/>
              </a:spcAft>
              <a:buSzPts val="6800"/>
              <a:buNone/>
              <a:defRPr sz="6800"/>
            </a:lvl6pPr>
            <a:lvl7pPr lvl="6" algn="ctr">
              <a:spcBef>
                <a:spcPts val="0"/>
              </a:spcBef>
              <a:spcAft>
                <a:spcPts val="0"/>
              </a:spcAft>
              <a:buSzPts val="6800"/>
              <a:buNone/>
              <a:defRPr sz="6800"/>
            </a:lvl7pPr>
            <a:lvl8pPr lvl="7" algn="ctr">
              <a:spcBef>
                <a:spcPts val="0"/>
              </a:spcBef>
              <a:spcAft>
                <a:spcPts val="0"/>
              </a:spcAft>
              <a:buSzPts val="6800"/>
              <a:buNone/>
              <a:defRPr sz="6800"/>
            </a:lvl8pPr>
            <a:lvl9pPr lvl="8" algn="ctr">
              <a:spcBef>
                <a:spcPts val="0"/>
              </a:spcBef>
              <a:spcAft>
                <a:spcPts val="0"/>
              </a:spcAft>
              <a:buSzPts val="6800"/>
              <a:buNone/>
              <a:defRPr sz="6800"/>
            </a:lvl9pPr>
          </a:lstStyle>
          <a:p>
            <a:endParaRPr/>
          </a:p>
        </p:txBody>
      </p:sp>
      <p:sp>
        <p:nvSpPr>
          <p:cNvPr id="15" name="Google Shape;15;p3"/>
          <p:cNvSpPr txBox="1">
            <a:spLocks noGrp="1"/>
          </p:cNvSpPr>
          <p:nvPr>
            <p:ph type="sldNum" idx="12"/>
          </p:nvPr>
        </p:nvSpPr>
        <p:spPr>
          <a:xfrm>
            <a:off x="11437818" y="13678769"/>
            <a:ext cx="740700" cy="1154700"/>
          </a:xfrm>
          <a:prstGeom prst="rect">
            <a:avLst/>
          </a:prstGeom>
        </p:spPr>
        <p:txBody>
          <a:bodyPr spcFirstLastPara="1" wrap="square" lIns="172700" tIns="172700" rIns="172700" bIns="172700"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420795" y="1305407"/>
            <a:ext cx="11502900" cy="1680000"/>
          </a:xfrm>
          <a:prstGeom prst="rect">
            <a:avLst/>
          </a:prstGeom>
        </p:spPr>
        <p:txBody>
          <a:bodyPr spcFirstLastPara="1" wrap="square" lIns="172700" tIns="172700" rIns="172700" bIns="172700" anchor="t" anchorCtr="0">
            <a:noAutofit/>
          </a:bodyPr>
          <a:lstStyle>
            <a:lvl1pPr lvl="0">
              <a:spcBef>
                <a:spcPts val="0"/>
              </a:spcBef>
              <a:spcAft>
                <a:spcPts val="0"/>
              </a:spcAft>
              <a:buSzPts val="5300"/>
              <a:buNone/>
              <a:defRPr/>
            </a:lvl1pPr>
            <a:lvl2pPr lvl="1">
              <a:spcBef>
                <a:spcPts val="0"/>
              </a:spcBef>
              <a:spcAft>
                <a:spcPts val="0"/>
              </a:spcAft>
              <a:buSzPts val="5300"/>
              <a:buNone/>
              <a:defRPr/>
            </a:lvl2pPr>
            <a:lvl3pPr lvl="2">
              <a:spcBef>
                <a:spcPts val="0"/>
              </a:spcBef>
              <a:spcAft>
                <a:spcPts val="0"/>
              </a:spcAft>
              <a:buSzPts val="5300"/>
              <a:buNone/>
              <a:defRPr/>
            </a:lvl3pPr>
            <a:lvl4pPr lvl="3">
              <a:spcBef>
                <a:spcPts val="0"/>
              </a:spcBef>
              <a:spcAft>
                <a:spcPts val="0"/>
              </a:spcAft>
              <a:buSzPts val="5300"/>
              <a:buNone/>
              <a:defRPr/>
            </a:lvl4pPr>
            <a:lvl5pPr lvl="4">
              <a:spcBef>
                <a:spcPts val="0"/>
              </a:spcBef>
              <a:spcAft>
                <a:spcPts val="0"/>
              </a:spcAft>
              <a:buSzPts val="5300"/>
              <a:buNone/>
              <a:defRPr/>
            </a:lvl5pPr>
            <a:lvl6pPr lvl="5">
              <a:spcBef>
                <a:spcPts val="0"/>
              </a:spcBef>
              <a:spcAft>
                <a:spcPts val="0"/>
              </a:spcAft>
              <a:buSzPts val="5300"/>
              <a:buNone/>
              <a:defRPr/>
            </a:lvl6pPr>
            <a:lvl7pPr lvl="6">
              <a:spcBef>
                <a:spcPts val="0"/>
              </a:spcBef>
              <a:spcAft>
                <a:spcPts val="0"/>
              </a:spcAft>
              <a:buSzPts val="5300"/>
              <a:buNone/>
              <a:defRPr/>
            </a:lvl7pPr>
            <a:lvl8pPr lvl="7">
              <a:spcBef>
                <a:spcPts val="0"/>
              </a:spcBef>
              <a:spcAft>
                <a:spcPts val="0"/>
              </a:spcAft>
              <a:buSzPts val="5300"/>
              <a:buNone/>
              <a:defRPr/>
            </a:lvl8pPr>
            <a:lvl9pPr lvl="8">
              <a:spcBef>
                <a:spcPts val="0"/>
              </a:spcBef>
              <a:spcAft>
                <a:spcPts val="0"/>
              </a:spcAft>
              <a:buSzPts val="5300"/>
              <a:buNone/>
              <a:defRPr/>
            </a:lvl9pPr>
          </a:lstStyle>
          <a:p>
            <a:endParaRPr/>
          </a:p>
        </p:txBody>
      </p:sp>
      <p:sp>
        <p:nvSpPr>
          <p:cNvPr id="18" name="Google Shape;18;p4"/>
          <p:cNvSpPr txBox="1">
            <a:spLocks noGrp="1"/>
          </p:cNvSpPr>
          <p:nvPr>
            <p:ph type="body" idx="1"/>
          </p:nvPr>
        </p:nvSpPr>
        <p:spPr>
          <a:xfrm>
            <a:off x="420795" y="3380593"/>
            <a:ext cx="11502900" cy="10021500"/>
          </a:xfrm>
          <a:prstGeom prst="rect">
            <a:avLst/>
          </a:prstGeom>
        </p:spPr>
        <p:txBody>
          <a:bodyPr spcFirstLastPara="1" wrap="square" lIns="172700" tIns="172700" rIns="172700" bIns="172700" anchor="t" anchorCtr="0">
            <a:noAutofit/>
          </a:bodyPr>
          <a:lstStyle>
            <a:lvl1pPr marL="457200" lvl="0" indent="-444500">
              <a:spcBef>
                <a:spcPts val="0"/>
              </a:spcBef>
              <a:spcAft>
                <a:spcPts val="0"/>
              </a:spcAft>
              <a:buSzPts val="3400"/>
              <a:buChar char="●"/>
              <a:defRPr/>
            </a:lvl1pPr>
            <a:lvl2pPr marL="914400" lvl="1" indent="-393700">
              <a:spcBef>
                <a:spcPts val="3000"/>
              </a:spcBef>
              <a:spcAft>
                <a:spcPts val="0"/>
              </a:spcAft>
              <a:buSzPts val="2600"/>
              <a:buChar char="○"/>
              <a:defRPr/>
            </a:lvl2pPr>
            <a:lvl3pPr marL="1371600" lvl="2" indent="-393700">
              <a:spcBef>
                <a:spcPts val="3000"/>
              </a:spcBef>
              <a:spcAft>
                <a:spcPts val="0"/>
              </a:spcAft>
              <a:buSzPts val="2600"/>
              <a:buChar char="■"/>
              <a:defRPr/>
            </a:lvl3pPr>
            <a:lvl4pPr marL="1828800" lvl="3" indent="-393700">
              <a:spcBef>
                <a:spcPts val="3000"/>
              </a:spcBef>
              <a:spcAft>
                <a:spcPts val="0"/>
              </a:spcAft>
              <a:buSzPts val="2600"/>
              <a:buChar char="●"/>
              <a:defRPr/>
            </a:lvl4pPr>
            <a:lvl5pPr marL="2286000" lvl="4" indent="-393700">
              <a:spcBef>
                <a:spcPts val="3000"/>
              </a:spcBef>
              <a:spcAft>
                <a:spcPts val="0"/>
              </a:spcAft>
              <a:buSzPts val="2600"/>
              <a:buChar char="○"/>
              <a:defRPr/>
            </a:lvl5pPr>
            <a:lvl6pPr marL="2743200" lvl="5" indent="-393700">
              <a:spcBef>
                <a:spcPts val="3000"/>
              </a:spcBef>
              <a:spcAft>
                <a:spcPts val="0"/>
              </a:spcAft>
              <a:buSzPts val="2600"/>
              <a:buChar char="■"/>
              <a:defRPr/>
            </a:lvl6pPr>
            <a:lvl7pPr marL="3200400" lvl="6" indent="-393700">
              <a:spcBef>
                <a:spcPts val="3000"/>
              </a:spcBef>
              <a:spcAft>
                <a:spcPts val="0"/>
              </a:spcAft>
              <a:buSzPts val="2600"/>
              <a:buChar char="●"/>
              <a:defRPr/>
            </a:lvl7pPr>
            <a:lvl8pPr marL="3657600" lvl="7" indent="-393700">
              <a:spcBef>
                <a:spcPts val="3000"/>
              </a:spcBef>
              <a:spcAft>
                <a:spcPts val="0"/>
              </a:spcAft>
              <a:buSzPts val="2600"/>
              <a:buChar char="○"/>
              <a:defRPr/>
            </a:lvl8pPr>
            <a:lvl9pPr marL="4114800" lvl="8" indent="-393700">
              <a:spcBef>
                <a:spcPts val="3000"/>
              </a:spcBef>
              <a:spcAft>
                <a:spcPts val="3000"/>
              </a:spcAft>
              <a:buSzPts val="2600"/>
              <a:buChar char="■"/>
              <a:defRPr/>
            </a:lvl9pPr>
          </a:lstStyle>
          <a:p>
            <a:endParaRPr/>
          </a:p>
        </p:txBody>
      </p:sp>
      <p:sp>
        <p:nvSpPr>
          <p:cNvPr id="19" name="Google Shape;19;p4"/>
          <p:cNvSpPr txBox="1">
            <a:spLocks noGrp="1"/>
          </p:cNvSpPr>
          <p:nvPr>
            <p:ph type="sldNum" idx="12"/>
          </p:nvPr>
        </p:nvSpPr>
        <p:spPr>
          <a:xfrm>
            <a:off x="11437818" y="13678769"/>
            <a:ext cx="740700" cy="1154700"/>
          </a:xfrm>
          <a:prstGeom prst="rect">
            <a:avLst/>
          </a:prstGeom>
        </p:spPr>
        <p:txBody>
          <a:bodyPr spcFirstLastPara="1" wrap="square" lIns="172700" tIns="172700" rIns="172700" bIns="172700"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420795" y="1305407"/>
            <a:ext cx="11502900" cy="1680000"/>
          </a:xfrm>
          <a:prstGeom prst="rect">
            <a:avLst/>
          </a:prstGeom>
        </p:spPr>
        <p:txBody>
          <a:bodyPr spcFirstLastPara="1" wrap="square" lIns="172700" tIns="172700" rIns="172700" bIns="172700" anchor="t" anchorCtr="0">
            <a:noAutofit/>
          </a:bodyPr>
          <a:lstStyle>
            <a:lvl1pPr lvl="0">
              <a:spcBef>
                <a:spcPts val="0"/>
              </a:spcBef>
              <a:spcAft>
                <a:spcPts val="0"/>
              </a:spcAft>
              <a:buSzPts val="5300"/>
              <a:buNone/>
              <a:defRPr/>
            </a:lvl1pPr>
            <a:lvl2pPr lvl="1">
              <a:spcBef>
                <a:spcPts val="0"/>
              </a:spcBef>
              <a:spcAft>
                <a:spcPts val="0"/>
              </a:spcAft>
              <a:buSzPts val="5300"/>
              <a:buNone/>
              <a:defRPr/>
            </a:lvl2pPr>
            <a:lvl3pPr lvl="2">
              <a:spcBef>
                <a:spcPts val="0"/>
              </a:spcBef>
              <a:spcAft>
                <a:spcPts val="0"/>
              </a:spcAft>
              <a:buSzPts val="5300"/>
              <a:buNone/>
              <a:defRPr/>
            </a:lvl3pPr>
            <a:lvl4pPr lvl="3">
              <a:spcBef>
                <a:spcPts val="0"/>
              </a:spcBef>
              <a:spcAft>
                <a:spcPts val="0"/>
              </a:spcAft>
              <a:buSzPts val="5300"/>
              <a:buNone/>
              <a:defRPr/>
            </a:lvl4pPr>
            <a:lvl5pPr lvl="4">
              <a:spcBef>
                <a:spcPts val="0"/>
              </a:spcBef>
              <a:spcAft>
                <a:spcPts val="0"/>
              </a:spcAft>
              <a:buSzPts val="5300"/>
              <a:buNone/>
              <a:defRPr/>
            </a:lvl5pPr>
            <a:lvl6pPr lvl="5">
              <a:spcBef>
                <a:spcPts val="0"/>
              </a:spcBef>
              <a:spcAft>
                <a:spcPts val="0"/>
              </a:spcAft>
              <a:buSzPts val="5300"/>
              <a:buNone/>
              <a:defRPr/>
            </a:lvl6pPr>
            <a:lvl7pPr lvl="6">
              <a:spcBef>
                <a:spcPts val="0"/>
              </a:spcBef>
              <a:spcAft>
                <a:spcPts val="0"/>
              </a:spcAft>
              <a:buSzPts val="5300"/>
              <a:buNone/>
              <a:defRPr/>
            </a:lvl7pPr>
            <a:lvl8pPr lvl="7">
              <a:spcBef>
                <a:spcPts val="0"/>
              </a:spcBef>
              <a:spcAft>
                <a:spcPts val="0"/>
              </a:spcAft>
              <a:buSzPts val="5300"/>
              <a:buNone/>
              <a:defRPr/>
            </a:lvl8pPr>
            <a:lvl9pPr lvl="8">
              <a:spcBef>
                <a:spcPts val="0"/>
              </a:spcBef>
              <a:spcAft>
                <a:spcPts val="0"/>
              </a:spcAft>
              <a:buSzPts val="5300"/>
              <a:buNone/>
              <a:defRPr/>
            </a:lvl9pPr>
          </a:lstStyle>
          <a:p>
            <a:endParaRPr/>
          </a:p>
        </p:txBody>
      </p:sp>
      <p:sp>
        <p:nvSpPr>
          <p:cNvPr id="22" name="Google Shape;22;p5"/>
          <p:cNvSpPr txBox="1">
            <a:spLocks noGrp="1"/>
          </p:cNvSpPr>
          <p:nvPr>
            <p:ph type="body" idx="1"/>
          </p:nvPr>
        </p:nvSpPr>
        <p:spPr>
          <a:xfrm>
            <a:off x="420795" y="3380593"/>
            <a:ext cx="5399700" cy="10021500"/>
          </a:xfrm>
          <a:prstGeom prst="rect">
            <a:avLst/>
          </a:prstGeom>
        </p:spPr>
        <p:txBody>
          <a:bodyPr spcFirstLastPara="1" wrap="square" lIns="172700" tIns="172700" rIns="172700" bIns="172700" anchor="t" anchorCtr="0">
            <a:noAutofit/>
          </a:bodyPr>
          <a:lstStyle>
            <a:lvl1pPr marL="457200" lvl="0" indent="-393700">
              <a:spcBef>
                <a:spcPts val="0"/>
              </a:spcBef>
              <a:spcAft>
                <a:spcPts val="0"/>
              </a:spcAft>
              <a:buSzPts val="2600"/>
              <a:buChar char="●"/>
              <a:defRPr sz="2600"/>
            </a:lvl1pPr>
            <a:lvl2pPr marL="914400" lvl="1" indent="-374650">
              <a:spcBef>
                <a:spcPts val="3000"/>
              </a:spcBef>
              <a:spcAft>
                <a:spcPts val="0"/>
              </a:spcAft>
              <a:buSzPts val="2300"/>
              <a:buChar char="○"/>
              <a:defRPr sz="2300"/>
            </a:lvl2pPr>
            <a:lvl3pPr marL="1371600" lvl="2" indent="-374650">
              <a:spcBef>
                <a:spcPts val="3000"/>
              </a:spcBef>
              <a:spcAft>
                <a:spcPts val="0"/>
              </a:spcAft>
              <a:buSzPts val="2300"/>
              <a:buChar char="■"/>
              <a:defRPr sz="2300"/>
            </a:lvl3pPr>
            <a:lvl4pPr marL="1828800" lvl="3" indent="-374650">
              <a:spcBef>
                <a:spcPts val="3000"/>
              </a:spcBef>
              <a:spcAft>
                <a:spcPts val="0"/>
              </a:spcAft>
              <a:buSzPts val="2300"/>
              <a:buChar char="●"/>
              <a:defRPr sz="2300"/>
            </a:lvl4pPr>
            <a:lvl5pPr marL="2286000" lvl="4" indent="-374650">
              <a:spcBef>
                <a:spcPts val="3000"/>
              </a:spcBef>
              <a:spcAft>
                <a:spcPts val="0"/>
              </a:spcAft>
              <a:buSzPts val="2300"/>
              <a:buChar char="○"/>
              <a:defRPr sz="2300"/>
            </a:lvl5pPr>
            <a:lvl6pPr marL="2743200" lvl="5" indent="-374650">
              <a:spcBef>
                <a:spcPts val="3000"/>
              </a:spcBef>
              <a:spcAft>
                <a:spcPts val="0"/>
              </a:spcAft>
              <a:buSzPts val="2300"/>
              <a:buChar char="■"/>
              <a:defRPr sz="2300"/>
            </a:lvl6pPr>
            <a:lvl7pPr marL="3200400" lvl="6" indent="-374650">
              <a:spcBef>
                <a:spcPts val="3000"/>
              </a:spcBef>
              <a:spcAft>
                <a:spcPts val="0"/>
              </a:spcAft>
              <a:buSzPts val="2300"/>
              <a:buChar char="●"/>
              <a:defRPr sz="2300"/>
            </a:lvl7pPr>
            <a:lvl8pPr marL="3657600" lvl="7" indent="-374650">
              <a:spcBef>
                <a:spcPts val="3000"/>
              </a:spcBef>
              <a:spcAft>
                <a:spcPts val="0"/>
              </a:spcAft>
              <a:buSzPts val="2300"/>
              <a:buChar char="○"/>
              <a:defRPr sz="2300"/>
            </a:lvl8pPr>
            <a:lvl9pPr marL="4114800" lvl="8" indent="-374650">
              <a:spcBef>
                <a:spcPts val="3000"/>
              </a:spcBef>
              <a:spcAft>
                <a:spcPts val="3000"/>
              </a:spcAft>
              <a:buSzPts val="2300"/>
              <a:buChar char="■"/>
              <a:defRPr sz="2300"/>
            </a:lvl9pPr>
          </a:lstStyle>
          <a:p>
            <a:endParaRPr/>
          </a:p>
        </p:txBody>
      </p:sp>
      <p:sp>
        <p:nvSpPr>
          <p:cNvPr id="23" name="Google Shape;23;p5"/>
          <p:cNvSpPr txBox="1">
            <a:spLocks noGrp="1"/>
          </p:cNvSpPr>
          <p:nvPr>
            <p:ph type="body" idx="2"/>
          </p:nvPr>
        </p:nvSpPr>
        <p:spPr>
          <a:xfrm>
            <a:off x="6523740" y="3380593"/>
            <a:ext cx="5399700" cy="10021500"/>
          </a:xfrm>
          <a:prstGeom prst="rect">
            <a:avLst/>
          </a:prstGeom>
        </p:spPr>
        <p:txBody>
          <a:bodyPr spcFirstLastPara="1" wrap="square" lIns="172700" tIns="172700" rIns="172700" bIns="172700" anchor="t" anchorCtr="0">
            <a:noAutofit/>
          </a:bodyPr>
          <a:lstStyle>
            <a:lvl1pPr marL="457200" lvl="0" indent="-393700">
              <a:spcBef>
                <a:spcPts val="0"/>
              </a:spcBef>
              <a:spcAft>
                <a:spcPts val="0"/>
              </a:spcAft>
              <a:buSzPts val="2600"/>
              <a:buChar char="●"/>
              <a:defRPr sz="2600"/>
            </a:lvl1pPr>
            <a:lvl2pPr marL="914400" lvl="1" indent="-374650">
              <a:spcBef>
                <a:spcPts val="3000"/>
              </a:spcBef>
              <a:spcAft>
                <a:spcPts val="0"/>
              </a:spcAft>
              <a:buSzPts val="2300"/>
              <a:buChar char="○"/>
              <a:defRPr sz="2300"/>
            </a:lvl2pPr>
            <a:lvl3pPr marL="1371600" lvl="2" indent="-374650">
              <a:spcBef>
                <a:spcPts val="3000"/>
              </a:spcBef>
              <a:spcAft>
                <a:spcPts val="0"/>
              </a:spcAft>
              <a:buSzPts val="2300"/>
              <a:buChar char="■"/>
              <a:defRPr sz="2300"/>
            </a:lvl3pPr>
            <a:lvl4pPr marL="1828800" lvl="3" indent="-374650">
              <a:spcBef>
                <a:spcPts val="3000"/>
              </a:spcBef>
              <a:spcAft>
                <a:spcPts val="0"/>
              </a:spcAft>
              <a:buSzPts val="2300"/>
              <a:buChar char="●"/>
              <a:defRPr sz="2300"/>
            </a:lvl4pPr>
            <a:lvl5pPr marL="2286000" lvl="4" indent="-374650">
              <a:spcBef>
                <a:spcPts val="3000"/>
              </a:spcBef>
              <a:spcAft>
                <a:spcPts val="0"/>
              </a:spcAft>
              <a:buSzPts val="2300"/>
              <a:buChar char="○"/>
              <a:defRPr sz="2300"/>
            </a:lvl5pPr>
            <a:lvl6pPr marL="2743200" lvl="5" indent="-374650">
              <a:spcBef>
                <a:spcPts val="3000"/>
              </a:spcBef>
              <a:spcAft>
                <a:spcPts val="0"/>
              </a:spcAft>
              <a:buSzPts val="2300"/>
              <a:buChar char="■"/>
              <a:defRPr sz="2300"/>
            </a:lvl6pPr>
            <a:lvl7pPr marL="3200400" lvl="6" indent="-374650">
              <a:spcBef>
                <a:spcPts val="3000"/>
              </a:spcBef>
              <a:spcAft>
                <a:spcPts val="0"/>
              </a:spcAft>
              <a:buSzPts val="2300"/>
              <a:buChar char="●"/>
              <a:defRPr sz="2300"/>
            </a:lvl7pPr>
            <a:lvl8pPr marL="3657600" lvl="7" indent="-374650">
              <a:spcBef>
                <a:spcPts val="3000"/>
              </a:spcBef>
              <a:spcAft>
                <a:spcPts val="0"/>
              </a:spcAft>
              <a:buSzPts val="2300"/>
              <a:buChar char="○"/>
              <a:defRPr sz="2300"/>
            </a:lvl8pPr>
            <a:lvl9pPr marL="4114800" lvl="8" indent="-374650">
              <a:spcBef>
                <a:spcPts val="3000"/>
              </a:spcBef>
              <a:spcAft>
                <a:spcPts val="3000"/>
              </a:spcAft>
              <a:buSzPts val="2300"/>
              <a:buChar char="■"/>
              <a:defRPr sz="2300"/>
            </a:lvl9pPr>
          </a:lstStyle>
          <a:p>
            <a:endParaRPr/>
          </a:p>
        </p:txBody>
      </p:sp>
      <p:sp>
        <p:nvSpPr>
          <p:cNvPr id="24" name="Google Shape;24;p5"/>
          <p:cNvSpPr txBox="1">
            <a:spLocks noGrp="1"/>
          </p:cNvSpPr>
          <p:nvPr>
            <p:ph type="sldNum" idx="12"/>
          </p:nvPr>
        </p:nvSpPr>
        <p:spPr>
          <a:xfrm>
            <a:off x="11437818" y="13678769"/>
            <a:ext cx="740700" cy="1154700"/>
          </a:xfrm>
          <a:prstGeom prst="rect">
            <a:avLst/>
          </a:prstGeom>
        </p:spPr>
        <p:txBody>
          <a:bodyPr spcFirstLastPara="1" wrap="square" lIns="172700" tIns="172700" rIns="172700" bIns="172700"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420795" y="1305407"/>
            <a:ext cx="11502900" cy="1680000"/>
          </a:xfrm>
          <a:prstGeom prst="rect">
            <a:avLst/>
          </a:prstGeom>
        </p:spPr>
        <p:txBody>
          <a:bodyPr spcFirstLastPara="1" wrap="square" lIns="172700" tIns="172700" rIns="172700" bIns="172700" anchor="t" anchorCtr="0">
            <a:noAutofit/>
          </a:bodyPr>
          <a:lstStyle>
            <a:lvl1pPr lvl="0">
              <a:spcBef>
                <a:spcPts val="0"/>
              </a:spcBef>
              <a:spcAft>
                <a:spcPts val="0"/>
              </a:spcAft>
              <a:buSzPts val="5300"/>
              <a:buNone/>
              <a:defRPr/>
            </a:lvl1pPr>
            <a:lvl2pPr lvl="1">
              <a:spcBef>
                <a:spcPts val="0"/>
              </a:spcBef>
              <a:spcAft>
                <a:spcPts val="0"/>
              </a:spcAft>
              <a:buSzPts val="5300"/>
              <a:buNone/>
              <a:defRPr/>
            </a:lvl2pPr>
            <a:lvl3pPr lvl="2">
              <a:spcBef>
                <a:spcPts val="0"/>
              </a:spcBef>
              <a:spcAft>
                <a:spcPts val="0"/>
              </a:spcAft>
              <a:buSzPts val="5300"/>
              <a:buNone/>
              <a:defRPr/>
            </a:lvl3pPr>
            <a:lvl4pPr lvl="3">
              <a:spcBef>
                <a:spcPts val="0"/>
              </a:spcBef>
              <a:spcAft>
                <a:spcPts val="0"/>
              </a:spcAft>
              <a:buSzPts val="5300"/>
              <a:buNone/>
              <a:defRPr/>
            </a:lvl4pPr>
            <a:lvl5pPr lvl="4">
              <a:spcBef>
                <a:spcPts val="0"/>
              </a:spcBef>
              <a:spcAft>
                <a:spcPts val="0"/>
              </a:spcAft>
              <a:buSzPts val="5300"/>
              <a:buNone/>
              <a:defRPr/>
            </a:lvl5pPr>
            <a:lvl6pPr lvl="5">
              <a:spcBef>
                <a:spcPts val="0"/>
              </a:spcBef>
              <a:spcAft>
                <a:spcPts val="0"/>
              </a:spcAft>
              <a:buSzPts val="5300"/>
              <a:buNone/>
              <a:defRPr/>
            </a:lvl6pPr>
            <a:lvl7pPr lvl="6">
              <a:spcBef>
                <a:spcPts val="0"/>
              </a:spcBef>
              <a:spcAft>
                <a:spcPts val="0"/>
              </a:spcAft>
              <a:buSzPts val="5300"/>
              <a:buNone/>
              <a:defRPr/>
            </a:lvl7pPr>
            <a:lvl8pPr lvl="7">
              <a:spcBef>
                <a:spcPts val="0"/>
              </a:spcBef>
              <a:spcAft>
                <a:spcPts val="0"/>
              </a:spcAft>
              <a:buSzPts val="5300"/>
              <a:buNone/>
              <a:defRPr/>
            </a:lvl8pPr>
            <a:lvl9pPr lvl="8">
              <a:spcBef>
                <a:spcPts val="0"/>
              </a:spcBef>
              <a:spcAft>
                <a:spcPts val="0"/>
              </a:spcAft>
              <a:buSzPts val="5300"/>
              <a:buNone/>
              <a:defRPr/>
            </a:lvl9pPr>
          </a:lstStyle>
          <a:p>
            <a:endParaRPr/>
          </a:p>
        </p:txBody>
      </p:sp>
      <p:sp>
        <p:nvSpPr>
          <p:cNvPr id="27" name="Google Shape;27;p6"/>
          <p:cNvSpPr txBox="1">
            <a:spLocks noGrp="1"/>
          </p:cNvSpPr>
          <p:nvPr>
            <p:ph type="sldNum" idx="12"/>
          </p:nvPr>
        </p:nvSpPr>
        <p:spPr>
          <a:xfrm>
            <a:off x="11437818" y="13678769"/>
            <a:ext cx="740700" cy="1154700"/>
          </a:xfrm>
          <a:prstGeom prst="rect">
            <a:avLst/>
          </a:prstGeom>
        </p:spPr>
        <p:txBody>
          <a:bodyPr spcFirstLastPara="1" wrap="square" lIns="172700" tIns="172700" rIns="172700" bIns="172700"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420795" y="1629760"/>
            <a:ext cx="3790800" cy="2216700"/>
          </a:xfrm>
          <a:prstGeom prst="rect">
            <a:avLst/>
          </a:prstGeom>
        </p:spPr>
        <p:txBody>
          <a:bodyPr spcFirstLastPara="1" wrap="square" lIns="172700" tIns="172700" rIns="172700" bIns="172700" anchor="b" anchorCtr="0">
            <a:noAutofit/>
          </a:bodyPr>
          <a:lstStyle>
            <a:lvl1pPr lvl="0">
              <a:spcBef>
                <a:spcPts val="0"/>
              </a:spcBef>
              <a:spcAft>
                <a:spcPts val="0"/>
              </a:spcAft>
              <a:buSzPts val="4500"/>
              <a:buNone/>
              <a:defRPr sz="4500"/>
            </a:lvl1pPr>
            <a:lvl2pPr lvl="1">
              <a:spcBef>
                <a:spcPts val="0"/>
              </a:spcBef>
              <a:spcAft>
                <a:spcPts val="0"/>
              </a:spcAft>
              <a:buSzPts val="4500"/>
              <a:buNone/>
              <a:defRPr sz="4500"/>
            </a:lvl2pPr>
            <a:lvl3pPr lvl="2">
              <a:spcBef>
                <a:spcPts val="0"/>
              </a:spcBef>
              <a:spcAft>
                <a:spcPts val="0"/>
              </a:spcAft>
              <a:buSzPts val="4500"/>
              <a:buNone/>
              <a:defRPr sz="4500"/>
            </a:lvl3pPr>
            <a:lvl4pPr lvl="3">
              <a:spcBef>
                <a:spcPts val="0"/>
              </a:spcBef>
              <a:spcAft>
                <a:spcPts val="0"/>
              </a:spcAft>
              <a:buSzPts val="4500"/>
              <a:buNone/>
              <a:defRPr sz="4500"/>
            </a:lvl4pPr>
            <a:lvl5pPr lvl="4">
              <a:spcBef>
                <a:spcPts val="0"/>
              </a:spcBef>
              <a:spcAft>
                <a:spcPts val="0"/>
              </a:spcAft>
              <a:buSzPts val="4500"/>
              <a:buNone/>
              <a:defRPr sz="4500"/>
            </a:lvl5pPr>
            <a:lvl6pPr lvl="5">
              <a:spcBef>
                <a:spcPts val="0"/>
              </a:spcBef>
              <a:spcAft>
                <a:spcPts val="0"/>
              </a:spcAft>
              <a:buSzPts val="4500"/>
              <a:buNone/>
              <a:defRPr sz="4500"/>
            </a:lvl6pPr>
            <a:lvl7pPr lvl="6">
              <a:spcBef>
                <a:spcPts val="0"/>
              </a:spcBef>
              <a:spcAft>
                <a:spcPts val="0"/>
              </a:spcAft>
              <a:buSzPts val="4500"/>
              <a:buNone/>
              <a:defRPr sz="4500"/>
            </a:lvl7pPr>
            <a:lvl8pPr lvl="7">
              <a:spcBef>
                <a:spcPts val="0"/>
              </a:spcBef>
              <a:spcAft>
                <a:spcPts val="0"/>
              </a:spcAft>
              <a:buSzPts val="4500"/>
              <a:buNone/>
              <a:defRPr sz="4500"/>
            </a:lvl8pPr>
            <a:lvl9pPr lvl="8">
              <a:spcBef>
                <a:spcPts val="0"/>
              </a:spcBef>
              <a:spcAft>
                <a:spcPts val="0"/>
              </a:spcAft>
              <a:buSzPts val="4500"/>
              <a:buNone/>
              <a:defRPr sz="4500"/>
            </a:lvl9pPr>
          </a:lstStyle>
          <a:p>
            <a:endParaRPr/>
          </a:p>
        </p:txBody>
      </p:sp>
      <p:sp>
        <p:nvSpPr>
          <p:cNvPr id="30" name="Google Shape;30;p7"/>
          <p:cNvSpPr txBox="1">
            <a:spLocks noGrp="1"/>
          </p:cNvSpPr>
          <p:nvPr>
            <p:ph type="body" idx="1"/>
          </p:nvPr>
        </p:nvSpPr>
        <p:spPr>
          <a:xfrm>
            <a:off x="420795" y="4076160"/>
            <a:ext cx="3790800" cy="9326100"/>
          </a:xfrm>
          <a:prstGeom prst="rect">
            <a:avLst/>
          </a:prstGeom>
        </p:spPr>
        <p:txBody>
          <a:bodyPr spcFirstLastPara="1" wrap="square" lIns="172700" tIns="172700" rIns="172700" bIns="172700" anchor="t" anchorCtr="0">
            <a:noAutofit/>
          </a:bodyPr>
          <a:lstStyle>
            <a:lvl1pPr marL="457200" lvl="0" indent="-374650">
              <a:spcBef>
                <a:spcPts val="0"/>
              </a:spcBef>
              <a:spcAft>
                <a:spcPts val="0"/>
              </a:spcAft>
              <a:buSzPts val="2300"/>
              <a:buChar char="●"/>
              <a:defRPr sz="2300"/>
            </a:lvl1pPr>
            <a:lvl2pPr marL="914400" lvl="1" indent="-374650">
              <a:spcBef>
                <a:spcPts val="3000"/>
              </a:spcBef>
              <a:spcAft>
                <a:spcPts val="0"/>
              </a:spcAft>
              <a:buSzPts val="2300"/>
              <a:buChar char="○"/>
              <a:defRPr sz="2300"/>
            </a:lvl2pPr>
            <a:lvl3pPr marL="1371600" lvl="2" indent="-374650">
              <a:spcBef>
                <a:spcPts val="3000"/>
              </a:spcBef>
              <a:spcAft>
                <a:spcPts val="0"/>
              </a:spcAft>
              <a:buSzPts val="2300"/>
              <a:buChar char="■"/>
              <a:defRPr sz="2300"/>
            </a:lvl3pPr>
            <a:lvl4pPr marL="1828800" lvl="3" indent="-374650">
              <a:spcBef>
                <a:spcPts val="3000"/>
              </a:spcBef>
              <a:spcAft>
                <a:spcPts val="0"/>
              </a:spcAft>
              <a:buSzPts val="2300"/>
              <a:buChar char="●"/>
              <a:defRPr sz="2300"/>
            </a:lvl4pPr>
            <a:lvl5pPr marL="2286000" lvl="4" indent="-374650">
              <a:spcBef>
                <a:spcPts val="3000"/>
              </a:spcBef>
              <a:spcAft>
                <a:spcPts val="0"/>
              </a:spcAft>
              <a:buSzPts val="2300"/>
              <a:buChar char="○"/>
              <a:defRPr sz="2300"/>
            </a:lvl5pPr>
            <a:lvl6pPr marL="2743200" lvl="5" indent="-374650">
              <a:spcBef>
                <a:spcPts val="3000"/>
              </a:spcBef>
              <a:spcAft>
                <a:spcPts val="0"/>
              </a:spcAft>
              <a:buSzPts val="2300"/>
              <a:buChar char="■"/>
              <a:defRPr sz="2300"/>
            </a:lvl6pPr>
            <a:lvl7pPr marL="3200400" lvl="6" indent="-374650">
              <a:spcBef>
                <a:spcPts val="3000"/>
              </a:spcBef>
              <a:spcAft>
                <a:spcPts val="0"/>
              </a:spcAft>
              <a:buSzPts val="2300"/>
              <a:buChar char="●"/>
              <a:defRPr sz="2300"/>
            </a:lvl7pPr>
            <a:lvl8pPr marL="3657600" lvl="7" indent="-374650">
              <a:spcBef>
                <a:spcPts val="3000"/>
              </a:spcBef>
              <a:spcAft>
                <a:spcPts val="0"/>
              </a:spcAft>
              <a:buSzPts val="2300"/>
              <a:buChar char="○"/>
              <a:defRPr sz="2300"/>
            </a:lvl8pPr>
            <a:lvl9pPr marL="4114800" lvl="8" indent="-374650">
              <a:spcBef>
                <a:spcPts val="3000"/>
              </a:spcBef>
              <a:spcAft>
                <a:spcPts val="3000"/>
              </a:spcAft>
              <a:buSzPts val="2300"/>
              <a:buChar char="■"/>
              <a:defRPr sz="2300"/>
            </a:lvl9pPr>
          </a:lstStyle>
          <a:p>
            <a:endParaRPr/>
          </a:p>
        </p:txBody>
      </p:sp>
      <p:sp>
        <p:nvSpPr>
          <p:cNvPr id="31" name="Google Shape;31;p7"/>
          <p:cNvSpPr txBox="1">
            <a:spLocks noGrp="1"/>
          </p:cNvSpPr>
          <p:nvPr>
            <p:ph type="sldNum" idx="12"/>
          </p:nvPr>
        </p:nvSpPr>
        <p:spPr>
          <a:xfrm>
            <a:off x="11437818" y="13678769"/>
            <a:ext cx="740700" cy="1154700"/>
          </a:xfrm>
          <a:prstGeom prst="rect">
            <a:avLst/>
          </a:prstGeom>
        </p:spPr>
        <p:txBody>
          <a:bodyPr spcFirstLastPara="1" wrap="square" lIns="172700" tIns="172700" rIns="172700" bIns="172700"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661838" y="1320440"/>
            <a:ext cx="8596500" cy="11999700"/>
          </a:xfrm>
          <a:prstGeom prst="rect">
            <a:avLst/>
          </a:prstGeom>
        </p:spPr>
        <p:txBody>
          <a:bodyPr spcFirstLastPara="1" wrap="square" lIns="172700" tIns="172700" rIns="172700" bIns="172700" anchor="ctr" anchorCtr="0">
            <a:noAutofit/>
          </a:bodyPr>
          <a:lstStyle>
            <a:lvl1pPr lvl="0">
              <a:spcBef>
                <a:spcPts val="0"/>
              </a:spcBef>
              <a:spcAft>
                <a:spcPts val="0"/>
              </a:spcAft>
              <a:buSzPts val="9100"/>
              <a:buNone/>
              <a:defRPr sz="9100"/>
            </a:lvl1pPr>
            <a:lvl2pPr lvl="1">
              <a:spcBef>
                <a:spcPts val="0"/>
              </a:spcBef>
              <a:spcAft>
                <a:spcPts val="0"/>
              </a:spcAft>
              <a:buSzPts val="9100"/>
              <a:buNone/>
              <a:defRPr sz="9100"/>
            </a:lvl2pPr>
            <a:lvl3pPr lvl="2">
              <a:spcBef>
                <a:spcPts val="0"/>
              </a:spcBef>
              <a:spcAft>
                <a:spcPts val="0"/>
              </a:spcAft>
              <a:buSzPts val="9100"/>
              <a:buNone/>
              <a:defRPr sz="9100"/>
            </a:lvl3pPr>
            <a:lvl4pPr lvl="3">
              <a:spcBef>
                <a:spcPts val="0"/>
              </a:spcBef>
              <a:spcAft>
                <a:spcPts val="0"/>
              </a:spcAft>
              <a:buSzPts val="9100"/>
              <a:buNone/>
              <a:defRPr sz="9100"/>
            </a:lvl4pPr>
            <a:lvl5pPr lvl="4">
              <a:spcBef>
                <a:spcPts val="0"/>
              </a:spcBef>
              <a:spcAft>
                <a:spcPts val="0"/>
              </a:spcAft>
              <a:buSzPts val="9100"/>
              <a:buNone/>
              <a:defRPr sz="9100"/>
            </a:lvl5pPr>
            <a:lvl6pPr lvl="5">
              <a:spcBef>
                <a:spcPts val="0"/>
              </a:spcBef>
              <a:spcAft>
                <a:spcPts val="0"/>
              </a:spcAft>
              <a:buSzPts val="9100"/>
              <a:buNone/>
              <a:defRPr sz="9100"/>
            </a:lvl6pPr>
            <a:lvl7pPr lvl="6">
              <a:spcBef>
                <a:spcPts val="0"/>
              </a:spcBef>
              <a:spcAft>
                <a:spcPts val="0"/>
              </a:spcAft>
              <a:buSzPts val="9100"/>
              <a:buNone/>
              <a:defRPr sz="9100"/>
            </a:lvl7pPr>
            <a:lvl8pPr lvl="7">
              <a:spcBef>
                <a:spcPts val="0"/>
              </a:spcBef>
              <a:spcAft>
                <a:spcPts val="0"/>
              </a:spcAft>
              <a:buSzPts val="9100"/>
              <a:buNone/>
              <a:defRPr sz="9100"/>
            </a:lvl8pPr>
            <a:lvl9pPr lvl="8">
              <a:spcBef>
                <a:spcPts val="0"/>
              </a:spcBef>
              <a:spcAft>
                <a:spcPts val="0"/>
              </a:spcAft>
              <a:buSzPts val="9100"/>
              <a:buNone/>
              <a:defRPr sz="9100"/>
            </a:lvl9pPr>
          </a:lstStyle>
          <a:p>
            <a:endParaRPr/>
          </a:p>
        </p:txBody>
      </p:sp>
      <p:sp>
        <p:nvSpPr>
          <p:cNvPr id="34" name="Google Shape;34;p8"/>
          <p:cNvSpPr txBox="1">
            <a:spLocks noGrp="1"/>
          </p:cNvSpPr>
          <p:nvPr>
            <p:ph type="sldNum" idx="12"/>
          </p:nvPr>
        </p:nvSpPr>
        <p:spPr>
          <a:xfrm>
            <a:off x="11437818" y="13678769"/>
            <a:ext cx="740700" cy="1154700"/>
          </a:xfrm>
          <a:prstGeom prst="rect">
            <a:avLst/>
          </a:prstGeom>
        </p:spPr>
        <p:txBody>
          <a:bodyPr spcFirstLastPara="1" wrap="square" lIns="172700" tIns="172700" rIns="172700" bIns="172700"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6172200" y="-367"/>
            <a:ext cx="6172200" cy="15087600"/>
          </a:xfrm>
          <a:prstGeom prst="rect">
            <a:avLst/>
          </a:prstGeom>
          <a:solidFill>
            <a:schemeClr val="lt2"/>
          </a:solidFill>
          <a:ln>
            <a:noFill/>
          </a:ln>
        </p:spPr>
        <p:txBody>
          <a:bodyPr spcFirstLastPara="1" wrap="square" lIns="172700" tIns="172700" rIns="172700" bIns="172700"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358425" y="3617313"/>
            <a:ext cx="5460900" cy="4348200"/>
          </a:xfrm>
          <a:prstGeom prst="rect">
            <a:avLst/>
          </a:prstGeom>
        </p:spPr>
        <p:txBody>
          <a:bodyPr spcFirstLastPara="1" wrap="square" lIns="172700" tIns="172700" rIns="172700" bIns="172700" anchor="b" anchorCtr="0">
            <a:noAutofit/>
          </a:bodyPr>
          <a:lstStyle>
            <a:lvl1pPr lvl="0" algn="ctr">
              <a:spcBef>
                <a:spcPts val="0"/>
              </a:spcBef>
              <a:spcAft>
                <a:spcPts val="0"/>
              </a:spcAft>
              <a:buSzPts val="7900"/>
              <a:buNone/>
              <a:defRPr sz="7900"/>
            </a:lvl1pPr>
            <a:lvl2pPr lvl="1" algn="ctr">
              <a:spcBef>
                <a:spcPts val="0"/>
              </a:spcBef>
              <a:spcAft>
                <a:spcPts val="0"/>
              </a:spcAft>
              <a:buSzPts val="7900"/>
              <a:buNone/>
              <a:defRPr sz="7900"/>
            </a:lvl2pPr>
            <a:lvl3pPr lvl="2" algn="ctr">
              <a:spcBef>
                <a:spcPts val="0"/>
              </a:spcBef>
              <a:spcAft>
                <a:spcPts val="0"/>
              </a:spcAft>
              <a:buSzPts val="7900"/>
              <a:buNone/>
              <a:defRPr sz="7900"/>
            </a:lvl3pPr>
            <a:lvl4pPr lvl="3" algn="ctr">
              <a:spcBef>
                <a:spcPts val="0"/>
              </a:spcBef>
              <a:spcAft>
                <a:spcPts val="0"/>
              </a:spcAft>
              <a:buSzPts val="7900"/>
              <a:buNone/>
              <a:defRPr sz="7900"/>
            </a:lvl4pPr>
            <a:lvl5pPr lvl="4" algn="ctr">
              <a:spcBef>
                <a:spcPts val="0"/>
              </a:spcBef>
              <a:spcAft>
                <a:spcPts val="0"/>
              </a:spcAft>
              <a:buSzPts val="7900"/>
              <a:buNone/>
              <a:defRPr sz="7900"/>
            </a:lvl5pPr>
            <a:lvl6pPr lvl="5" algn="ctr">
              <a:spcBef>
                <a:spcPts val="0"/>
              </a:spcBef>
              <a:spcAft>
                <a:spcPts val="0"/>
              </a:spcAft>
              <a:buSzPts val="7900"/>
              <a:buNone/>
              <a:defRPr sz="7900"/>
            </a:lvl6pPr>
            <a:lvl7pPr lvl="6" algn="ctr">
              <a:spcBef>
                <a:spcPts val="0"/>
              </a:spcBef>
              <a:spcAft>
                <a:spcPts val="0"/>
              </a:spcAft>
              <a:buSzPts val="7900"/>
              <a:buNone/>
              <a:defRPr sz="7900"/>
            </a:lvl7pPr>
            <a:lvl8pPr lvl="7" algn="ctr">
              <a:spcBef>
                <a:spcPts val="0"/>
              </a:spcBef>
              <a:spcAft>
                <a:spcPts val="0"/>
              </a:spcAft>
              <a:buSzPts val="7900"/>
              <a:buNone/>
              <a:defRPr sz="7900"/>
            </a:lvl8pPr>
            <a:lvl9pPr lvl="8" algn="ctr">
              <a:spcBef>
                <a:spcPts val="0"/>
              </a:spcBef>
              <a:spcAft>
                <a:spcPts val="0"/>
              </a:spcAft>
              <a:buSzPts val="7900"/>
              <a:buNone/>
              <a:defRPr sz="7900"/>
            </a:lvl9pPr>
          </a:lstStyle>
          <a:p>
            <a:endParaRPr/>
          </a:p>
        </p:txBody>
      </p:sp>
      <p:sp>
        <p:nvSpPr>
          <p:cNvPr id="38" name="Google Shape;38;p9"/>
          <p:cNvSpPr txBox="1">
            <a:spLocks noGrp="1"/>
          </p:cNvSpPr>
          <p:nvPr>
            <p:ph type="subTitle" idx="1"/>
          </p:nvPr>
        </p:nvSpPr>
        <p:spPr>
          <a:xfrm>
            <a:off x="358425" y="8222353"/>
            <a:ext cx="5460900" cy="3623100"/>
          </a:xfrm>
          <a:prstGeom prst="rect">
            <a:avLst/>
          </a:prstGeom>
        </p:spPr>
        <p:txBody>
          <a:bodyPr spcFirstLastPara="1" wrap="square" lIns="172700" tIns="172700" rIns="172700" bIns="172700" anchor="t" anchorCtr="0">
            <a:noAutofit/>
          </a:bodyPr>
          <a:lstStyle>
            <a:lvl1pPr lvl="0" algn="ctr">
              <a:lnSpc>
                <a:spcPct val="100000"/>
              </a:lnSpc>
              <a:spcBef>
                <a:spcPts val="0"/>
              </a:spcBef>
              <a:spcAft>
                <a:spcPts val="0"/>
              </a:spcAft>
              <a:buSzPts val="4000"/>
              <a:buNone/>
              <a:defRPr sz="4000"/>
            </a:lvl1pPr>
            <a:lvl2pPr lvl="1" algn="ctr">
              <a:lnSpc>
                <a:spcPct val="100000"/>
              </a:lnSpc>
              <a:spcBef>
                <a:spcPts val="0"/>
              </a:spcBef>
              <a:spcAft>
                <a:spcPts val="0"/>
              </a:spcAft>
              <a:buSzPts val="4000"/>
              <a:buNone/>
              <a:defRPr sz="4000"/>
            </a:lvl2pPr>
            <a:lvl3pPr lvl="2" algn="ctr">
              <a:lnSpc>
                <a:spcPct val="100000"/>
              </a:lnSpc>
              <a:spcBef>
                <a:spcPts val="0"/>
              </a:spcBef>
              <a:spcAft>
                <a:spcPts val="0"/>
              </a:spcAft>
              <a:buSzPts val="4000"/>
              <a:buNone/>
              <a:defRPr sz="4000"/>
            </a:lvl3pPr>
            <a:lvl4pPr lvl="3" algn="ctr">
              <a:lnSpc>
                <a:spcPct val="100000"/>
              </a:lnSpc>
              <a:spcBef>
                <a:spcPts val="0"/>
              </a:spcBef>
              <a:spcAft>
                <a:spcPts val="0"/>
              </a:spcAft>
              <a:buSzPts val="4000"/>
              <a:buNone/>
              <a:defRPr sz="4000"/>
            </a:lvl4pPr>
            <a:lvl5pPr lvl="4" algn="ctr">
              <a:lnSpc>
                <a:spcPct val="100000"/>
              </a:lnSpc>
              <a:spcBef>
                <a:spcPts val="0"/>
              </a:spcBef>
              <a:spcAft>
                <a:spcPts val="0"/>
              </a:spcAft>
              <a:buSzPts val="4000"/>
              <a:buNone/>
              <a:defRPr sz="4000"/>
            </a:lvl5pPr>
            <a:lvl6pPr lvl="5" algn="ctr">
              <a:lnSpc>
                <a:spcPct val="100000"/>
              </a:lnSpc>
              <a:spcBef>
                <a:spcPts val="0"/>
              </a:spcBef>
              <a:spcAft>
                <a:spcPts val="0"/>
              </a:spcAft>
              <a:buSzPts val="4000"/>
              <a:buNone/>
              <a:defRPr sz="4000"/>
            </a:lvl6pPr>
            <a:lvl7pPr lvl="6" algn="ctr">
              <a:lnSpc>
                <a:spcPct val="100000"/>
              </a:lnSpc>
              <a:spcBef>
                <a:spcPts val="0"/>
              </a:spcBef>
              <a:spcAft>
                <a:spcPts val="0"/>
              </a:spcAft>
              <a:buSzPts val="4000"/>
              <a:buNone/>
              <a:defRPr sz="4000"/>
            </a:lvl7pPr>
            <a:lvl8pPr lvl="7" algn="ctr">
              <a:lnSpc>
                <a:spcPct val="100000"/>
              </a:lnSpc>
              <a:spcBef>
                <a:spcPts val="0"/>
              </a:spcBef>
              <a:spcAft>
                <a:spcPts val="0"/>
              </a:spcAft>
              <a:buSzPts val="4000"/>
              <a:buNone/>
              <a:defRPr sz="4000"/>
            </a:lvl8pPr>
            <a:lvl9pPr lvl="8" algn="ctr">
              <a:lnSpc>
                <a:spcPct val="100000"/>
              </a:lnSpc>
              <a:spcBef>
                <a:spcPts val="0"/>
              </a:spcBef>
              <a:spcAft>
                <a:spcPts val="0"/>
              </a:spcAft>
              <a:buSzPts val="4000"/>
              <a:buNone/>
              <a:defRPr sz="4000"/>
            </a:lvl9pPr>
          </a:lstStyle>
          <a:p>
            <a:endParaRPr/>
          </a:p>
        </p:txBody>
      </p:sp>
      <p:sp>
        <p:nvSpPr>
          <p:cNvPr id="39" name="Google Shape;39;p9"/>
          <p:cNvSpPr txBox="1">
            <a:spLocks noGrp="1"/>
          </p:cNvSpPr>
          <p:nvPr>
            <p:ph type="body" idx="2"/>
          </p:nvPr>
        </p:nvSpPr>
        <p:spPr>
          <a:xfrm>
            <a:off x="6668325" y="2123953"/>
            <a:ext cx="5180100" cy="10839000"/>
          </a:xfrm>
          <a:prstGeom prst="rect">
            <a:avLst/>
          </a:prstGeom>
        </p:spPr>
        <p:txBody>
          <a:bodyPr spcFirstLastPara="1" wrap="square" lIns="172700" tIns="172700" rIns="172700" bIns="172700" anchor="ctr" anchorCtr="0">
            <a:noAutofit/>
          </a:bodyPr>
          <a:lstStyle>
            <a:lvl1pPr marL="457200" lvl="0" indent="-444500">
              <a:spcBef>
                <a:spcPts val="0"/>
              </a:spcBef>
              <a:spcAft>
                <a:spcPts val="0"/>
              </a:spcAft>
              <a:buSzPts val="3400"/>
              <a:buChar char="●"/>
              <a:defRPr/>
            </a:lvl1pPr>
            <a:lvl2pPr marL="914400" lvl="1" indent="-393700">
              <a:spcBef>
                <a:spcPts val="3000"/>
              </a:spcBef>
              <a:spcAft>
                <a:spcPts val="0"/>
              </a:spcAft>
              <a:buSzPts val="2600"/>
              <a:buChar char="○"/>
              <a:defRPr/>
            </a:lvl2pPr>
            <a:lvl3pPr marL="1371600" lvl="2" indent="-393700">
              <a:spcBef>
                <a:spcPts val="3000"/>
              </a:spcBef>
              <a:spcAft>
                <a:spcPts val="0"/>
              </a:spcAft>
              <a:buSzPts val="2600"/>
              <a:buChar char="■"/>
              <a:defRPr/>
            </a:lvl3pPr>
            <a:lvl4pPr marL="1828800" lvl="3" indent="-393700">
              <a:spcBef>
                <a:spcPts val="3000"/>
              </a:spcBef>
              <a:spcAft>
                <a:spcPts val="0"/>
              </a:spcAft>
              <a:buSzPts val="2600"/>
              <a:buChar char="●"/>
              <a:defRPr/>
            </a:lvl4pPr>
            <a:lvl5pPr marL="2286000" lvl="4" indent="-393700">
              <a:spcBef>
                <a:spcPts val="3000"/>
              </a:spcBef>
              <a:spcAft>
                <a:spcPts val="0"/>
              </a:spcAft>
              <a:buSzPts val="2600"/>
              <a:buChar char="○"/>
              <a:defRPr/>
            </a:lvl5pPr>
            <a:lvl6pPr marL="2743200" lvl="5" indent="-393700">
              <a:spcBef>
                <a:spcPts val="3000"/>
              </a:spcBef>
              <a:spcAft>
                <a:spcPts val="0"/>
              </a:spcAft>
              <a:buSzPts val="2600"/>
              <a:buChar char="■"/>
              <a:defRPr/>
            </a:lvl6pPr>
            <a:lvl7pPr marL="3200400" lvl="6" indent="-393700">
              <a:spcBef>
                <a:spcPts val="3000"/>
              </a:spcBef>
              <a:spcAft>
                <a:spcPts val="0"/>
              </a:spcAft>
              <a:buSzPts val="2600"/>
              <a:buChar char="●"/>
              <a:defRPr/>
            </a:lvl7pPr>
            <a:lvl8pPr marL="3657600" lvl="7" indent="-393700">
              <a:spcBef>
                <a:spcPts val="3000"/>
              </a:spcBef>
              <a:spcAft>
                <a:spcPts val="0"/>
              </a:spcAft>
              <a:buSzPts val="2600"/>
              <a:buChar char="○"/>
              <a:defRPr/>
            </a:lvl8pPr>
            <a:lvl9pPr marL="4114800" lvl="8" indent="-393700">
              <a:spcBef>
                <a:spcPts val="3000"/>
              </a:spcBef>
              <a:spcAft>
                <a:spcPts val="3000"/>
              </a:spcAft>
              <a:buSzPts val="2600"/>
              <a:buChar char="■"/>
              <a:defRPr/>
            </a:lvl9pPr>
          </a:lstStyle>
          <a:p>
            <a:endParaRPr/>
          </a:p>
        </p:txBody>
      </p:sp>
      <p:sp>
        <p:nvSpPr>
          <p:cNvPr id="40" name="Google Shape;40;p9"/>
          <p:cNvSpPr txBox="1">
            <a:spLocks noGrp="1"/>
          </p:cNvSpPr>
          <p:nvPr>
            <p:ph type="sldNum" idx="12"/>
          </p:nvPr>
        </p:nvSpPr>
        <p:spPr>
          <a:xfrm>
            <a:off x="11437818" y="13678769"/>
            <a:ext cx="740700" cy="1154700"/>
          </a:xfrm>
          <a:prstGeom prst="rect">
            <a:avLst/>
          </a:prstGeom>
        </p:spPr>
        <p:txBody>
          <a:bodyPr spcFirstLastPara="1" wrap="square" lIns="172700" tIns="172700" rIns="172700" bIns="172700"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420795" y="12409687"/>
            <a:ext cx="8098500" cy="1775100"/>
          </a:xfrm>
          <a:prstGeom prst="rect">
            <a:avLst/>
          </a:prstGeom>
        </p:spPr>
        <p:txBody>
          <a:bodyPr spcFirstLastPara="1" wrap="square" lIns="172700" tIns="172700" rIns="172700" bIns="172700" anchor="ctr" anchorCtr="0">
            <a:noAutofit/>
          </a:bodyPr>
          <a:lstStyle>
            <a:lvl1pPr marL="457200" lvl="0" indent="-228600">
              <a:lnSpc>
                <a:spcPct val="100000"/>
              </a:lnSpc>
              <a:spcBef>
                <a:spcPts val="0"/>
              </a:spcBef>
              <a:spcAft>
                <a:spcPts val="0"/>
              </a:spcAft>
              <a:buSzPts val="3400"/>
              <a:buNone/>
              <a:defRPr/>
            </a:lvl1pPr>
          </a:lstStyle>
          <a:p>
            <a:endParaRPr/>
          </a:p>
        </p:txBody>
      </p:sp>
      <p:sp>
        <p:nvSpPr>
          <p:cNvPr id="43" name="Google Shape;43;p10"/>
          <p:cNvSpPr txBox="1">
            <a:spLocks noGrp="1"/>
          </p:cNvSpPr>
          <p:nvPr>
            <p:ph type="sldNum" idx="12"/>
          </p:nvPr>
        </p:nvSpPr>
        <p:spPr>
          <a:xfrm>
            <a:off x="11437818" y="13678769"/>
            <a:ext cx="740700" cy="1154700"/>
          </a:xfrm>
          <a:prstGeom prst="rect">
            <a:avLst/>
          </a:prstGeom>
        </p:spPr>
        <p:txBody>
          <a:bodyPr spcFirstLastPara="1" wrap="square" lIns="172700" tIns="172700" rIns="172700" bIns="172700"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420795" y="3244633"/>
            <a:ext cx="11502900" cy="5759400"/>
          </a:xfrm>
          <a:prstGeom prst="rect">
            <a:avLst/>
          </a:prstGeom>
        </p:spPr>
        <p:txBody>
          <a:bodyPr spcFirstLastPara="1" wrap="square" lIns="172700" tIns="172700" rIns="172700" bIns="172700" anchor="b" anchorCtr="0">
            <a:noAutofit/>
          </a:bodyPr>
          <a:lstStyle>
            <a:lvl1pPr lvl="0" algn="ctr">
              <a:spcBef>
                <a:spcPts val="0"/>
              </a:spcBef>
              <a:spcAft>
                <a:spcPts val="0"/>
              </a:spcAft>
              <a:buSzPts val="22700"/>
              <a:buNone/>
              <a:defRPr sz="22700"/>
            </a:lvl1pPr>
            <a:lvl2pPr lvl="1" algn="ctr">
              <a:spcBef>
                <a:spcPts val="0"/>
              </a:spcBef>
              <a:spcAft>
                <a:spcPts val="0"/>
              </a:spcAft>
              <a:buSzPts val="22700"/>
              <a:buNone/>
              <a:defRPr sz="22700"/>
            </a:lvl2pPr>
            <a:lvl3pPr lvl="2" algn="ctr">
              <a:spcBef>
                <a:spcPts val="0"/>
              </a:spcBef>
              <a:spcAft>
                <a:spcPts val="0"/>
              </a:spcAft>
              <a:buSzPts val="22700"/>
              <a:buNone/>
              <a:defRPr sz="22700"/>
            </a:lvl3pPr>
            <a:lvl4pPr lvl="3" algn="ctr">
              <a:spcBef>
                <a:spcPts val="0"/>
              </a:spcBef>
              <a:spcAft>
                <a:spcPts val="0"/>
              </a:spcAft>
              <a:buSzPts val="22700"/>
              <a:buNone/>
              <a:defRPr sz="22700"/>
            </a:lvl4pPr>
            <a:lvl5pPr lvl="4" algn="ctr">
              <a:spcBef>
                <a:spcPts val="0"/>
              </a:spcBef>
              <a:spcAft>
                <a:spcPts val="0"/>
              </a:spcAft>
              <a:buSzPts val="22700"/>
              <a:buNone/>
              <a:defRPr sz="22700"/>
            </a:lvl5pPr>
            <a:lvl6pPr lvl="5" algn="ctr">
              <a:spcBef>
                <a:spcPts val="0"/>
              </a:spcBef>
              <a:spcAft>
                <a:spcPts val="0"/>
              </a:spcAft>
              <a:buSzPts val="22700"/>
              <a:buNone/>
              <a:defRPr sz="22700"/>
            </a:lvl6pPr>
            <a:lvl7pPr lvl="6" algn="ctr">
              <a:spcBef>
                <a:spcPts val="0"/>
              </a:spcBef>
              <a:spcAft>
                <a:spcPts val="0"/>
              </a:spcAft>
              <a:buSzPts val="22700"/>
              <a:buNone/>
              <a:defRPr sz="22700"/>
            </a:lvl7pPr>
            <a:lvl8pPr lvl="7" algn="ctr">
              <a:spcBef>
                <a:spcPts val="0"/>
              </a:spcBef>
              <a:spcAft>
                <a:spcPts val="0"/>
              </a:spcAft>
              <a:buSzPts val="22700"/>
              <a:buNone/>
              <a:defRPr sz="22700"/>
            </a:lvl8pPr>
            <a:lvl9pPr lvl="8" algn="ctr">
              <a:spcBef>
                <a:spcPts val="0"/>
              </a:spcBef>
              <a:spcAft>
                <a:spcPts val="0"/>
              </a:spcAft>
              <a:buSzPts val="22700"/>
              <a:buNone/>
              <a:defRPr sz="22700"/>
            </a:lvl9pPr>
          </a:lstStyle>
          <a:p>
            <a:r>
              <a:t>xx%</a:t>
            </a:r>
          </a:p>
        </p:txBody>
      </p:sp>
      <p:sp>
        <p:nvSpPr>
          <p:cNvPr id="46" name="Google Shape;46;p11"/>
          <p:cNvSpPr txBox="1">
            <a:spLocks noGrp="1"/>
          </p:cNvSpPr>
          <p:nvPr>
            <p:ph type="body" idx="1"/>
          </p:nvPr>
        </p:nvSpPr>
        <p:spPr>
          <a:xfrm>
            <a:off x="420795" y="9246527"/>
            <a:ext cx="11502900" cy="3815700"/>
          </a:xfrm>
          <a:prstGeom prst="rect">
            <a:avLst/>
          </a:prstGeom>
        </p:spPr>
        <p:txBody>
          <a:bodyPr spcFirstLastPara="1" wrap="square" lIns="172700" tIns="172700" rIns="172700" bIns="172700" anchor="t" anchorCtr="0">
            <a:noAutofit/>
          </a:bodyPr>
          <a:lstStyle>
            <a:lvl1pPr marL="457200" lvl="0" indent="-444500" algn="ctr">
              <a:spcBef>
                <a:spcPts val="0"/>
              </a:spcBef>
              <a:spcAft>
                <a:spcPts val="0"/>
              </a:spcAft>
              <a:buSzPts val="3400"/>
              <a:buChar char="●"/>
              <a:defRPr/>
            </a:lvl1pPr>
            <a:lvl2pPr marL="914400" lvl="1" indent="-393700" algn="ctr">
              <a:spcBef>
                <a:spcPts val="3000"/>
              </a:spcBef>
              <a:spcAft>
                <a:spcPts val="0"/>
              </a:spcAft>
              <a:buSzPts val="2600"/>
              <a:buChar char="○"/>
              <a:defRPr/>
            </a:lvl2pPr>
            <a:lvl3pPr marL="1371600" lvl="2" indent="-393700" algn="ctr">
              <a:spcBef>
                <a:spcPts val="3000"/>
              </a:spcBef>
              <a:spcAft>
                <a:spcPts val="0"/>
              </a:spcAft>
              <a:buSzPts val="2600"/>
              <a:buChar char="■"/>
              <a:defRPr/>
            </a:lvl3pPr>
            <a:lvl4pPr marL="1828800" lvl="3" indent="-393700" algn="ctr">
              <a:spcBef>
                <a:spcPts val="3000"/>
              </a:spcBef>
              <a:spcAft>
                <a:spcPts val="0"/>
              </a:spcAft>
              <a:buSzPts val="2600"/>
              <a:buChar char="●"/>
              <a:defRPr/>
            </a:lvl4pPr>
            <a:lvl5pPr marL="2286000" lvl="4" indent="-393700" algn="ctr">
              <a:spcBef>
                <a:spcPts val="3000"/>
              </a:spcBef>
              <a:spcAft>
                <a:spcPts val="0"/>
              </a:spcAft>
              <a:buSzPts val="2600"/>
              <a:buChar char="○"/>
              <a:defRPr/>
            </a:lvl5pPr>
            <a:lvl6pPr marL="2743200" lvl="5" indent="-393700" algn="ctr">
              <a:spcBef>
                <a:spcPts val="3000"/>
              </a:spcBef>
              <a:spcAft>
                <a:spcPts val="0"/>
              </a:spcAft>
              <a:buSzPts val="2600"/>
              <a:buChar char="■"/>
              <a:defRPr/>
            </a:lvl6pPr>
            <a:lvl7pPr marL="3200400" lvl="6" indent="-393700" algn="ctr">
              <a:spcBef>
                <a:spcPts val="3000"/>
              </a:spcBef>
              <a:spcAft>
                <a:spcPts val="0"/>
              </a:spcAft>
              <a:buSzPts val="2600"/>
              <a:buChar char="●"/>
              <a:defRPr/>
            </a:lvl7pPr>
            <a:lvl8pPr marL="3657600" lvl="7" indent="-393700" algn="ctr">
              <a:spcBef>
                <a:spcPts val="3000"/>
              </a:spcBef>
              <a:spcAft>
                <a:spcPts val="0"/>
              </a:spcAft>
              <a:buSzPts val="2600"/>
              <a:buChar char="○"/>
              <a:defRPr/>
            </a:lvl8pPr>
            <a:lvl9pPr marL="4114800" lvl="8" indent="-393700" algn="ctr">
              <a:spcBef>
                <a:spcPts val="3000"/>
              </a:spcBef>
              <a:spcAft>
                <a:spcPts val="3000"/>
              </a:spcAft>
              <a:buSzPts val="2600"/>
              <a:buChar char="■"/>
              <a:defRPr/>
            </a:lvl9pPr>
          </a:lstStyle>
          <a:p>
            <a:endParaRPr/>
          </a:p>
        </p:txBody>
      </p:sp>
      <p:sp>
        <p:nvSpPr>
          <p:cNvPr id="47" name="Google Shape;47;p11"/>
          <p:cNvSpPr txBox="1">
            <a:spLocks noGrp="1"/>
          </p:cNvSpPr>
          <p:nvPr>
            <p:ph type="sldNum" idx="12"/>
          </p:nvPr>
        </p:nvSpPr>
        <p:spPr>
          <a:xfrm>
            <a:off x="11437818" y="13678769"/>
            <a:ext cx="740700" cy="1154700"/>
          </a:xfrm>
          <a:prstGeom prst="rect">
            <a:avLst/>
          </a:prstGeom>
        </p:spPr>
        <p:txBody>
          <a:bodyPr spcFirstLastPara="1" wrap="square" lIns="172700" tIns="172700" rIns="172700" bIns="172700"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11437818" y="13678769"/>
            <a:ext cx="740700" cy="1154700"/>
          </a:xfrm>
          <a:prstGeom prst="rect">
            <a:avLst/>
          </a:prstGeom>
        </p:spPr>
        <p:txBody>
          <a:bodyPr spcFirstLastPara="1" wrap="square" lIns="172700" tIns="172700" rIns="172700" bIns="172700"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20795" y="1305407"/>
            <a:ext cx="11502900" cy="1680000"/>
          </a:xfrm>
          <a:prstGeom prst="rect">
            <a:avLst/>
          </a:prstGeom>
          <a:noFill/>
          <a:ln>
            <a:noFill/>
          </a:ln>
        </p:spPr>
        <p:txBody>
          <a:bodyPr spcFirstLastPara="1" wrap="square" lIns="172700" tIns="172700" rIns="172700" bIns="172700" anchor="t" anchorCtr="0">
            <a:noAutofit/>
          </a:bodyPr>
          <a:lstStyle>
            <a:lvl1pPr lvl="0">
              <a:spcBef>
                <a:spcPts val="0"/>
              </a:spcBef>
              <a:spcAft>
                <a:spcPts val="0"/>
              </a:spcAft>
              <a:buClr>
                <a:schemeClr val="dk1"/>
              </a:buClr>
              <a:buSzPts val="5300"/>
              <a:buNone/>
              <a:defRPr sz="5300">
                <a:solidFill>
                  <a:schemeClr val="dk1"/>
                </a:solidFill>
              </a:defRPr>
            </a:lvl1pPr>
            <a:lvl2pPr lvl="1">
              <a:spcBef>
                <a:spcPts val="0"/>
              </a:spcBef>
              <a:spcAft>
                <a:spcPts val="0"/>
              </a:spcAft>
              <a:buClr>
                <a:schemeClr val="dk1"/>
              </a:buClr>
              <a:buSzPts val="5300"/>
              <a:buNone/>
              <a:defRPr sz="5300">
                <a:solidFill>
                  <a:schemeClr val="dk1"/>
                </a:solidFill>
              </a:defRPr>
            </a:lvl2pPr>
            <a:lvl3pPr lvl="2">
              <a:spcBef>
                <a:spcPts val="0"/>
              </a:spcBef>
              <a:spcAft>
                <a:spcPts val="0"/>
              </a:spcAft>
              <a:buClr>
                <a:schemeClr val="dk1"/>
              </a:buClr>
              <a:buSzPts val="5300"/>
              <a:buNone/>
              <a:defRPr sz="5300">
                <a:solidFill>
                  <a:schemeClr val="dk1"/>
                </a:solidFill>
              </a:defRPr>
            </a:lvl3pPr>
            <a:lvl4pPr lvl="3">
              <a:spcBef>
                <a:spcPts val="0"/>
              </a:spcBef>
              <a:spcAft>
                <a:spcPts val="0"/>
              </a:spcAft>
              <a:buClr>
                <a:schemeClr val="dk1"/>
              </a:buClr>
              <a:buSzPts val="5300"/>
              <a:buNone/>
              <a:defRPr sz="5300">
                <a:solidFill>
                  <a:schemeClr val="dk1"/>
                </a:solidFill>
              </a:defRPr>
            </a:lvl4pPr>
            <a:lvl5pPr lvl="4">
              <a:spcBef>
                <a:spcPts val="0"/>
              </a:spcBef>
              <a:spcAft>
                <a:spcPts val="0"/>
              </a:spcAft>
              <a:buClr>
                <a:schemeClr val="dk1"/>
              </a:buClr>
              <a:buSzPts val="5300"/>
              <a:buNone/>
              <a:defRPr sz="5300">
                <a:solidFill>
                  <a:schemeClr val="dk1"/>
                </a:solidFill>
              </a:defRPr>
            </a:lvl5pPr>
            <a:lvl6pPr lvl="5">
              <a:spcBef>
                <a:spcPts val="0"/>
              </a:spcBef>
              <a:spcAft>
                <a:spcPts val="0"/>
              </a:spcAft>
              <a:buClr>
                <a:schemeClr val="dk1"/>
              </a:buClr>
              <a:buSzPts val="5300"/>
              <a:buNone/>
              <a:defRPr sz="5300">
                <a:solidFill>
                  <a:schemeClr val="dk1"/>
                </a:solidFill>
              </a:defRPr>
            </a:lvl6pPr>
            <a:lvl7pPr lvl="6">
              <a:spcBef>
                <a:spcPts val="0"/>
              </a:spcBef>
              <a:spcAft>
                <a:spcPts val="0"/>
              </a:spcAft>
              <a:buClr>
                <a:schemeClr val="dk1"/>
              </a:buClr>
              <a:buSzPts val="5300"/>
              <a:buNone/>
              <a:defRPr sz="5300">
                <a:solidFill>
                  <a:schemeClr val="dk1"/>
                </a:solidFill>
              </a:defRPr>
            </a:lvl7pPr>
            <a:lvl8pPr lvl="7">
              <a:spcBef>
                <a:spcPts val="0"/>
              </a:spcBef>
              <a:spcAft>
                <a:spcPts val="0"/>
              </a:spcAft>
              <a:buClr>
                <a:schemeClr val="dk1"/>
              </a:buClr>
              <a:buSzPts val="5300"/>
              <a:buNone/>
              <a:defRPr sz="5300">
                <a:solidFill>
                  <a:schemeClr val="dk1"/>
                </a:solidFill>
              </a:defRPr>
            </a:lvl8pPr>
            <a:lvl9pPr lvl="8">
              <a:spcBef>
                <a:spcPts val="0"/>
              </a:spcBef>
              <a:spcAft>
                <a:spcPts val="0"/>
              </a:spcAft>
              <a:buClr>
                <a:schemeClr val="dk1"/>
              </a:buClr>
              <a:buSzPts val="5300"/>
              <a:buNone/>
              <a:defRPr sz="5300">
                <a:solidFill>
                  <a:schemeClr val="dk1"/>
                </a:solidFill>
              </a:defRPr>
            </a:lvl9pPr>
          </a:lstStyle>
          <a:p>
            <a:endParaRPr/>
          </a:p>
        </p:txBody>
      </p:sp>
      <p:sp>
        <p:nvSpPr>
          <p:cNvPr id="7" name="Google Shape;7;p1"/>
          <p:cNvSpPr txBox="1">
            <a:spLocks noGrp="1"/>
          </p:cNvSpPr>
          <p:nvPr>
            <p:ph type="body" idx="1"/>
          </p:nvPr>
        </p:nvSpPr>
        <p:spPr>
          <a:xfrm>
            <a:off x="420795" y="3380593"/>
            <a:ext cx="11502900" cy="10021500"/>
          </a:xfrm>
          <a:prstGeom prst="rect">
            <a:avLst/>
          </a:prstGeom>
          <a:noFill/>
          <a:ln>
            <a:noFill/>
          </a:ln>
        </p:spPr>
        <p:txBody>
          <a:bodyPr spcFirstLastPara="1" wrap="square" lIns="172700" tIns="172700" rIns="172700" bIns="172700" anchor="t" anchorCtr="0">
            <a:noAutofit/>
          </a:bodyPr>
          <a:lstStyle>
            <a:lvl1pPr marL="457200" lvl="0" indent="-444500">
              <a:lnSpc>
                <a:spcPct val="115000"/>
              </a:lnSpc>
              <a:spcBef>
                <a:spcPts val="0"/>
              </a:spcBef>
              <a:spcAft>
                <a:spcPts val="0"/>
              </a:spcAft>
              <a:buClr>
                <a:schemeClr val="dk2"/>
              </a:buClr>
              <a:buSzPts val="3400"/>
              <a:buChar char="●"/>
              <a:defRPr sz="3400">
                <a:solidFill>
                  <a:schemeClr val="dk2"/>
                </a:solidFill>
              </a:defRPr>
            </a:lvl1pPr>
            <a:lvl2pPr marL="914400" lvl="1" indent="-393700">
              <a:lnSpc>
                <a:spcPct val="115000"/>
              </a:lnSpc>
              <a:spcBef>
                <a:spcPts val="3000"/>
              </a:spcBef>
              <a:spcAft>
                <a:spcPts val="0"/>
              </a:spcAft>
              <a:buClr>
                <a:schemeClr val="dk2"/>
              </a:buClr>
              <a:buSzPts val="2600"/>
              <a:buChar char="○"/>
              <a:defRPr sz="2600">
                <a:solidFill>
                  <a:schemeClr val="dk2"/>
                </a:solidFill>
              </a:defRPr>
            </a:lvl2pPr>
            <a:lvl3pPr marL="1371600" lvl="2" indent="-393700">
              <a:lnSpc>
                <a:spcPct val="115000"/>
              </a:lnSpc>
              <a:spcBef>
                <a:spcPts val="3000"/>
              </a:spcBef>
              <a:spcAft>
                <a:spcPts val="0"/>
              </a:spcAft>
              <a:buClr>
                <a:schemeClr val="dk2"/>
              </a:buClr>
              <a:buSzPts val="2600"/>
              <a:buChar char="■"/>
              <a:defRPr sz="2600">
                <a:solidFill>
                  <a:schemeClr val="dk2"/>
                </a:solidFill>
              </a:defRPr>
            </a:lvl3pPr>
            <a:lvl4pPr marL="1828800" lvl="3" indent="-393700">
              <a:lnSpc>
                <a:spcPct val="115000"/>
              </a:lnSpc>
              <a:spcBef>
                <a:spcPts val="3000"/>
              </a:spcBef>
              <a:spcAft>
                <a:spcPts val="0"/>
              </a:spcAft>
              <a:buClr>
                <a:schemeClr val="dk2"/>
              </a:buClr>
              <a:buSzPts val="2600"/>
              <a:buChar char="●"/>
              <a:defRPr sz="2600">
                <a:solidFill>
                  <a:schemeClr val="dk2"/>
                </a:solidFill>
              </a:defRPr>
            </a:lvl4pPr>
            <a:lvl5pPr marL="2286000" lvl="4" indent="-393700">
              <a:lnSpc>
                <a:spcPct val="115000"/>
              </a:lnSpc>
              <a:spcBef>
                <a:spcPts val="3000"/>
              </a:spcBef>
              <a:spcAft>
                <a:spcPts val="0"/>
              </a:spcAft>
              <a:buClr>
                <a:schemeClr val="dk2"/>
              </a:buClr>
              <a:buSzPts val="2600"/>
              <a:buChar char="○"/>
              <a:defRPr sz="2600">
                <a:solidFill>
                  <a:schemeClr val="dk2"/>
                </a:solidFill>
              </a:defRPr>
            </a:lvl5pPr>
            <a:lvl6pPr marL="2743200" lvl="5" indent="-393700">
              <a:lnSpc>
                <a:spcPct val="115000"/>
              </a:lnSpc>
              <a:spcBef>
                <a:spcPts val="3000"/>
              </a:spcBef>
              <a:spcAft>
                <a:spcPts val="0"/>
              </a:spcAft>
              <a:buClr>
                <a:schemeClr val="dk2"/>
              </a:buClr>
              <a:buSzPts val="2600"/>
              <a:buChar char="■"/>
              <a:defRPr sz="2600">
                <a:solidFill>
                  <a:schemeClr val="dk2"/>
                </a:solidFill>
              </a:defRPr>
            </a:lvl6pPr>
            <a:lvl7pPr marL="3200400" lvl="6" indent="-393700">
              <a:lnSpc>
                <a:spcPct val="115000"/>
              </a:lnSpc>
              <a:spcBef>
                <a:spcPts val="3000"/>
              </a:spcBef>
              <a:spcAft>
                <a:spcPts val="0"/>
              </a:spcAft>
              <a:buClr>
                <a:schemeClr val="dk2"/>
              </a:buClr>
              <a:buSzPts val="2600"/>
              <a:buChar char="●"/>
              <a:defRPr sz="2600">
                <a:solidFill>
                  <a:schemeClr val="dk2"/>
                </a:solidFill>
              </a:defRPr>
            </a:lvl7pPr>
            <a:lvl8pPr marL="3657600" lvl="7" indent="-393700">
              <a:lnSpc>
                <a:spcPct val="115000"/>
              </a:lnSpc>
              <a:spcBef>
                <a:spcPts val="3000"/>
              </a:spcBef>
              <a:spcAft>
                <a:spcPts val="0"/>
              </a:spcAft>
              <a:buClr>
                <a:schemeClr val="dk2"/>
              </a:buClr>
              <a:buSzPts val="2600"/>
              <a:buChar char="○"/>
              <a:defRPr sz="2600">
                <a:solidFill>
                  <a:schemeClr val="dk2"/>
                </a:solidFill>
              </a:defRPr>
            </a:lvl8pPr>
            <a:lvl9pPr marL="4114800" lvl="8" indent="-393700">
              <a:lnSpc>
                <a:spcPct val="115000"/>
              </a:lnSpc>
              <a:spcBef>
                <a:spcPts val="3000"/>
              </a:spcBef>
              <a:spcAft>
                <a:spcPts val="3000"/>
              </a:spcAft>
              <a:buClr>
                <a:schemeClr val="dk2"/>
              </a:buClr>
              <a:buSzPts val="2600"/>
              <a:buChar char="■"/>
              <a:defRPr sz="2600">
                <a:solidFill>
                  <a:schemeClr val="dk2"/>
                </a:solidFill>
              </a:defRPr>
            </a:lvl9pPr>
          </a:lstStyle>
          <a:p>
            <a:endParaRPr/>
          </a:p>
        </p:txBody>
      </p:sp>
      <p:sp>
        <p:nvSpPr>
          <p:cNvPr id="8" name="Google Shape;8;p1"/>
          <p:cNvSpPr txBox="1">
            <a:spLocks noGrp="1"/>
          </p:cNvSpPr>
          <p:nvPr>
            <p:ph type="sldNum" idx="12"/>
          </p:nvPr>
        </p:nvSpPr>
        <p:spPr>
          <a:xfrm>
            <a:off x="11437818" y="13678769"/>
            <a:ext cx="740700" cy="1154700"/>
          </a:xfrm>
          <a:prstGeom prst="rect">
            <a:avLst/>
          </a:prstGeom>
          <a:noFill/>
          <a:ln>
            <a:noFill/>
          </a:ln>
        </p:spPr>
        <p:txBody>
          <a:bodyPr spcFirstLastPara="1" wrap="square" lIns="172700" tIns="172700" rIns="172700" bIns="172700" anchor="ctr" anchorCtr="0">
            <a:noAutofit/>
          </a:bodyPr>
          <a:lstStyle>
            <a:lvl1pPr lvl="0" algn="r">
              <a:buNone/>
              <a:defRPr sz="1900">
                <a:solidFill>
                  <a:schemeClr val="dk2"/>
                </a:solidFill>
              </a:defRPr>
            </a:lvl1pPr>
            <a:lvl2pPr lvl="1" algn="r">
              <a:buNone/>
              <a:defRPr sz="1900">
                <a:solidFill>
                  <a:schemeClr val="dk2"/>
                </a:solidFill>
              </a:defRPr>
            </a:lvl2pPr>
            <a:lvl3pPr lvl="2" algn="r">
              <a:buNone/>
              <a:defRPr sz="1900">
                <a:solidFill>
                  <a:schemeClr val="dk2"/>
                </a:solidFill>
              </a:defRPr>
            </a:lvl3pPr>
            <a:lvl4pPr lvl="3" algn="r">
              <a:buNone/>
              <a:defRPr sz="1900">
                <a:solidFill>
                  <a:schemeClr val="dk2"/>
                </a:solidFill>
              </a:defRPr>
            </a:lvl4pPr>
            <a:lvl5pPr lvl="4" algn="r">
              <a:buNone/>
              <a:defRPr sz="1900">
                <a:solidFill>
                  <a:schemeClr val="dk2"/>
                </a:solidFill>
              </a:defRPr>
            </a:lvl5pPr>
            <a:lvl6pPr lvl="5" algn="r">
              <a:buNone/>
              <a:defRPr sz="1900">
                <a:solidFill>
                  <a:schemeClr val="dk2"/>
                </a:solidFill>
              </a:defRPr>
            </a:lvl6pPr>
            <a:lvl7pPr lvl="6" algn="r">
              <a:buNone/>
              <a:defRPr sz="1900">
                <a:solidFill>
                  <a:schemeClr val="dk2"/>
                </a:solidFill>
              </a:defRPr>
            </a:lvl7pPr>
            <a:lvl8pPr lvl="7" algn="r">
              <a:buNone/>
              <a:defRPr sz="1900">
                <a:solidFill>
                  <a:schemeClr val="dk2"/>
                </a:solidFill>
              </a:defRPr>
            </a:lvl8pPr>
            <a:lvl9pPr lvl="8" algn="r">
              <a:buNone/>
              <a:defRPr sz="19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2.emf"/></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4806A8-6F95-2DFE-2853-BDC566DB6323}"/>
              </a:ext>
            </a:extLst>
          </p:cNvPr>
          <p:cNvSpPr>
            <a:spLocks noGrp="1"/>
          </p:cNvSpPr>
          <p:nvPr>
            <p:ph type="ctrTitle"/>
          </p:nvPr>
        </p:nvSpPr>
        <p:spPr/>
        <p:txBody>
          <a:bodyPr/>
          <a:lstStyle/>
          <a:p>
            <a:r>
              <a:rPr lang="en-US" dirty="0"/>
              <a:t>RPGR</a:t>
            </a:r>
          </a:p>
        </p:txBody>
      </p:sp>
      <p:sp>
        <p:nvSpPr>
          <p:cNvPr id="3" name="Subtitle 2">
            <a:extLst>
              <a:ext uri="{FF2B5EF4-FFF2-40B4-BE49-F238E27FC236}">
                <a16:creationId xmlns:a16="http://schemas.microsoft.com/office/drawing/2014/main" id="{95B785A7-BD90-E9DB-40AD-7B99FCFC8A07}"/>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7336649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95D3E8-C111-609D-E7EB-5D51316759D8}"/>
              </a:ext>
            </a:extLst>
          </p:cNvPr>
          <p:cNvSpPr>
            <a:spLocks noGrp="1"/>
          </p:cNvSpPr>
          <p:nvPr>
            <p:ph type="ctrTitle"/>
          </p:nvPr>
        </p:nvSpPr>
        <p:spPr/>
        <p:txBody>
          <a:bodyPr/>
          <a:lstStyle/>
          <a:p>
            <a:r>
              <a:rPr lang="en-US" dirty="0"/>
              <a:t>Template</a:t>
            </a:r>
          </a:p>
        </p:txBody>
      </p:sp>
      <p:sp>
        <p:nvSpPr>
          <p:cNvPr id="3" name="Subtitle 2">
            <a:extLst>
              <a:ext uri="{FF2B5EF4-FFF2-40B4-BE49-F238E27FC236}">
                <a16:creationId xmlns:a16="http://schemas.microsoft.com/office/drawing/2014/main" id="{185D467A-4345-7A77-D8CD-F11BE6B66B71}"/>
              </a:ext>
            </a:extLst>
          </p:cNvPr>
          <p:cNvSpPr>
            <a:spLocks noGrp="1"/>
          </p:cNvSpPr>
          <p:nvPr>
            <p:ph type="subTitle" idx="1"/>
          </p:nvPr>
        </p:nvSpPr>
        <p:spPr/>
        <p:txBody>
          <a:bodyPr/>
          <a:lstStyle/>
          <a:p>
            <a:endParaRPr lang="en-US" dirty="0"/>
          </a:p>
        </p:txBody>
      </p:sp>
    </p:spTree>
    <p:extLst>
      <p:ext uri="{BB962C8B-B14F-4D97-AF65-F5344CB8AC3E}">
        <p14:creationId xmlns:p14="http://schemas.microsoft.com/office/powerpoint/2010/main" val="28534310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g1ccc49f7bb7_0_0"/>
          <p:cNvSpPr txBox="1">
            <a:spLocks noGrp="1"/>
          </p:cNvSpPr>
          <p:nvPr>
            <p:ph type="title"/>
          </p:nvPr>
        </p:nvSpPr>
        <p:spPr>
          <a:xfrm>
            <a:off x="420745" y="352907"/>
            <a:ext cx="11502900" cy="1680000"/>
          </a:xfrm>
          <a:prstGeom prst="rect">
            <a:avLst/>
          </a:prstGeom>
        </p:spPr>
        <p:txBody>
          <a:bodyPr spcFirstLastPara="1" wrap="square" lIns="172700" tIns="172700" rIns="172700" bIns="172700" anchor="t" anchorCtr="0">
            <a:noAutofit/>
          </a:bodyPr>
          <a:lstStyle/>
          <a:p>
            <a:pPr marL="0" lvl="0" indent="0" algn="l" rtl="0">
              <a:spcBef>
                <a:spcPts val="0"/>
              </a:spcBef>
              <a:spcAft>
                <a:spcPts val="0"/>
              </a:spcAft>
              <a:buNone/>
            </a:pPr>
            <a:r>
              <a:rPr lang="en" dirty="0"/>
              <a:t>Instructions</a:t>
            </a:r>
            <a:endParaRPr dirty="0"/>
          </a:p>
        </p:txBody>
      </p:sp>
      <p:sp>
        <p:nvSpPr>
          <p:cNvPr id="55" name="Google Shape;55;g1ccc49f7bb7_0_0"/>
          <p:cNvSpPr txBox="1">
            <a:spLocks noGrp="1"/>
          </p:cNvSpPr>
          <p:nvPr>
            <p:ph type="body" idx="1"/>
          </p:nvPr>
        </p:nvSpPr>
        <p:spPr>
          <a:xfrm>
            <a:off x="420800" y="1771650"/>
            <a:ext cx="11502900" cy="11630700"/>
          </a:xfrm>
          <a:prstGeom prst="rect">
            <a:avLst/>
          </a:prstGeom>
        </p:spPr>
        <p:txBody>
          <a:bodyPr spcFirstLastPara="1" wrap="square" lIns="172700" tIns="172700" rIns="172700" bIns="172700" anchor="t" anchorCtr="0">
            <a:noAutofit/>
          </a:bodyPr>
          <a:lstStyle/>
          <a:p>
            <a:pPr marL="457200" lvl="0" indent="-374650" algn="l" rtl="0">
              <a:spcBef>
                <a:spcPts val="0"/>
              </a:spcBef>
              <a:spcAft>
                <a:spcPts val="0"/>
              </a:spcAft>
              <a:buSzPts val="2300"/>
              <a:buChar char="●"/>
            </a:pPr>
            <a:r>
              <a:rPr lang="en" sz="2300" dirty="0"/>
              <a:t>VCEPs should modify the PVS1 flowchart for their specifications</a:t>
            </a:r>
            <a:endParaRPr sz="2300" dirty="0"/>
          </a:p>
          <a:p>
            <a:pPr marL="457200" lvl="0" indent="-374650" algn="l" rtl="0">
              <a:spcBef>
                <a:spcPts val="0"/>
              </a:spcBef>
              <a:spcAft>
                <a:spcPts val="0"/>
              </a:spcAft>
              <a:buSzPts val="2300"/>
              <a:buChar char="●"/>
            </a:pPr>
            <a:r>
              <a:rPr lang="en" sz="2300" dirty="0"/>
              <a:t>Create a copy of the next slide to modify and attach to your specifications in the </a:t>
            </a:r>
            <a:r>
              <a:rPr lang="en" sz="2300" dirty="0" err="1"/>
              <a:t>CSpec</a:t>
            </a:r>
            <a:r>
              <a:rPr lang="en" sz="2300"/>
              <a:t> Editor</a:t>
            </a:r>
            <a:endParaRPr sz="2300"/>
          </a:p>
          <a:p>
            <a:pPr marL="457200" lvl="0" indent="-374650" algn="l" rtl="0">
              <a:spcBef>
                <a:spcPts val="0"/>
              </a:spcBef>
              <a:spcAft>
                <a:spcPts val="0"/>
              </a:spcAft>
              <a:buSzPts val="2300"/>
              <a:buChar char="●"/>
            </a:pPr>
            <a:r>
              <a:rPr lang="en" sz="2300"/>
              <a:t>Review the boxes highlighted in yellow and modify the text if relevant:</a:t>
            </a:r>
            <a:endParaRPr sz="2300"/>
          </a:p>
          <a:p>
            <a:pPr marL="914400" lvl="1" indent="-374650" algn="l" rtl="0">
              <a:spcBef>
                <a:spcPts val="0"/>
              </a:spcBef>
              <a:spcAft>
                <a:spcPts val="0"/>
              </a:spcAft>
              <a:buSzPts val="2300"/>
              <a:buChar char="○"/>
            </a:pPr>
            <a:r>
              <a:rPr lang="en" sz="2300"/>
              <a:t>Nonsense/Frameshift</a:t>
            </a:r>
            <a:endParaRPr sz="2300"/>
          </a:p>
          <a:p>
            <a:pPr marL="1371600" lvl="2" indent="-374650" algn="l" rtl="0">
              <a:spcBef>
                <a:spcPts val="0"/>
              </a:spcBef>
              <a:spcAft>
                <a:spcPts val="0"/>
              </a:spcAft>
              <a:buSzPts val="2300"/>
              <a:buChar char="■"/>
            </a:pPr>
            <a:r>
              <a:rPr lang="en" sz="2300"/>
              <a:t>Predicted to undergo NMD - </a:t>
            </a:r>
            <a:r>
              <a:rPr lang="en" sz="2300" i="1">
                <a:solidFill>
                  <a:srgbClr val="FF0000"/>
                </a:solidFill>
              </a:rPr>
              <a:t>Please provide most terminal codon/nucleotide that is expected to result in NMD (</a:t>
            </a:r>
            <a:r>
              <a:rPr lang="en" sz="2300" i="1">
                <a:solidFill>
                  <a:srgbClr val="FF0000"/>
                </a:solidFill>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textRoundtripDataId="0"/>
                  </a:ext>
                </a:extLst>
              </a:rPr>
              <a:t>if NMD boundary not in penultimate exon please specify</a:t>
            </a:r>
            <a:r>
              <a:rPr lang="en" sz="2300" i="1">
                <a:solidFill>
                  <a:srgbClr val="FF0000"/>
                </a:solidFill>
              </a:rPr>
              <a:t>). </a:t>
            </a:r>
            <a:endParaRPr sz="2300" i="1">
              <a:solidFill>
                <a:srgbClr val="FF0000"/>
              </a:solidFill>
            </a:endParaRPr>
          </a:p>
          <a:p>
            <a:pPr marL="1828800" lvl="3" indent="-374650" algn="l" rtl="0">
              <a:spcBef>
                <a:spcPts val="0"/>
              </a:spcBef>
              <a:spcAft>
                <a:spcPts val="0"/>
              </a:spcAft>
              <a:buSzPts val="2300"/>
              <a:buChar char="●"/>
            </a:pPr>
            <a:r>
              <a:rPr lang="en" sz="2300"/>
              <a:t>Exon is present in biologically-relevant transcript(s) - </a:t>
            </a:r>
            <a:r>
              <a:rPr lang="en" sz="2300" i="1">
                <a:solidFill>
                  <a:srgbClr val="FF0000"/>
                </a:solidFill>
              </a:rPr>
              <a:t>Please designate relevant transcript</a:t>
            </a:r>
            <a:endParaRPr sz="2300" i="1">
              <a:solidFill>
                <a:srgbClr val="FF0000"/>
              </a:solidFill>
            </a:endParaRPr>
          </a:p>
          <a:p>
            <a:pPr marL="1371600" lvl="2" indent="-374650" algn="l" rtl="0">
              <a:spcBef>
                <a:spcPts val="0"/>
              </a:spcBef>
              <a:spcAft>
                <a:spcPts val="0"/>
              </a:spcAft>
              <a:buSzPts val="2300"/>
              <a:buChar char="■"/>
            </a:pPr>
            <a:r>
              <a:rPr lang="en" sz="2300"/>
              <a:t>Not predicted to undergo NMD</a:t>
            </a:r>
            <a:endParaRPr sz="2300"/>
          </a:p>
          <a:p>
            <a:pPr marL="1828800" lvl="3" indent="-374650" algn="l" rtl="0">
              <a:spcBef>
                <a:spcPts val="0"/>
              </a:spcBef>
              <a:spcAft>
                <a:spcPts val="0"/>
              </a:spcAft>
              <a:buSzPts val="2300"/>
              <a:buChar char="●"/>
            </a:pPr>
            <a:r>
              <a:rPr lang="en" sz="2300"/>
              <a:t>Truncated/altered region is critical to protein function </a:t>
            </a:r>
            <a:r>
              <a:rPr lang="en" sz="2300" i="1"/>
              <a:t>- </a:t>
            </a:r>
            <a:r>
              <a:rPr lang="en" sz="2300" i="1">
                <a:solidFill>
                  <a:srgbClr val="FF0000"/>
                </a:solidFill>
              </a:rPr>
              <a:t>If relevant please specify regions</a:t>
            </a:r>
            <a:endParaRPr sz="2300" i="1"/>
          </a:p>
          <a:p>
            <a:pPr marL="914400" lvl="1" indent="-374650" algn="l" rtl="0">
              <a:spcBef>
                <a:spcPts val="0"/>
              </a:spcBef>
              <a:spcAft>
                <a:spcPts val="0"/>
              </a:spcAft>
              <a:buSzPts val="2300"/>
              <a:buChar char="○"/>
            </a:pPr>
            <a:r>
              <a:rPr lang="en" sz="2300"/>
              <a:t>GT--AG 1,2 splice sites (</a:t>
            </a:r>
            <a:r>
              <a:rPr lang="en" sz="2300" i="1">
                <a:solidFill>
                  <a:srgbClr val="FF0000"/>
                </a:solidFill>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textRoundtripDataId="1"/>
                  </a:ext>
                </a:extLst>
              </a:rPr>
              <a:t>if AT–AC (U2) splice sites exist please specify</a:t>
            </a:r>
            <a:r>
              <a:rPr lang="en" sz="2300" i="1">
                <a:solidFill>
                  <a:srgbClr val="FF0000"/>
                </a:solidFill>
              </a:rPr>
              <a:t>)</a:t>
            </a:r>
            <a:endParaRPr sz="2300"/>
          </a:p>
          <a:p>
            <a:pPr marL="1371600" lvl="2" indent="-374650" algn="l" rtl="0">
              <a:spcBef>
                <a:spcPts val="0"/>
              </a:spcBef>
              <a:spcAft>
                <a:spcPts val="0"/>
              </a:spcAft>
              <a:buSzPts val="2300"/>
              <a:buChar char="■"/>
            </a:pPr>
            <a:r>
              <a:rPr lang="en" sz="2300"/>
              <a:t>Exon skipping or use of a cryptic splice site disrupts reading frame and is NOT predicted to undergo NMD - </a:t>
            </a:r>
            <a:r>
              <a:rPr lang="en" sz="2300" i="1">
                <a:solidFill>
                  <a:srgbClr val="FF0000"/>
                </a:solidFill>
              </a:rPr>
              <a:t>Please note any exons that are not expected to undergo NMD</a:t>
            </a:r>
            <a:endParaRPr sz="2300" i="1">
              <a:solidFill>
                <a:srgbClr val="FF0000"/>
              </a:solidFill>
            </a:endParaRPr>
          </a:p>
          <a:p>
            <a:pPr marL="1828800" lvl="3" indent="-374650" algn="l" rtl="0">
              <a:spcBef>
                <a:spcPts val="0"/>
              </a:spcBef>
              <a:spcAft>
                <a:spcPts val="0"/>
              </a:spcAft>
              <a:buSzPts val="2300"/>
              <a:buChar char="●"/>
            </a:pPr>
            <a:r>
              <a:rPr lang="en" sz="2300"/>
              <a:t>Truncated/altered region is critical to protein function - </a:t>
            </a:r>
            <a:r>
              <a:rPr lang="en" sz="2300" i="1">
                <a:solidFill>
                  <a:srgbClr val="FF0000"/>
                </a:solidFill>
              </a:rPr>
              <a:t>If relevant please specify regions</a:t>
            </a:r>
            <a:endParaRPr sz="2300" i="1">
              <a:solidFill>
                <a:srgbClr val="FF0000"/>
              </a:solidFill>
            </a:endParaRPr>
          </a:p>
          <a:p>
            <a:pPr marL="1371600" lvl="2" indent="-374650" algn="l" rtl="0">
              <a:spcBef>
                <a:spcPts val="0"/>
              </a:spcBef>
              <a:spcAft>
                <a:spcPts val="0"/>
              </a:spcAft>
              <a:buSzPts val="2300"/>
              <a:buChar char="■"/>
            </a:pPr>
            <a:r>
              <a:rPr lang="en" sz="2300"/>
              <a:t>Exon skipping or use of a cryptic splice site preserves reading frame - </a:t>
            </a:r>
            <a:r>
              <a:rPr lang="en" sz="2300" i="1">
                <a:solidFill>
                  <a:srgbClr val="FF0000"/>
                </a:solidFill>
              </a:rPr>
              <a:t>Please note exons that are in-frame</a:t>
            </a:r>
            <a:endParaRPr sz="2300" i="1">
              <a:solidFill>
                <a:srgbClr val="FF0000"/>
              </a:solidFill>
            </a:endParaRPr>
          </a:p>
          <a:p>
            <a:pPr marL="1828800" lvl="3" indent="-374650" algn="l" rtl="0">
              <a:spcBef>
                <a:spcPts val="0"/>
              </a:spcBef>
              <a:spcAft>
                <a:spcPts val="0"/>
              </a:spcAft>
              <a:buSzPts val="2300"/>
              <a:buChar char="●"/>
            </a:pPr>
            <a:r>
              <a:rPr lang="en" sz="2300"/>
              <a:t>Truncated/altered region is critical to protein function -</a:t>
            </a:r>
            <a:r>
              <a:rPr lang="en" sz="2300" i="1">
                <a:solidFill>
                  <a:srgbClr val="FF0000"/>
                </a:solidFill>
              </a:rPr>
              <a:t> If relevant please specify regions</a:t>
            </a:r>
            <a:endParaRPr sz="2300" i="1">
              <a:solidFill>
                <a:srgbClr val="FF0000"/>
              </a:solidFill>
            </a:endParaRPr>
          </a:p>
          <a:p>
            <a:pPr marL="914400" lvl="1" indent="-374650" algn="l" rtl="0">
              <a:spcBef>
                <a:spcPts val="0"/>
              </a:spcBef>
              <a:spcAft>
                <a:spcPts val="0"/>
              </a:spcAft>
              <a:buSzPts val="2300"/>
              <a:buChar char="○"/>
            </a:pPr>
            <a:r>
              <a:rPr lang="en" sz="2300"/>
              <a:t>Deletion (Single exon to full gene)</a:t>
            </a:r>
            <a:endParaRPr sz="2300"/>
          </a:p>
          <a:p>
            <a:pPr marL="1371600" lvl="2" indent="-374650" algn="l" rtl="0">
              <a:spcBef>
                <a:spcPts val="0"/>
              </a:spcBef>
              <a:spcAft>
                <a:spcPts val="0"/>
              </a:spcAft>
              <a:buSzPts val="2300"/>
              <a:buChar char="■"/>
            </a:pPr>
            <a:r>
              <a:rPr lang="en" sz="2300"/>
              <a:t>Single to multi exon deletion – Preserves reading frame</a:t>
            </a:r>
            <a:endParaRPr sz="2300"/>
          </a:p>
          <a:p>
            <a:pPr marL="1828800" lvl="3" indent="-374650" algn="l" rtl="0">
              <a:spcBef>
                <a:spcPts val="0"/>
              </a:spcBef>
              <a:spcAft>
                <a:spcPts val="0"/>
              </a:spcAft>
              <a:buSzPts val="2300"/>
              <a:buChar char="●"/>
            </a:pPr>
            <a:r>
              <a:rPr lang="en" sz="2300">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textRoundtripDataId="2"/>
                  </a:ext>
                </a:extLst>
              </a:rPr>
              <a:t>Truncated/altered region is critical to protein function - </a:t>
            </a:r>
            <a:r>
              <a:rPr lang="en" sz="2300" i="1">
                <a:solidFill>
                  <a:srgbClr val="FF0000"/>
                </a:solidFill>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textRoundtripDataId="3"/>
                  </a:ext>
                </a:extLst>
              </a:rPr>
              <a:t>If relevant please specify regions</a:t>
            </a:r>
            <a:endParaRPr sz="2300" i="1">
              <a:solidFill>
                <a:srgbClr val="FF0000"/>
              </a:solidFill>
            </a:endParaRPr>
          </a:p>
          <a:p>
            <a:pPr marL="914400" lvl="1" indent="-374650" algn="l" rtl="0">
              <a:spcBef>
                <a:spcPts val="0"/>
              </a:spcBef>
              <a:spcAft>
                <a:spcPts val="0"/>
              </a:spcAft>
              <a:buSzPts val="2300"/>
              <a:buChar char="○"/>
            </a:pPr>
            <a:r>
              <a:rPr lang="en" sz="2300"/>
              <a:t>Initiation Codon - </a:t>
            </a:r>
            <a:r>
              <a:rPr lang="en" sz="2300" i="1">
                <a:solidFill>
                  <a:srgbClr val="FF0000"/>
                </a:solidFill>
              </a:rPr>
              <a:t>Please note alt starts if known</a:t>
            </a:r>
            <a:endParaRPr sz="2300" i="1">
              <a:solidFill>
                <a:srgbClr val="FF0000"/>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59"/>
        <p:cNvGrpSpPr/>
        <p:nvPr/>
      </p:nvGrpSpPr>
      <p:grpSpPr>
        <a:xfrm>
          <a:off x="0" y="0"/>
          <a:ext cx="0" cy="0"/>
          <a:chOff x="0" y="0"/>
          <a:chExt cx="0" cy="0"/>
        </a:xfrm>
      </p:grpSpPr>
      <p:sp>
        <p:nvSpPr>
          <p:cNvPr id="60" name="Google Shape;60;p1"/>
          <p:cNvSpPr txBox="1"/>
          <p:nvPr/>
        </p:nvSpPr>
        <p:spPr>
          <a:xfrm>
            <a:off x="80325" y="225673"/>
            <a:ext cx="1105800" cy="281970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 sz="1200" b="1" i="0" u="none" strike="noStrike" cap="none">
                <a:solidFill>
                  <a:srgbClr val="000000"/>
                </a:solidFill>
                <a:latin typeface="Times New Roman"/>
                <a:ea typeface="Times New Roman"/>
                <a:cs typeface="Times New Roman"/>
                <a:sym typeface="Times New Roman"/>
              </a:rPr>
              <a:t>Nonsense or Frameshift</a:t>
            </a:r>
            <a:endParaRPr sz="1400" b="1" i="0" u="none" strike="noStrike" cap="none">
              <a:solidFill>
                <a:srgbClr val="000000"/>
              </a:solidFill>
              <a:latin typeface="Arial"/>
              <a:ea typeface="Arial"/>
              <a:cs typeface="Arial"/>
              <a:sym typeface="Arial"/>
            </a:endParaRPr>
          </a:p>
        </p:txBody>
      </p:sp>
      <p:sp>
        <p:nvSpPr>
          <p:cNvPr id="61" name="Google Shape;61;p1"/>
          <p:cNvSpPr/>
          <p:nvPr/>
        </p:nvSpPr>
        <p:spPr>
          <a:xfrm>
            <a:off x="1664575" y="216325"/>
            <a:ext cx="2374200" cy="70560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 sz="1200" b="0" i="0" u="none" strike="noStrike" cap="none">
                <a:solidFill>
                  <a:srgbClr val="000000"/>
                </a:solidFill>
                <a:highlight>
                  <a:srgbClr val="FFFF00"/>
                </a:highlight>
                <a:latin typeface="Times New Roman"/>
                <a:ea typeface="Times New Roman"/>
                <a:cs typeface="Times New Roman"/>
                <a:sym typeface="Times New Roman"/>
              </a:rPr>
              <a:t>Predicted to undergo NMD </a:t>
            </a:r>
            <a:r>
              <a:rPr lang="en" sz="1200" b="0" i="0" u="none" strike="noStrike" cap="none" baseline="30000">
                <a:solidFill>
                  <a:srgbClr val="000000"/>
                </a:solidFill>
                <a:highlight>
                  <a:srgbClr val="FFFF00"/>
                </a:highlight>
                <a:latin typeface="Times New Roman"/>
                <a:ea typeface="Times New Roman"/>
                <a:cs typeface="Times New Roman"/>
                <a:sym typeface="Times New Roman"/>
              </a:rPr>
              <a:t>b</a:t>
            </a:r>
            <a:endParaRPr/>
          </a:p>
          <a:p>
            <a:pPr marL="0" marR="0" lvl="0" indent="0" algn="ctr" rtl="0">
              <a:lnSpc>
                <a:spcPct val="100000"/>
              </a:lnSpc>
              <a:spcBef>
                <a:spcPts val="0"/>
              </a:spcBef>
              <a:spcAft>
                <a:spcPts val="0"/>
              </a:spcAft>
              <a:buClr>
                <a:srgbClr val="000000"/>
              </a:buClr>
              <a:buSzPts val="1200"/>
              <a:buFont typeface="Arial"/>
              <a:buNone/>
            </a:pPr>
            <a:r>
              <a:rPr lang="en" sz="1200" b="0" i="0" u="none" strike="noStrike" cap="none">
                <a:solidFill>
                  <a:srgbClr val="FF0000"/>
                </a:solidFill>
                <a:highlight>
                  <a:srgbClr val="FFFF00"/>
                </a:highlight>
                <a:latin typeface="Times New Roman"/>
                <a:ea typeface="Times New Roman"/>
                <a:cs typeface="Times New Roman"/>
                <a:sym typeface="Times New Roman"/>
              </a:rPr>
              <a:t>(Please provide most terminal codon/nucleotide that is expected to result in NMD)</a:t>
            </a:r>
            <a:endParaRPr sz="1400" b="0" i="0" u="none" strike="noStrike" cap="none">
              <a:solidFill>
                <a:srgbClr val="FF0000"/>
              </a:solidFill>
              <a:highlight>
                <a:srgbClr val="FFFF00"/>
              </a:highlight>
              <a:latin typeface="Arial"/>
              <a:ea typeface="Arial"/>
              <a:cs typeface="Arial"/>
              <a:sym typeface="Arial"/>
            </a:endParaRPr>
          </a:p>
        </p:txBody>
      </p:sp>
      <p:sp>
        <p:nvSpPr>
          <p:cNvPr id="62" name="Google Shape;62;p1"/>
          <p:cNvSpPr/>
          <p:nvPr/>
        </p:nvSpPr>
        <p:spPr>
          <a:xfrm>
            <a:off x="1664575" y="1464775"/>
            <a:ext cx="2374200" cy="95880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 sz="1200" b="0" i="0" u="none" strike="noStrike" cap="none">
                <a:solidFill>
                  <a:srgbClr val="000000"/>
                </a:solidFill>
                <a:highlight>
                  <a:srgbClr val="FFFF00"/>
                </a:highlight>
                <a:latin typeface="Times New Roman"/>
                <a:ea typeface="Times New Roman"/>
                <a:cs typeface="Times New Roman"/>
                <a:sym typeface="Times New Roman"/>
              </a:rPr>
              <a:t>Not predicted to undergo NMD</a:t>
            </a:r>
            <a:r>
              <a:rPr lang="en" sz="1200" b="0" i="0" u="none" strike="noStrike" cap="none">
                <a:solidFill>
                  <a:schemeClr val="dk1"/>
                </a:solidFill>
                <a:highlight>
                  <a:srgbClr val="FFFF00"/>
                </a:highlight>
                <a:latin typeface="Times New Roman"/>
                <a:ea typeface="Times New Roman"/>
                <a:cs typeface="Times New Roman"/>
                <a:sym typeface="Times New Roman"/>
              </a:rPr>
              <a:t> </a:t>
            </a:r>
            <a:r>
              <a:rPr lang="en" sz="1200" b="0" i="0" u="none" strike="noStrike" cap="none" baseline="30000">
                <a:solidFill>
                  <a:schemeClr val="dk1"/>
                </a:solidFill>
                <a:highlight>
                  <a:srgbClr val="FFFF00"/>
                </a:highlight>
                <a:latin typeface="Times New Roman"/>
                <a:ea typeface="Times New Roman"/>
                <a:cs typeface="Times New Roman"/>
                <a:sym typeface="Times New Roman"/>
              </a:rPr>
              <a:t>b</a:t>
            </a:r>
            <a:endParaRPr sz="1400" b="0" i="0" u="none" strike="noStrike" cap="none">
              <a:solidFill>
                <a:srgbClr val="000000"/>
              </a:solidFill>
              <a:highlight>
                <a:srgbClr val="FFFF00"/>
              </a:highlight>
              <a:latin typeface="Arial"/>
              <a:ea typeface="Arial"/>
              <a:cs typeface="Arial"/>
              <a:sym typeface="Arial"/>
            </a:endParaRPr>
          </a:p>
        </p:txBody>
      </p:sp>
      <p:sp>
        <p:nvSpPr>
          <p:cNvPr id="63" name="Google Shape;63;p1"/>
          <p:cNvSpPr/>
          <p:nvPr/>
        </p:nvSpPr>
        <p:spPr>
          <a:xfrm>
            <a:off x="4536350" y="192700"/>
            <a:ext cx="5868000" cy="276900"/>
          </a:xfrm>
          <a:prstGeom prst="rect">
            <a:avLst/>
          </a:prstGeom>
          <a:solidFill>
            <a:schemeClr val="lt1"/>
          </a:solid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 sz="1200" b="0" i="0" u="none" strike="noStrike" cap="none">
                <a:solidFill>
                  <a:srgbClr val="000000"/>
                </a:solidFill>
                <a:highlight>
                  <a:srgbClr val="FFFF00"/>
                </a:highlight>
                <a:latin typeface="Times New Roman"/>
                <a:ea typeface="Times New Roman"/>
                <a:cs typeface="Times New Roman"/>
                <a:sym typeface="Times New Roman"/>
              </a:rPr>
              <a:t>Exon is present in biologically-relevant transcript(s) </a:t>
            </a:r>
            <a:r>
              <a:rPr lang="en" sz="1200" b="0" i="0" u="none" strike="noStrike" cap="none">
                <a:solidFill>
                  <a:srgbClr val="FF0000"/>
                </a:solidFill>
                <a:highlight>
                  <a:srgbClr val="FFFF00"/>
                </a:highlight>
                <a:latin typeface="Times New Roman"/>
                <a:ea typeface="Times New Roman"/>
                <a:cs typeface="Times New Roman"/>
                <a:sym typeface="Times New Roman"/>
              </a:rPr>
              <a:t>(Please designate relevant transcript)</a:t>
            </a:r>
            <a:endParaRPr sz="1400" b="0" i="0" u="none" strike="noStrike" cap="none">
              <a:solidFill>
                <a:srgbClr val="000000"/>
              </a:solidFill>
              <a:highlight>
                <a:srgbClr val="FFFF00"/>
              </a:highlight>
              <a:latin typeface="Arial"/>
              <a:ea typeface="Arial"/>
              <a:cs typeface="Arial"/>
              <a:sym typeface="Arial"/>
            </a:endParaRPr>
          </a:p>
        </p:txBody>
      </p:sp>
      <p:sp>
        <p:nvSpPr>
          <p:cNvPr id="64" name="Google Shape;64;p1"/>
          <p:cNvSpPr/>
          <p:nvPr/>
        </p:nvSpPr>
        <p:spPr>
          <a:xfrm>
            <a:off x="4536275" y="621275"/>
            <a:ext cx="5868000" cy="27690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 sz="1200" b="0" i="0" u="none" strike="noStrike" cap="none">
                <a:solidFill>
                  <a:srgbClr val="000000"/>
                </a:solidFill>
                <a:latin typeface="Times New Roman"/>
                <a:ea typeface="Times New Roman"/>
                <a:cs typeface="Times New Roman"/>
                <a:sym typeface="Times New Roman"/>
              </a:rPr>
              <a:t>Exon is absent from biologically-relevant transcript(s)</a:t>
            </a:r>
            <a:endParaRPr sz="1200" b="0" i="0" u="none" strike="noStrike" cap="none">
              <a:solidFill>
                <a:srgbClr val="000000"/>
              </a:solidFill>
              <a:latin typeface="Times New Roman"/>
              <a:ea typeface="Times New Roman"/>
              <a:cs typeface="Times New Roman"/>
              <a:sym typeface="Times New Roman"/>
            </a:endParaRPr>
          </a:p>
        </p:txBody>
      </p:sp>
      <p:sp>
        <p:nvSpPr>
          <p:cNvPr id="65" name="Google Shape;65;p1"/>
          <p:cNvSpPr/>
          <p:nvPr/>
        </p:nvSpPr>
        <p:spPr>
          <a:xfrm>
            <a:off x="10945225" y="192700"/>
            <a:ext cx="1281000" cy="27690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 sz="1200" b="0" i="0" u="none" strike="noStrike" cap="none">
                <a:solidFill>
                  <a:srgbClr val="000000"/>
                </a:solidFill>
                <a:latin typeface="Times New Roman"/>
                <a:ea typeface="Times New Roman"/>
                <a:cs typeface="Times New Roman"/>
                <a:sym typeface="Times New Roman"/>
              </a:rPr>
              <a:t>PVS1</a:t>
            </a:r>
            <a:endParaRPr sz="1400" b="0" i="0" u="none" strike="noStrike" cap="none">
              <a:solidFill>
                <a:srgbClr val="000000"/>
              </a:solidFill>
              <a:latin typeface="Arial"/>
              <a:ea typeface="Arial"/>
              <a:cs typeface="Arial"/>
              <a:sym typeface="Arial"/>
            </a:endParaRPr>
          </a:p>
        </p:txBody>
      </p:sp>
      <p:sp>
        <p:nvSpPr>
          <p:cNvPr id="66" name="Google Shape;66;p1"/>
          <p:cNvSpPr/>
          <p:nvPr/>
        </p:nvSpPr>
        <p:spPr>
          <a:xfrm>
            <a:off x="10945225" y="621275"/>
            <a:ext cx="1281000" cy="27690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 sz="1200" b="0" i="0" u="none" strike="noStrike" cap="none">
                <a:solidFill>
                  <a:srgbClr val="000000"/>
                </a:solidFill>
                <a:latin typeface="Times New Roman"/>
                <a:ea typeface="Times New Roman"/>
                <a:cs typeface="Times New Roman"/>
                <a:sym typeface="Times New Roman"/>
              </a:rPr>
              <a:t>N/A</a:t>
            </a:r>
            <a:endParaRPr sz="1400" b="0" i="0" u="none" strike="noStrike" cap="none">
              <a:solidFill>
                <a:srgbClr val="000000"/>
              </a:solidFill>
              <a:latin typeface="Arial"/>
              <a:ea typeface="Arial"/>
              <a:cs typeface="Arial"/>
              <a:sym typeface="Arial"/>
            </a:endParaRPr>
          </a:p>
        </p:txBody>
      </p:sp>
      <p:sp>
        <p:nvSpPr>
          <p:cNvPr id="67" name="Google Shape;67;p1"/>
          <p:cNvSpPr/>
          <p:nvPr/>
        </p:nvSpPr>
        <p:spPr>
          <a:xfrm>
            <a:off x="4529000" y="1112700"/>
            <a:ext cx="5896500" cy="27690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 sz="1200" b="0" i="0" u="none" strike="noStrike" cap="none">
                <a:solidFill>
                  <a:srgbClr val="000000"/>
                </a:solidFill>
                <a:highlight>
                  <a:srgbClr val="FFFF00"/>
                </a:highlight>
                <a:latin typeface="Times New Roman"/>
                <a:ea typeface="Times New Roman"/>
                <a:cs typeface="Times New Roman"/>
                <a:sym typeface="Times New Roman"/>
              </a:rPr>
              <a:t>Truncated/altered region is critical to protein function </a:t>
            </a:r>
            <a:r>
              <a:rPr lang="en" sz="1200" b="0" i="0" u="none" strike="noStrike" cap="none" baseline="30000">
                <a:solidFill>
                  <a:srgbClr val="000000"/>
                </a:solidFill>
                <a:highlight>
                  <a:srgbClr val="FFFF00"/>
                </a:highlight>
                <a:latin typeface="Times New Roman"/>
                <a:ea typeface="Times New Roman"/>
                <a:cs typeface="Times New Roman"/>
                <a:sym typeface="Times New Roman"/>
              </a:rPr>
              <a:t>c</a:t>
            </a:r>
            <a:r>
              <a:rPr lang="en" sz="1200" b="0" i="0" u="none" strike="noStrike" cap="none">
                <a:solidFill>
                  <a:srgbClr val="000000"/>
                </a:solidFill>
                <a:highlight>
                  <a:srgbClr val="FFFF00"/>
                </a:highlight>
                <a:latin typeface="Times New Roman"/>
                <a:ea typeface="Times New Roman"/>
                <a:cs typeface="Times New Roman"/>
                <a:sym typeface="Times New Roman"/>
              </a:rPr>
              <a:t> </a:t>
            </a:r>
            <a:r>
              <a:rPr lang="en" sz="1200" b="0" i="0" u="none" strike="noStrike" cap="none">
                <a:solidFill>
                  <a:srgbClr val="FF0000"/>
                </a:solidFill>
                <a:highlight>
                  <a:srgbClr val="FFFF00"/>
                </a:highlight>
                <a:latin typeface="Times New Roman"/>
                <a:ea typeface="Times New Roman"/>
                <a:cs typeface="Times New Roman"/>
                <a:sym typeface="Times New Roman"/>
              </a:rPr>
              <a:t>(If relevant please specify regions)</a:t>
            </a:r>
            <a:endParaRPr sz="1200" b="0" i="0" u="none" strike="noStrike" cap="none">
              <a:solidFill>
                <a:srgbClr val="000000"/>
              </a:solidFill>
              <a:highlight>
                <a:srgbClr val="FFFF00"/>
              </a:highlight>
              <a:latin typeface="Times New Roman"/>
              <a:ea typeface="Times New Roman"/>
              <a:cs typeface="Times New Roman"/>
              <a:sym typeface="Times New Roman"/>
            </a:endParaRPr>
          </a:p>
        </p:txBody>
      </p:sp>
      <p:sp>
        <p:nvSpPr>
          <p:cNvPr id="68" name="Google Shape;68;p1"/>
          <p:cNvSpPr/>
          <p:nvPr/>
        </p:nvSpPr>
        <p:spPr>
          <a:xfrm>
            <a:off x="4557575" y="1487150"/>
            <a:ext cx="1080900" cy="140910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 sz="1200" b="0" i="0" u="none" strike="noStrike" cap="none">
                <a:solidFill>
                  <a:srgbClr val="000000"/>
                </a:solidFill>
                <a:latin typeface="Times New Roman"/>
                <a:ea typeface="Times New Roman"/>
                <a:cs typeface="Times New Roman"/>
                <a:sym typeface="Times New Roman"/>
              </a:rPr>
              <a:t>Role of region in protein function is unknown</a:t>
            </a:r>
            <a:endParaRPr sz="1400" b="0" i="0" u="none" strike="noStrike" cap="none">
              <a:solidFill>
                <a:srgbClr val="000000"/>
              </a:solidFill>
              <a:latin typeface="Arial"/>
              <a:ea typeface="Arial"/>
              <a:cs typeface="Arial"/>
              <a:sym typeface="Arial"/>
            </a:endParaRPr>
          </a:p>
        </p:txBody>
      </p:sp>
      <p:sp>
        <p:nvSpPr>
          <p:cNvPr id="69" name="Google Shape;69;p1"/>
          <p:cNvSpPr/>
          <p:nvPr/>
        </p:nvSpPr>
        <p:spPr>
          <a:xfrm>
            <a:off x="6201875" y="1497075"/>
            <a:ext cx="4234500" cy="46170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 sz="1200" b="0" i="0" u="none" strike="noStrike" cap="none">
                <a:solidFill>
                  <a:srgbClr val="000000"/>
                </a:solidFill>
                <a:latin typeface="Times New Roman"/>
                <a:ea typeface="Times New Roman"/>
                <a:cs typeface="Times New Roman"/>
                <a:sym typeface="Times New Roman"/>
              </a:rPr>
              <a:t>LoF variants in this exon are frequent in the general population and/or exon is absent from biologically-relevant transcript(s)</a:t>
            </a:r>
            <a:endParaRPr sz="1400" b="0" i="0" u="none" strike="noStrike" cap="none">
              <a:solidFill>
                <a:srgbClr val="000000"/>
              </a:solidFill>
              <a:latin typeface="Arial"/>
              <a:ea typeface="Arial"/>
              <a:cs typeface="Arial"/>
              <a:sym typeface="Arial"/>
            </a:endParaRPr>
          </a:p>
        </p:txBody>
      </p:sp>
      <p:sp>
        <p:nvSpPr>
          <p:cNvPr id="70" name="Google Shape;70;p1"/>
          <p:cNvSpPr/>
          <p:nvPr/>
        </p:nvSpPr>
        <p:spPr>
          <a:xfrm>
            <a:off x="10945225" y="1112700"/>
            <a:ext cx="1281000" cy="27690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 sz="1200" b="0" i="0" u="none" strike="noStrike" cap="none">
                <a:solidFill>
                  <a:srgbClr val="000000"/>
                </a:solidFill>
                <a:latin typeface="Times New Roman"/>
                <a:ea typeface="Times New Roman"/>
                <a:cs typeface="Times New Roman"/>
                <a:sym typeface="Times New Roman"/>
              </a:rPr>
              <a:t>PVS1_Strong</a:t>
            </a:r>
            <a:endParaRPr sz="1400" b="0" i="0" u="none" strike="noStrike" cap="none">
              <a:solidFill>
                <a:srgbClr val="000000"/>
              </a:solidFill>
              <a:latin typeface="Arial"/>
              <a:ea typeface="Arial"/>
              <a:cs typeface="Arial"/>
              <a:sym typeface="Arial"/>
            </a:endParaRPr>
          </a:p>
        </p:txBody>
      </p:sp>
      <p:sp>
        <p:nvSpPr>
          <p:cNvPr id="71" name="Google Shape;71;p1"/>
          <p:cNvSpPr/>
          <p:nvPr/>
        </p:nvSpPr>
        <p:spPr>
          <a:xfrm>
            <a:off x="10945225" y="1542225"/>
            <a:ext cx="1281000" cy="37140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 sz="1200" b="0" i="0" u="none" strike="noStrike" cap="none">
                <a:solidFill>
                  <a:srgbClr val="000000"/>
                </a:solidFill>
                <a:latin typeface="Times New Roman"/>
                <a:ea typeface="Times New Roman"/>
                <a:cs typeface="Times New Roman"/>
                <a:sym typeface="Times New Roman"/>
              </a:rPr>
              <a:t>N/A</a:t>
            </a:r>
            <a:endParaRPr sz="1400" b="0" i="0" u="none" strike="noStrike" cap="none">
              <a:solidFill>
                <a:srgbClr val="000000"/>
              </a:solidFill>
              <a:latin typeface="Arial"/>
              <a:ea typeface="Arial"/>
              <a:cs typeface="Arial"/>
              <a:sym typeface="Arial"/>
            </a:endParaRPr>
          </a:p>
        </p:txBody>
      </p:sp>
      <p:sp>
        <p:nvSpPr>
          <p:cNvPr id="72" name="Google Shape;72;p1"/>
          <p:cNvSpPr/>
          <p:nvPr/>
        </p:nvSpPr>
        <p:spPr>
          <a:xfrm>
            <a:off x="10945225" y="2130450"/>
            <a:ext cx="1281000" cy="32430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 sz="1200" b="0" i="0" u="none" strike="noStrike" cap="none">
                <a:solidFill>
                  <a:srgbClr val="000000"/>
                </a:solidFill>
                <a:latin typeface="Times New Roman"/>
                <a:ea typeface="Times New Roman"/>
                <a:cs typeface="Times New Roman"/>
                <a:sym typeface="Times New Roman"/>
              </a:rPr>
              <a:t>PVS1_Strong</a:t>
            </a:r>
            <a:endParaRPr sz="1400" b="0" i="0" u="none" strike="noStrike" cap="none">
              <a:solidFill>
                <a:srgbClr val="000000"/>
              </a:solidFill>
              <a:latin typeface="Arial"/>
              <a:ea typeface="Arial"/>
              <a:cs typeface="Arial"/>
              <a:sym typeface="Arial"/>
            </a:endParaRPr>
          </a:p>
        </p:txBody>
      </p:sp>
      <p:sp>
        <p:nvSpPr>
          <p:cNvPr id="73" name="Google Shape;73;p1"/>
          <p:cNvSpPr/>
          <p:nvPr/>
        </p:nvSpPr>
        <p:spPr>
          <a:xfrm>
            <a:off x="10945225" y="2633075"/>
            <a:ext cx="1281000" cy="37140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 sz="1200" b="0" i="0" u="none" strike="noStrike" cap="none">
                <a:solidFill>
                  <a:srgbClr val="000000"/>
                </a:solidFill>
                <a:latin typeface="Times New Roman"/>
                <a:ea typeface="Times New Roman"/>
                <a:cs typeface="Times New Roman"/>
                <a:sym typeface="Times New Roman"/>
              </a:rPr>
              <a:t>PVS1_Moderate</a:t>
            </a:r>
            <a:endParaRPr sz="1400" b="0" i="0" u="none" strike="noStrike" cap="none">
              <a:solidFill>
                <a:srgbClr val="000000"/>
              </a:solidFill>
              <a:latin typeface="Arial"/>
              <a:ea typeface="Arial"/>
              <a:cs typeface="Arial"/>
              <a:sym typeface="Arial"/>
            </a:endParaRPr>
          </a:p>
        </p:txBody>
      </p:sp>
      <p:sp>
        <p:nvSpPr>
          <p:cNvPr id="74" name="Google Shape;74;p1"/>
          <p:cNvSpPr/>
          <p:nvPr/>
        </p:nvSpPr>
        <p:spPr>
          <a:xfrm>
            <a:off x="6201875" y="2066250"/>
            <a:ext cx="2618100" cy="97890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 sz="1200" b="0" i="0" u="none" strike="noStrike" cap="none">
                <a:solidFill>
                  <a:srgbClr val="000000"/>
                </a:solidFill>
                <a:latin typeface="Times New Roman"/>
                <a:ea typeface="Times New Roman"/>
                <a:cs typeface="Times New Roman"/>
                <a:sym typeface="Times New Roman"/>
              </a:rPr>
              <a:t>LoF variants in this exon are not frequent in the general population and exon is present in biologically-relevant transcript(s)</a:t>
            </a:r>
            <a:endParaRPr sz="1200" b="0" i="0" u="none" strike="noStrike" cap="none">
              <a:solidFill>
                <a:srgbClr val="000000"/>
              </a:solidFill>
              <a:latin typeface="Times New Roman"/>
              <a:ea typeface="Times New Roman"/>
              <a:cs typeface="Times New Roman"/>
              <a:sym typeface="Times New Roman"/>
            </a:endParaRPr>
          </a:p>
        </p:txBody>
      </p:sp>
      <p:sp>
        <p:nvSpPr>
          <p:cNvPr id="75" name="Google Shape;75;p1"/>
          <p:cNvSpPr/>
          <p:nvPr/>
        </p:nvSpPr>
        <p:spPr>
          <a:xfrm>
            <a:off x="9204900" y="2066250"/>
            <a:ext cx="1231500" cy="45270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 sz="1200" b="0" i="0" u="none" strike="noStrike" cap="none">
                <a:solidFill>
                  <a:srgbClr val="000000"/>
                </a:solidFill>
                <a:latin typeface="Times New Roman"/>
                <a:ea typeface="Times New Roman"/>
                <a:cs typeface="Times New Roman"/>
                <a:sym typeface="Times New Roman"/>
              </a:rPr>
              <a:t>Variant removes &gt;10% of protein</a:t>
            </a:r>
            <a:endParaRPr sz="1400" b="0" i="0" u="none" strike="noStrike" cap="none">
              <a:solidFill>
                <a:srgbClr val="000000"/>
              </a:solidFill>
              <a:latin typeface="Arial"/>
              <a:ea typeface="Arial"/>
              <a:cs typeface="Arial"/>
              <a:sym typeface="Arial"/>
            </a:endParaRPr>
          </a:p>
        </p:txBody>
      </p:sp>
      <p:sp>
        <p:nvSpPr>
          <p:cNvPr id="76" name="Google Shape;76;p1"/>
          <p:cNvSpPr/>
          <p:nvPr/>
        </p:nvSpPr>
        <p:spPr>
          <a:xfrm>
            <a:off x="9204825" y="2592425"/>
            <a:ext cx="1231500" cy="45270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 sz="1200" b="0" i="0" u="none" strike="noStrike" cap="none">
                <a:solidFill>
                  <a:srgbClr val="000000"/>
                </a:solidFill>
                <a:latin typeface="Times New Roman"/>
                <a:ea typeface="Times New Roman"/>
                <a:cs typeface="Times New Roman"/>
                <a:sym typeface="Times New Roman"/>
              </a:rPr>
              <a:t>Variant removes &lt;10% of protein</a:t>
            </a:r>
            <a:endParaRPr sz="1400" b="0" i="0" u="none" strike="noStrike" cap="none">
              <a:solidFill>
                <a:srgbClr val="000000"/>
              </a:solidFill>
              <a:latin typeface="Arial"/>
              <a:ea typeface="Arial"/>
              <a:cs typeface="Arial"/>
              <a:sym typeface="Arial"/>
            </a:endParaRPr>
          </a:p>
        </p:txBody>
      </p:sp>
      <p:cxnSp>
        <p:nvCxnSpPr>
          <p:cNvPr id="77" name="Google Shape;77;p1"/>
          <p:cNvCxnSpPr>
            <a:stCxn id="74" idx="3"/>
            <a:endCxn id="75" idx="1"/>
          </p:cNvCxnSpPr>
          <p:nvPr/>
        </p:nvCxnSpPr>
        <p:spPr>
          <a:xfrm rot="10800000" flipH="1">
            <a:off x="8819975" y="2292600"/>
            <a:ext cx="384900" cy="263100"/>
          </a:xfrm>
          <a:prstGeom prst="straightConnector1">
            <a:avLst/>
          </a:prstGeom>
          <a:noFill/>
          <a:ln w="9525" cap="flat" cmpd="sng">
            <a:solidFill>
              <a:srgbClr val="44546A"/>
            </a:solidFill>
            <a:prstDash val="solid"/>
            <a:round/>
            <a:headEnd type="none" w="sm" len="sm"/>
            <a:tailEnd type="triangle" w="med" len="med"/>
          </a:ln>
        </p:spPr>
      </p:cxnSp>
      <p:cxnSp>
        <p:nvCxnSpPr>
          <p:cNvPr id="78" name="Google Shape;78;p1"/>
          <p:cNvCxnSpPr>
            <a:stCxn id="74" idx="3"/>
            <a:endCxn id="76" idx="1"/>
          </p:cNvCxnSpPr>
          <p:nvPr/>
        </p:nvCxnSpPr>
        <p:spPr>
          <a:xfrm>
            <a:off x="8819975" y="2555700"/>
            <a:ext cx="384900" cy="263100"/>
          </a:xfrm>
          <a:prstGeom prst="straightConnector1">
            <a:avLst/>
          </a:prstGeom>
          <a:noFill/>
          <a:ln w="9525" cap="flat" cmpd="sng">
            <a:solidFill>
              <a:srgbClr val="44546A"/>
            </a:solidFill>
            <a:prstDash val="solid"/>
            <a:round/>
            <a:headEnd type="none" w="sm" len="sm"/>
            <a:tailEnd type="triangle" w="med" len="med"/>
          </a:ln>
        </p:spPr>
      </p:cxnSp>
      <p:cxnSp>
        <p:nvCxnSpPr>
          <p:cNvPr id="79" name="Google Shape;79;p1"/>
          <p:cNvCxnSpPr>
            <a:stCxn id="60" idx="3"/>
            <a:endCxn id="61" idx="1"/>
          </p:cNvCxnSpPr>
          <p:nvPr/>
        </p:nvCxnSpPr>
        <p:spPr>
          <a:xfrm rot="10800000" flipH="1">
            <a:off x="1186125" y="569023"/>
            <a:ext cx="478500" cy="1066500"/>
          </a:xfrm>
          <a:prstGeom prst="straightConnector1">
            <a:avLst/>
          </a:prstGeom>
          <a:noFill/>
          <a:ln w="9525" cap="flat" cmpd="sng">
            <a:solidFill>
              <a:srgbClr val="44546A"/>
            </a:solidFill>
            <a:prstDash val="solid"/>
            <a:round/>
            <a:headEnd type="none" w="sm" len="sm"/>
            <a:tailEnd type="triangle" w="med" len="med"/>
          </a:ln>
        </p:spPr>
      </p:cxnSp>
      <p:cxnSp>
        <p:nvCxnSpPr>
          <p:cNvPr id="80" name="Google Shape;80;p1"/>
          <p:cNvCxnSpPr>
            <a:stCxn id="60" idx="3"/>
            <a:endCxn id="62" idx="1"/>
          </p:cNvCxnSpPr>
          <p:nvPr/>
        </p:nvCxnSpPr>
        <p:spPr>
          <a:xfrm>
            <a:off x="1186125" y="1635523"/>
            <a:ext cx="478500" cy="308700"/>
          </a:xfrm>
          <a:prstGeom prst="straightConnector1">
            <a:avLst/>
          </a:prstGeom>
          <a:noFill/>
          <a:ln w="9525" cap="flat" cmpd="sng">
            <a:solidFill>
              <a:srgbClr val="44546A"/>
            </a:solidFill>
            <a:prstDash val="solid"/>
            <a:round/>
            <a:headEnd type="none" w="sm" len="sm"/>
            <a:tailEnd type="triangle" w="med" len="med"/>
          </a:ln>
        </p:spPr>
      </p:cxnSp>
      <p:cxnSp>
        <p:nvCxnSpPr>
          <p:cNvPr id="81" name="Google Shape;81;p1"/>
          <p:cNvCxnSpPr>
            <a:stCxn id="61" idx="3"/>
            <a:endCxn id="63" idx="1"/>
          </p:cNvCxnSpPr>
          <p:nvPr/>
        </p:nvCxnSpPr>
        <p:spPr>
          <a:xfrm rot="10800000" flipH="1">
            <a:off x="4038775" y="331225"/>
            <a:ext cx="497700" cy="237900"/>
          </a:xfrm>
          <a:prstGeom prst="straightConnector1">
            <a:avLst/>
          </a:prstGeom>
          <a:noFill/>
          <a:ln w="9525" cap="flat" cmpd="sng">
            <a:solidFill>
              <a:srgbClr val="44546A"/>
            </a:solidFill>
            <a:prstDash val="solid"/>
            <a:round/>
            <a:headEnd type="none" w="sm" len="sm"/>
            <a:tailEnd type="triangle" w="med" len="med"/>
          </a:ln>
        </p:spPr>
      </p:cxnSp>
      <p:cxnSp>
        <p:nvCxnSpPr>
          <p:cNvPr id="82" name="Google Shape;82;p1"/>
          <p:cNvCxnSpPr>
            <a:stCxn id="61" idx="3"/>
            <a:endCxn id="64" idx="1"/>
          </p:cNvCxnSpPr>
          <p:nvPr/>
        </p:nvCxnSpPr>
        <p:spPr>
          <a:xfrm>
            <a:off x="4038775" y="569125"/>
            <a:ext cx="497400" cy="190500"/>
          </a:xfrm>
          <a:prstGeom prst="straightConnector1">
            <a:avLst/>
          </a:prstGeom>
          <a:noFill/>
          <a:ln w="9525" cap="flat" cmpd="sng">
            <a:solidFill>
              <a:srgbClr val="44546A"/>
            </a:solidFill>
            <a:prstDash val="solid"/>
            <a:round/>
            <a:headEnd type="none" w="sm" len="sm"/>
            <a:tailEnd type="triangle" w="med" len="med"/>
          </a:ln>
        </p:spPr>
      </p:cxnSp>
      <p:cxnSp>
        <p:nvCxnSpPr>
          <p:cNvPr id="83" name="Google Shape;83;p1"/>
          <p:cNvCxnSpPr>
            <a:stCxn id="62" idx="3"/>
            <a:endCxn id="67" idx="1"/>
          </p:cNvCxnSpPr>
          <p:nvPr/>
        </p:nvCxnSpPr>
        <p:spPr>
          <a:xfrm rot="10800000" flipH="1">
            <a:off x="4038775" y="1251175"/>
            <a:ext cx="490200" cy="693000"/>
          </a:xfrm>
          <a:prstGeom prst="straightConnector1">
            <a:avLst/>
          </a:prstGeom>
          <a:noFill/>
          <a:ln w="9525" cap="flat" cmpd="sng">
            <a:solidFill>
              <a:srgbClr val="44546A"/>
            </a:solidFill>
            <a:prstDash val="solid"/>
            <a:round/>
            <a:headEnd type="none" w="sm" len="sm"/>
            <a:tailEnd type="triangle" w="med" len="med"/>
          </a:ln>
        </p:spPr>
      </p:cxnSp>
      <p:cxnSp>
        <p:nvCxnSpPr>
          <p:cNvPr id="84" name="Google Shape;84;p1"/>
          <p:cNvCxnSpPr>
            <a:stCxn id="62" idx="3"/>
            <a:endCxn id="68" idx="1"/>
          </p:cNvCxnSpPr>
          <p:nvPr/>
        </p:nvCxnSpPr>
        <p:spPr>
          <a:xfrm>
            <a:off x="4038775" y="1944175"/>
            <a:ext cx="518700" cy="247500"/>
          </a:xfrm>
          <a:prstGeom prst="straightConnector1">
            <a:avLst/>
          </a:prstGeom>
          <a:noFill/>
          <a:ln w="9525" cap="flat" cmpd="sng">
            <a:solidFill>
              <a:srgbClr val="44546A"/>
            </a:solidFill>
            <a:prstDash val="solid"/>
            <a:round/>
            <a:headEnd type="none" w="sm" len="sm"/>
            <a:tailEnd type="triangle" w="med" len="med"/>
          </a:ln>
        </p:spPr>
      </p:cxnSp>
      <p:cxnSp>
        <p:nvCxnSpPr>
          <p:cNvPr id="85" name="Google Shape;85;p1"/>
          <p:cNvCxnSpPr>
            <a:stCxn id="68" idx="3"/>
            <a:endCxn id="69" idx="1"/>
          </p:cNvCxnSpPr>
          <p:nvPr/>
        </p:nvCxnSpPr>
        <p:spPr>
          <a:xfrm rot="10800000" flipH="1">
            <a:off x="5638475" y="1727900"/>
            <a:ext cx="563400" cy="463800"/>
          </a:xfrm>
          <a:prstGeom prst="straightConnector1">
            <a:avLst/>
          </a:prstGeom>
          <a:noFill/>
          <a:ln w="9525" cap="flat" cmpd="sng">
            <a:solidFill>
              <a:srgbClr val="44546A"/>
            </a:solidFill>
            <a:prstDash val="solid"/>
            <a:round/>
            <a:headEnd type="none" w="sm" len="sm"/>
            <a:tailEnd type="triangle" w="med" len="med"/>
          </a:ln>
        </p:spPr>
      </p:cxnSp>
      <p:cxnSp>
        <p:nvCxnSpPr>
          <p:cNvPr id="86" name="Google Shape;86;p1"/>
          <p:cNvCxnSpPr>
            <a:stCxn id="68" idx="3"/>
            <a:endCxn id="74" idx="1"/>
          </p:cNvCxnSpPr>
          <p:nvPr/>
        </p:nvCxnSpPr>
        <p:spPr>
          <a:xfrm>
            <a:off x="5638475" y="2191700"/>
            <a:ext cx="563400" cy="363900"/>
          </a:xfrm>
          <a:prstGeom prst="straightConnector1">
            <a:avLst/>
          </a:prstGeom>
          <a:noFill/>
          <a:ln w="9525" cap="flat" cmpd="sng">
            <a:solidFill>
              <a:srgbClr val="44546A"/>
            </a:solidFill>
            <a:prstDash val="solid"/>
            <a:round/>
            <a:headEnd type="none" w="sm" len="sm"/>
            <a:tailEnd type="triangle" w="med" len="med"/>
          </a:ln>
        </p:spPr>
      </p:cxnSp>
      <p:sp>
        <p:nvSpPr>
          <p:cNvPr id="87" name="Google Shape;87;p1"/>
          <p:cNvSpPr txBox="1"/>
          <p:nvPr/>
        </p:nvSpPr>
        <p:spPr>
          <a:xfrm>
            <a:off x="80325" y="3209450"/>
            <a:ext cx="1105800" cy="480030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 sz="1200" b="1" i="0" u="none" strike="noStrike" cap="none">
                <a:solidFill>
                  <a:srgbClr val="000000"/>
                </a:solidFill>
                <a:latin typeface="Times New Roman"/>
                <a:ea typeface="Times New Roman"/>
                <a:cs typeface="Times New Roman"/>
                <a:sym typeface="Times New Roman"/>
              </a:rPr>
              <a:t>GT--AG</a:t>
            </a:r>
            <a:endParaRPr sz="1200" b="1" i="0" u="none" strike="noStrike" cap="none">
              <a:solidFill>
                <a:srgbClr val="000000"/>
              </a:solidFill>
              <a:latin typeface="Times New Roman"/>
              <a:ea typeface="Times New Roman"/>
              <a:cs typeface="Times New Roman"/>
              <a:sym typeface="Times New Roman"/>
            </a:endParaRPr>
          </a:p>
          <a:p>
            <a:pPr marL="0" marR="0" lvl="0" indent="0" algn="ctr" rtl="0">
              <a:lnSpc>
                <a:spcPct val="100000"/>
              </a:lnSpc>
              <a:spcBef>
                <a:spcPts val="0"/>
              </a:spcBef>
              <a:spcAft>
                <a:spcPts val="0"/>
              </a:spcAft>
              <a:buClr>
                <a:srgbClr val="000000"/>
              </a:buClr>
              <a:buSzPts val="1200"/>
              <a:buFont typeface="Arial"/>
              <a:buNone/>
            </a:pPr>
            <a:r>
              <a:rPr lang="en" sz="1200" b="1" i="0" u="none" strike="noStrike" cap="none">
                <a:solidFill>
                  <a:srgbClr val="000000"/>
                </a:solidFill>
                <a:latin typeface="Times New Roman"/>
                <a:ea typeface="Times New Roman"/>
                <a:cs typeface="Times New Roman"/>
                <a:sym typeface="Times New Roman"/>
              </a:rPr>
              <a:t>1,2 splice </a:t>
            </a:r>
            <a:endParaRPr sz="1200" b="1" i="0" u="none" strike="noStrike" cap="none">
              <a:solidFill>
                <a:srgbClr val="000000"/>
              </a:solidFill>
              <a:latin typeface="Times New Roman"/>
              <a:ea typeface="Times New Roman"/>
              <a:cs typeface="Times New Roman"/>
              <a:sym typeface="Times New Roman"/>
            </a:endParaRPr>
          </a:p>
          <a:p>
            <a:pPr marL="0" marR="0" lvl="0" indent="0" algn="ctr" rtl="0">
              <a:lnSpc>
                <a:spcPct val="100000"/>
              </a:lnSpc>
              <a:spcBef>
                <a:spcPts val="0"/>
              </a:spcBef>
              <a:spcAft>
                <a:spcPts val="0"/>
              </a:spcAft>
              <a:buClr>
                <a:srgbClr val="000000"/>
              </a:buClr>
              <a:buSzPts val="1200"/>
              <a:buFont typeface="Arial"/>
              <a:buNone/>
            </a:pPr>
            <a:r>
              <a:rPr lang="en" sz="1200" b="1" i="0" u="none" strike="noStrike" cap="none">
                <a:solidFill>
                  <a:srgbClr val="000000"/>
                </a:solidFill>
                <a:latin typeface="Times New Roman"/>
                <a:ea typeface="Times New Roman"/>
                <a:cs typeface="Times New Roman"/>
                <a:sym typeface="Times New Roman"/>
              </a:rPr>
              <a:t>sites </a:t>
            </a:r>
            <a:r>
              <a:rPr lang="en" sz="1200" b="1" i="0" u="none" strike="noStrike" cap="none" baseline="30000">
                <a:solidFill>
                  <a:srgbClr val="000000"/>
                </a:solidFill>
                <a:latin typeface="Times New Roman"/>
                <a:ea typeface="Times New Roman"/>
                <a:cs typeface="Times New Roman"/>
                <a:sym typeface="Times New Roman"/>
              </a:rPr>
              <a:t>a</a:t>
            </a:r>
            <a:endParaRPr sz="1400" b="1" i="0" u="none" strike="noStrike" cap="none" baseline="30000">
              <a:solidFill>
                <a:srgbClr val="000000"/>
              </a:solidFill>
              <a:latin typeface="Arial"/>
              <a:ea typeface="Arial"/>
              <a:cs typeface="Arial"/>
              <a:sym typeface="Arial"/>
            </a:endParaRPr>
          </a:p>
        </p:txBody>
      </p:sp>
      <p:sp>
        <p:nvSpPr>
          <p:cNvPr id="88" name="Google Shape;88;p1"/>
          <p:cNvSpPr/>
          <p:nvPr/>
        </p:nvSpPr>
        <p:spPr>
          <a:xfrm>
            <a:off x="1664575" y="3308700"/>
            <a:ext cx="2374200" cy="80250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 sz="1200" b="0" i="0" u="none" strike="noStrike" cap="none">
                <a:solidFill>
                  <a:srgbClr val="000000"/>
                </a:solidFill>
                <a:latin typeface="Times New Roman"/>
                <a:ea typeface="Times New Roman"/>
                <a:cs typeface="Times New Roman"/>
                <a:sym typeface="Times New Roman"/>
              </a:rPr>
              <a:t>Exon skipping or use of a cryptic splice site disrupts reading frame and is predicted to undergo NMD</a:t>
            </a:r>
            <a:r>
              <a:rPr lang="en" sz="1200" b="0" i="0" u="none" strike="noStrike" cap="none">
                <a:solidFill>
                  <a:schemeClr val="dk1"/>
                </a:solidFill>
                <a:latin typeface="Times New Roman"/>
                <a:ea typeface="Times New Roman"/>
                <a:cs typeface="Times New Roman"/>
                <a:sym typeface="Times New Roman"/>
              </a:rPr>
              <a:t> </a:t>
            </a:r>
            <a:r>
              <a:rPr lang="en" sz="1200" b="0" i="0" u="none" strike="noStrike" cap="none" baseline="30000">
                <a:solidFill>
                  <a:schemeClr val="dk1"/>
                </a:solidFill>
                <a:latin typeface="Times New Roman"/>
                <a:ea typeface="Times New Roman"/>
                <a:cs typeface="Times New Roman"/>
                <a:sym typeface="Times New Roman"/>
              </a:rPr>
              <a:t>b</a:t>
            </a:r>
            <a:endParaRPr sz="1400" b="0" i="0" u="none" strike="noStrike" cap="none">
              <a:solidFill>
                <a:srgbClr val="000000"/>
              </a:solidFill>
              <a:latin typeface="Arial"/>
              <a:ea typeface="Arial"/>
              <a:cs typeface="Arial"/>
              <a:sym typeface="Arial"/>
            </a:endParaRPr>
          </a:p>
        </p:txBody>
      </p:sp>
      <p:sp>
        <p:nvSpPr>
          <p:cNvPr id="89" name="Google Shape;89;p1"/>
          <p:cNvSpPr/>
          <p:nvPr/>
        </p:nvSpPr>
        <p:spPr>
          <a:xfrm>
            <a:off x="1654125" y="6290300"/>
            <a:ext cx="2374200" cy="155820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 sz="1200" b="0" i="0" u="none" strike="noStrike" cap="none">
                <a:solidFill>
                  <a:srgbClr val="000000"/>
                </a:solidFill>
                <a:highlight>
                  <a:srgbClr val="FFFF00"/>
                </a:highlight>
                <a:latin typeface="Times New Roman"/>
                <a:ea typeface="Times New Roman"/>
                <a:cs typeface="Times New Roman"/>
                <a:sym typeface="Times New Roman"/>
              </a:rPr>
              <a:t>Exon skipping or use of a cryptic splice site preserves reading frame</a:t>
            </a:r>
            <a:endParaRPr/>
          </a:p>
          <a:p>
            <a:pPr marL="0" marR="0" lvl="0" indent="0" algn="ctr" rtl="0">
              <a:lnSpc>
                <a:spcPct val="100000"/>
              </a:lnSpc>
              <a:spcBef>
                <a:spcPts val="0"/>
              </a:spcBef>
              <a:spcAft>
                <a:spcPts val="0"/>
              </a:spcAft>
              <a:buClr>
                <a:srgbClr val="000000"/>
              </a:buClr>
              <a:buSzPts val="1200"/>
              <a:buFont typeface="Arial"/>
              <a:buNone/>
            </a:pPr>
            <a:r>
              <a:rPr lang="en" sz="1200" b="0" i="0" u="none" strike="noStrike" cap="none">
                <a:solidFill>
                  <a:srgbClr val="FF0000"/>
                </a:solidFill>
                <a:highlight>
                  <a:srgbClr val="FFFF00"/>
                </a:highlight>
                <a:latin typeface="Times New Roman"/>
                <a:ea typeface="Times New Roman"/>
                <a:cs typeface="Times New Roman"/>
                <a:sym typeface="Times New Roman"/>
              </a:rPr>
              <a:t>(Please note exons that are in-frame)</a:t>
            </a:r>
            <a:endParaRPr sz="1400" b="0" i="0" u="none" strike="noStrike" cap="none">
              <a:solidFill>
                <a:srgbClr val="FF0000"/>
              </a:solidFill>
              <a:highlight>
                <a:srgbClr val="FFFF00"/>
              </a:highlight>
              <a:latin typeface="Arial"/>
              <a:ea typeface="Arial"/>
              <a:cs typeface="Arial"/>
              <a:sym typeface="Arial"/>
            </a:endParaRPr>
          </a:p>
        </p:txBody>
      </p:sp>
      <p:sp>
        <p:nvSpPr>
          <p:cNvPr id="90" name="Google Shape;90;p1"/>
          <p:cNvSpPr/>
          <p:nvPr/>
        </p:nvSpPr>
        <p:spPr>
          <a:xfrm>
            <a:off x="4536350" y="3232500"/>
            <a:ext cx="5868000" cy="27690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 sz="1200" b="0" i="0" u="none" strike="noStrike" cap="none">
                <a:solidFill>
                  <a:srgbClr val="000000"/>
                </a:solidFill>
                <a:latin typeface="Times New Roman"/>
                <a:ea typeface="Times New Roman"/>
                <a:cs typeface="Times New Roman"/>
                <a:sym typeface="Times New Roman"/>
              </a:rPr>
              <a:t>Exon is present in biologically-relevant transcript(s)</a:t>
            </a:r>
            <a:endParaRPr sz="1400" b="0" i="0" u="none" strike="noStrike" cap="none">
              <a:solidFill>
                <a:srgbClr val="000000"/>
              </a:solidFill>
              <a:latin typeface="Arial"/>
              <a:ea typeface="Arial"/>
              <a:cs typeface="Arial"/>
              <a:sym typeface="Arial"/>
            </a:endParaRPr>
          </a:p>
        </p:txBody>
      </p:sp>
      <p:sp>
        <p:nvSpPr>
          <p:cNvPr id="91" name="Google Shape;91;p1"/>
          <p:cNvSpPr/>
          <p:nvPr/>
        </p:nvSpPr>
        <p:spPr>
          <a:xfrm>
            <a:off x="4507775" y="4114825"/>
            <a:ext cx="5896500" cy="27690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 sz="1200" b="0" i="0" u="none" strike="noStrike" cap="none">
                <a:solidFill>
                  <a:srgbClr val="000000"/>
                </a:solidFill>
                <a:highlight>
                  <a:srgbClr val="FFFF00"/>
                </a:highlight>
                <a:latin typeface="Times New Roman"/>
                <a:ea typeface="Times New Roman"/>
                <a:cs typeface="Times New Roman"/>
                <a:sym typeface="Times New Roman"/>
              </a:rPr>
              <a:t>Truncated/altered region is critical to protein function </a:t>
            </a:r>
            <a:r>
              <a:rPr lang="en" sz="1200" b="0" i="0" u="none" strike="noStrike" cap="none" baseline="30000">
                <a:solidFill>
                  <a:srgbClr val="000000"/>
                </a:solidFill>
                <a:highlight>
                  <a:srgbClr val="FFFF00"/>
                </a:highlight>
                <a:latin typeface="Times New Roman"/>
                <a:ea typeface="Times New Roman"/>
                <a:cs typeface="Times New Roman"/>
                <a:sym typeface="Times New Roman"/>
              </a:rPr>
              <a:t>c</a:t>
            </a:r>
            <a:r>
              <a:rPr lang="en" sz="1200" b="0" i="0" u="none" strike="noStrike" cap="none">
                <a:solidFill>
                  <a:srgbClr val="000000"/>
                </a:solidFill>
                <a:highlight>
                  <a:srgbClr val="FFFF00"/>
                </a:highlight>
                <a:latin typeface="Times New Roman"/>
                <a:ea typeface="Times New Roman"/>
                <a:cs typeface="Times New Roman"/>
                <a:sym typeface="Times New Roman"/>
              </a:rPr>
              <a:t> </a:t>
            </a:r>
            <a:r>
              <a:rPr lang="en" sz="1200" b="0" i="0" u="none" strike="noStrike" cap="none">
                <a:solidFill>
                  <a:srgbClr val="FF0000"/>
                </a:solidFill>
                <a:highlight>
                  <a:srgbClr val="FFFF00"/>
                </a:highlight>
                <a:latin typeface="Times New Roman"/>
                <a:ea typeface="Times New Roman"/>
                <a:cs typeface="Times New Roman"/>
                <a:sym typeface="Times New Roman"/>
              </a:rPr>
              <a:t>(If relevant please specify regions)</a:t>
            </a:r>
            <a:endParaRPr sz="1200" b="0" i="0" u="none" strike="noStrike" cap="none">
              <a:solidFill>
                <a:srgbClr val="FF0000"/>
              </a:solidFill>
              <a:highlight>
                <a:srgbClr val="FFFF00"/>
              </a:highlight>
              <a:latin typeface="Times New Roman"/>
              <a:ea typeface="Times New Roman"/>
              <a:cs typeface="Times New Roman"/>
              <a:sym typeface="Times New Roman"/>
            </a:endParaRPr>
          </a:p>
        </p:txBody>
      </p:sp>
      <p:sp>
        <p:nvSpPr>
          <p:cNvPr id="92" name="Google Shape;92;p1"/>
          <p:cNvSpPr/>
          <p:nvPr/>
        </p:nvSpPr>
        <p:spPr>
          <a:xfrm>
            <a:off x="4536275" y="3661075"/>
            <a:ext cx="5868000" cy="27690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 sz="1200" b="0" i="0" u="none" strike="noStrike" cap="none">
                <a:solidFill>
                  <a:srgbClr val="000000"/>
                </a:solidFill>
                <a:latin typeface="Times New Roman"/>
                <a:ea typeface="Times New Roman"/>
                <a:cs typeface="Times New Roman"/>
                <a:sym typeface="Times New Roman"/>
              </a:rPr>
              <a:t>Exon is absent from biologically-relevant transcript(s)</a:t>
            </a:r>
            <a:endParaRPr sz="1200" b="0" i="0" u="none" strike="noStrike" cap="none">
              <a:solidFill>
                <a:srgbClr val="000000"/>
              </a:solidFill>
              <a:latin typeface="Times New Roman"/>
              <a:ea typeface="Times New Roman"/>
              <a:cs typeface="Times New Roman"/>
              <a:sym typeface="Times New Roman"/>
            </a:endParaRPr>
          </a:p>
        </p:txBody>
      </p:sp>
      <p:sp>
        <p:nvSpPr>
          <p:cNvPr id="93" name="Google Shape;93;p1"/>
          <p:cNvSpPr/>
          <p:nvPr/>
        </p:nvSpPr>
        <p:spPr>
          <a:xfrm>
            <a:off x="4536350" y="4489275"/>
            <a:ext cx="1080900" cy="155820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 sz="1200" b="0" i="0" u="none" strike="noStrike" cap="none">
                <a:solidFill>
                  <a:srgbClr val="000000"/>
                </a:solidFill>
                <a:latin typeface="Times New Roman"/>
                <a:ea typeface="Times New Roman"/>
                <a:cs typeface="Times New Roman"/>
                <a:sym typeface="Times New Roman"/>
              </a:rPr>
              <a:t>Role of region in protein function is unknown</a:t>
            </a:r>
            <a:endParaRPr sz="1400" b="0" i="0" u="none" strike="noStrike" cap="none">
              <a:solidFill>
                <a:srgbClr val="000000"/>
              </a:solidFill>
              <a:latin typeface="Arial"/>
              <a:ea typeface="Arial"/>
              <a:cs typeface="Arial"/>
              <a:sym typeface="Arial"/>
            </a:endParaRPr>
          </a:p>
        </p:txBody>
      </p:sp>
      <p:sp>
        <p:nvSpPr>
          <p:cNvPr id="94" name="Google Shape;94;p1"/>
          <p:cNvSpPr/>
          <p:nvPr/>
        </p:nvSpPr>
        <p:spPr>
          <a:xfrm>
            <a:off x="6180650" y="4499200"/>
            <a:ext cx="4234500" cy="46170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 sz="1200" b="0" i="0" u="none" strike="noStrike" cap="none">
                <a:solidFill>
                  <a:srgbClr val="000000"/>
                </a:solidFill>
                <a:latin typeface="Times New Roman"/>
                <a:ea typeface="Times New Roman"/>
                <a:cs typeface="Times New Roman"/>
                <a:sym typeface="Times New Roman"/>
              </a:rPr>
              <a:t>LoF variants in this exon are frequent in the general population and/or exon is absent from biologically-relevant transcript(s)</a:t>
            </a:r>
            <a:endParaRPr sz="1400" b="0" i="0" u="none" strike="noStrike" cap="none">
              <a:solidFill>
                <a:srgbClr val="000000"/>
              </a:solidFill>
              <a:latin typeface="Arial"/>
              <a:ea typeface="Arial"/>
              <a:cs typeface="Arial"/>
              <a:sym typeface="Arial"/>
            </a:endParaRPr>
          </a:p>
        </p:txBody>
      </p:sp>
      <p:sp>
        <p:nvSpPr>
          <p:cNvPr id="95" name="Google Shape;95;p1"/>
          <p:cNvSpPr/>
          <p:nvPr/>
        </p:nvSpPr>
        <p:spPr>
          <a:xfrm>
            <a:off x="6180650" y="5068725"/>
            <a:ext cx="2618100" cy="97890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 sz="1200" b="0" i="0" u="none" strike="noStrike" cap="none">
                <a:solidFill>
                  <a:srgbClr val="000000"/>
                </a:solidFill>
                <a:latin typeface="Times New Roman"/>
                <a:ea typeface="Times New Roman"/>
                <a:cs typeface="Times New Roman"/>
                <a:sym typeface="Times New Roman"/>
              </a:rPr>
              <a:t>LoF variants in this exon are not frequent in the general population and exon is present in biologically-relevant transcript(s)</a:t>
            </a:r>
            <a:endParaRPr sz="1200" b="0" i="0" u="none" strike="noStrike" cap="none">
              <a:solidFill>
                <a:srgbClr val="000000"/>
              </a:solidFill>
              <a:latin typeface="Times New Roman"/>
              <a:ea typeface="Times New Roman"/>
              <a:cs typeface="Times New Roman"/>
              <a:sym typeface="Times New Roman"/>
            </a:endParaRPr>
          </a:p>
        </p:txBody>
      </p:sp>
      <p:sp>
        <p:nvSpPr>
          <p:cNvPr id="96" name="Google Shape;96;p1"/>
          <p:cNvSpPr/>
          <p:nvPr/>
        </p:nvSpPr>
        <p:spPr>
          <a:xfrm>
            <a:off x="9183675" y="5068725"/>
            <a:ext cx="1231500" cy="45270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 sz="1200" b="0" i="0" u="none" strike="noStrike" cap="none">
                <a:solidFill>
                  <a:srgbClr val="000000"/>
                </a:solidFill>
                <a:latin typeface="Times New Roman"/>
                <a:ea typeface="Times New Roman"/>
                <a:cs typeface="Times New Roman"/>
                <a:sym typeface="Times New Roman"/>
              </a:rPr>
              <a:t>Variant removes &gt;10% of protein</a:t>
            </a:r>
            <a:endParaRPr sz="1400" b="0" i="0" u="none" strike="noStrike" cap="none">
              <a:solidFill>
                <a:srgbClr val="000000"/>
              </a:solidFill>
              <a:latin typeface="Arial"/>
              <a:ea typeface="Arial"/>
              <a:cs typeface="Arial"/>
              <a:sym typeface="Arial"/>
            </a:endParaRPr>
          </a:p>
        </p:txBody>
      </p:sp>
      <p:sp>
        <p:nvSpPr>
          <p:cNvPr id="97" name="Google Shape;97;p1"/>
          <p:cNvSpPr/>
          <p:nvPr/>
        </p:nvSpPr>
        <p:spPr>
          <a:xfrm>
            <a:off x="4533750" y="7752350"/>
            <a:ext cx="5907300" cy="27690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 sz="1200" b="0" i="0" u="none" strike="noStrike" cap="none">
                <a:solidFill>
                  <a:srgbClr val="000000"/>
                </a:solidFill>
                <a:highlight>
                  <a:srgbClr val="FFFF00"/>
                </a:highlight>
                <a:latin typeface="Times New Roman"/>
                <a:ea typeface="Times New Roman"/>
                <a:cs typeface="Times New Roman"/>
                <a:sym typeface="Times New Roman"/>
              </a:rPr>
              <a:t>Truncated/altered region is critical to protein function </a:t>
            </a:r>
            <a:r>
              <a:rPr lang="en" sz="1200" b="0" i="0" u="none" strike="noStrike" cap="none" baseline="30000">
                <a:solidFill>
                  <a:srgbClr val="000000"/>
                </a:solidFill>
                <a:highlight>
                  <a:srgbClr val="FFFF00"/>
                </a:highlight>
                <a:latin typeface="Times New Roman"/>
                <a:ea typeface="Times New Roman"/>
                <a:cs typeface="Times New Roman"/>
                <a:sym typeface="Times New Roman"/>
              </a:rPr>
              <a:t>c </a:t>
            </a:r>
            <a:r>
              <a:rPr lang="en" sz="1200" b="0" i="0" u="none" strike="noStrike" cap="none">
                <a:solidFill>
                  <a:srgbClr val="FF0000"/>
                </a:solidFill>
                <a:highlight>
                  <a:srgbClr val="FFFF00"/>
                </a:highlight>
                <a:latin typeface="Times New Roman"/>
                <a:ea typeface="Times New Roman"/>
                <a:cs typeface="Times New Roman"/>
                <a:sym typeface="Times New Roman"/>
              </a:rPr>
              <a:t>(If relevant please specify regions)</a:t>
            </a:r>
            <a:endParaRPr sz="1200" b="0" i="0" u="none" strike="noStrike" cap="none">
              <a:solidFill>
                <a:srgbClr val="000000"/>
              </a:solidFill>
              <a:highlight>
                <a:srgbClr val="FFFF00"/>
              </a:highlight>
              <a:latin typeface="Times New Roman"/>
              <a:ea typeface="Times New Roman"/>
              <a:cs typeface="Times New Roman"/>
              <a:sym typeface="Times New Roman"/>
            </a:endParaRPr>
          </a:p>
        </p:txBody>
      </p:sp>
      <p:sp>
        <p:nvSpPr>
          <p:cNvPr id="98" name="Google Shape;98;p1"/>
          <p:cNvSpPr/>
          <p:nvPr/>
        </p:nvSpPr>
        <p:spPr>
          <a:xfrm>
            <a:off x="10945225" y="3232500"/>
            <a:ext cx="1281000" cy="27690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 sz="1200" b="0" i="0" u="none" strike="noStrike" cap="none">
                <a:solidFill>
                  <a:srgbClr val="000000"/>
                </a:solidFill>
                <a:latin typeface="Times New Roman"/>
                <a:ea typeface="Times New Roman"/>
                <a:cs typeface="Times New Roman"/>
                <a:sym typeface="Times New Roman"/>
              </a:rPr>
              <a:t>PVS1</a:t>
            </a:r>
            <a:endParaRPr sz="1400" b="0" i="0" u="none" strike="noStrike" cap="none">
              <a:solidFill>
                <a:srgbClr val="000000"/>
              </a:solidFill>
              <a:latin typeface="Arial"/>
              <a:ea typeface="Arial"/>
              <a:cs typeface="Arial"/>
              <a:sym typeface="Arial"/>
            </a:endParaRPr>
          </a:p>
        </p:txBody>
      </p:sp>
      <p:sp>
        <p:nvSpPr>
          <p:cNvPr id="99" name="Google Shape;99;p1"/>
          <p:cNvSpPr/>
          <p:nvPr/>
        </p:nvSpPr>
        <p:spPr>
          <a:xfrm>
            <a:off x="10945225" y="3661075"/>
            <a:ext cx="1281000" cy="27690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 sz="1200" b="0" i="0" u="none" strike="noStrike" cap="none">
                <a:solidFill>
                  <a:srgbClr val="000000"/>
                </a:solidFill>
                <a:latin typeface="Times New Roman"/>
                <a:ea typeface="Times New Roman"/>
                <a:cs typeface="Times New Roman"/>
                <a:sym typeface="Times New Roman"/>
              </a:rPr>
              <a:t>N/A</a:t>
            </a:r>
            <a:endParaRPr sz="1400" b="0" i="0" u="none" strike="noStrike" cap="none">
              <a:solidFill>
                <a:srgbClr val="000000"/>
              </a:solidFill>
              <a:latin typeface="Arial"/>
              <a:ea typeface="Arial"/>
              <a:cs typeface="Arial"/>
              <a:sym typeface="Arial"/>
            </a:endParaRPr>
          </a:p>
        </p:txBody>
      </p:sp>
      <p:sp>
        <p:nvSpPr>
          <p:cNvPr id="100" name="Google Shape;100;p1"/>
          <p:cNvSpPr/>
          <p:nvPr/>
        </p:nvSpPr>
        <p:spPr>
          <a:xfrm>
            <a:off x="10945225" y="4114825"/>
            <a:ext cx="1281000" cy="27690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 sz="1200" b="0" i="0" u="none" strike="noStrike" cap="none">
                <a:solidFill>
                  <a:srgbClr val="000000"/>
                </a:solidFill>
                <a:latin typeface="Times New Roman"/>
                <a:ea typeface="Times New Roman"/>
                <a:cs typeface="Times New Roman"/>
                <a:sym typeface="Times New Roman"/>
              </a:rPr>
              <a:t>PVS1_Strong</a:t>
            </a:r>
            <a:endParaRPr sz="1400" b="0" i="0" u="none" strike="noStrike" cap="none">
              <a:solidFill>
                <a:srgbClr val="000000"/>
              </a:solidFill>
              <a:latin typeface="Arial"/>
              <a:ea typeface="Arial"/>
              <a:cs typeface="Arial"/>
              <a:sym typeface="Arial"/>
            </a:endParaRPr>
          </a:p>
        </p:txBody>
      </p:sp>
      <p:sp>
        <p:nvSpPr>
          <p:cNvPr id="101" name="Google Shape;101;p1"/>
          <p:cNvSpPr/>
          <p:nvPr/>
        </p:nvSpPr>
        <p:spPr>
          <a:xfrm>
            <a:off x="10945225" y="4544350"/>
            <a:ext cx="1281000" cy="37140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 sz="1200" b="0" i="0" u="none" strike="noStrike" cap="none">
                <a:solidFill>
                  <a:srgbClr val="000000"/>
                </a:solidFill>
                <a:latin typeface="Times New Roman"/>
                <a:ea typeface="Times New Roman"/>
                <a:cs typeface="Times New Roman"/>
                <a:sym typeface="Times New Roman"/>
              </a:rPr>
              <a:t>N/A</a:t>
            </a:r>
            <a:endParaRPr sz="1400" b="0" i="0" u="none" strike="noStrike" cap="none">
              <a:solidFill>
                <a:srgbClr val="000000"/>
              </a:solidFill>
              <a:latin typeface="Arial"/>
              <a:ea typeface="Arial"/>
              <a:cs typeface="Arial"/>
              <a:sym typeface="Arial"/>
            </a:endParaRPr>
          </a:p>
        </p:txBody>
      </p:sp>
      <p:sp>
        <p:nvSpPr>
          <p:cNvPr id="102" name="Google Shape;102;p1"/>
          <p:cNvSpPr/>
          <p:nvPr/>
        </p:nvSpPr>
        <p:spPr>
          <a:xfrm>
            <a:off x="10945225" y="5132925"/>
            <a:ext cx="1281000" cy="32430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 sz="1200" b="0" i="0" u="none" strike="noStrike" cap="none">
                <a:solidFill>
                  <a:srgbClr val="000000"/>
                </a:solidFill>
                <a:latin typeface="Times New Roman"/>
                <a:ea typeface="Times New Roman"/>
                <a:cs typeface="Times New Roman"/>
                <a:sym typeface="Times New Roman"/>
              </a:rPr>
              <a:t>PVS1_Strong</a:t>
            </a:r>
            <a:endParaRPr sz="1400" b="0" i="0" u="none" strike="noStrike" cap="none">
              <a:solidFill>
                <a:srgbClr val="000000"/>
              </a:solidFill>
              <a:latin typeface="Arial"/>
              <a:ea typeface="Arial"/>
              <a:cs typeface="Arial"/>
              <a:sym typeface="Arial"/>
            </a:endParaRPr>
          </a:p>
        </p:txBody>
      </p:sp>
      <p:sp>
        <p:nvSpPr>
          <p:cNvPr id="103" name="Google Shape;103;p1"/>
          <p:cNvSpPr/>
          <p:nvPr/>
        </p:nvSpPr>
        <p:spPr>
          <a:xfrm>
            <a:off x="10945225" y="5635550"/>
            <a:ext cx="1281000" cy="37140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 sz="1200" b="0" i="0" u="none" strike="noStrike" cap="none">
                <a:solidFill>
                  <a:srgbClr val="000000"/>
                </a:solidFill>
                <a:latin typeface="Times New Roman"/>
                <a:ea typeface="Times New Roman"/>
                <a:cs typeface="Times New Roman"/>
                <a:sym typeface="Times New Roman"/>
              </a:rPr>
              <a:t>PVS1_Moderate</a:t>
            </a:r>
            <a:endParaRPr sz="1400" b="0" i="0" u="none" strike="noStrike" cap="none">
              <a:solidFill>
                <a:srgbClr val="000000"/>
              </a:solidFill>
              <a:latin typeface="Arial"/>
              <a:ea typeface="Arial"/>
              <a:cs typeface="Arial"/>
              <a:sym typeface="Arial"/>
            </a:endParaRPr>
          </a:p>
        </p:txBody>
      </p:sp>
      <p:sp>
        <p:nvSpPr>
          <p:cNvPr id="104" name="Google Shape;104;p1"/>
          <p:cNvSpPr/>
          <p:nvPr/>
        </p:nvSpPr>
        <p:spPr>
          <a:xfrm>
            <a:off x="10945225" y="7759100"/>
            <a:ext cx="1281000" cy="27690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 sz="1200" b="0" i="0" u="none" strike="noStrike" cap="none">
                <a:solidFill>
                  <a:srgbClr val="000000"/>
                </a:solidFill>
                <a:latin typeface="Times New Roman"/>
                <a:ea typeface="Times New Roman"/>
                <a:cs typeface="Times New Roman"/>
                <a:sym typeface="Times New Roman"/>
              </a:rPr>
              <a:t>PVS1_Strong</a:t>
            </a:r>
            <a:endParaRPr sz="1400" b="0" i="0" u="none" strike="noStrike" cap="none">
              <a:solidFill>
                <a:srgbClr val="000000"/>
              </a:solidFill>
              <a:latin typeface="Arial"/>
              <a:ea typeface="Arial"/>
              <a:cs typeface="Arial"/>
              <a:sym typeface="Arial"/>
            </a:endParaRPr>
          </a:p>
        </p:txBody>
      </p:sp>
      <p:sp>
        <p:nvSpPr>
          <p:cNvPr id="105" name="Google Shape;105;p1"/>
          <p:cNvSpPr/>
          <p:nvPr/>
        </p:nvSpPr>
        <p:spPr>
          <a:xfrm>
            <a:off x="9183600" y="5594900"/>
            <a:ext cx="1231500" cy="45270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 sz="1200" b="0" i="0" u="none" strike="noStrike" cap="none">
                <a:solidFill>
                  <a:srgbClr val="000000"/>
                </a:solidFill>
                <a:latin typeface="Times New Roman"/>
                <a:ea typeface="Times New Roman"/>
                <a:cs typeface="Times New Roman"/>
                <a:sym typeface="Times New Roman"/>
              </a:rPr>
              <a:t>Variant removes &lt;10% of protein</a:t>
            </a:r>
            <a:endParaRPr sz="1400" b="0" i="0" u="none" strike="noStrike" cap="none">
              <a:solidFill>
                <a:srgbClr val="000000"/>
              </a:solidFill>
              <a:latin typeface="Arial"/>
              <a:ea typeface="Arial"/>
              <a:cs typeface="Arial"/>
              <a:sym typeface="Arial"/>
            </a:endParaRPr>
          </a:p>
        </p:txBody>
      </p:sp>
      <p:sp>
        <p:nvSpPr>
          <p:cNvPr id="106" name="Google Shape;106;p1"/>
          <p:cNvSpPr/>
          <p:nvPr/>
        </p:nvSpPr>
        <p:spPr>
          <a:xfrm>
            <a:off x="1643625" y="4315725"/>
            <a:ext cx="2395200" cy="161220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 sz="1200" b="0" i="0" u="none" strike="noStrike" cap="none">
                <a:solidFill>
                  <a:srgbClr val="000000"/>
                </a:solidFill>
                <a:highlight>
                  <a:srgbClr val="FFFF00"/>
                </a:highlight>
                <a:latin typeface="Times New Roman"/>
                <a:ea typeface="Times New Roman"/>
                <a:cs typeface="Times New Roman"/>
                <a:sym typeface="Times New Roman"/>
              </a:rPr>
              <a:t>Exon skipping or use of a cryptic splice site disrupts reading frame and is </a:t>
            </a:r>
            <a:r>
              <a:rPr lang="en" sz="1200" b="1" i="0" u="none" strike="noStrike" cap="none">
                <a:solidFill>
                  <a:srgbClr val="000000"/>
                </a:solidFill>
                <a:highlight>
                  <a:srgbClr val="FFFF00"/>
                </a:highlight>
                <a:latin typeface="Times New Roman"/>
                <a:ea typeface="Times New Roman"/>
                <a:cs typeface="Times New Roman"/>
                <a:sym typeface="Times New Roman"/>
              </a:rPr>
              <a:t>NOT</a:t>
            </a:r>
            <a:r>
              <a:rPr lang="en" sz="1200" b="0" i="0" u="none" strike="noStrike" cap="none">
                <a:solidFill>
                  <a:srgbClr val="000000"/>
                </a:solidFill>
                <a:highlight>
                  <a:srgbClr val="FFFF00"/>
                </a:highlight>
                <a:latin typeface="Times New Roman"/>
                <a:ea typeface="Times New Roman"/>
                <a:cs typeface="Times New Roman"/>
                <a:sym typeface="Times New Roman"/>
              </a:rPr>
              <a:t> predicted to undergo NMD</a:t>
            </a:r>
            <a:r>
              <a:rPr lang="en" sz="1200" b="0" i="0" u="none" strike="noStrike" cap="none">
                <a:solidFill>
                  <a:schemeClr val="dk1"/>
                </a:solidFill>
                <a:highlight>
                  <a:srgbClr val="FFFF00"/>
                </a:highlight>
                <a:latin typeface="Times New Roman"/>
                <a:ea typeface="Times New Roman"/>
                <a:cs typeface="Times New Roman"/>
                <a:sym typeface="Times New Roman"/>
              </a:rPr>
              <a:t> </a:t>
            </a:r>
            <a:r>
              <a:rPr lang="en" sz="1200" b="0" i="0" u="none" strike="noStrike" cap="none" baseline="30000">
                <a:solidFill>
                  <a:schemeClr val="dk1"/>
                </a:solidFill>
                <a:highlight>
                  <a:srgbClr val="FFFF00"/>
                </a:highlight>
                <a:latin typeface="Times New Roman"/>
                <a:ea typeface="Times New Roman"/>
                <a:cs typeface="Times New Roman"/>
                <a:sym typeface="Times New Roman"/>
              </a:rPr>
              <a:t>b</a:t>
            </a:r>
            <a:endParaRPr/>
          </a:p>
          <a:p>
            <a:pPr marL="0" marR="0" lvl="0" indent="0" algn="ctr" rtl="0">
              <a:lnSpc>
                <a:spcPct val="100000"/>
              </a:lnSpc>
              <a:spcBef>
                <a:spcPts val="0"/>
              </a:spcBef>
              <a:spcAft>
                <a:spcPts val="0"/>
              </a:spcAft>
              <a:buClr>
                <a:srgbClr val="000000"/>
              </a:buClr>
              <a:buSzPts val="1200"/>
              <a:buFont typeface="Arial"/>
              <a:buNone/>
            </a:pPr>
            <a:r>
              <a:rPr lang="en" sz="1200" b="0" i="0" u="none" strike="noStrike" cap="none">
                <a:solidFill>
                  <a:srgbClr val="FF0000"/>
                </a:solidFill>
                <a:highlight>
                  <a:srgbClr val="FFFF00"/>
                </a:highlight>
                <a:latin typeface="Times New Roman"/>
                <a:ea typeface="Times New Roman"/>
                <a:cs typeface="Times New Roman"/>
                <a:sym typeface="Times New Roman"/>
              </a:rPr>
              <a:t>(Please note any exons that are not expected to undergo NMD)</a:t>
            </a:r>
            <a:endParaRPr sz="1200" b="0" i="0" u="none" strike="noStrike" cap="none">
              <a:solidFill>
                <a:srgbClr val="FF0000"/>
              </a:solidFill>
              <a:highlight>
                <a:srgbClr val="FFFF00"/>
              </a:highlight>
              <a:latin typeface="Times New Roman"/>
              <a:ea typeface="Times New Roman"/>
              <a:cs typeface="Times New Roman"/>
              <a:sym typeface="Times New Roman"/>
            </a:endParaRPr>
          </a:p>
        </p:txBody>
      </p:sp>
      <p:cxnSp>
        <p:nvCxnSpPr>
          <p:cNvPr id="107" name="Google Shape;107;p1"/>
          <p:cNvCxnSpPr>
            <a:stCxn id="87" idx="3"/>
            <a:endCxn id="88" idx="1"/>
          </p:cNvCxnSpPr>
          <p:nvPr/>
        </p:nvCxnSpPr>
        <p:spPr>
          <a:xfrm rot="10800000" flipH="1">
            <a:off x="1186125" y="3710000"/>
            <a:ext cx="478500" cy="1899600"/>
          </a:xfrm>
          <a:prstGeom prst="straightConnector1">
            <a:avLst/>
          </a:prstGeom>
          <a:noFill/>
          <a:ln w="9525" cap="flat" cmpd="sng">
            <a:solidFill>
              <a:srgbClr val="44546A"/>
            </a:solidFill>
            <a:prstDash val="solid"/>
            <a:round/>
            <a:headEnd type="none" w="sm" len="sm"/>
            <a:tailEnd type="triangle" w="med" len="med"/>
          </a:ln>
        </p:spPr>
      </p:cxnSp>
      <p:cxnSp>
        <p:nvCxnSpPr>
          <p:cNvPr id="108" name="Google Shape;108;p1"/>
          <p:cNvCxnSpPr>
            <a:stCxn id="87" idx="3"/>
            <a:endCxn id="106" idx="1"/>
          </p:cNvCxnSpPr>
          <p:nvPr/>
        </p:nvCxnSpPr>
        <p:spPr>
          <a:xfrm rot="10800000" flipH="1">
            <a:off x="1186125" y="5121800"/>
            <a:ext cx="457500" cy="487800"/>
          </a:xfrm>
          <a:prstGeom prst="straightConnector1">
            <a:avLst/>
          </a:prstGeom>
          <a:noFill/>
          <a:ln w="9525" cap="flat" cmpd="sng">
            <a:solidFill>
              <a:srgbClr val="44546A"/>
            </a:solidFill>
            <a:prstDash val="solid"/>
            <a:round/>
            <a:headEnd type="none" w="sm" len="sm"/>
            <a:tailEnd type="triangle" w="med" len="med"/>
          </a:ln>
        </p:spPr>
      </p:cxnSp>
      <p:cxnSp>
        <p:nvCxnSpPr>
          <p:cNvPr id="109" name="Google Shape;109;p1"/>
          <p:cNvCxnSpPr>
            <a:stCxn id="87" idx="3"/>
            <a:endCxn id="89" idx="1"/>
          </p:cNvCxnSpPr>
          <p:nvPr/>
        </p:nvCxnSpPr>
        <p:spPr>
          <a:xfrm>
            <a:off x="1186125" y="5609600"/>
            <a:ext cx="468000" cy="1459800"/>
          </a:xfrm>
          <a:prstGeom prst="straightConnector1">
            <a:avLst/>
          </a:prstGeom>
          <a:noFill/>
          <a:ln w="9525" cap="flat" cmpd="sng">
            <a:solidFill>
              <a:srgbClr val="44546A"/>
            </a:solidFill>
            <a:prstDash val="solid"/>
            <a:round/>
            <a:headEnd type="none" w="sm" len="sm"/>
            <a:tailEnd type="triangle" w="med" len="med"/>
          </a:ln>
        </p:spPr>
      </p:cxnSp>
      <p:cxnSp>
        <p:nvCxnSpPr>
          <p:cNvPr id="110" name="Google Shape;110;p1"/>
          <p:cNvCxnSpPr>
            <a:stCxn id="88" idx="3"/>
            <a:endCxn id="90" idx="1"/>
          </p:cNvCxnSpPr>
          <p:nvPr/>
        </p:nvCxnSpPr>
        <p:spPr>
          <a:xfrm rot="10800000" flipH="1">
            <a:off x="4038775" y="3370950"/>
            <a:ext cx="497700" cy="339000"/>
          </a:xfrm>
          <a:prstGeom prst="straightConnector1">
            <a:avLst/>
          </a:prstGeom>
          <a:noFill/>
          <a:ln w="9525" cap="flat" cmpd="sng">
            <a:solidFill>
              <a:srgbClr val="44546A"/>
            </a:solidFill>
            <a:prstDash val="solid"/>
            <a:round/>
            <a:headEnd type="none" w="sm" len="sm"/>
            <a:tailEnd type="triangle" w="med" len="med"/>
          </a:ln>
        </p:spPr>
      </p:cxnSp>
      <p:cxnSp>
        <p:nvCxnSpPr>
          <p:cNvPr id="111" name="Google Shape;111;p1"/>
          <p:cNvCxnSpPr>
            <a:stCxn id="88" idx="3"/>
            <a:endCxn id="92" idx="1"/>
          </p:cNvCxnSpPr>
          <p:nvPr/>
        </p:nvCxnSpPr>
        <p:spPr>
          <a:xfrm>
            <a:off x="4038775" y="3709950"/>
            <a:ext cx="497400" cy="89700"/>
          </a:xfrm>
          <a:prstGeom prst="straightConnector1">
            <a:avLst/>
          </a:prstGeom>
          <a:noFill/>
          <a:ln w="9525" cap="flat" cmpd="sng">
            <a:solidFill>
              <a:srgbClr val="44546A"/>
            </a:solidFill>
            <a:prstDash val="solid"/>
            <a:round/>
            <a:headEnd type="none" w="sm" len="sm"/>
            <a:tailEnd type="triangle" w="med" len="med"/>
          </a:ln>
        </p:spPr>
      </p:cxnSp>
      <p:cxnSp>
        <p:nvCxnSpPr>
          <p:cNvPr id="112" name="Google Shape;112;p1"/>
          <p:cNvCxnSpPr>
            <a:stCxn id="106" idx="3"/>
            <a:endCxn id="91" idx="1"/>
          </p:cNvCxnSpPr>
          <p:nvPr/>
        </p:nvCxnSpPr>
        <p:spPr>
          <a:xfrm rot="10800000" flipH="1">
            <a:off x="4038825" y="4253325"/>
            <a:ext cx="468900" cy="868500"/>
          </a:xfrm>
          <a:prstGeom prst="straightConnector1">
            <a:avLst/>
          </a:prstGeom>
          <a:noFill/>
          <a:ln w="9525" cap="flat" cmpd="sng">
            <a:solidFill>
              <a:srgbClr val="44546A"/>
            </a:solidFill>
            <a:prstDash val="solid"/>
            <a:round/>
            <a:headEnd type="none" w="sm" len="sm"/>
            <a:tailEnd type="triangle" w="med" len="med"/>
          </a:ln>
        </p:spPr>
      </p:cxnSp>
      <p:cxnSp>
        <p:nvCxnSpPr>
          <p:cNvPr id="113" name="Google Shape;113;p1"/>
          <p:cNvCxnSpPr>
            <a:stCxn id="106" idx="3"/>
            <a:endCxn id="93" idx="1"/>
          </p:cNvCxnSpPr>
          <p:nvPr/>
        </p:nvCxnSpPr>
        <p:spPr>
          <a:xfrm>
            <a:off x="4038825" y="5121825"/>
            <a:ext cx="497400" cy="146700"/>
          </a:xfrm>
          <a:prstGeom prst="straightConnector1">
            <a:avLst/>
          </a:prstGeom>
          <a:noFill/>
          <a:ln w="9525" cap="flat" cmpd="sng">
            <a:solidFill>
              <a:srgbClr val="44546A"/>
            </a:solidFill>
            <a:prstDash val="solid"/>
            <a:round/>
            <a:headEnd type="none" w="sm" len="sm"/>
            <a:tailEnd type="triangle" w="med" len="med"/>
          </a:ln>
        </p:spPr>
      </p:cxnSp>
      <p:cxnSp>
        <p:nvCxnSpPr>
          <p:cNvPr id="114" name="Google Shape;114;p1"/>
          <p:cNvCxnSpPr>
            <a:stCxn id="93" idx="3"/>
            <a:endCxn id="94" idx="1"/>
          </p:cNvCxnSpPr>
          <p:nvPr/>
        </p:nvCxnSpPr>
        <p:spPr>
          <a:xfrm rot="10800000" flipH="1">
            <a:off x="5617250" y="4730175"/>
            <a:ext cx="563400" cy="538200"/>
          </a:xfrm>
          <a:prstGeom prst="straightConnector1">
            <a:avLst/>
          </a:prstGeom>
          <a:noFill/>
          <a:ln w="9525" cap="flat" cmpd="sng">
            <a:solidFill>
              <a:srgbClr val="44546A"/>
            </a:solidFill>
            <a:prstDash val="solid"/>
            <a:round/>
            <a:headEnd type="none" w="sm" len="sm"/>
            <a:tailEnd type="triangle" w="med" len="med"/>
          </a:ln>
        </p:spPr>
      </p:cxnSp>
      <p:cxnSp>
        <p:nvCxnSpPr>
          <p:cNvPr id="115" name="Google Shape;115;p1"/>
          <p:cNvCxnSpPr>
            <a:stCxn id="93" idx="3"/>
            <a:endCxn id="95" idx="1"/>
          </p:cNvCxnSpPr>
          <p:nvPr/>
        </p:nvCxnSpPr>
        <p:spPr>
          <a:xfrm>
            <a:off x="5617250" y="5268375"/>
            <a:ext cx="563400" cy="289800"/>
          </a:xfrm>
          <a:prstGeom prst="straightConnector1">
            <a:avLst/>
          </a:prstGeom>
          <a:noFill/>
          <a:ln w="9525" cap="flat" cmpd="sng">
            <a:solidFill>
              <a:srgbClr val="44546A"/>
            </a:solidFill>
            <a:prstDash val="solid"/>
            <a:round/>
            <a:headEnd type="none" w="sm" len="sm"/>
            <a:tailEnd type="triangle" w="med" len="med"/>
          </a:ln>
        </p:spPr>
      </p:cxnSp>
      <p:cxnSp>
        <p:nvCxnSpPr>
          <p:cNvPr id="116" name="Google Shape;116;p1"/>
          <p:cNvCxnSpPr>
            <a:stCxn id="95" idx="3"/>
            <a:endCxn id="96" idx="1"/>
          </p:cNvCxnSpPr>
          <p:nvPr/>
        </p:nvCxnSpPr>
        <p:spPr>
          <a:xfrm rot="10800000" flipH="1">
            <a:off x="8798750" y="5295075"/>
            <a:ext cx="384900" cy="263100"/>
          </a:xfrm>
          <a:prstGeom prst="straightConnector1">
            <a:avLst/>
          </a:prstGeom>
          <a:noFill/>
          <a:ln w="9525" cap="flat" cmpd="sng">
            <a:solidFill>
              <a:srgbClr val="44546A"/>
            </a:solidFill>
            <a:prstDash val="solid"/>
            <a:round/>
            <a:headEnd type="none" w="sm" len="sm"/>
            <a:tailEnd type="triangle" w="med" len="med"/>
          </a:ln>
        </p:spPr>
      </p:cxnSp>
      <p:cxnSp>
        <p:nvCxnSpPr>
          <p:cNvPr id="117" name="Google Shape;117;p1"/>
          <p:cNvCxnSpPr>
            <a:stCxn id="95" idx="3"/>
            <a:endCxn id="105" idx="1"/>
          </p:cNvCxnSpPr>
          <p:nvPr/>
        </p:nvCxnSpPr>
        <p:spPr>
          <a:xfrm>
            <a:off x="8798750" y="5558175"/>
            <a:ext cx="384900" cy="263100"/>
          </a:xfrm>
          <a:prstGeom prst="straightConnector1">
            <a:avLst/>
          </a:prstGeom>
          <a:noFill/>
          <a:ln w="9525" cap="flat" cmpd="sng">
            <a:solidFill>
              <a:srgbClr val="44546A"/>
            </a:solidFill>
            <a:prstDash val="solid"/>
            <a:round/>
            <a:headEnd type="none" w="sm" len="sm"/>
            <a:tailEnd type="triangle" w="med" len="med"/>
          </a:ln>
        </p:spPr>
      </p:cxnSp>
      <p:cxnSp>
        <p:nvCxnSpPr>
          <p:cNvPr id="118" name="Google Shape;118;p1"/>
          <p:cNvCxnSpPr>
            <a:stCxn id="63" idx="3"/>
            <a:endCxn id="65" idx="1"/>
          </p:cNvCxnSpPr>
          <p:nvPr/>
        </p:nvCxnSpPr>
        <p:spPr>
          <a:xfrm>
            <a:off x="10404350" y="331150"/>
            <a:ext cx="540900" cy="0"/>
          </a:xfrm>
          <a:prstGeom prst="straightConnector1">
            <a:avLst/>
          </a:prstGeom>
          <a:noFill/>
          <a:ln w="9525" cap="flat" cmpd="sng">
            <a:solidFill>
              <a:srgbClr val="595959"/>
            </a:solidFill>
            <a:prstDash val="solid"/>
            <a:round/>
            <a:headEnd type="none" w="sm" len="sm"/>
            <a:tailEnd type="triangle" w="med" len="med"/>
          </a:ln>
        </p:spPr>
      </p:cxnSp>
      <p:cxnSp>
        <p:nvCxnSpPr>
          <p:cNvPr id="119" name="Google Shape;119;p1"/>
          <p:cNvCxnSpPr>
            <a:stCxn id="64" idx="3"/>
            <a:endCxn id="66" idx="1"/>
          </p:cNvCxnSpPr>
          <p:nvPr/>
        </p:nvCxnSpPr>
        <p:spPr>
          <a:xfrm>
            <a:off x="10404275" y="759725"/>
            <a:ext cx="540900" cy="0"/>
          </a:xfrm>
          <a:prstGeom prst="straightConnector1">
            <a:avLst/>
          </a:prstGeom>
          <a:noFill/>
          <a:ln w="9525" cap="flat" cmpd="sng">
            <a:solidFill>
              <a:srgbClr val="595959"/>
            </a:solidFill>
            <a:prstDash val="solid"/>
            <a:round/>
            <a:headEnd type="none" w="sm" len="sm"/>
            <a:tailEnd type="triangle" w="med" len="med"/>
          </a:ln>
        </p:spPr>
      </p:cxnSp>
      <p:cxnSp>
        <p:nvCxnSpPr>
          <p:cNvPr id="120" name="Google Shape;120;p1"/>
          <p:cNvCxnSpPr>
            <a:stCxn id="67" idx="3"/>
            <a:endCxn id="70" idx="1"/>
          </p:cNvCxnSpPr>
          <p:nvPr/>
        </p:nvCxnSpPr>
        <p:spPr>
          <a:xfrm>
            <a:off x="10425500" y="1251150"/>
            <a:ext cx="519600" cy="0"/>
          </a:xfrm>
          <a:prstGeom prst="straightConnector1">
            <a:avLst/>
          </a:prstGeom>
          <a:noFill/>
          <a:ln w="9525" cap="flat" cmpd="sng">
            <a:solidFill>
              <a:srgbClr val="595959"/>
            </a:solidFill>
            <a:prstDash val="solid"/>
            <a:round/>
            <a:headEnd type="none" w="sm" len="sm"/>
            <a:tailEnd type="triangle" w="med" len="med"/>
          </a:ln>
        </p:spPr>
      </p:cxnSp>
      <p:cxnSp>
        <p:nvCxnSpPr>
          <p:cNvPr id="121" name="Google Shape;121;p1"/>
          <p:cNvCxnSpPr>
            <a:stCxn id="69" idx="3"/>
            <a:endCxn id="71" idx="1"/>
          </p:cNvCxnSpPr>
          <p:nvPr/>
        </p:nvCxnSpPr>
        <p:spPr>
          <a:xfrm>
            <a:off x="10436375" y="1727925"/>
            <a:ext cx="508800" cy="0"/>
          </a:xfrm>
          <a:prstGeom prst="straightConnector1">
            <a:avLst/>
          </a:prstGeom>
          <a:noFill/>
          <a:ln w="9525" cap="flat" cmpd="sng">
            <a:solidFill>
              <a:srgbClr val="595959"/>
            </a:solidFill>
            <a:prstDash val="solid"/>
            <a:round/>
            <a:headEnd type="none" w="sm" len="sm"/>
            <a:tailEnd type="triangle" w="med" len="med"/>
          </a:ln>
        </p:spPr>
      </p:cxnSp>
      <p:cxnSp>
        <p:nvCxnSpPr>
          <p:cNvPr id="122" name="Google Shape;122;p1"/>
          <p:cNvCxnSpPr>
            <a:stCxn id="75" idx="3"/>
            <a:endCxn id="72" idx="1"/>
          </p:cNvCxnSpPr>
          <p:nvPr/>
        </p:nvCxnSpPr>
        <p:spPr>
          <a:xfrm>
            <a:off x="10436400" y="2292600"/>
            <a:ext cx="508800" cy="0"/>
          </a:xfrm>
          <a:prstGeom prst="straightConnector1">
            <a:avLst/>
          </a:prstGeom>
          <a:noFill/>
          <a:ln w="9525" cap="flat" cmpd="sng">
            <a:solidFill>
              <a:srgbClr val="595959"/>
            </a:solidFill>
            <a:prstDash val="solid"/>
            <a:round/>
            <a:headEnd type="none" w="sm" len="sm"/>
            <a:tailEnd type="triangle" w="med" len="med"/>
          </a:ln>
        </p:spPr>
      </p:cxnSp>
      <p:cxnSp>
        <p:nvCxnSpPr>
          <p:cNvPr id="123" name="Google Shape;123;p1"/>
          <p:cNvCxnSpPr>
            <a:stCxn id="76" idx="3"/>
            <a:endCxn id="73" idx="1"/>
          </p:cNvCxnSpPr>
          <p:nvPr/>
        </p:nvCxnSpPr>
        <p:spPr>
          <a:xfrm>
            <a:off x="10436325" y="2818775"/>
            <a:ext cx="508800" cy="0"/>
          </a:xfrm>
          <a:prstGeom prst="straightConnector1">
            <a:avLst/>
          </a:prstGeom>
          <a:noFill/>
          <a:ln w="9525" cap="flat" cmpd="sng">
            <a:solidFill>
              <a:srgbClr val="595959"/>
            </a:solidFill>
            <a:prstDash val="solid"/>
            <a:round/>
            <a:headEnd type="none" w="sm" len="sm"/>
            <a:tailEnd type="triangle" w="med" len="med"/>
          </a:ln>
        </p:spPr>
      </p:cxnSp>
      <p:cxnSp>
        <p:nvCxnSpPr>
          <p:cNvPr id="124" name="Google Shape;124;p1"/>
          <p:cNvCxnSpPr>
            <a:stCxn id="90" idx="3"/>
            <a:endCxn id="98" idx="1"/>
          </p:cNvCxnSpPr>
          <p:nvPr/>
        </p:nvCxnSpPr>
        <p:spPr>
          <a:xfrm>
            <a:off x="10404350" y="3370950"/>
            <a:ext cx="540900" cy="0"/>
          </a:xfrm>
          <a:prstGeom prst="straightConnector1">
            <a:avLst/>
          </a:prstGeom>
          <a:noFill/>
          <a:ln w="9525" cap="flat" cmpd="sng">
            <a:solidFill>
              <a:srgbClr val="595959"/>
            </a:solidFill>
            <a:prstDash val="solid"/>
            <a:round/>
            <a:headEnd type="none" w="sm" len="sm"/>
            <a:tailEnd type="triangle" w="med" len="med"/>
          </a:ln>
        </p:spPr>
      </p:cxnSp>
      <p:cxnSp>
        <p:nvCxnSpPr>
          <p:cNvPr id="125" name="Google Shape;125;p1"/>
          <p:cNvCxnSpPr>
            <a:stCxn id="92" idx="3"/>
            <a:endCxn id="99" idx="1"/>
          </p:cNvCxnSpPr>
          <p:nvPr/>
        </p:nvCxnSpPr>
        <p:spPr>
          <a:xfrm>
            <a:off x="10404275" y="3799525"/>
            <a:ext cx="540900" cy="0"/>
          </a:xfrm>
          <a:prstGeom prst="straightConnector1">
            <a:avLst/>
          </a:prstGeom>
          <a:noFill/>
          <a:ln w="9525" cap="flat" cmpd="sng">
            <a:solidFill>
              <a:srgbClr val="595959"/>
            </a:solidFill>
            <a:prstDash val="solid"/>
            <a:round/>
            <a:headEnd type="none" w="sm" len="sm"/>
            <a:tailEnd type="triangle" w="med" len="med"/>
          </a:ln>
        </p:spPr>
      </p:cxnSp>
      <p:cxnSp>
        <p:nvCxnSpPr>
          <p:cNvPr id="126" name="Google Shape;126;p1"/>
          <p:cNvCxnSpPr>
            <a:stCxn id="91" idx="3"/>
            <a:endCxn id="100" idx="1"/>
          </p:cNvCxnSpPr>
          <p:nvPr/>
        </p:nvCxnSpPr>
        <p:spPr>
          <a:xfrm>
            <a:off x="10404275" y="4253275"/>
            <a:ext cx="540900" cy="0"/>
          </a:xfrm>
          <a:prstGeom prst="straightConnector1">
            <a:avLst/>
          </a:prstGeom>
          <a:noFill/>
          <a:ln w="9525" cap="flat" cmpd="sng">
            <a:solidFill>
              <a:srgbClr val="595959"/>
            </a:solidFill>
            <a:prstDash val="solid"/>
            <a:round/>
            <a:headEnd type="none" w="sm" len="sm"/>
            <a:tailEnd type="triangle" w="med" len="med"/>
          </a:ln>
        </p:spPr>
      </p:cxnSp>
      <p:cxnSp>
        <p:nvCxnSpPr>
          <p:cNvPr id="127" name="Google Shape;127;p1"/>
          <p:cNvCxnSpPr>
            <a:stCxn id="94" idx="3"/>
            <a:endCxn id="101" idx="1"/>
          </p:cNvCxnSpPr>
          <p:nvPr/>
        </p:nvCxnSpPr>
        <p:spPr>
          <a:xfrm>
            <a:off x="10415150" y="4730050"/>
            <a:ext cx="530100" cy="0"/>
          </a:xfrm>
          <a:prstGeom prst="straightConnector1">
            <a:avLst/>
          </a:prstGeom>
          <a:noFill/>
          <a:ln w="9525" cap="flat" cmpd="sng">
            <a:solidFill>
              <a:srgbClr val="595959"/>
            </a:solidFill>
            <a:prstDash val="solid"/>
            <a:round/>
            <a:headEnd type="none" w="sm" len="sm"/>
            <a:tailEnd type="triangle" w="med" len="med"/>
          </a:ln>
        </p:spPr>
      </p:cxnSp>
      <p:cxnSp>
        <p:nvCxnSpPr>
          <p:cNvPr id="128" name="Google Shape;128;p1"/>
          <p:cNvCxnSpPr>
            <a:stCxn id="96" idx="3"/>
            <a:endCxn id="102" idx="1"/>
          </p:cNvCxnSpPr>
          <p:nvPr/>
        </p:nvCxnSpPr>
        <p:spPr>
          <a:xfrm>
            <a:off x="10415175" y="5295075"/>
            <a:ext cx="530100" cy="0"/>
          </a:xfrm>
          <a:prstGeom prst="straightConnector1">
            <a:avLst/>
          </a:prstGeom>
          <a:noFill/>
          <a:ln w="9525" cap="flat" cmpd="sng">
            <a:solidFill>
              <a:srgbClr val="595959"/>
            </a:solidFill>
            <a:prstDash val="solid"/>
            <a:round/>
            <a:headEnd type="none" w="sm" len="sm"/>
            <a:tailEnd type="triangle" w="med" len="med"/>
          </a:ln>
        </p:spPr>
      </p:cxnSp>
      <p:cxnSp>
        <p:nvCxnSpPr>
          <p:cNvPr id="129" name="Google Shape;129;p1"/>
          <p:cNvCxnSpPr>
            <a:stCxn id="105" idx="3"/>
            <a:endCxn id="103" idx="1"/>
          </p:cNvCxnSpPr>
          <p:nvPr/>
        </p:nvCxnSpPr>
        <p:spPr>
          <a:xfrm>
            <a:off x="10415100" y="5821250"/>
            <a:ext cx="530100" cy="0"/>
          </a:xfrm>
          <a:prstGeom prst="straightConnector1">
            <a:avLst/>
          </a:prstGeom>
          <a:noFill/>
          <a:ln w="9525" cap="flat" cmpd="sng">
            <a:solidFill>
              <a:srgbClr val="595959"/>
            </a:solidFill>
            <a:prstDash val="solid"/>
            <a:round/>
            <a:headEnd type="none" w="sm" len="sm"/>
            <a:tailEnd type="triangle" w="med" len="med"/>
          </a:ln>
        </p:spPr>
      </p:cxnSp>
      <p:cxnSp>
        <p:nvCxnSpPr>
          <p:cNvPr id="130" name="Google Shape;130;p1"/>
          <p:cNvCxnSpPr>
            <a:stCxn id="97" idx="3"/>
            <a:endCxn id="104" idx="1"/>
          </p:cNvCxnSpPr>
          <p:nvPr/>
        </p:nvCxnSpPr>
        <p:spPr>
          <a:xfrm>
            <a:off x="10441050" y="7890800"/>
            <a:ext cx="504300" cy="6900"/>
          </a:xfrm>
          <a:prstGeom prst="straightConnector1">
            <a:avLst/>
          </a:prstGeom>
          <a:noFill/>
          <a:ln w="9525" cap="flat" cmpd="sng">
            <a:solidFill>
              <a:srgbClr val="595959"/>
            </a:solidFill>
            <a:prstDash val="solid"/>
            <a:round/>
            <a:headEnd type="none" w="sm" len="sm"/>
            <a:tailEnd type="triangle" w="med" len="med"/>
          </a:ln>
        </p:spPr>
      </p:cxnSp>
      <p:sp>
        <p:nvSpPr>
          <p:cNvPr id="131" name="Google Shape;131;p1"/>
          <p:cNvSpPr txBox="1"/>
          <p:nvPr/>
        </p:nvSpPr>
        <p:spPr>
          <a:xfrm>
            <a:off x="80325" y="8238775"/>
            <a:ext cx="1105800" cy="365730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 sz="1200" b="1" i="0" u="none" strike="noStrike" cap="none">
                <a:solidFill>
                  <a:srgbClr val="000000"/>
                </a:solidFill>
                <a:latin typeface="Times New Roman"/>
                <a:ea typeface="Times New Roman"/>
                <a:cs typeface="Times New Roman"/>
                <a:sym typeface="Times New Roman"/>
              </a:rPr>
              <a:t>Deletion</a:t>
            </a:r>
            <a:endParaRPr sz="1200" b="1" i="0" u="none" strike="noStrike" cap="none">
              <a:solidFill>
                <a:srgbClr val="000000"/>
              </a:solidFill>
              <a:latin typeface="Times New Roman"/>
              <a:ea typeface="Times New Roman"/>
              <a:cs typeface="Times New Roman"/>
              <a:sym typeface="Times New Roman"/>
            </a:endParaRPr>
          </a:p>
          <a:p>
            <a:pPr marL="0" marR="0" lvl="0" indent="0" algn="ctr" rtl="0">
              <a:lnSpc>
                <a:spcPct val="100000"/>
              </a:lnSpc>
              <a:spcBef>
                <a:spcPts val="0"/>
              </a:spcBef>
              <a:spcAft>
                <a:spcPts val="0"/>
              </a:spcAft>
              <a:buClr>
                <a:srgbClr val="000000"/>
              </a:buClr>
              <a:buSzPts val="1000"/>
              <a:buFont typeface="Arial"/>
              <a:buNone/>
            </a:pPr>
            <a:r>
              <a:rPr lang="en" sz="1000" b="0" i="0" u="none" strike="noStrike" cap="none">
                <a:solidFill>
                  <a:srgbClr val="000000"/>
                </a:solidFill>
                <a:latin typeface="Times New Roman"/>
                <a:ea typeface="Times New Roman"/>
                <a:cs typeface="Times New Roman"/>
                <a:sym typeface="Times New Roman"/>
              </a:rPr>
              <a:t>(Single exon to full gene)</a:t>
            </a:r>
            <a:endParaRPr sz="1000" b="0" i="0" u="none" strike="noStrike" cap="none">
              <a:solidFill>
                <a:srgbClr val="000000"/>
              </a:solidFill>
              <a:latin typeface="Times New Roman"/>
              <a:ea typeface="Times New Roman"/>
              <a:cs typeface="Times New Roman"/>
              <a:sym typeface="Times New Roman"/>
            </a:endParaRPr>
          </a:p>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2" name="Google Shape;132;p1"/>
          <p:cNvSpPr/>
          <p:nvPr/>
        </p:nvSpPr>
        <p:spPr>
          <a:xfrm>
            <a:off x="1701200" y="8738200"/>
            <a:ext cx="2327100" cy="80250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 sz="1200" b="0" i="0" u="none" strike="noStrike" cap="none">
                <a:solidFill>
                  <a:srgbClr val="000000"/>
                </a:solidFill>
                <a:latin typeface="Times New Roman"/>
                <a:ea typeface="Times New Roman"/>
                <a:cs typeface="Times New Roman"/>
                <a:sym typeface="Times New Roman"/>
              </a:rPr>
              <a:t>Single to multi exon deletion – </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200"/>
              <a:buFont typeface="Arial"/>
              <a:buNone/>
            </a:pPr>
            <a:r>
              <a:rPr lang="en" sz="1200" b="0" i="0" u="none" strike="noStrike" cap="none">
                <a:solidFill>
                  <a:srgbClr val="000000"/>
                </a:solidFill>
                <a:latin typeface="Times New Roman"/>
                <a:ea typeface="Times New Roman"/>
                <a:cs typeface="Times New Roman"/>
                <a:sym typeface="Times New Roman"/>
              </a:rPr>
              <a:t>Disrupts reading frame and is predicted to undergo NMD</a:t>
            </a:r>
            <a:r>
              <a:rPr lang="en" sz="1200" b="0" i="0" u="none" strike="noStrike" cap="none">
                <a:solidFill>
                  <a:schemeClr val="dk1"/>
                </a:solidFill>
                <a:latin typeface="Times New Roman"/>
                <a:ea typeface="Times New Roman"/>
                <a:cs typeface="Times New Roman"/>
                <a:sym typeface="Times New Roman"/>
              </a:rPr>
              <a:t> </a:t>
            </a:r>
            <a:r>
              <a:rPr lang="en" sz="1200" b="0" i="0" u="none" strike="noStrike" cap="none" baseline="30000">
                <a:solidFill>
                  <a:schemeClr val="dk1"/>
                </a:solidFill>
                <a:latin typeface="Times New Roman"/>
                <a:ea typeface="Times New Roman"/>
                <a:cs typeface="Times New Roman"/>
                <a:sym typeface="Times New Roman"/>
              </a:rPr>
              <a:t>b</a:t>
            </a:r>
            <a:endParaRPr sz="1400" b="0" i="0" u="none" strike="noStrike" cap="none">
              <a:solidFill>
                <a:srgbClr val="000000"/>
              </a:solidFill>
              <a:latin typeface="Arial"/>
              <a:ea typeface="Arial"/>
              <a:cs typeface="Arial"/>
              <a:sym typeface="Arial"/>
            </a:endParaRPr>
          </a:p>
        </p:txBody>
      </p:sp>
      <p:sp>
        <p:nvSpPr>
          <p:cNvPr id="133" name="Google Shape;133;p1"/>
          <p:cNvSpPr/>
          <p:nvPr/>
        </p:nvSpPr>
        <p:spPr>
          <a:xfrm>
            <a:off x="1701200" y="10904150"/>
            <a:ext cx="2327100" cy="80250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 sz="1200" b="0" i="0" u="none" strike="noStrike" cap="none">
                <a:solidFill>
                  <a:srgbClr val="000000"/>
                </a:solidFill>
                <a:latin typeface="Times New Roman"/>
                <a:ea typeface="Times New Roman"/>
                <a:cs typeface="Times New Roman"/>
                <a:sym typeface="Times New Roman"/>
              </a:rPr>
              <a:t>Single to multi exon deletion – </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200"/>
              <a:buFont typeface="Arial"/>
              <a:buNone/>
            </a:pPr>
            <a:r>
              <a:rPr lang="en" sz="1200" b="0" i="0" u="none" strike="noStrike" cap="none">
                <a:solidFill>
                  <a:srgbClr val="000000"/>
                </a:solidFill>
                <a:latin typeface="Times New Roman"/>
                <a:ea typeface="Times New Roman"/>
                <a:cs typeface="Times New Roman"/>
                <a:sym typeface="Times New Roman"/>
              </a:rPr>
              <a:t>Preserves reading frame</a:t>
            </a:r>
            <a:endParaRPr sz="1400" b="0" i="0" u="none" strike="noStrike" cap="none">
              <a:solidFill>
                <a:srgbClr val="000000"/>
              </a:solidFill>
              <a:latin typeface="Arial"/>
              <a:ea typeface="Arial"/>
              <a:cs typeface="Arial"/>
              <a:sym typeface="Arial"/>
            </a:endParaRPr>
          </a:p>
        </p:txBody>
      </p:sp>
      <p:sp>
        <p:nvSpPr>
          <p:cNvPr id="134" name="Google Shape;134;p1"/>
          <p:cNvSpPr/>
          <p:nvPr/>
        </p:nvSpPr>
        <p:spPr>
          <a:xfrm>
            <a:off x="1701200" y="8253750"/>
            <a:ext cx="2327100" cy="27690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 sz="1200" b="0" i="0" u="none" strike="noStrike" cap="none">
                <a:solidFill>
                  <a:srgbClr val="000000"/>
                </a:solidFill>
                <a:latin typeface="Times New Roman"/>
                <a:ea typeface="Times New Roman"/>
                <a:cs typeface="Times New Roman"/>
                <a:sym typeface="Times New Roman"/>
              </a:rPr>
              <a:t>Full gene deletion</a:t>
            </a:r>
            <a:endParaRPr sz="1400" b="0" i="0" u="none" strike="noStrike" cap="none">
              <a:solidFill>
                <a:srgbClr val="000000"/>
              </a:solidFill>
              <a:latin typeface="Arial"/>
              <a:ea typeface="Arial"/>
              <a:cs typeface="Arial"/>
              <a:sym typeface="Arial"/>
            </a:endParaRPr>
          </a:p>
        </p:txBody>
      </p:sp>
      <p:sp>
        <p:nvSpPr>
          <p:cNvPr id="135" name="Google Shape;135;p1"/>
          <p:cNvSpPr/>
          <p:nvPr/>
        </p:nvSpPr>
        <p:spPr>
          <a:xfrm>
            <a:off x="4572975" y="8662000"/>
            <a:ext cx="5868000" cy="27690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 sz="1200" b="0" i="0" u="none" strike="noStrike" cap="none">
                <a:solidFill>
                  <a:srgbClr val="000000"/>
                </a:solidFill>
                <a:latin typeface="Times New Roman"/>
                <a:ea typeface="Times New Roman"/>
                <a:cs typeface="Times New Roman"/>
                <a:sym typeface="Times New Roman"/>
              </a:rPr>
              <a:t>Exon is present in biologically-relevant transcript(s)</a:t>
            </a:r>
            <a:endParaRPr sz="1400" b="0" i="0" u="none" strike="noStrike" cap="none">
              <a:solidFill>
                <a:srgbClr val="000000"/>
              </a:solidFill>
              <a:latin typeface="Arial"/>
              <a:ea typeface="Arial"/>
              <a:cs typeface="Arial"/>
              <a:sym typeface="Arial"/>
            </a:endParaRPr>
          </a:p>
        </p:txBody>
      </p:sp>
      <p:sp>
        <p:nvSpPr>
          <p:cNvPr id="136" name="Google Shape;136;p1"/>
          <p:cNvSpPr/>
          <p:nvPr/>
        </p:nvSpPr>
        <p:spPr>
          <a:xfrm>
            <a:off x="4544400" y="9544325"/>
            <a:ext cx="5896500" cy="27690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 sz="1200" b="0" i="0" u="none" strike="noStrike" cap="none">
                <a:solidFill>
                  <a:srgbClr val="000000"/>
                </a:solidFill>
                <a:latin typeface="Times New Roman"/>
                <a:ea typeface="Times New Roman"/>
                <a:cs typeface="Times New Roman"/>
                <a:sym typeface="Times New Roman"/>
              </a:rPr>
              <a:t>Truncated/altered region is critical to protein function </a:t>
            </a:r>
            <a:r>
              <a:rPr lang="en" sz="1200" b="0" i="0" u="none" strike="noStrike" cap="none" baseline="30000">
                <a:solidFill>
                  <a:srgbClr val="000000"/>
                </a:solidFill>
                <a:latin typeface="Times New Roman"/>
                <a:ea typeface="Times New Roman"/>
                <a:cs typeface="Times New Roman"/>
                <a:sym typeface="Times New Roman"/>
              </a:rPr>
              <a:t>c</a:t>
            </a:r>
            <a:endParaRPr sz="1400" b="0" i="0" u="none" strike="noStrike" cap="none" baseline="30000">
              <a:solidFill>
                <a:srgbClr val="000000"/>
              </a:solidFill>
              <a:latin typeface="Arial"/>
              <a:ea typeface="Arial"/>
              <a:cs typeface="Arial"/>
              <a:sym typeface="Arial"/>
            </a:endParaRPr>
          </a:p>
        </p:txBody>
      </p:sp>
      <p:sp>
        <p:nvSpPr>
          <p:cNvPr id="137" name="Google Shape;137;p1"/>
          <p:cNvSpPr/>
          <p:nvPr/>
        </p:nvSpPr>
        <p:spPr>
          <a:xfrm>
            <a:off x="4572900" y="9090575"/>
            <a:ext cx="5868000" cy="27690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 sz="1200" b="0" i="0" u="none" strike="noStrike" cap="none">
                <a:solidFill>
                  <a:srgbClr val="000000"/>
                </a:solidFill>
                <a:latin typeface="Times New Roman"/>
                <a:ea typeface="Times New Roman"/>
                <a:cs typeface="Times New Roman"/>
                <a:sym typeface="Times New Roman"/>
              </a:rPr>
              <a:t>Exon is absent from biologically-relevant transcript(s)</a:t>
            </a:r>
            <a:endParaRPr sz="1200" b="0" i="0" u="none" strike="noStrike" cap="none">
              <a:solidFill>
                <a:srgbClr val="000000"/>
              </a:solidFill>
              <a:latin typeface="Times New Roman"/>
              <a:ea typeface="Times New Roman"/>
              <a:cs typeface="Times New Roman"/>
              <a:sym typeface="Times New Roman"/>
            </a:endParaRPr>
          </a:p>
        </p:txBody>
      </p:sp>
      <p:sp>
        <p:nvSpPr>
          <p:cNvPr id="138" name="Google Shape;138;p1"/>
          <p:cNvSpPr/>
          <p:nvPr/>
        </p:nvSpPr>
        <p:spPr>
          <a:xfrm>
            <a:off x="4572975" y="9918775"/>
            <a:ext cx="1080900" cy="155820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 sz="1200" b="0" i="0" u="none" strike="noStrike" cap="none">
                <a:solidFill>
                  <a:srgbClr val="000000"/>
                </a:solidFill>
                <a:latin typeface="Times New Roman"/>
                <a:ea typeface="Times New Roman"/>
                <a:cs typeface="Times New Roman"/>
                <a:sym typeface="Times New Roman"/>
              </a:rPr>
              <a:t>Role of region in protein function is unknown</a:t>
            </a:r>
            <a:endParaRPr sz="1400" b="0" i="0" u="none" strike="noStrike" cap="none">
              <a:solidFill>
                <a:srgbClr val="000000"/>
              </a:solidFill>
              <a:latin typeface="Arial"/>
              <a:ea typeface="Arial"/>
              <a:cs typeface="Arial"/>
              <a:sym typeface="Arial"/>
            </a:endParaRPr>
          </a:p>
        </p:txBody>
      </p:sp>
      <p:sp>
        <p:nvSpPr>
          <p:cNvPr id="139" name="Google Shape;139;p1"/>
          <p:cNvSpPr/>
          <p:nvPr/>
        </p:nvSpPr>
        <p:spPr>
          <a:xfrm>
            <a:off x="6217275" y="9928700"/>
            <a:ext cx="4234500" cy="46170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 sz="1200" b="0" i="0" u="none" strike="noStrike" cap="none">
                <a:solidFill>
                  <a:srgbClr val="000000"/>
                </a:solidFill>
                <a:latin typeface="Times New Roman"/>
                <a:ea typeface="Times New Roman"/>
                <a:cs typeface="Times New Roman"/>
                <a:sym typeface="Times New Roman"/>
              </a:rPr>
              <a:t>LoF variants in this exon are frequent in the general population and/or exon is absent from biologically-relevant transcript(s)</a:t>
            </a:r>
            <a:endParaRPr sz="1400" b="0" i="0" u="none" strike="noStrike" cap="none">
              <a:solidFill>
                <a:srgbClr val="000000"/>
              </a:solidFill>
              <a:latin typeface="Arial"/>
              <a:ea typeface="Arial"/>
              <a:cs typeface="Arial"/>
              <a:sym typeface="Arial"/>
            </a:endParaRPr>
          </a:p>
        </p:txBody>
      </p:sp>
      <p:sp>
        <p:nvSpPr>
          <p:cNvPr id="140" name="Google Shape;140;p1"/>
          <p:cNvSpPr/>
          <p:nvPr/>
        </p:nvSpPr>
        <p:spPr>
          <a:xfrm>
            <a:off x="10945225" y="8253750"/>
            <a:ext cx="1281000" cy="27690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 sz="1200" b="0" i="0" u="none" strike="noStrike" cap="none">
                <a:solidFill>
                  <a:srgbClr val="000000"/>
                </a:solidFill>
                <a:latin typeface="Times New Roman"/>
                <a:ea typeface="Times New Roman"/>
                <a:cs typeface="Times New Roman"/>
                <a:sym typeface="Times New Roman"/>
              </a:rPr>
              <a:t>PVS1 </a:t>
            </a:r>
            <a:r>
              <a:rPr lang="en" sz="1200" b="0" i="0" u="none" strike="noStrike" cap="none" baseline="30000">
                <a:solidFill>
                  <a:srgbClr val="000000"/>
                </a:solidFill>
                <a:latin typeface="Times New Roman"/>
                <a:ea typeface="Times New Roman"/>
                <a:cs typeface="Times New Roman"/>
                <a:sym typeface="Times New Roman"/>
              </a:rPr>
              <a:t>d</a:t>
            </a:r>
            <a:endParaRPr sz="1400" b="0" i="0" u="none" strike="noStrike" cap="none" baseline="30000">
              <a:solidFill>
                <a:srgbClr val="000000"/>
              </a:solidFill>
              <a:latin typeface="Arial"/>
              <a:ea typeface="Arial"/>
              <a:cs typeface="Arial"/>
              <a:sym typeface="Arial"/>
            </a:endParaRPr>
          </a:p>
        </p:txBody>
      </p:sp>
      <p:sp>
        <p:nvSpPr>
          <p:cNvPr id="141" name="Google Shape;141;p1"/>
          <p:cNvSpPr/>
          <p:nvPr/>
        </p:nvSpPr>
        <p:spPr>
          <a:xfrm>
            <a:off x="4544400" y="11562250"/>
            <a:ext cx="5907300" cy="27690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 sz="1200" b="0" i="0" u="none" strike="noStrike" cap="none">
                <a:solidFill>
                  <a:srgbClr val="000000"/>
                </a:solidFill>
                <a:highlight>
                  <a:srgbClr val="FFFF00"/>
                </a:highlight>
                <a:latin typeface="Times New Roman"/>
                <a:ea typeface="Times New Roman"/>
                <a:cs typeface="Times New Roman"/>
                <a:sym typeface="Times New Roman"/>
              </a:rPr>
              <a:t>Truncated/altered region is critical to protein function </a:t>
            </a:r>
            <a:r>
              <a:rPr lang="en" sz="1200" b="0" i="0" u="none" strike="noStrike" cap="none" baseline="30000">
                <a:solidFill>
                  <a:srgbClr val="000000"/>
                </a:solidFill>
                <a:highlight>
                  <a:srgbClr val="FFFF00"/>
                </a:highlight>
                <a:latin typeface="Times New Roman"/>
                <a:ea typeface="Times New Roman"/>
                <a:cs typeface="Times New Roman"/>
                <a:sym typeface="Times New Roman"/>
              </a:rPr>
              <a:t>c </a:t>
            </a:r>
            <a:r>
              <a:rPr lang="en" sz="1200">
                <a:solidFill>
                  <a:srgbClr val="FF0000"/>
                </a:solidFill>
                <a:highlight>
                  <a:srgbClr val="FFFF00"/>
                </a:highlight>
                <a:latin typeface="Times New Roman"/>
                <a:ea typeface="Times New Roman"/>
                <a:cs typeface="Times New Roman"/>
                <a:sym typeface="Times New Roman"/>
              </a:rPr>
              <a:t>(If relevant please specify regions)</a:t>
            </a:r>
            <a:endParaRPr sz="1200" b="0" i="0" u="none" strike="noStrike" cap="none">
              <a:solidFill>
                <a:srgbClr val="000000"/>
              </a:solidFill>
              <a:highlight>
                <a:srgbClr val="FFFF00"/>
              </a:highlight>
              <a:latin typeface="Times New Roman"/>
              <a:ea typeface="Times New Roman"/>
              <a:cs typeface="Times New Roman"/>
              <a:sym typeface="Times New Roman"/>
            </a:endParaRPr>
          </a:p>
        </p:txBody>
      </p:sp>
      <p:sp>
        <p:nvSpPr>
          <p:cNvPr id="142" name="Google Shape;142;p1"/>
          <p:cNvSpPr/>
          <p:nvPr/>
        </p:nvSpPr>
        <p:spPr>
          <a:xfrm>
            <a:off x="10945225" y="8662000"/>
            <a:ext cx="1281000" cy="27690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 sz="1200" b="0" i="0" u="none" strike="noStrike" cap="none">
                <a:solidFill>
                  <a:srgbClr val="000000"/>
                </a:solidFill>
                <a:latin typeface="Times New Roman"/>
                <a:ea typeface="Times New Roman"/>
                <a:cs typeface="Times New Roman"/>
                <a:sym typeface="Times New Roman"/>
              </a:rPr>
              <a:t>PVS1</a:t>
            </a:r>
            <a:endParaRPr sz="1400" b="0" i="0" u="none" strike="noStrike" cap="none">
              <a:solidFill>
                <a:srgbClr val="000000"/>
              </a:solidFill>
              <a:latin typeface="Arial"/>
              <a:ea typeface="Arial"/>
              <a:cs typeface="Arial"/>
              <a:sym typeface="Arial"/>
            </a:endParaRPr>
          </a:p>
        </p:txBody>
      </p:sp>
      <p:sp>
        <p:nvSpPr>
          <p:cNvPr id="143" name="Google Shape;143;p1"/>
          <p:cNvSpPr/>
          <p:nvPr/>
        </p:nvSpPr>
        <p:spPr>
          <a:xfrm>
            <a:off x="10945225" y="9090575"/>
            <a:ext cx="1281000" cy="27690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 sz="1200" b="0" i="0" u="none" strike="noStrike" cap="none">
                <a:solidFill>
                  <a:srgbClr val="000000"/>
                </a:solidFill>
                <a:latin typeface="Times New Roman"/>
                <a:ea typeface="Times New Roman"/>
                <a:cs typeface="Times New Roman"/>
                <a:sym typeface="Times New Roman"/>
              </a:rPr>
              <a:t>N/A</a:t>
            </a:r>
            <a:endParaRPr sz="1400" b="0" i="0" u="none" strike="noStrike" cap="none">
              <a:solidFill>
                <a:srgbClr val="000000"/>
              </a:solidFill>
              <a:latin typeface="Arial"/>
              <a:ea typeface="Arial"/>
              <a:cs typeface="Arial"/>
              <a:sym typeface="Arial"/>
            </a:endParaRPr>
          </a:p>
        </p:txBody>
      </p:sp>
      <p:sp>
        <p:nvSpPr>
          <p:cNvPr id="144" name="Google Shape;144;p1"/>
          <p:cNvSpPr/>
          <p:nvPr/>
        </p:nvSpPr>
        <p:spPr>
          <a:xfrm>
            <a:off x="10945225" y="9544325"/>
            <a:ext cx="1281000" cy="27690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 sz="1200" b="0" i="0" u="none" strike="noStrike" cap="none">
                <a:solidFill>
                  <a:srgbClr val="000000"/>
                </a:solidFill>
                <a:latin typeface="Times New Roman"/>
                <a:ea typeface="Times New Roman"/>
                <a:cs typeface="Times New Roman"/>
                <a:sym typeface="Times New Roman"/>
              </a:rPr>
              <a:t>PVS1_Strong</a:t>
            </a:r>
            <a:endParaRPr sz="1400" b="0" i="0" u="none" strike="noStrike" cap="none">
              <a:solidFill>
                <a:srgbClr val="000000"/>
              </a:solidFill>
              <a:latin typeface="Arial"/>
              <a:ea typeface="Arial"/>
              <a:cs typeface="Arial"/>
              <a:sym typeface="Arial"/>
            </a:endParaRPr>
          </a:p>
        </p:txBody>
      </p:sp>
      <p:sp>
        <p:nvSpPr>
          <p:cNvPr id="145" name="Google Shape;145;p1"/>
          <p:cNvSpPr/>
          <p:nvPr/>
        </p:nvSpPr>
        <p:spPr>
          <a:xfrm>
            <a:off x="10945225" y="9973850"/>
            <a:ext cx="1281000" cy="37140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 sz="1200" b="0" i="0" u="none" strike="noStrike" cap="none">
                <a:solidFill>
                  <a:srgbClr val="000000"/>
                </a:solidFill>
                <a:latin typeface="Times New Roman"/>
                <a:ea typeface="Times New Roman"/>
                <a:cs typeface="Times New Roman"/>
                <a:sym typeface="Times New Roman"/>
              </a:rPr>
              <a:t>N/A</a:t>
            </a:r>
            <a:endParaRPr sz="1400" b="0" i="0" u="none" strike="noStrike" cap="none">
              <a:solidFill>
                <a:srgbClr val="000000"/>
              </a:solidFill>
              <a:latin typeface="Arial"/>
              <a:ea typeface="Arial"/>
              <a:cs typeface="Arial"/>
              <a:sym typeface="Arial"/>
            </a:endParaRPr>
          </a:p>
        </p:txBody>
      </p:sp>
      <p:sp>
        <p:nvSpPr>
          <p:cNvPr id="146" name="Google Shape;146;p1"/>
          <p:cNvSpPr/>
          <p:nvPr/>
        </p:nvSpPr>
        <p:spPr>
          <a:xfrm>
            <a:off x="10945225" y="10562425"/>
            <a:ext cx="1281000" cy="32430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 sz="1200" b="0" i="0" u="none" strike="noStrike" cap="none">
                <a:solidFill>
                  <a:srgbClr val="000000"/>
                </a:solidFill>
                <a:latin typeface="Times New Roman"/>
                <a:ea typeface="Times New Roman"/>
                <a:cs typeface="Times New Roman"/>
                <a:sym typeface="Times New Roman"/>
              </a:rPr>
              <a:t>PVS1_Strong</a:t>
            </a:r>
            <a:endParaRPr sz="1400" b="0" i="0" u="none" strike="noStrike" cap="none">
              <a:solidFill>
                <a:srgbClr val="000000"/>
              </a:solidFill>
              <a:latin typeface="Arial"/>
              <a:ea typeface="Arial"/>
              <a:cs typeface="Arial"/>
              <a:sym typeface="Arial"/>
            </a:endParaRPr>
          </a:p>
        </p:txBody>
      </p:sp>
      <p:sp>
        <p:nvSpPr>
          <p:cNvPr id="147" name="Google Shape;147;p1"/>
          <p:cNvSpPr/>
          <p:nvPr/>
        </p:nvSpPr>
        <p:spPr>
          <a:xfrm>
            <a:off x="10945225" y="11065050"/>
            <a:ext cx="1281000" cy="37140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 sz="1200" b="0" i="0" u="none" strike="noStrike" cap="none">
                <a:solidFill>
                  <a:srgbClr val="000000"/>
                </a:solidFill>
                <a:latin typeface="Times New Roman"/>
                <a:ea typeface="Times New Roman"/>
                <a:cs typeface="Times New Roman"/>
                <a:sym typeface="Times New Roman"/>
              </a:rPr>
              <a:t>PVS1_Moderate</a:t>
            </a:r>
            <a:endParaRPr sz="1400" b="0" i="0" u="none" strike="noStrike" cap="none">
              <a:solidFill>
                <a:srgbClr val="000000"/>
              </a:solidFill>
              <a:latin typeface="Arial"/>
              <a:ea typeface="Arial"/>
              <a:cs typeface="Arial"/>
              <a:sym typeface="Arial"/>
            </a:endParaRPr>
          </a:p>
        </p:txBody>
      </p:sp>
      <p:sp>
        <p:nvSpPr>
          <p:cNvPr id="148" name="Google Shape;148;p1"/>
          <p:cNvSpPr/>
          <p:nvPr/>
        </p:nvSpPr>
        <p:spPr>
          <a:xfrm>
            <a:off x="10945225" y="11562250"/>
            <a:ext cx="1281000" cy="27690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 sz="1200" b="0" i="0" u="none" strike="noStrike" cap="none">
                <a:solidFill>
                  <a:srgbClr val="000000"/>
                </a:solidFill>
                <a:latin typeface="Times New Roman"/>
                <a:ea typeface="Times New Roman"/>
                <a:cs typeface="Times New Roman"/>
                <a:sym typeface="Times New Roman"/>
              </a:rPr>
              <a:t>PVS1_Strong</a:t>
            </a:r>
            <a:endParaRPr sz="1400" b="0" i="0" u="none" strike="noStrike" cap="none">
              <a:solidFill>
                <a:srgbClr val="000000"/>
              </a:solidFill>
              <a:latin typeface="Arial"/>
              <a:ea typeface="Arial"/>
              <a:cs typeface="Arial"/>
              <a:sym typeface="Arial"/>
            </a:endParaRPr>
          </a:p>
        </p:txBody>
      </p:sp>
      <p:sp>
        <p:nvSpPr>
          <p:cNvPr id="149" name="Google Shape;149;p1"/>
          <p:cNvSpPr txBox="1"/>
          <p:nvPr/>
        </p:nvSpPr>
        <p:spPr>
          <a:xfrm>
            <a:off x="80325" y="12085325"/>
            <a:ext cx="1105800" cy="148110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 sz="1200" b="1" i="0" u="none" strike="noStrike" cap="none">
                <a:solidFill>
                  <a:srgbClr val="000000"/>
                </a:solidFill>
                <a:latin typeface="Times New Roman"/>
                <a:ea typeface="Times New Roman"/>
                <a:cs typeface="Times New Roman"/>
                <a:sym typeface="Times New Roman"/>
              </a:rPr>
              <a:t>Duplication</a:t>
            </a:r>
            <a:endParaRPr sz="1200" b="1" i="0" u="none" strike="noStrike" cap="none">
              <a:solidFill>
                <a:srgbClr val="000000"/>
              </a:solidFill>
              <a:latin typeface="Times New Roman"/>
              <a:ea typeface="Times New Roman"/>
              <a:cs typeface="Times New Roman"/>
              <a:sym typeface="Times New Roman"/>
            </a:endParaRPr>
          </a:p>
          <a:p>
            <a:pPr marL="0" marR="0" lvl="0" indent="0" algn="ctr" rtl="0">
              <a:lnSpc>
                <a:spcPct val="100000"/>
              </a:lnSpc>
              <a:spcBef>
                <a:spcPts val="0"/>
              </a:spcBef>
              <a:spcAft>
                <a:spcPts val="0"/>
              </a:spcAft>
              <a:buClr>
                <a:srgbClr val="000000"/>
              </a:buClr>
              <a:buSzPts val="1000"/>
              <a:buFont typeface="Arial"/>
              <a:buNone/>
            </a:pPr>
            <a:r>
              <a:rPr lang="en" sz="1000" b="0" i="0" u="none" strike="noStrike" cap="none">
                <a:solidFill>
                  <a:srgbClr val="000000"/>
                </a:solidFill>
                <a:latin typeface="Times New Roman"/>
                <a:ea typeface="Times New Roman"/>
                <a:cs typeface="Times New Roman"/>
                <a:sym typeface="Times New Roman"/>
              </a:rPr>
              <a:t>(≥1 exon in size and must be completely contained within gene)</a:t>
            </a:r>
            <a:endParaRPr sz="1000" b="0" i="0" u="none" strike="noStrike" cap="none">
              <a:solidFill>
                <a:srgbClr val="000000"/>
              </a:solidFill>
              <a:latin typeface="Times New Roman"/>
              <a:ea typeface="Times New Roman"/>
              <a:cs typeface="Times New Roman"/>
              <a:sym typeface="Times New Roman"/>
            </a:endParaRPr>
          </a:p>
        </p:txBody>
      </p:sp>
      <p:sp>
        <p:nvSpPr>
          <p:cNvPr id="150" name="Google Shape;150;p1"/>
          <p:cNvSpPr/>
          <p:nvPr/>
        </p:nvSpPr>
        <p:spPr>
          <a:xfrm>
            <a:off x="1701200" y="12052375"/>
            <a:ext cx="2327100" cy="37140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 sz="1200" b="0" i="0" u="none" strike="noStrike" cap="none">
                <a:solidFill>
                  <a:srgbClr val="000000"/>
                </a:solidFill>
                <a:latin typeface="Times New Roman"/>
                <a:ea typeface="Times New Roman"/>
                <a:cs typeface="Times New Roman"/>
                <a:sym typeface="Times New Roman"/>
              </a:rPr>
              <a:t>Proven in tandem</a:t>
            </a:r>
            <a:endParaRPr sz="1400" b="0" i="0" u="none" strike="noStrike" cap="none">
              <a:solidFill>
                <a:srgbClr val="000000"/>
              </a:solidFill>
              <a:latin typeface="Arial"/>
              <a:ea typeface="Arial"/>
              <a:cs typeface="Arial"/>
              <a:sym typeface="Arial"/>
            </a:endParaRPr>
          </a:p>
        </p:txBody>
      </p:sp>
      <p:sp>
        <p:nvSpPr>
          <p:cNvPr id="151" name="Google Shape;151;p1"/>
          <p:cNvSpPr/>
          <p:nvPr/>
        </p:nvSpPr>
        <p:spPr>
          <a:xfrm>
            <a:off x="1701200" y="12571475"/>
            <a:ext cx="2327100" cy="45000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 sz="1200" b="0" i="0" u="none" strike="noStrike" cap="none">
                <a:solidFill>
                  <a:srgbClr val="000000"/>
                </a:solidFill>
                <a:latin typeface="Times New Roman"/>
                <a:ea typeface="Times New Roman"/>
                <a:cs typeface="Times New Roman"/>
                <a:sym typeface="Times New Roman"/>
              </a:rPr>
              <a:t>Presumed in tandem</a:t>
            </a:r>
            <a:endParaRPr sz="1400" b="0" i="0" u="none" strike="noStrike" cap="none">
              <a:solidFill>
                <a:srgbClr val="000000"/>
              </a:solidFill>
              <a:latin typeface="Arial"/>
              <a:ea typeface="Arial"/>
              <a:cs typeface="Arial"/>
              <a:sym typeface="Arial"/>
            </a:endParaRPr>
          </a:p>
        </p:txBody>
      </p:sp>
      <p:sp>
        <p:nvSpPr>
          <p:cNvPr id="152" name="Google Shape;152;p1"/>
          <p:cNvSpPr/>
          <p:nvPr/>
        </p:nvSpPr>
        <p:spPr>
          <a:xfrm>
            <a:off x="1701200" y="13068275"/>
            <a:ext cx="2327100" cy="46170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 sz="1200" b="0" i="0" u="none" strike="noStrike" cap="none">
                <a:solidFill>
                  <a:srgbClr val="000000"/>
                </a:solidFill>
                <a:latin typeface="Times New Roman"/>
                <a:ea typeface="Times New Roman"/>
                <a:cs typeface="Times New Roman"/>
                <a:sym typeface="Times New Roman"/>
              </a:rPr>
              <a:t>Proven not in tandem</a:t>
            </a:r>
            <a:endParaRPr sz="1400" b="0" i="0" u="none" strike="noStrike" cap="none">
              <a:solidFill>
                <a:srgbClr val="000000"/>
              </a:solidFill>
              <a:latin typeface="Arial"/>
              <a:ea typeface="Arial"/>
              <a:cs typeface="Arial"/>
              <a:sym typeface="Arial"/>
            </a:endParaRPr>
          </a:p>
        </p:txBody>
      </p:sp>
      <p:sp>
        <p:nvSpPr>
          <p:cNvPr id="153" name="Google Shape;153;p1"/>
          <p:cNvSpPr/>
          <p:nvPr/>
        </p:nvSpPr>
        <p:spPr>
          <a:xfrm>
            <a:off x="4533725" y="12051213"/>
            <a:ext cx="5907300" cy="27690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 sz="1200" b="0" i="0" u="none" strike="noStrike" cap="none">
                <a:solidFill>
                  <a:srgbClr val="000000"/>
                </a:solidFill>
                <a:latin typeface="Times New Roman"/>
                <a:ea typeface="Times New Roman"/>
                <a:cs typeface="Times New Roman"/>
                <a:sym typeface="Times New Roman"/>
              </a:rPr>
              <a:t>Reading frame disrupted and NMD predicted to occur</a:t>
            </a:r>
            <a:endParaRPr sz="1400" b="0" i="0" u="none" strike="noStrike" cap="none">
              <a:solidFill>
                <a:srgbClr val="000000"/>
              </a:solidFill>
              <a:latin typeface="Arial"/>
              <a:ea typeface="Arial"/>
              <a:cs typeface="Arial"/>
              <a:sym typeface="Arial"/>
            </a:endParaRPr>
          </a:p>
        </p:txBody>
      </p:sp>
      <p:sp>
        <p:nvSpPr>
          <p:cNvPr id="154" name="Google Shape;154;p1"/>
          <p:cNvSpPr/>
          <p:nvPr/>
        </p:nvSpPr>
        <p:spPr>
          <a:xfrm>
            <a:off x="4533625" y="12418650"/>
            <a:ext cx="5907300" cy="27690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 sz="1200" b="0" i="0" u="none" strike="noStrike" cap="none">
                <a:solidFill>
                  <a:srgbClr val="000000"/>
                </a:solidFill>
                <a:latin typeface="Times New Roman"/>
                <a:ea typeface="Times New Roman"/>
                <a:cs typeface="Times New Roman"/>
                <a:sym typeface="Times New Roman"/>
              </a:rPr>
              <a:t>No or unknown impact on reading frame and NMD</a:t>
            </a:r>
            <a:endParaRPr sz="1400" b="0" i="0" u="none" strike="noStrike" cap="none">
              <a:solidFill>
                <a:srgbClr val="000000"/>
              </a:solidFill>
              <a:latin typeface="Arial"/>
              <a:ea typeface="Arial"/>
              <a:cs typeface="Arial"/>
              <a:sym typeface="Arial"/>
            </a:endParaRPr>
          </a:p>
        </p:txBody>
      </p:sp>
      <p:sp>
        <p:nvSpPr>
          <p:cNvPr id="155" name="Google Shape;155;p1"/>
          <p:cNvSpPr/>
          <p:nvPr/>
        </p:nvSpPr>
        <p:spPr>
          <a:xfrm>
            <a:off x="4533750" y="12818300"/>
            <a:ext cx="5907300" cy="27690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 sz="1200" b="0" i="0" u="none" strike="noStrike" cap="none">
                <a:solidFill>
                  <a:srgbClr val="000000"/>
                </a:solidFill>
                <a:latin typeface="Times New Roman"/>
                <a:ea typeface="Times New Roman"/>
                <a:cs typeface="Times New Roman"/>
                <a:sym typeface="Times New Roman"/>
              </a:rPr>
              <a:t>Reading frame presumed disrupted and NMD predicted to occur</a:t>
            </a:r>
            <a:endParaRPr sz="1400" b="0" i="0" u="none" strike="noStrike" cap="none">
              <a:solidFill>
                <a:srgbClr val="000000"/>
              </a:solidFill>
              <a:latin typeface="Arial"/>
              <a:ea typeface="Arial"/>
              <a:cs typeface="Arial"/>
              <a:sym typeface="Arial"/>
            </a:endParaRPr>
          </a:p>
        </p:txBody>
      </p:sp>
      <p:sp>
        <p:nvSpPr>
          <p:cNvPr id="156" name="Google Shape;156;p1"/>
          <p:cNvSpPr/>
          <p:nvPr/>
        </p:nvSpPr>
        <p:spPr>
          <a:xfrm>
            <a:off x="10945225" y="12051213"/>
            <a:ext cx="1281000" cy="27690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 sz="1200" b="0" i="0" u="none" strike="noStrike" cap="none">
                <a:solidFill>
                  <a:srgbClr val="000000"/>
                </a:solidFill>
                <a:latin typeface="Times New Roman"/>
                <a:ea typeface="Times New Roman"/>
                <a:cs typeface="Times New Roman"/>
                <a:sym typeface="Times New Roman"/>
              </a:rPr>
              <a:t>PVS1</a:t>
            </a:r>
            <a:endParaRPr sz="1400" b="0" i="0" u="none" strike="noStrike" cap="none">
              <a:solidFill>
                <a:srgbClr val="000000"/>
              </a:solidFill>
              <a:latin typeface="Arial"/>
              <a:ea typeface="Arial"/>
              <a:cs typeface="Arial"/>
              <a:sym typeface="Arial"/>
            </a:endParaRPr>
          </a:p>
        </p:txBody>
      </p:sp>
      <p:sp>
        <p:nvSpPr>
          <p:cNvPr id="157" name="Google Shape;157;p1"/>
          <p:cNvSpPr/>
          <p:nvPr/>
        </p:nvSpPr>
        <p:spPr>
          <a:xfrm>
            <a:off x="10945225" y="12418650"/>
            <a:ext cx="1281000" cy="27690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 sz="1200" b="0" i="0" u="none" strike="noStrike" cap="none">
                <a:solidFill>
                  <a:srgbClr val="000000"/>
                </a:solidFill>
                <a:latin typeface="Times New Roman"/>
                <a:ea typeface="Times New Roman"/>
                <a:cs typeface="Times New Roman"/>
                <a:sym typeface="Times New Roman"/>
              </a:rPr>
              <a:t>N/A</a:t>
            </a:r>
            <a:endParaRPr sz="1400" b="0" i="0" u="none" strike="noStrike" cap="none">
              <a:solidFill>
                <a:srgbClr val="000000"/>
              </a:solidFill>
              <a:latin typeface="Arial"/>
              <a:ea typeface="Arial"/>
              <a:cs typeface="Arial"/>
              <a:sym typeface="Arial"/>
            </a:endParaRPr>
          </a:p>
        </p:txBody>
      </p:sp>
      <p:sp>
        <p:nvSpPr>
          <p:cNvPr id="158" name="Google Shape;158;p1"/>
          <p:cNvSpPr/>
          <p:nvPr/>
        </p:nvSpPr>
        <p:spPr>
          <a:xfrm>
            <a:off x="10945225" y="12818300"/>
            <a:ext cx="1281000" cy="27690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 sz="1200" b="0" i="0" u="none" strike="noStrike" cap="none">
                <a:solidFill>
                  <a:srgbClr val="000000"/>
                </a:solidFill>
                <a:latin typeface="Times New Roman"/>
                <a:ea typeface="Times New Roman"/>
                <a:cs typeface="Times New Roman"/>
                <a:sym typeface="Times New Roman"/>
              </a:rPr>
              <a:t>PVS1_Strong</a:t>
            </a:r>
            <a:endParaRPr sz="1400" b="0" i="0" u="none" strike="noStrike" cap="none">
              <a:solidFill>
                <a:srgbClr val="000000"/>
              </a:solidFill>
              <a:latin typeface="Arial"/>
              <a:ea typeface="Arial"/>
              <a:cs typeface="Arial"/>
              <a:sym typeface="Arial"/>
            </a:endParaRPr>
          </a:p>
        </p:txBody>
      </p:sp>
      <p:sp>
        <p:nvSpPr>
          <p:cNvPr id="159" name="Google Shape;159;p1"/>
          <p:cNvSpPr/>
          <p:nvPr/>
        </p:nvSpPr>
        <p:spPr>
          <a:xfrm>
            <a:off x="10945225" y="13160675"/>
            <a:ext cx="1281000" cy="27690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 sz="1200" b="0" i="0" u="none" strike="noStrike" cap="none">
                <a:solidFill>
                  <a:srgbClr val="000000"/>
                </a:solidFill>
                <a:latin typeface="Times New Roman"/>
                <a:ea typeface="Times New Roman"/>
                <a:cs typeface="Times New Roman"/>
                <a:sym typeface="Times New Roman"/>
              </a:rPr>
              <a:t>N/A</a:t>
            </a:r>
            <a:endParaRPr sz="1400" b="0" i="0" u="none" strike="noStrike" cap="none">
              <a:solidFill>
                <a:srgbClr val="000000"/>
              </a:solidFill>
              <a:latin typeface="Arial"/>
              <a:ea typeface="Arial"/>
              <a:cs typeface="Arial"/>
              <a:sym typeface="Arial"/>
            </a:endParaRPr>
          </a:p>
        </p:txBody>
      </p:sp>
      <p:sp>
        <p:nvSpPr>
          <p:cNvPr id="160" name="Google Shape;160;p1"/>
          <p:cNvSpPr txBox="1"/>
          <p:nvPr/>
        </p:nvSpPr>
        <p:spPr>
          <a:xfrm>
            <a:off x="80325" y="13755673"/>
            <a:ext cx="1105800" cy="107580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 sz="1200" b="1" i="0" u="none" strike="noStrike" cap="none">
                <a:solidFill>
                  <a:srgbClr val="000000"/>
                </a:solidFill>
                <a:highlight>
                  <a:srgbClr val="FFFF00"/>
                </a:highlight>
                <a:latin typeface="Times New Roman"/>
                <a:ea typeface="Times New Roman"/>
                <a:cs typeface="Times New Roman"/>
                <a:sym typeface="Times New Roman"/>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textRoundtripDataId="4"/>
                  </a:ext>
                </a:extLst>
              </a:rPr>
              <a:t>Initiation Codon</a:t>
            </a:r>
            <a:endParaRPr sz="1400" b="1" i="0" u="none" strike="noStrike" cap="none">
              <a:solidFill>
                <a:srgbClr val="000000"/>
              </a:solidFill>
              <a:highlight>
                <a:srgbClr val="FFFF00"/>
              </a:highlight>
              <a:latin typeface="Arial"/>
              <a:ea typeface="Arial"/>
              <a:cs typeface="Arial"/>
              <a:sym typeface="Arial"/>
            </a:endParaRPr>
          </a:p>
        </p:txBody>
      </p:sp>
      <p:sp>
        <p:nvSpPr>
          <p:cNvPr id="161" name="Google Shape;161;p1"/>
          <p:cNvSpPr/>
          <p:nvPr/>
        </p:nvSpPr>
        <p:spPr>
          <a:xfrm>
            <a:off x="1659400" y="14372150"/>
            <a:ext cx="2327100" cy="55590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 sz="1200" b="0" i="0" u="none" strike="noStrike" cap="none">
                <a:solidFill>
                  <a:srgbClr val="000000"/>
                </a:solidFill>
                <a:latin typeface="Times New Roman"/>
                <a:ea typeface="Times New Roman"/>
                <a:cs typeface="Times New Roman"/>
                <a:sym typeface="Times New Roman"/>
              </a:rPr>
              <a:t>Different functional transcript uses alternative start codon</a:t>
            </a:r>
            <a:endParaRPr sz="1400" b="0" i="0" u="none" strike="noStrike" cap="none">
              <a:solidFill>
                <a:srgbClr val="000000"/>
              </a:solidFill>
              <a:latin typeface="Arial"/>
              <a:ea typeface="Arial"/>
              <a:cs typeface="Arial"/>
              <a:sym typeface="Arial"/>
            </a:endParaRPr>
          </a:p>
        </p:txBody>
      </p:sp>
      <p:sp>
        <p:nvSpPr>
          <p:cNvPr id="162" name="Google Shape;162;p1"/>
          <p:cNvSpPr/>
          <p:nvPr/>
        </p:nvSpPr>
        <p:spPr>
          <a:xfrm>
            <a:off x="1659400" y="13779525"/>
            <a:ext cx="2327100" cy="55590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 sz="1200" b="0" i="0" u="none" strike="noStrike" cap="none">
                <a:solidFill>
                  <a:srgbClr val="000000"/>
                </a:solidFill>
                <a:latin typeface="Times New Roman"/>
                <a:ea typeface="Times New Roman"/>
                <a:cs typeface="Times New Roman"/>
                <a:sym typeface="Times New Roman"/>
              </a:rPr>
              <a:t>No known alternative start codon in other transcripts</a:t>
            </a:r>
            <a:endParaRPr sz="1400" b="0" i="0" u="none" strike="noStrike" cap="none">
              <a:solidFill>
                <a:srgbClr val="000000"/>
              </a:solidFill>
              <a:latin typeface="Arial"/>
              <a:ea typeface="Arial"/>
              <a:cs typeface="Arial"/>
              <a:sym typeface="Arial"/>
            </a:endParaRPr>
          </a:p>
        </p:txBody>
      </p:sp>
      <p:sp>
        <p:nvSpPr>
          <p:cNvPr id="163" name="Google Shape;163;p1"/>
          <p:cNvSpPr/>
          <p:nvPr/>
        </p:nvSpPr>
        <p:spPr>
          <a:xfrm>
            <a:off x="4533801" y="13784050"/>
            <a:ext cx="5781600" cy="27420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 sz="1200" b="0" i="0" u="none" strike="noStrike" cap="none">
                <a:solidFill>
                  <a:srgbClr val="000000"/>
                </a:solidFill>
                <a:latin typeface="Times New Roman"/>
                <a:ea typeface="Times New Roman"/>
                <a:cs typeface="Times New Roman"/>
                <a:sym typeface="Times New Roman"/>
              </a:rPr>
              <a:t>≥1 pathogenic variant(s) upstream of closest potential in-frame start codon</a:t>
            </a:r>
            <a:endParaRPr sz="1000" b="0" i="0" u="none" strike="noStrike" cap="none">
              <a:solidFill>
                <a:srgbClr val="000000"/>
              </a:solidFill>
              <a:latin typeface="Times New Roman"/>
              <a:ea typeface="Times New Roman"/>
              <a:cs typeface="Times New Roman"/>
              <a:sym typeface="Times New Roman"/>
            </a:endParaRPr>
          </a:p>
        </p:txBody>
      </p:sp>
      <p:sp>
        <p:nvSpPr>
          <p:cNvPr id="164" name="Google Shape;164;p1"/>
          <p:cNvSpPr/>
          <p:nvPr/>
        </p:nvSpPr>
        <p:spPr>
          <a:xfrm>
            <a:off x="4533800" y="14162050"/>
            <a:ext cx="5762700" cy="27420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 sz="1200" b="0" i="0" u="none" strike="noStrike" cap="none">
                <a:solidFill>
                  <a:srgbClr val="000000"/>
                </a:solidFill>
                <a:latin typeface="Times New Roman"/>
                <a:ea typeface="Times New Roman"/>
                <a:cs typeface="Times New Roman"/>
                <a:sym typeface="Times New Roman"/>
              </a:rPr>
              <a:t>No pathogenic variant(s) upstream of closest potential in-frame start codon</a:t>
            </a:r>
            <a:endParaRPr sz="1000" b="0" i="0" u="none" strike="noStrike" cap="none">
              <a:solidFill>
                <a:srgbClr val="000000"/>
              </a:solidFill>
              <a:latin typeface="Times New Roman"/>
              <a:ea typeface="Times New Roman"/>
              <a:cs typeface="Times New Roman"/>
              <a:sym typeface="Times New Roman"/>
            </a:endParaRPr>
          </a:p>
        </p:txBody>
      </p:sp>
      <p:sp>
        <p:nvSpPr>
          <p:cNvPr id="165" name="Google Shape;165;p1"/>
          <p:cNvSpPr/>
          <p:nvPr/>
        </p:nvSpPr>
        <p:spPr>
          <a:xfrm>
            <a:off x="10945225" y="14160700"/>
            <a:ext cx="1281000" cy="27690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 sz="1200" b="0" i="0" u="none" strike="noStrike" cap="none">
                <a:solidFill>
                  <a:srgbClr val="000000"/>
                </a:solidFill>
                <a:latin typeface="Times New Roman"/>
                <a:ea typeface="Times New Roman"/>
                <a:cs typeface="Times New Roman"/>
                <a:sym typeface="Times New Roman"/>
              </a:rPr>
              <a:t>PVS1_Supp</a:t>
            </a:r>
            <a:endParaRPr sz="1400" b="0" i="0" u="none" strike="noStrike" cap="none">
              <a:solidFill>
                <a:srgbClr val="000000"/>
              </a:solidFill>
              <a:latin typeface="Arial"/>
              <a:ea typeface="Arial"/>
              <a:cs typeface="Arial"/>
              <a:sym typeface="Arial"/>
            </a:endParaRPr>
          </a:p>
        </p:txBody>
      </p:sp>
      <p:sp>
        <p:nvSpPr>
          <p:cNvPr id="166" name="Google Shape;166;p1"/>
          <p:cNvSpPr/>
          <p:nvPr/>
        </p:nvSpPr>
        <p:spPr>
          <a:xfrm>
            <a:off x="10945225" y="13780400"/>
            <a:ext cx="1281000" cy="27690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 sz="1200" b="0" i="0" u="none" strike="noStrike" cap="none">
                <a:solidFill>
                  <a:srgbClr val="000000"/>
                </a:solidFill>
                <a:latin typeface="Times New Roman"/>
                <a:ea typeface="Times New Roman"/>
                <a:cs typeface="Times New Roman"/>
                <a:sym typeface="Times New Roman"/>
              </a:rPr>
              <a:t>PVS1_Moderate</a:t>
            </a:r>
            <a:endParaRPr sz="1400" b="0" i="0" u="none" strike="noStrike" cap="none">
              <a:solidFill>
                <a:srgbClr val="000000"/>
              </a:solidFill>
              <a:latin typeface="Arial"/>
              <a:ea typeface="Arial"/>
              <a:cs typeface="Arial"/>
              <a:sym typeface="Arial"/>
            </a:endParaRPr>
          </a:p>
        </p:txBody>
      </p:sp>
      <p:sp>
        <p:nvSpPr>
          <p:cNvPr id="167" name="Google Shape;167;p1"/>
          <p:cNvSpPr/>
          <p:nvPr/>
        </p:nvSpPr>
        <p:spPr>
          <a:xfrm>
            <a:off x="10945225" y="14511650"/>
            <a:ext cx="1281000" cy="27690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 sz="1200" b="0" i="0" u="none" strike="noStrike" cap="none">
                <a:solidFill>
                  <a:srgbClr val="000000"/>
                </a:solidFill>
                <a:latin typeface="Times New Roman"/>
                <a:ea typeface="Times New Roman"/>
                <a:cs typeface="Times New Roman"/>
                <a:sym typeface="Times New Roman"/>
              </a:rPr>
              <a:t>N/A</a:t>
            </a:r>
            <a:endParaRPr sz="1400" b="0" i="0" u="none" strike="noStrike" cap="none">
              <a:solidFill>
                <a:srgbClr val="000000"/>
              </a:solidFill>
              <a:latin typeface="Arial"/>
              <a:ea typeface="Arial"/>
              <a:cs typeface="Arial"/>
              <a:sym typeface="Arial"/>
            </a:endParaRPr>
          </a:p>
        </p:txBody>
      </p:sp>
      <p:sp>
        <p:nvSpPr>
          <p:cNvPr id="168" name="Google Shape;168;p1"/>
          <p:cNvSpPr/>
          <p:nvPr/>
        </p:nvSpPr>
        <p:spPr>
          <a:xfrm>
            <a:off x="1680250" y="9768325"/>
            <a:ext cx="2327100" cy="91020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 sz="1200" b="0" i="0" u="none" strike="noStrike" cap="none" dirty="0">
                <a:solidFill>
                  <a:srgbClr val="000000"/>
                </a:solidFill>
                <a:latin typeface="Times New Roman"/>
                <a:ea typeface="Times New Roman"/>
                <a:cs typeface="Times New Roman"/>
                <a:sym typeface="Times New Roman"/>
              </a:rPr>
              <a:t>Single to multi exon deletion – </a:t>
            </a:r>
            <a:endParaRPr sz="1400" b="0" i="0" u="none" strike="noStrike" cap="none" dirty="0">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200"/>
              <a:buFont typeface="Arial"/>
              <a:buNone/>
            </a:pPr>
            <a:r>
              <a:rPr lang="en" sz="1200" b="0" i="0" u="none" strike="noStrike" cap="none" dirty="0">
                <a:solidFill>
                  <a:srgbClr val="000000"/>
                </a:solidFill>
                <a:latin typeface="Times New Roman"/>
                <a:ea typeface="Times New Roman"/>
                <a:cs typeface="Times New Roman"/>
                <a:sym typeface="Times New Roman"/>
              </a:rPr>
              <a:t>Disrupts reading frame and is </a:t>
            </a:r>
            <a:r>
              <a:rPr lang="en" sz="1200" b="1" i="0" u="none" strike="noStrike" cap="none" dirty="0">
                <a:solidFill>
                  <a:srgbClr val="000000"/>
                </a:solidFill>
                <a:latin typeface="Times New Roman"/>
                <a:ea typeface="Times New Roman"/>
                <a:cs typeface="Times New Roman"/>
                <a:sym typeface="Times New Roman"/>
              </a:rPr>
              <a:t>NOT</a:t>
            </a:r>
            <a:r>
              <a:rPr lang="en" sz="1200" b="0" i="0" u="none" strike="noStrike" cap="none" dirty="0">
                <a:solidFill>
                  <a:srgbClr val="000000"/>
                </a:solidFill>
                <a:latin typeface="Times New Roman"/>
                <a:ea typeface="Times New Roman"/>
                <a:cs typeface="Times New Roman"/>
                <a:sym typeface="Times New Roman"/>
              </a:rPr>
              <a:t> predicted to undergo NMD</a:t>
            </a:r>
            <a:r>
              <a:rPr lang="en" sz="1200" b="0" i="0" u="none" strike="noStrike" cap="none" dirty="0">
                <a:solidFill>
                  <a:schemeClr val="dk1"/>
                </a:solidFill>
                <a:latin typeface="Times New Roman"/>
                <a:ea typeface="Times New Roman"/>
                <a:cs typeface="Times New Roman"/>
                <a:sym typeface="Times New Roman"/>
              </a:rPr>
              <a:t> </a:t>
            </a:r>
            <a:r>
              <a:rPr lang="en" sz="1200" b="0" i="0" u="none" strike="noStrike" cap="none" baseline="30000" dirty="0">
                <a:solidFill>
                  <a:schemeClr val="dk1"/>
                </a:solidFill>
                <a:latin typeface="Times New Roman"/>
                <a:ea typeface="Times New Roman"/>
                <a:cs typeface="Times New Roman"/>
                <a:sym typeface="Times New Roman"/>
              </a:rPr>
              <a:t>b</a:t>
            </a:r>
            <a:endParaRPr sz="1400" b="0" i="0" u="none" strike="noStrike" cap="none" dirty="0">
              <a:solidFill>
                <a:srgbClr val="000000"/>
              </a:solidFill>
              <a:latin typeface="Arial"/>
              <a:ea typeface="Arial"/>
              <a:cs typeface="Arial"/>
              <a:sym typeface="Arial"/>
            </a:endParaRPr>
          </a:p>
        </p:txBody>
      </p:sp>
      <p:cxnSp>
        <p:nvCxnSpPr>
          <p:cNvPr id="169" name="Google Shape;169;p1"/>
          <p:cNvCxnSpPr>
            <a:stCxn id="131" idx="3"/>
            <a:endCxn id="134" idx="1"/>
          </p:cNvCxnSpPr>
          <p:nvPr/>
        </p:nvCxnSpPr>
        <p:spPr>
          <a:xfrm rot="10800000" flipH="1">
            <a:off x="1186125" y="8392225"/>
            <a:ext cx="515100" cy="1675200"/>
          </a:xfrm>
          <a:prstGeom prst="straightConnector1">
            <a:avLst/>
          </a:prstGeom>
          <a:noFill/>
          <a:ln w="9525" cap="flat" cmpd="sng">
            <a:solidFill>
              <a:srgbClr val="44546A"/>
            </a:solidFill>
            <a:prstDash val="solid"/>
            <a:round/>
            <a:headEnd type="none" w="sm" len="sm"/>
            <a:tailEnd type="triangle" w="med" len="med"/>
          </a:ln>
        </p:spPr>
      </p:cxnSp>
      <p:cxnSp>
        <p:nvCxnSpPr>
          <p:cNvPr id="170" name="Google Shape;170;p1"/>
          <p:cNvCxnSpPr>
            <a:stCxn id="131" idx="3"/>
            <a:endCxn id="132" idx="1"/>
          </p:cNvCxnSpPr>
          <p:nvPr/>
        </p:nvCxnSpPr>
        <p:spPr>
          <a:xfrm rot="10800000" flipH="1">
            <a:off x="1186125" y="9139525"/>
            <a:ext cx="515100" cy="927900"/>
          </a:xfrm>
          <a:prstGeom prst="straightConnector1">
            <a:avLst/>
          </a:prstGeom>
          <a:noFill/>
          <a:ln w="9525" cap="flat" cmpd="sng">
            <a:solidFill>
              <a:srgbClr val="44546A"/>
            </a:solidFill>
            <a:prstDash val="solid"/>
            <a:round/>
            <a:headEnd type="none" w="sm" len="sm"/>
            <a:tailEnd type="triangle" w="med" len="med"/>
          </a:ln>
        </p:spPr>
      </p:cxnSp>
      <p:cxnSp>
        <p:nvCxnSpPr>
          <p:cNvPr id="171" name="Google Shape;171;p1"/>
          <p:cNvCxnSpPr>
            <a:stCxn id="131" idx="3"/>
            <a:endCxn id="168" idx="1"/>
          </p:cNvCxnSpPr>
          <p:nvPr/>
        </p:nvCxnSpPr>
        <p:spPr>
          <a:xfrm>
            <a:off x="1186125" y="10067425"/>
            <a:ext cx="494100" cy="156000"/>
          </a:xfrm>
          <a:prstGeom prst="straightConnector1">
            <a:avLst/>
          </a:prstGeom>
          <a:noFill/>
          <a:ln w="9525" cap="flat" cmpd="sng">
            <a:solidFill>
              <a:srgbClr val="44546A"/>
            </a:solidFill>
            <a:prstDash val="solid"/>
            <a:round/>
            <a:headEnd type="none" w="sm" len="sm"/>
            <a:tailEnd type="triangle" w="med" len="med"/>
          </a:ln>
        </p:spPr>
      </p:cxnSp>
      <p:cxnSp>
        <p:nvCxnSpPr>
          <p:cNvPr id="172" name="Google Shape;172;p1"/>
          <p:cNvCxnSpPr>
            <a:stCxn id="131" idx="3"/>
            <a:endCxn id="133" idx="1"/>
          </p:cNvCxnSpPr>
          <p:nvPr/>
        </p:nvCxnSpPr>
        <p:spPr>
          <a:xfrm>
            <a:off x="1186125" y="10067425"/>
            <a:ext cx="515100" cy="1238100"/>
          </a:xfrm>
          <a:prstGeom prst="straightConnector1">
            <a:avLst/>
          </a:prstGeom>
          <a:noFill/>
          <a:ln w="9525" cap="flat" cmpd="sng">
            <a:solidFill>
              <a:srgbClr val="44546A"/>
            </a:solidFill>
            <a:prstDash val="solid"/>
            <a:round/>
            <a:headEnd type="none" w="sm" len="sm"/>
            <a:tailEnd type="triangle" w="med" len="med"/>
          </a:ln>
        </p:spPr>
      </p:cxnSp>
      <p:cxnSp>
        <p:nvCxnSpPr>
          <p:cNvPr id="173" name="Google Shape;173;p1"/>
          <p:cNvCxnSpPr>
            <a:stCxn id="134" idx="3"/>
            <a:endCxn id="140" idx="1"/>
          </p:cNvCxnSpPr>
          <p:nvPr/>
        </p:nvCxnSpPr>
        <p:spPr>
          <a:xfrm>
            <a:off x="4028300" y="8392200"/>
            <a:ext cx="6916800" cy="0"/>
          </a:xfrm>
          <a:prstGeom prst="straightConnector1">
            <a:avLst/>
          </a:prstGeom>
          <a:noFill/>
          <a:ln w="9525" cap="flat" cmpd="sng">
            <a:solidFill>
              <a:srgbClr val="44546A"/>
            </a:solidFill>
            <a:prstDash val="solid"/>
            <a:round/>
            <a:headEnd type="none" w="sm" len="sm"/>
            <a:tailEnd type="triangle" w="med" len="med"/>
          </a:ln>
        </p:spPr>
      </p:cxnSp>
      <p:cxnSp>
        <p:nvCxnSpPr>
          <p:cNvPr id="174" name="Google Shape;174;p1"/>
          <p:cNvCxnSpPr>
            <a:stCxn id="132" idx="3"/>
            <a:endCxn id="135" idx="1"/>
          </p:cNvCxnSpPr>
          <p:nvPr/>
        </p:nvCxnSpPr>
        <p:spPr>
          <a:xfrm rot="10800000" flipH="1">
            <a:off x="4028300" y="8800450"/>
            <a:ext cx="544800" cy="339000"/>
          </a:xfrm>
          <a:prstGeom prst="straightConnector1">
            <a:avLst/>
          </a:prstGeom>
          <a:noFill/>
          <a:ln w="9525" cap="flat" cmpd="sng">
            <a:solidFill>
              <a:srgbClr val="44546A"/>
            </a:solidFill>
            <a:prstDash val="solid"/>
            <a:round/>
            <a:headEnd type="none" w="sm" len="sm"/>
            <a:tailEnd type="triangle" w="med" len="med"/>
          </a:ln>
        </p:spPr>
      </p:cxnSp>
      <p:cxnSp>
        <p:nvCxnSpPr>
          <p:cNvPr id="175" name="Google Shape;175;p1"/>
          <p:cNvCxnSpPr>
            <a:stCxn id="132" idx="3"/>
            <a:endCxn id="137" idx="1"/>
          </p:cNvCxnSpPr>
          <p:nvPr/>
        </p:nvCxnSpPr>
        <p:spPr>
          <a:xfrm>
            <a:off x="4028300" y="9139450"/>
            <a:ext cx="544500" cy="89700"/>
          </a:xfrm>
          <a:prstGeom prst="straightConnector1">
            <a:avLst/>
          </a:prstGeom>
          <a:noFill/>
          <a:ln w="9525" cap="flat" cmpd="sng">
            <a:solidFill>
              <a:srgbClr val="44546A"/>
            </a:solidFill>
            <a:prstDash val="solid"/>
            <a:round/>
            <a:headEnd type="none" w="sm" len="sm"/>
            <a:tailEnd type="triangle" w="med" len="med"/>
          </a:ln>
        </p:spPr>
      </p:cxnSp>
      <p:cxnSp>
        <p:nvCxnSpPr>
          <p:cNvPr id="176" name="Google Shape;176;p1"/>
          <p:cNvCxnSpPr>
            <a:stCxn id="168" idx="3"/>
            <a:endCxn id="136" idx="1"/>
          </p:cNvCxnSpPr>
          <p:nvPr/>
        </p:nvCxnSpPr>
        <p:spPr>
          <a:xfrm rot="10800000" flipH="1">
            <a:off x="4007350" y="9682825"/>
            <a:ext cx="537000" cy="540600"/>
          </a:xfrm>
          <a:prstGeom prst="straightConnector1">
            <a:avLst/>
          </a:prstGeom>
          <a:noFill/>
          <a:ln w="9525" cap="flat" cmpd="sng">
            <a:solidFill>
              <a:srgbClr val="44546A"/>
            </a:solidFill>
            <a:prstDash val="solid"/>
            <a:round/>
            <a:headEnd type="none" w="sm" len="sm"/>
            <a:tailEnd type="triangle" w="med" len="med"/>
          </a:ln>
        </p:spPr>
      </p:cxnSp>
      <p:cxnSp>
        <p:nvCxnSpPr>
          <p:cNvPr id="177" name="Google Shape;177;p1"/>
          <p:cNvCxnSpPr>
            <a:stCxn id="168" idx="3"/>
            <a:endCxn id="138" idx="1"/>
          </p:cNvCxnSpPr>
          <p:nvPr/>
        </p:nvCxnSpPr>
        <p:spPr>
          <a:xfrm>
            <a:off x="4007350" y="10223425"/>
            <a:ext cx="565500" cy="474600"/>
          </a:xfrm>
          <a:prstGeom prst="straightConnector1">
            <a:avLst/>
          </a:prstGeom>
          <a:noFill/>
          <a:ln w="9525" cap="flat" cmpd="sng">
            <a:solidFill>
              <a:srgbClr val="44546A"/>
            </a:solidFill>
            <a:prstDash val="solid"/>
            <a:round/>
            <a:headEnd type="none" w="sm" len="sm"/>
            <a:tailEnd type="triangle" w="med" len="med"/>
          </a:ln>
        </p:spPr>
      </p:cxnSp>
      <p:cxnSp>
        <p:nvCxnSpPr>
          <p:cNvPr id="178" name="Google Shape;178;p1"/>
          <p:cNvCxnSpPr>
            <a:stCxn id="133" idx="3"/>
            <a:endCxn id="138" idx="1"/>
          </p:cNvCxnSpPr>
          <p:nvPr/>
        </p:nvCxnSpPr>
        <p:spPr>
          <a:xfrm rot="10800000" flipH="1">
            <a:off x="4028300" y="10697900"/>
            <a:ext cx="544800" cy="607500"/>
          </a:xfrm>
          <a:prstGeom prst="straightConnector1">
            <a:avLst/>
          </a:prstGeom>
          <a:noFill/>
          <a:ln w="9525" cap="flat" cmpd="sng">
            <a:solidFill>
              <a:srgbClr val="44546A"/>
            </a:solidFill>
            <a:prstDash val="solid"/>
            <a:round/>
            <a:headEnd type="none" w="sm" len="sm"/>
            <a:tailEnd type="triangle" w="med" len="med"/>
          </a:ln>
        </p:spPr>
      </p:cxnSp>
      <p:cxnSp>
        <p:nvCxnSpPr>
          <p:cNvPr id="179" name="Google Shape;179;p1"/>
          <p:cNvCxnSpPr>
            <a:stCxn id="133" idx="3"/>
            <a:endCxn id="141" idx="1"/>
          </p:cNvCxnSpPr>
          <p:nvPr/>
        </p:nvCxnSpPr>
        <p:spPr>
          <a:xfrm>
            <a:off x="4028300" y="11305400"/>
            <a:ext cx="516000" cy="395400"/>
          </a:xfrm>
          <a:prstGeom prst="straightConnector1">
            <a:avLst/>
          </a:prstGeom>
          <a:noFill/>
          <a:ln w="9525" cap="flat" cmpd="sng">
            <a:solidFill>
              <a:srgbClr val="44546A"/>
            </a:solidFill>
            <a:prstDash val="solid"/>
            <a:round/>
            <a:headEnd type="none" w="sm" len="sm"/>
            <a:tailEnd type="triangle" w="med" len="med"/>
          </a:ln>
        </p:spPr>
      </p:cxnSp>
      <p:cxnSp>
        <p:nvCxnSpPr>
          <p:cNvPr id="180" name="Google Shape;180;p1"/>
          <p:cNvCxnSpPr>
            <a:stCxn id="138" idx="3"/>
            <a:endCxn id="139" idx="1"/>
          </p:cNvCxnSpPr>
          <p:nvPr/>
        </p:nvCxnSpPr>
        <p:spPr>
          <a:xfrm rot="10800000" flipH="1">
            <a:off x="5653875" y="10159675"/>
            <a:ext cx="563400" cy="538200"/>
          </a:xfrm>
          <a:prstGeom prst="straightConnector1">
            <a:avLst/>
          </a:prstGeom>
          <a:noFill/>
          <a:ln w="9525" cap="flat" cmpd="sng">
            <a:solidFill>
              <a:srgbClr val="44546A"/>
            </a:solidFill>
            <a:prstDash val="solid"/>
            <a:round/>
            <a:headEnd type="none" w="sm" len="sm"/>
            <a:tailEnd type="triangle" w="med" len="med"/>
          </a:ln>
        </p:spPr>
      </p:cxnSp>
      <p:cxnSp>
        <p:nvCxnSpPr>
          <p:cNvPr id="181" name="Google Shape;181;p1"/>
          <p:cNvCxnSpPr>
            <a:stCxn id="138" idx="3"/>
          </p:cNvCxnSpPr>
          <p:nvPr/>
        </p:nvCxnSpPr>
        <p:spPr>
          <a:xfrm>
            <a:off x="5653875" y="10697875"/>
            <a:ext cx="563400" cy="289800"/>
          </a:xfrm>
          <a:prstGeom prst="straightConnector1">
            <a:avLst/>
          </a:prstGeom>
          <a:noFill/>
          <a:ln w="9525" cap="flat" cmpd="sng">
            <a:solidFill>
              <a:srgbClr val="44546A"/>
            </a:solidFill>
            <a:prstDash val="solid"/>
            <a:round/>
            <a:headEnd type="none" w="sm" len="sm"/>
            <a:tailEnd type="triangle" w="med" len="med"/>
          </a:ln>
        </p:spPr>
      </p:cxnSp>
      <p:cxnSp>
        <p:nvCxnSpPr>
          <p:cNvPr id="182" name="Google Shape;182;p1"/>
          <p:cNvCxnSpPr>
            <a:stCxn id="135" idx="3"/>
            <a:endCxn id="142" idx="1"/>
          </p:cNvCxnSpPr>
          <p:nvPr/>
        </p:nvCxnSpPr>
        <p:spPr>
          <a:xfrm>
            <a:off x="10440975" y="8800450"/>
            <a:ext cx="504300" cy="0"/>
          </a:xfrm>
          <a:prstGeom prst="straightConnector1">
            <a:avLst/>
          </a:prstGeom>
          <a:noFill/>
          <a:ln w="9525" cap="flat" cmpd="sng">
            <a:solidFill>
              <a:srgbClr val="44546A"/>
            </a:solidFill>
            <a:prstDash val="solid"/>
            <a:round/>
            <a:headEnd type="none" w="sm" len="sm"/>
            <a:tailEnd type="triangle" w="med" len="med"/>
          </a:ln>
        </p:spPr>
      </p:cxnSp>
      <p:cxnSp>
        <p:nvCxnSpPr>
          <p:cNvPr id="183" name="Google Shape;183;p1"/>
          <p:cNvCxnSpPr>
            <a:stCxn id="137" idx="3"/>
            <a:endCxn id="143" idx="1"/>
          </p:cNvCxnSpPr>
          <p:nvPr/>
        </p:nvCxnSpPr>
        <p:spPr>
          <a:xfrm>
            <a:off x="10440900" y="9229025"/>
            <a:ext cx="504300" cy="0"/>
          </a:xfrm>
          <a:prstGeom prst="straightConnector1">
            <a:avLst/>
          </a:prstGeom>
          <a:noFill/>
          <a:ln w="9525" cap="flat" cmpd="sng">
            <a:solidFill>
              <a:srgbClr val="44546A"/>
            </a:solidFill>
            <a:prstDash val="solid"/>
            <a:round/>
            <a:headEnd type="none" w="sm" len="sm"/>
            <a:tailEnd type="triangle" w="med" len="med"/>
          </a:ln>
        </p:spPr>
      </p:cxnSp>
      <p:cxnSp>
        <p:nvCxnSpPr>
          <p:cNvPr id="184" name="Google Shape;184;p1"/>
          <p:cNvCxnSpPr>
            <a:stCxn id="136" idx="3"/>
            <a:endCxn id="144" idx="1"/>
          </p:cNvCxnSpPr>
          <p:nvPr/>
        </p:nvCxnSpPr>
        <p:spPr>
          <a:xfrm>
            <a:off x="10440900" y="9682775"/>
            <a:ext cx="504300" cy="0"/>
          </a:xfrm>
          <a:prstGeom prst="straightConnector1">
            <a:avLst/>
          </a:prstGeom>
          <a:noFill/>
          <a:ln w="9525" cap="flat" cmpd="sng">
            <a:solidFill>
              <a:srgbClr val="44546A"/>
            </a:solidFill>
            <a:prstDash val="solid"/>
            <a:round/>
            <a:headEnd type="none" w="sm" len="sm"/>
            <a:tailEnd type="triangle" w="med" len="med"/>
          </a:ln>
        </p:spPr>
      </p:cxnSp>
      <p:cxnSp>
        <p:nvCxnSpPr>
          <p:cNvPr id="185" name="Google Shape;185;p1"/>
          <p:cNvCxnSpPr>
            <a:stCxn id="139" idx="3"/>
            <a:endCxn id="145" idx="1"/>
          </p:cNvCxnSpPr>
          <p:nvPr/>
        </p:nvCxnSpPr>
        <p:spPr>
          <a:xfrm>
            <a:off x="10451775" y="10159550"/>
            <a:ext cx="493500" cy="0"/>
          </a:xfrm>
          <a:prstGeom prst="straightConnector1">
            <a:avLst/>
          </a:prstGeom>
          <a:noFill/>
          <a:ln w="9525" cap="flat" cmpd="sng">
            <a:solidFill>
              <a:srgbClr val="44546A"/>
            </a:solidFill>
            <a:prstDash val="solid"/>
            <a:round/>
            <a:headEnd type="none" w="sm" len="sm"/>
            <a:tailEnd type="triangle" w="med" len="med"/>
          </a:ln>
        </p:spPr>
      </p:cxnSp>
      <p:cxnSp>
        <p:nvCxnSpPr>
          <p:cNvPr id="186" name="Google Shape;186;p1"/>
          <p:cNvCxnSpPr>
            <a:stCxn id="141" idx="3"/>
            <a:endCxn id="148" idx="1"/>
          </p:cNvCxnSpPr>
          <p:nvPr/>
        </p:nvCxnSpPr>
        <p:spPr>
          <a:xfrm>
            <a:off x="10451700" y="11700700"/>
            <a:ext cx="493500" cy="0"/>
          </a:xfrm>
          <a:prstGeom prst="straightConnector1">
            <a:avLst/>
          </a:prstGeom>
          <a:noFill/>
          <a:ln w="9525" cap="flat" cmpd="sng">
            <a:solidFill>
              <a:srgbClr val="44546A"/>
            </a:solidFill>
            <a:prstDash val="solid"/>
            <a:round/>
            <a:headEnd type="none" w="sm" len="sm"/>
            <a:tailEnd type="triangle" w="med" len="med"/>
          </a:ln>
        </p:spPr>
      </p:cxnSp>
      <p:cxnSp>
        <p:nvCxnSpPr>
          <p:cNvPr id="187" name="Google Shape;187;p1"/>
          <p:cNvCxnSpPr>
            <a:stCxn id="149" idx="3"/>
            <a:endCxn id="150" idx="1"/>
          </p:cNvCxnSpPr>
          <p:nvPr/>
        </p:nvCxnSpPr>
        <p:spPr>
          <a:xfrm rot="10800000" flipH="1">
            <a:off x="1186125" y="12238175"/>
            <a:ext cx="515100" cy="587700"/>
          </a:xfrm>
          <a:prstGeom prst="straightConnector1">
            <a:avLst/>
          </a:prstGeom>
          <a:noFill/>
          <a:ln w="9525" cap="flat" cmpd="sng">
            <a:solidFill>
              <a:srgbClr val="44546A"/>
            </a:solidFill>
            <a:prstDash val="solid"/>
            <a:round/>
            <a:headEnd type="none" w="sm" len="sm"/>
            <a:tailEnd type="triangle" w="med" len="med"/>
          </a:ln>
        </p:spPr>
      </p:cxnSp>
      <p:cxnSp>
        <p:nvCxnSpPr>
          <p:cNvPr id="188" name="Google Shape;188;p1"/>
          <p:cNvCxnSpPr>
            <a:stCxn id="149" idx="3"/>
            <a:endCxn id="151" idx="1"/>
          </p:cNvCxnSpPr>
          <p:nvPr/>
        </p:nvCxnSpPr>
        <p:spPr>
          <a:xfrm rot="10800000" flipH="1">
            <a:off x="1186125" y="12796475"/>
            <a:ext cx="515100" cy="29400"/>
          </a:xfrm>
          <a:prstGeom prst="straightConnector1">
            <a:avLst/>
          </a:prstGeom>
          <a:noFill/>
          <a:ln w="9525" cap="flat" cmpd="sng">
            <a:solidFill>
              <a:srgbClr val="44546A"/>
            </a:solidFill>
            <a:prstDash val="solid"/>
            <a:round/>
            <a:headEnd type="none" w="sm" len="sm"/>
            <a:tailEnd type="triangle" w="med" len="med"/>
          </a:ln>
        </p:spPr>
      </p:cxnSp>
      <p:cxnSp>
        <p:nvCxnSpPr>
          <p:cNvPr id="189" name="Google Shape;189;p1"/>
          <p:cNvCxnSpPr>
            <a:stCxn id="149" idx="3"/>
            <a:endCxn id="152" idx="1"/>
          </p:cNvCxnSpPr>
          <p:nvPr/>
        </p:nvCxnSpPr>
        <p:spPr>
          <a:xfrm>
            <a:off x="1186125" y="12825875"/>
            <a:ext cx="515100" cy="473400"/>
          </a:xfrm>
          <a:prstGeom prst="straightConnector1">
            <a:avLst/>
          </a:prstGeom>
          <a:noFill/>
          <a:ln w="9525" cap="flat" cmpd="sng">
            <a:solidFill>
              <a:srgbClr val="44546A"/>
            </a:solidFill>
            <a:prstDash val="solid"/>
            <a:round/>
            <a:headEnd type="none" w="sm" len="sm"/>
            <a:tailEnd type="triangle" w="med" len="med"/>
          </a:ln>
        </p:spPr>
      </p:cxnSp>
      <p:cxnSp>
        <p:nvCxnSpPr>
          <p:cNvPr id="190" name="Google Shape;190;p1"/>
          <p:cNvCxnSpPr>
            <a:stCxn id="150" idx="3"/>
            <a:endCxn id="154" idx="1"/>
          </p:cNvCxnSpPr>
          <p:nvPr/>
        </p:nvCxnSpPr>
        <p:spPr>
          <a:xfrm>
            <a:off x="4028300" y="12238075"/>
            <a:ext cx="505200" cy="318900"/>
          </a:xfrm>
          <a:prstGeom prst="straightConnector1">
            <a:avLst/>
          </a:prstGeom>
          <a:noFill/>
          <a:ln w="9525" cap="flat" cmpd="sng">
            <a:solidFill>
              <a:srgbClr val="44546A"/>
            </a:solidFill>
            <a:prstDash val="solid"/>
            <a:round/>
            <a:headEnd type="none" w="sm" len="sm"/>
            <a:tailEnd type="triangle" w="med" len="med"/>
          </a:ln>
        </p:spPr>
      </p:cxnSp>
      <p:cxnSp>
        <p:nvCxnSpPr>
          <p:cNvPr id="191" name="Google Shape;191;p1"/>
          <p:cNvCxnSpPr>
            <a:stCxn id="151" idx="3"/>
            <a:endCxn id="154" idx="1"/>
          </p:cNvCxnSpPr>
          <p:nvPr/>
        </p:nvCxnSpPr>
        <p:spPr>
          <a:xfrm rot="10800000" flipH="1">
            <a:off x="4028300" y="12557075"/>
            <a:ext cx="505200" cy="239400"/>
          </a:xfrm>
          <a:prstGeom prst="straightConnector1">
            <a:avLst/>
          </a:prstGeom>
          <a:noFill/>
          <a:ln w="9525" cap="flat" cmpd="sng">
            <a:solidFill>
              <a:srgbClr val="44546A"/>
            </a:solidFill>
            <a:prstDash val="solid"/>
            <a:round/>
            <a:headEnd type="none" w="sm" len="sm"/>
            <a:tailEnd type="triangle" w="med" len="med"/>
          </a:ln>
        </p:spPr>
      </p:cxnSp>
      <p:cxnSp>
        <p:nvCxnSpPr>
          <p:cNvPr id="192" name="Google Shape;192;p1"/>
          <p:cNvCxnSpPr>
            <a:stCxn id="151" idx="3"/>
            <a:endCxn id="155" idx="1"/>
          </p:cNvCxnSpPr>
          <p:nvPr/>
        </p:nvCxnSpPr>
        <p:spPr>
          <a:xfrm>
            <a:off x="4028300" y="12796475"/>
            <a:ext cx="505500" cy="160200"/>
          </a:xfrm>
          <a:prstGeom prst="straightConnector1">
            <a:avLst/>
          </a:prstGeom>
          <a:noFill/>
          <a:ln w="9525" cap="flat" cmpd="sng">
            <a:solidFill>
              <a:srgbClr val="44546A"/>
            </a:solidFill>
            <a:prstDash val="solid"/>
            <a:round/>
            <a:headEnd type="none" w="sm" len="sm"/>
            <a:tailEnd type="triangle" w="med" len="med"/>
          </a:ln>
        </p:spPr>
      </p:cxnSp>
      <p:cxnSp>
        <p:nvCxnSpPr>
          <p:cNvPr id="193" name="Google Shape;193;p1"/>
          <p:cNvCxnSpPr>
            <a:stCxn id="153" idx="3"/>
            <a:endCxn id="156" idx="1"/>
          </p:cNvCxnSpPr>
          <p:nvPr/>
        </p:nvCxnSpPr>
        <p:spPr>
          <a:xfrm>
            <a:off x="10441025" y="12189663"/>
            <a:ext cx="504300" cy="0"/>
          </a:xfrm>
          <a:prstGeom prst="straightConnector1">
            <a:avLst/>
          </a:prstGeom>
          <a:noFill/>
          <a:ln w="9525" cap="flat" cmpd="sng">
            <a:solidFill>
              <a:srgbClr val="44546A"/>
            </a:solidFill>
            <a:prstDash val="solid"/>
            <a:round/>
            <a:headEnd type="none" w="sm" len="sm"/>
            <a:tailEnd type="triangle" w="med" len="med"/>
          </a:ln>
        </p:spPr>
      </p:cxnSp>
      <p:cxnSp>
        <p:nvCxnSpPr>
          <p:cNvPr id="194" name="Google Shape;194;p1"/>
          <p:cNvCxnSpPr>
            <a:stCxn id="154" idx="3"/>
            <a:endCxn id="157" idx="1"/>
          </p:cNvCxnSpPr>
          <p:nvPr/>
        </p:nvCxnSpPr>
        <p:spPr>
          <a:xfrm>
            <a:off x="10440925" y="12557100"/>
            <a:ext cx="504300" cy="0"/>
          </a:xfrm>
          <a:prstGeom prst="straightConnector1">
            <a:avLst/>
          </a:prstGeom>
          <a:noFill/>
          <a:ln w="9525" cap="flat" cmpd="sng">
            <a:solidFill>
              <a:srgbClr val="44546A"/>
            </a:solidFill>
            <a:prstDash val="solid"/>
            <a:round/>
            <a:headEnd type="none" w="sm" len="sm"/>
            <a:tailEnd type="triangle" w="med" len="med"/>
          </a:ln>
        </p:spPr>
      </p:cxnSp>
      <p:cxnSp>
        <p:nvCxnSpPr>
          <p:cNvPr id="195" name="Google Shape;195;p1"/>
          <p:cNvCxnSpPr>
            <a:stCxn id="155" idx="3"/>
            <a:endCxn id="158" idx="1"/>
          </p:cNvCxnSpPr>
          <p:nvPr/>
        </p:nvCxnSpPr>
        <p:spPr>
          <a:xfrm>
            <a:off x="10441050" y="12956750"/>
            <a:ext cx="504300" cy="0"/>
          </a:xfrm>
          <a:prstGeom prst="straightConnector1">
            <a:avLst/>
          </a:prstGeom>
          <a:noFill/>
          <a:ln w="9525" cap="flat" cmpd="sng">
            <a:solidFill>
              <a:srgbClr val="44546A"/>
            </a:solidFill>
            <a:prstDash val="solid"/>
            <a:round/>
            <a:headEnd type="none" w="sm" len="sm"/>
            <a:tailEnd type="triangle" w="med" len="med"/>
          </a:ln>
        </p:spPr>
      </p:cxnSp>
      <p:cxnSp>
        <p:nvCxnSpPr>
          <p:cNvPr id="196" name="Google Shape;196;p1"/>
          <p:cNvCxnSpPr>
            <a:stCxn id="162" idx="3"/>
            <a:endCxn id="163" idx="1"/>
          </p:cNvCxnSpPr>
          <p:nvPr/>
        </p:nvCxnSpPr>
        <p:spPr>
          <a:xfrm rot="10800000" flipH="1">
            <a:off x="3986500" y="13921275"/>
            <a:ext cx="547200" cy="136200"/>
          </a:xfrm>
          <a:prstGeom prst="straightConnector1">
            <a:avLst/>
          </a:prstGeom>
          <a:noFill/>
          <a:ln w="9525" cap="flat" cmpd="sng">
            <a:solidFill>
              <a:srgbClr val="44546A"/>
            </a:solidFill>
            <a:prstDash val="solid"/>
            <a:round/>
            <a:headEnd type="none" w="sm" len="sm"/>
            <a:tailEnd type="triangle" w="med" len="med"/>
          </a:ln>
        </p:spPr>
      </p:cxnSp>
      <p:cxnSp>
        <p:nvCxnSpPr>
          <p:cNvPr id="197" name="Google Shape;197;p1"/>
          <p:cNvCxnSpPr>
            <a:stCxn id="162" idx="3"/>
            <a:endCxn id="164" idx="1"/>
          </p:cNvCxnSpPr>
          <p:nvPr/>
        </p:nvCxnSpPr>
        <p:spPr>
          <a:xfrm>
            <a:off x="3986500" y="14057475"/>
            <a:ext cx="547200" cy="241800"/>
          </a:xfrm>
          <a:prstGeom prst="straightConnector1">
            <a:avLst/>
          </a:prstGeom>
          <a:noFill/>
          <a:ln w="9525" cap="flat" cmpd="sng">
            <a:solidFill>
              <a:srgbClr val="44546A"/>
            </a:solidFill>
            <a:prstDash val="solid"/>
            <a:round/>
            <a:headEnd type="none" w="sm" len="sm"/>
            <a:tailEnd type="triangle" w="med" len="med"/>
          </a:ln>
        </p:spPr>
      </p:cxnSp>
      <p:cxnSp>
        <p:nvCxnSpPr>
          <p:cNvPr id="198" name="Google Shape;198;p1"/>
          <p:cNvCxnSpPr>
            <a:stCxn id="161" idx="3"/>
            <a:endCxn id="167" idx="1"/>
          </p:cNvCxnSpPr>
          <p:nvPr/>
        </p:nvCxnSpPr>
        <p:spPr>
          <a:xfrm>
            <a:off x="3986500" y="14650100"/>
            <a:ext cx="6958800" cy="0"/>
          </a:xfrm>
          <a:prstGeom prst="straightConnector1">
            <a:avLst/>
          </a:prstGeom>
          <a:noFill/>
          <a:ln w="9525" cap="flat" cmpd="sng">
            <a:solidFill>
              <a:srgbClr val="44546A"/>
            </a:solidFill>
            <a:prstDash val="solid"/>
            <a:round/>
            <a:headEnd type="none" w="sm" len="sm"/>
            <a:tailEnd type="triangle" w="med" len="med"/>
          </a:ln>
        </p:spPr>
      </p:cxnSp>
      <p:cxnSp>
        <p:nvCxnSpPr>
          <p:cNvPr id="199" name="Google Shape;199;p1"/>
          <p:cNvCxnSpPr>
            <a:stCxn id="163" idx="3"/>
            <a:endCxn id="166" idx="1"/>
          </p:cNvCxnSpPr>
          <p:nvPr/>
        </p:nvCxnSpPr>
        <p:spPr>
          <a:xfrm rot="10800000" flipH="1">
            <a:off x="10315401" y="13918750"/>
            <a:ext cx="629700" cy="2400"/>
          </a:xfrm>
          <a:prstGeom prst="straightConnector1">
            <a:avLst/>
          </a:prstGeom>
          <a:noFill/>
          <a:ln w="9525" cap="flat" cmpd="sng">
            <a:solidFill>
              <a:srgbClr val="44546A"/>
            </a:solidFill>
            <a:prstDash val="solid"/>
            <a:round/>
            <a:headEnd type="none" w="sm" len="sm"/>
            <a:tailEnd type="triangle" w="med" len="med"/>
          </a:ln>
        </p:spPr>
      </p:cxnSp>
      <p:cxnSp>
        <p:nvCxnSpPr>
          <p:cNvPr id="200" name="Google Shape;200;p1"/>
          <p:cNvCxnSpPr>
            <a:stCxn id="164" idx="3"/>
            <a:endCxn id="165" idx="1"/>
          </p:cNvCxnSpPr>
          <p:nvPr/>
        </p:nvCxnSpPr>
        <p:spPr>
          <a:xfrm>
            <a:off x="10296500" y="14299150"/>
            <a:ext cx="648600" cy="0"/>
          </a:xfrm>
          <a:prstGeom prst="straightConnector1">
            <a:avLst/>
          </a:prstGeom>
          <a:noFill/>
          <a:ln w="9525" cap="flat" cmpd="sng">
            <a:solidFill>
              <a:srgbClr val="44546A"/>
            </a:solidFill>
            <a:prstDash val="solid"/>
            <a:round/>
            <a:headEnd type="none" w="sm" len="sm"/>
            <a:tailEnd type="triangle" w="med" len="med"/>
          </a:ln>
        </p:spPr>
      </p:cxnSp>
      <p:cxnSp>
        <p:nvCxnSpPr>
          <p:cNvPr id="201" name="Google Shape;201;p1"/>
          <p:cNvCxnSpPr>
            <a:stCxn id="160" idx="3"/>
            <a:endCxn id="162" idx="1"/>
          </p:cNvCxnSpPr>
          <p:nvPr/>
        </p:nvCxnSpPr>
        <p:spPr>
          <a:xfrm rot="10800000" flipH="1">
            <a:off x="1186125" y="14057473"/>
            <a:ext cx="473400" cy="236100"/>
          </a:xfrm>
          <a:prstGeom prst="straightConnector1">
            <a:avLst/>
          </a:prstGeom>
          <a:noFill/>
          <a:ln w="9525" cap="flat" cmpd="sng">
            <a:solidFill>
              <a:srgbClr val="44546A"/>
            </a:solidFill>
            <a:prstDash val="solid"/>
            <a:round/>
            <a:headEnd type="none" w="sm" len="sm"/>
            <a:tailEnd type="triangle" w="med" len="med"/>
          </a:ln>
        </p:spPr>
      </p:cxnSp>
      <p:cxnSp>
        <p:nvCxnSpPr>
          <p:cNvPr id="202" name="Google Shape;202;p1"/>
          <p:cNvCxnSpPr>
            <a:stCxn id="160" idx="3"/>
            <a:endCxn id="161" idx="1"/>
          </p:cNvCxnSpPr>
          <p:nvPr/>
        </p:nvCxnSpPr>
        <p:spPr>
          <a:xfrm>
            <a:off x="1186125" y="14293573"/>
            <a:ext cx="473400" cy="356400"/>
          </a:xfrm>
          <a:prstGeom prst="straightConnector1">
            <a:avLst/>
          </a:prstGeom>
          <a:noFill/>
          <a:ln w="9525" cap="flat" cmpd="sng">
            <a:solidFill>
              <a:srgbClr val="44546A"/>
            </a:solidFill>
            <a:prstDash val="solid"/>
            <a:round/>
            <a:headEnd type="none" w="sm" len="sm"/>
            <a:tailEnd type="triangle" w="med" len="med"/>
          </a:ln>
        </p:spPr>
      </p:cxnSp>
      <p:sp>
        <p:nvSpPr>
          <p:cNvPr id="203" name="Google Shape;203;p1"/>
          <p:cNvSpPr/>
          <p:nvPr/>
        </p:nvSpPr>
        <p:spPr>
          <a:xfrm>
            <a:off x="6217275" y="10498225"/>
            <a:ext cx="2618100" cy="97890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 sz="1200" b="0" i="0" u="none" strike="noStrike" cap="none">
                <a:solidFill>
                  <a:srgbClr val="000000"/>
                </a:solidFill>
                <a:latin typeface="Times New Roman"/>
                <a:ea typeface="Times New Roman"/>
                <a:cs typeface="Times New Roman"/>
                <a:sym typeface="Times New Roman"/>
              </a:rPr>
              <a:t>LoF variants in this exon are not frequent in the general population and exon is present in biologically-relevant transcript(s)</a:t>
            </a:r>
            <a:endParaRPr sz="1200" b="0" i="0" u="none" strike="noStrike" cap="none">
              <a:solidFill>
                <a:srgbClr val="000000"/>
              </a:solidFill>
              <a:latin typeface="Times New Roman"/>
              <a:ea typeface="Times New Roman"/>
              <a:cs typeface="Times New Roman"/>
              <a:sym typeface="Times New Roman"/>
            </a:endParaRPr>
          </a:p>
        </p:txBody>
      </p:sp>
      <p:sp>
        <p:nvSpPr>
          <p:cNvPr id="204" name="Google Shape;204;p1"/>
          <p:cNvSpPr/>
          <p:nvPr/>
        </p:nvSpPr>
        <p:spPr>
          <a:xfrm>
            <a:off x="9220300" y="10498225"/>
            <a:ext cx="1231500" cy="45270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 sz="1200" b="0" i="0" u="none" strike="noStrike" cap="none">
                <a:solidFill>
                  <a:srgbClr val="000000"/>
                </a:solidFill>
                <a:latin typeface="Times New Roman"/>
                <a:ea typeface="Times New Roman"/>
                <a:cs typeface="Times New Roman"/>
                <a:sym typeface="Times New Roman"/>
              </a:rPr>
              <a:t>Variant removes &gt;10% of protein</a:t>
            </a:r>
            <a:endParaRPr sz="1400" b="0" i="0" u="none" strike="noStrike" cap="none">
              <a:solidFill>
                <a:srgbClr val="000000"/>
              </a:solidFill>
              <a:latin typeface="Arial"/>
              <a:ea typeface="Arial"/>
              <a:cs typeface="Arial"/>
              <a:sym typeface="Arial"/>
            </a:endParaRPr>
          </a:p>
        </p:txBody>
      </p:sp>
      <p:sp>
        <p:nvSpPr>
          <p:cNvPr id="205" name="Google Shape;205;p1"/>
          <p:cNvSpPr/>
          <p:nvPr/>
        </p:nvSpPr>
        <p:spPr>
          <a:xfrm>
            <a:off x="9220225" y="11024400"/>
            <a:ext cx="1231500" cy="45270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 sz="1200" b="0" i="0" u="none" strike="noStrike" cap="none">
                <a:solidFill>
                  <a:srgbClr val="000000"/>
                </a:solidFill>
                <a:latin typeface="Times New Roman"/>
                <a:ea typeface="Times New Roman"/>
                <a:cs typeface="Times New Roman"/>
                <a:sym typeface="Times New Roman"/>
              </a:rPr>
              <a:t>Variant removes &lt;10% of protein</a:t>
            </a:r>
            <a:endParaRPr sz="1400" b="0" i="0" u="none" strike="noStrike" cap="none">
              <a:solidFill>
                <a:srgbClr val="000000"/>
              </a:solidFill>
              <a:latin typeface="Arial"/>
              <a:ea typeface="Arial"/>
              <a:cs typeface="Arial"/>
              <a:sym typeface="Arial"/>
            </a:endParaRPr>
          </a:p>
        </p:txBody>
      </p:sp>
      <p:cxnSp>
        <p:nvCxnSpPr>
          <p:cNvPr id="206" name="Google Shape;206;p1"/>
          <p:cNvCxnSpPr>
            <a:stCxn id="203" idx="3"/>
            <a:endCxn id="204" idx="1"/>
          </p:cNvCxnSpPr>
          <p:nvPr/>
        </p:nvCxnSpPr>
        <p:spPr>
          <a:xfrm rot="10800000" flipH="1">
            <a:off x="8835375" y="10724575"/>
            <a:ext cx="384900" cy="263100"/>
          </a:xfrm>
          <a:prstGeom prst="straightConnector1">
            <a:avLst/>
          </a:prstGeom>
          <a:noFill/>
          <a:ln w="9525" cap="flat" cmpd="sng">
            <a:solidFill>
              <a:srgbClr val="44546A"/>
            </a:solidFill>
            <a:prstDash val="solid"/>
            <a:round/>
            <a:headEnd type="none" w="sm" len="sm"/>
            <a:tailEnd type="triangle" w="med" len="med"/>
          </a:ln>
        </p:spPr>
      </p:cxnSp>
      <p:cxnSp>
        <p:nvCxnSpPr>
          <p:cNvPr id="207" name="Google Shape;207;p1"/>
          <p:cNvCxnSpPr>
            <a:stCxn id="203" idx="3"/>
            <a:endCxn id="205" idx="1"/>
          </p:cNvCxnSpPr>
          <p:nvPr/>
        </p:nvCxnSpPr>
        <p:spPr>
          <a:xfrm>
            <a:off x="8835375" y="10987675"/>
            <a:ext cx="384900" cy="263100"/>
          </a:xfrm>
          <a:prstGeom prst="straightConnector1">
            <a:avLst/>
          </a:prstGeom>
          <a:noFill/>
          <a:ln w="9525" cap="flat" cmpd="sng">
            <a:solidFill>
              <a:srgbClr val="44546A"/>
            </a:solidFill>
            <a:prstDash val="solid"/>
            <a:round/>
            <a:headEnd type="none" w="sm" len="sm"/>
            <a:tailEnd type="triangle" w="med" len="med"/>
          </a:ln>
        </p:spPr>
      </p:cxnSp>
      <p:cxnSp>
        <p:nvCxnSpPr>
          <p:cNvPr id="208" name="Google Shape;208;p1"/>
          <p:cNvCxnSpPr>
            <a:stCxn id="204" idx="3"/>
            <a:endCxn id="146" idx="1"/>
          </p:cNvCxnSpPr>
          <p:nvPr/>
        </p:nvCxnSpPr>
        <p:spPr>
          <a:xfrm>
            <a:off x="10451800" y="10724575"/>
            <a:ext cx="493500" cy="0"/>
          </a:xfrm>
          <a:prstGeom prst="straightConnector1">
            <a:avLst/>
          </a:prstGeom>
          <a:noFill/>
          <a:ln w="9525" cap="flat" cmpd="sng">
            <a:solidFill>
              <a:srgbClr val="595959"/>
            </a:solidFill>
            <a:prstDash val="solid"/>
            <a:round/>
            <a:headEnd type="none" w="sm" len="sm"/>
            <a:tailEnd type="triangle" w="med" len="med"/>
          </a:ln>
        </p:spPr>
      </p:cxnSp>
      <p:cxnSp>
        <p:nvCxnSpPr>
          <p:cNvPr id="209" name="Google Shape;209;p1"/>
          <p:cNvCxnSpPr>
            <a:stCxn id="205" idx="3"/>
            <a:endCxn id="147" idx="1"/>
          </p:cNvCxnSpPr>
          <p:nvPr/>
        </p:nvCxnSpPr>
        <p:spPr>
          <a:xfrm>
            <a:off x="10451725" y="11250750"/>
            <a:ext cx="493500" cy="0"/>
          </a:xfrm>
          <a:prstGeom prst="straightConnector1">
            <a:avLst/>
          </a:prstGeom>
          <a:noFill/>
          <a:ln w="9525" cap="flat" cmpd="sng">
            <a:solidFill>
              <a:srgbClr val="595959"/>
            </a:solidFill>
            <a:prstDash val="solid"/>
            <a:round/>
            <a:headEnd type="none" w="sm" len="sm"/>
            <a:tailEnd type="triangle" w="med" len="med"/>
          </a:ln>
        </p:spPr>
      </p:cxnSp>
      <p:sp>
        <p:nvSpPr>
          <p:cNvPr id="210" name="Google Shape;210;p1"/>
          <p:cNvSpPr/>
          <p:nvPr/>
        </p:nvSpPr>
        <p:spPr>
          <a:xfrm>
            <a:off x="4536350" y="6111113"/>
            <a:ext cx="1080900" cy="155820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 sz="1200" b="0" i="0" u="none" strike="noStrike" cap="none">
                <a:solidFill>
                  <a:srgbClr val="000000"/>
                </a:solidFill>
                <a:latin typeface="Times New Roman"/>
                <a:ea typeface="Times New Roman"/>
                <a:cs typeface="Times New Roman"/>
                <a:sym typeface="Times New Roman"/>
              </a:rPr>
              <a:t>Role of region in protein function is unknown</a:t>
            </a:r>
            <a:endParaRPr sz="1400" b="0" i="0" u="none" strike="noStrike" cap="none">
              <a:solidFill>
                <a:srgbClr val="000000"/>
              </a:solidFill>
              <a:latin typeface="Arial"/>
              <a:ea typeface="Arial"/>
              <a:cs typeface="Arial"/>
              <a:sym typeface="Arial"/>
            </a:endParaRPr>
          </a:p>
        </p:txBody>
      </p:sp>
      <p:sp>
        <p:nvSpPr>
          <p:cNvPr id="211" name="Google Shape;211;p1"/>
          <p:cNvSpPr/>
          <p:nvPr/>
        </p:nvSpPr>
        <p:spPr>
          <a:xfrm>
            <a:off x="6180650" y="6099400"/>
            <a:ext cx="4234500" cy="46170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 sz="1200" b="0" i="0" u="none" strike="noStrike" cap="none">
                <a:solidFill>
                  <a:srgbClr val="000000"/>
                </a:solidFill>
                <a:latin typeface="Times New Roman"/>
                <a:ea typeface="Times New Roman"/>
                <a:cs typeface="Times New Roman"/>
                <a:sym typeface="Times New Roman"/>
              </a:rPr>
              <a:t>LoF variants in this exon are frequent in the general population and/or exon is absent from biologically-relevant transcript(s)</a:t>
            </a:r>
            <a:endParaRPr sz="1400" b="0" i="0" u="none" strike="noStrike" cap="none">
              <a:solidFill>
                <a:srgbClr val="000000"/>
              </a:solidFill>
              <a:latin typeface="Arial"/>
              <a:ea typeface="Arial"/>
              <a:cs typeface="Arial"/>
              <a:sym typeface="Arial"/>
            </a:endParaRPr>
          </a:p>
        </p:txBody>
      </p:sp>
      <p:sp>
        <p:nvSpPr>
          <p:cNvPr id="212" name="Google Shape;212;p1"/>
          <p:cNvSpPr/>
          <p:nvPr/>
        </p:nvSpPr>
        <p:spPr>
          <a:xfrm>
            <a:off x="6180650" y="6668925"/>
            <a:ext cx="2618100" cy="97890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 sz="1200" b="0" i="0" u="none" strike="noStrike" cap="none">
                <a:solidFill>
                  <a:srgbClr val="000000"/>
                </a:solidFill>
                <a:latin typeface="Times New Roman"/>
                <a:ea typeface="Times New Roman"/>
                <a:cs typeface="Times New Roman"/>
                <a:sym typeface="Times New Roman"/>
              </a:rPr>
              <a:t>LoF variants in this exon are not frequent in the general population and exon is present in biologically-relevant transcript(s)</a:t>
            </a:r>
            <a:endParaRPr sz="1200" b="0" i="0" u="none" strike="noStrike" cap="none">
              <a:solidFill>
                <a:srgbClr val="000000"/>
              </a:solidFill>
              <a:latin typeface="Times New Roman"/>
              <a:ea typeface="Times New Roman"/>
              <a:cs typeface="Times New Roman"/>
              <a:sym typeface="Times New Roman"/>
            </a:endParaRPr>
          </a:p>
        </p:txBody>
      </p:sp>
      <p:sp>
        <p:nvSpPr>
          <p:cNvPr id="213" name="Google Shape;213;p1"/>
          <p:cNvSpPr/>
          <p:nvPr/>
        </p:nvSpPr>
        <p:spPr>
          <a:xfrm>
            <a:off x="9183675" y="6668925"/>
            <a:ext cx="1231500" cy="45270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 sz="1200" b="0" i="0" u="none" strike="noStrike" cap="none">
                <a:solidFill>
                  <a:srgbClr val="000000"/>
                </a:solidFill>
                <a:latin typeface="Times New Roman"/>
                <a:ea typeface="Times New Roman"/>
                <a:cs typeface="Times New Roman"/>
                <a:sym typeface="Times New Roman"/>
              </a:rPr>
              <a:t>Variant removes &gt;10% of protein</a:t>
            </a:r>
            <a:endParaRPr sz="1400" b="0" i="0" u="none" strike="noStrike" cap="none">
              <a:solidFill>
                <a:srgbClr val="000000"/>
              </a:solidFill>
              <a:latin typeface="Arial"/>
              <a:ea typeface="Arial"/>
              <a:cs typeface="Arial"/>
              <a:sym typeface="Arial"/>
            </a:endParaRPr>
          </a:p>
        </p:txBody>
      </p:sp>
      <p:sp>
        <p:nvSpPr>
          <p:cNvPr id="214" name="Google Shape;214;p1"/>
          <p:cNvSpPr/>
          <p:nvPr/>
        </p:nvSpPr>
        <p:spPr>
          <a:xfrm>
            <a:off x="10945225" y="6144550"/>
            <a:ext cx="1281000" cy="37140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 sz="1200" b="0" i="0" u="none" strike="noStrike" cap="none">
                <a:solidFill>
                  <a:srgbClr val="000000"/>
                </a:solidFill>
                <a:latin typeface="Times New Roman"/>
                <a:ea typeface="Times New Roman"/>
                <a:cs typeface="Times New Roman"/>
                <a:sym typeface="Times New Roman"/>
              </a:rPr>
              <a:t>N/A</a:t>
            </a:r>
            <a:endParaRPr sz="1400" b="0" i="0" u="none" strike="noStrike" cap="none">
              <a:solidFill>
                <a:srgbClr val="000000"/>
              </a:solidFill>
              <a:latin typeface="Arial"/>
              <a:ea typeface="Arial"/>
              <a:cs typeface="Arial"/>
              <a:sym typeface="Arial"/>
            </a:endParaRPr>
          </a:p>
        </p:txBody>
      </p:sp>
      <p:sp>
        <p:nvSpPr>
          <p:cNvPr id="215" name="Google Shape;215;p1"/>
          <p:cNvSpPr/>
          <p:nvPr/>
        </p:nvSpPr>
        <p:spPr>
          <a:xfrm>
            <a:off x="10945225" y="6733125"/>
            <a:ext cx="1281000" cy="32430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 sz="1200" b="0" i="0" u="none" strike="noStrike" cap="none">
                <a:solidFill>
                  <a:srgbClr val="000000"/>
                </a:solidFill>
                <a:latin typeface="Times New Roman"/>
                <a:ea typeface="Times New Roman"/>
                <a:cs typeface="Times New Roman"/>
                <a:sym typeface="Times New Roman"/>
              </a:rPr>
              <a:t>PVS1_Strong</a:t>
            </a:r>
            <a:endParaRPr sz="1400" b="0" i="0" u="none" strike="noStrike" cap="none">
              <a:solidFill>
                <a:srgbClr val="000000"/>
              </a:solidFill>
              <a:latin typeface="Arial"/>
              <a:ea typeface="Arial"/>
              <a:cs typeface="Arial"/>
              <a:sym typeface="Arial"/>
            </a:endParaRPr>
          </a:p>
        </p:txBody>
      </p:sp>
      <p:sp>
        <p:nvSpPr>
          <p:cNvPr id="216" name="Google Shape;216;p1"/>
          <p:cNvSpPr/>
          <p:nvPr/>
        </p:nvSpPr>
        <p:spPr>
          <a:xfrm>
            <a:off x="10945225" y="7235750"/>
            <a:ext cx="1281000" cy="37140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 sz="1200" b="0" i="0" u="none" strike="noStrike" cap="none">
                <a:solidFill>
                  <a:srgbClr val="000000"/>
                </a:solidFill>
                <a:latin typeface="Times New Roman"/>
                <a:ea typeface="Times New Roman"/>
                <a:cs typeface="Times New Roman"/>
                <a:sym typeface="Times New Roman"/>
              </a:rPr>
              <a:t>PVS1_Moderate</a:t>
            </a:r>
            <a:endParaRPr sz="1400" b="0" i="0" u="none" strike="noStrike" cap="none">
              <a:solidFill>
                <a:srgbClr val="000000"/>
              </a:solidFill>
              <a:latin typeface="Arial"/>
              <a:ea typeface="Arial"/>
              <a:cs typeface="Arial"/>
              <a:sym typeface="Arial"/>
            </a:endParaRPr>
          </a:p>
        </p:txBody>
      </p:sp>
      <p:sp>
        <p:nvSpPr>
          <p:cNvPr id="217" name="Google Shape;217;p1"/>
          <p:cNvSpPr/>
          <p:nvPr/>
        </p:nvSpPr>
        <p:spPr>
          <a:xfrm>
            <a:off x="9183600" y="7195100"/>
            <a:ext cx="1231500" cy="45270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 sz="1200" b="0" i="0" u="none" strike="noStrike" cap="none">
                <a:solidFill>
                  <a:srgbClr val="000000"/>
                </a:solidFill>
                <a:latin typeface="Times New Roman"/>
                <a:ea typeface="Times New Roman"/>
                <a:cs typeface="Times New Roman"/>
                <a:sym typeface="Times New Roman"/>
              </a:rPr>
              <a:t>Variant removes &lt;10% of protein</a:t>
            </a:r>
            <a:endParaRPr sz="1400" b="0" i="0" u="none" strike="noStrike" cap="none">
              <a:solidFill>
                <a:srgbClr val="000000"/>
              </a:solidFill>
              <a:latin typeface="Arial"/>
              <a:ea typeface="Arial"/>
              <a:cs typeface="Arial"/>
              <a:sym typeface="Arial"/>
            </a:endParaRPr>
          </a:p>
        </p:txBody>
      </p:sp>
      <p:cxnSp>
        <p:nvCxnSpPr>
          <p:cNvPr id="218" name="Google Shape;218;p1"/>
          <p:cNvCxnSpPr>
            <a:endCxn id="211" idx="1"/>
          </p:cNvCxnSpPr>
          <p:nvPr/>
        </p:nvCxnSpPr>
        <p:spPr>
          <a:xfrm rot="10800000" flipH="1">
            <a:off x="5617250" y="6330250"/>
            <a:ext cx="563400" cy="538200"/>
          </a:xfrm>
          <a:prstGeom prst="straightConnector1">
            <a:avLst/>
          </a:prstGeom>
          <a:noFill/>
          <a:ln w="9525" cap="flat" cmpd="sng">
            <a:solidFill>
              <a:srgbClr val="44546A"/>
            </a:solidFill>
            <a:prstDash val="solid"/>
            <a:round/>
            <a:headEnd type="none" w="sm" len="sm"/>
            <a:tailEnd type="triangle" w="med" len="med"/>
          </a:ln>
        </p:spPr>
      </p:cxnSp>
      <p:cxnSp>
        <p:nvCxnSpPr>
          <p:cNvPr id="219" name="Google Shape;219;p1"/>
          <p:cNvCxnSpPr>
            <a:endCxn id="212" idx="1"/>
          </p:cNvCxnSpPr>
          <p:nvPr/>
        </p:nvCxnSpPr>
        <p:spPr>
          <a:xfrm>
            <a:off x="5617250" y="6868575"/>
            <a:ext cx="563400" cy="289800"/>
          </a:xfrm>
          <a:prstGeom prst="straightConnector1">
            <a:avLst/>
          </a:prstGeom>
          <a:noFill/>
          <a:ln w="9525" cap="flat" cmpd="sng">
            <a:solidFill>
              <a:srgbClr val="44546A"/>
            </a:solidFill>
            <a:prstDash val="solid"/>
            <a:round/>
            <a:headEnd type="none" w="sm" len="sm"/>
            <a:tailEnd type="triangle" w="med" len="med"/>
          </a:ln>
        </p:spPr>
      </p:cxnSp>
      <p:cxnSp>
        <p:nvCxnSpPr>
          <p:cNvPr id="220" name="Google Shape;220;p1"/>
          <p:cNvCxnSpPr>
            <a:stCxn id="212" idx="3"/>
            <a:endCxn id="213" idx="1"/>
          </p:cNvCxnSpPr>
          <p:nvPr/>
        </p:nvCxnSpPr>
        <p:spPr>
          <a:xfrm rot="10800000" flipH="1">
            <a:off x="8798750" y="6895275"/>
            <a:ext cx="384900" cy="263100"/>
          </a:xfrm>
          <a:prstGeom prst="straightConnector1">
            <a:avLst/>
          </a:prstGeom>
          <a:noFill/>
          <a:ln w="9525" cap="flat" cmpd="sng">
            <a:solidFill>
              <a:srgbClr val="44546A"/>
            </a:solidFill>
            <a:prstDash val="solid"/>
            <a:round/>
            <a:headEnd type="none" w="sm" len="sm"/>
            <a:tailEnd type="triangle" w="med" len="med"/>
          </a:ln>
        </p:spPr>
      </p:cxnSp>
      <p:cxnSp>
        <p:nvCxnSpPr>
          <p:cNvPr id="221" name="Google Shape;221;p1"/>
          <p:cNvCxnSpPr>
            <a:stCxn id="212" idx="3"/>
            <a:endCxn id="217" idx="1"/>
          </p:cNvCxnSpPr>
          <p:nvPr/>
        </p:nvCxnSpPr>
        <p:spPr>
          <a:xfrm>
            <a:off x="8798750" y="7158375"/>
            <a:ext cx="384900" cy="263100"/>
          </a:xfrm>
          <a:prstGeom prst="straightConnector1">
            <a:avLst/>
          </a:prstGeom>
          <a:noFill/>
          <a:ln w="9525" cap="flat" cmpd="sng">
            <a:solidFill>
              <a:srgbClr val="44546A"/>
            </a:solidFill>
            <a:prstDash val="solid"/>
            <a:round/>
            <a:headEnd type="none" w="sm" len="sm"/>
            <a:tailEnd type="triangle" w="med" len="med"/>
          </a:ln>
        </p:spPr>
      </p:cxnSp>
      <p:cxnSp>
        <p:nvCxnSpPr>
          <p:cNvPr id="222" name="Google Shape;222;p1"/>
          <p:cNvCxnSpPr>
            <a:stCxn id="211" idx="3"/>
            <a:endCxn id="214" idx="1"/>
          </p:cNvCxnSpPr>
          <p:nvPr/>
        </p:nvCxnSpPr>
        <p:spPr>
          <a:xfrm>
            <a:off x="10415150" y="6330250"/>
            <a:ext cx="530100" cy="0"/>
          </a:xfrm>
          <a:prstGeom prst="straightConnector1">
            <a:avLst/>
          </a:prstGeom>
          <a:noFill/>
          <a:ln w="9525" cap="flat" cmpd="sng">
            <a:solidFill>
              <a:srgbClr val="595959"/>
            </a:solidFill>
            <a:prstDash val="solid"/>
            <a:round/>
            <a:headEnd type="none" w="sm" len="sm"/>
            <a:tailEnd type="triangle" w="med" len="med"/>
          </a:ln>
        </p:spPr>
      </p:cxnSp>
      <p:cxnSp>
        <p:nvCxnSpPr>
          <p:cNvPr id="223" name="Google Shape;223;p1"/>
          <p:cNvCxnSpPr>
            <a:stCxn id="213" idx="3"/>
            <a:endCxn id="215" idx="1"/>
          </p:cNvCxnSpPr>
          <p:nvPr/>
        </p:nvCxnSpPr>
        <p:spPr>
          <a:xfrm>
            <a:off x="10415175" y="6895275"/>
            <a:ext cx="530100" cy="0"/>
          </a:xfrm>
          <a:prstGeom prst="straightConnector1">
            <a:avLst/>
          </a:prstGeom>
          <a:noFill/>
          <a:ln w="9525" cap="flat" cmpd="sng">
            <a:solidFill>
              <a:srgbClr val="595959"/>
            </a:solidFill>
            <a:prstDash val="solid"/>
            <a:round/>
            <a:headEnd type="none" w="sm" len="sm"/>
            <a:tailEnd type="triangle" w="med" len="med"/>
          </a:ln>
        </p:spPr>
      </p:cxnSp>
      <p:cxnSp>
        <p:nvCxnSpPr>
          <p:cNvPr id="224" name="Google Shape;224;p1"/>
          <p:cNvCxnSpPr>
            <a:stCxn id="217" idx="3"/>
            <a:endCxn id="216" idx="1"/>
          </p:cNvCxnSpPr>
          <p:nvPr/>
        </p:nvCxnSpPr>
        <p:spPr>
          <a:xfrm>
            <a:off x="10415100" y="7421450"/>
            <a:ext cx="530100" cy="0"/>
          </a:xfrm>
          <a:prstGeom prst="straightConnector1">
            <a:avLst/>
          </a:prstGeom>
          <a:noFill/>
          <a:ln w="9525" cap="flat" cmpd="sng">
            <a:solidFill>
              <a:srgbClr val="595959"/>
            </a:solidFill>
            <a:prstDash val="solid"/>
            <a:round/>
            <a:headEnd type="none" w="sm" len="sm"/>
            <a:tailEnd type="triangle" w="med" len="med"/>
          </a:ln>
        </p:spPr>
      </p:cxnSp>
      <p:cxnSp>
        <p:nvCxnSpPr>
          <p:cNvPr id="225" name="Google Shape;225;p1"/>
          <p:cNvCxnSpPr>
            <a:stCxn id="89" idx="3"/>
            <a:endCxn id="210" idx="1"/>
          </p:cNvCxnSpPr>
          <p:nvPr/>
        </p:nvCxnSpPr>
        <p:spPr>
          <a:xfrm rot="10800000" flipH="1">
            <a:off x="4028325" y="6890300"/>
            <a:ext cx="507900" cy="179100"/>
          </a:xfrm>
          <a:prstGeom prst="straightConnector1">
            <a:avLst/>
          </a:prstGeom>
          <a:noFill/>
          <a:ln w="9525" cap="flat" cmpd="sng">
            <a:solidFill>
              <a:schemeClr val="dk2"/>
            </a:solidFill>
            <a:prstDash val="solid"/>
            <a:round/>
            <a:headEnd type="none" w="sm" len="sm"/>
            <a:tailEnd type="triangle" w="med" len="med"/>
          </a:ln>
        </p:spPr>
      </p:cxnSp>
      <p:cxnSp>
        <p:nvCxnSpPr>
          <p:cNvPr id="226" name="Google Shape;226;p1"/>
          <p:cNvCxnSpPr>
            <a:stCxn id="89" idx="3"/>
            <a:endCxn id="97" idx="1"/>
          </p:cNvCxnSpPr>
          <p:nvPr/>
        </p:nvCxnSpPr>
        <p:spPr>
          <a:xfrm>
            <a:off x="4028325" y="7069400"/>
            <a:ext cx="505500" cy="821400"/>
          </a:xfrm>
          <a:prstGeom prst="straightConnector1">
            <a:avLst/>
          </a:prstGeom>
          <a:noFill/>
          <a:ln w="9525" cap="flat" cmpd="sng">
            <a:solidFill>
              <a:schemeClr val="dk2"/>
            </a:solidFill>
            <a:prstDash val="solid"/>
            <a:round/>
            <a:headEnd type="none" w="sm" len="sm"/>
            <a:tailEnd type="triangle" w="med" len="med"/>
          </a:ln>
        </p:spPr>
      </p:cxnSp>
      <p:cxnSp>
        <p:nvCxnSpPr>
          <p:cNvPr id="227" name="Google Shape;227;p1"/>
          <p:cNvCxnSpPr>
            <a:stCxn id="152" idx="3"/>
            <a:endCxn id="159" idx="1"/>
          </p:cNvCxnSpPr>
          <p:nvPr/>
        </p:nvCxnSpPr>
        <p:spPr>
          <a:xfrm>
            <a:off x="4028300" y="13299125"/>
            <a:ext cx="6916800" cy="0"/>
          </a:xfrm>
          <a:prstGeom prst="straightConnector1">
            <a:avLst/>
          </a:prstGeom>
          <a:noFill/>
          <a:ln w="9525" cap="flat" cmpd="sng">
            <a:solidFill>
              <a:schemeClr val="dk2"/>
            </a:solidFill>
            <a:prstDash val="solid"/>
            <a:round/>
            <a:headEnd type="none" w="sm" len="sm"/>
            <a:tailEnd type="triangle" w="med" len="med"/>
          </a:ln>
        </p:spPr>
      </p:cxnSp>
      <p:cxnSp>
        <p:nvCxnSpPr>
          <p:cNvPr id="228" name="Google Shape;228;p1"/>
          <p:cNvCxnSpPr>
            <a:stCxn id="150" idx="3"/>
            <a:endCxn id="153" idx="1"/>
          </p:cNvCxnSpPr>
          <p:nvPr/>
        </p:nvCxnSpPr>
        <p:spPr>
          <a:xfrm rot="10800000" flipH="1">
            <a:off x="4028300" y="12189775"/>
            <a:ext cx="505500" cy="48300"/>
          </a:xfrm>
          <a:prstGeom prst="straightConnector1">
            <a:avLst/>
          </a:prstGeom>
          <a:noFill/>
          <a:ln w="9525" cap="flat" cmpd="sng">
            <a:solidFill>
              <a:schemeClr val="dk2"/>
            </a:solidFill>
            <a:prstDash val="solid"/>
            <a:round/>
            <a:headEnd type="none" w="sm" len="sm"/>
            <a:tailEnd type="triangle" w="med" len="med"/>
          </a:ln>
        </p:spPr>
      </p:cxn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txBox="1"/>
          <p:nvPr/>
        </p:nvSpPr>
        <p:spPr>
          <a:xfrm>
            <a:off x="80325" y="225673"/>
            <a:ext cx="1105800" cy="281970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 sz="1200" b="1" i="0" u="none" strike="noStrike" cap="none">
                <a:solidFill>
                  <a:srgbClr val="000000"/>
                </a:solidFill>
                <a:latin typeface="Times New Roman"/>
                <a:ea typeface="Times New Roman"/>
                <a:cs typeface="Times New Roman"/>
                <a:sym typeface="Times New Roman"/>
              </a:rPr>
              <a:t>Nonsense or Frameshift</a:t>
            </a:r>
            <a:endParaRPr b="1"/>
          </a:p>
        </p:txBody>
      </p:sp>
      <p:sp>
        <p:nvSpPr>
          <p:cNvPr id="55" name="Google Shape;55;p13"/>
          <p:cNvSpPr/>
          <p:nvPr/>
        </p:nvSpPr>
        <p:spPr>
          <a:xfrm>
            <a:off x="1664575" y="216325"/>
            <a:ext cx="2374200" cy="70560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 sz="1200" b="0" i="0" u="none" strike="noStrike" cap="none">
                <a:solidFill>
                  <a:srgbClr val="000000"/>
                </a:solidFill>
                <a:latin typeface="Times New Roman"/>
                <a:ea typeface="Times New Roman"/>
                <a:cs typeface="Times New Roman"/>
                <a:sym typeface="Times New Roman"/>
              </a:rPr>
              <a:t>Predicted to undergo NMD </a:t>
            </a:r>
            <a:r>
              <a:rPr lang="en" sz="1200" b="0" i="0" u="none" strike="noStrike" cap="none" baseline="30000">
                <a:solidFill>
                  <a:srgbClr val="000000"/>
                </a:solidFill>
                <a:latin typeface="Times New Roman"/>
                <a:ea typeface="Times New Roman"/>
                <a:cs typeface="Times New Roman"/>
                <a:sym typeface="Times New Roman"/>
              </a:rPr>
              <a:t>b</a:t>
            </a:r>
            <a:endParaRPr baseline="30000"/>
          </a:p>
        </p:txBody>
      </p:sp>
      <p:sp>
        <p:nvSpPr>
          <p:cNvPr id="56" name="Google Shape;56;p13"/>
          <p:cNvSpPr/>
          <p:nvPr/>
        </p:nvSpPr>
        <p:spPr>
          <a:xfrm>
            <a:off x="1664575" y="1464775"/>
            <a:ext cx="2374200" cy="95880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 sz="1200" b="0" i="0" u="none" strike="noStrike" cap="none">
                <a:solidFill>
                  <a:srgbClr val="000000"/>
                </a:solidFill>
                <a:latin typeface="Times New Roman"/>
                <a:ea typeface="Times New Roman"/>
                <a:cs typeface="Times New Roman"/>
                <a:sym typeface="Times New Roman"/>
              </a:rPr>
              <a:t>Not predicted to undergo NMD</a:t>
            </a:r>
            <a:r>
              <a:rPr lang="en" sz="1200">
                <a:solidFill>
                  <a:schemeClr val="dk1"/>
                </a:solidFill>
                <a:latin typeface="Times New Roman"/>
                <a:ea typeface="Times New Roman"/>
                <a:cs typeface="Times New Roman"/>
                <a:sym typeface="Times New Roman"/>
              </a:rPr>
              <a:t> </a:t>
            </a:r>
            <a:r>
              <a:rPr lang="en" sz="1200" baseline="30000">
                <a:solidFill>
                  <a:schemeClr val="dk1"/>
                </a:solidFill>
                <a:latin typeface="Times New Roman"/>
                <a:ea typeface="Times New Roman"/>
                <a:cs typeface="Times New Roman"/>
                <a:sym typeface="Times New Roman"/>
              </a:rPr>
              <a:t>b</a:t>
            </a:r>
            <a:endParaRPr/>
          </a:p>
        </p:txBody>
      </p:sp>
      <p:sp>
        <p:nvSpPr>
          <p:cNvPr id="57" name="Google Shape;57;p13"/>
          <p:cNvSpPr/>
          <p:nvPr/>
        </p:nvSpPr>
        <p:spPr>
          <a:xfrm>
            <a:off x="4536350" y="192700"/>
            <a:ext cx="5868000" cy="27690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 sz="1200" b="0" i="0" u="none" strike="noStrike" cap="none">
                <a:solidFill>
                  <a:srgbClr val="000000"/>
                </a:solidFill>
                <a:latin typeface="Times New Roman"/>
                <a:ea typeface="Times New Roman"/>
                <a:cs typeface="Times New Roman"/>
                <a:sym typeface="Times New Roman"/>
              </a:rPr>
              <a:t>Exon is present in </a:t>
            </a:r>
            <a:r>
              <a:rPr lang="en" sz="1200">
                <a:solidFill>
                  <a:srgbClr val="000000"/>
                </a:solidFill>
                <a:latin typeface="Times New Roman"/>
                <a:ea typeface="Times New Roman"/>
                <a:cs typeface="Times New Roman"/>
                <a:sym typeface="Times New Roman"/>
              </a:rPr>
              <a:t>biologically-</a:t>
            </a:r>
            <a:r>
              <a:rPr lang="en" sz="1200" b="0" i="0" u="none" strike="noStrike" cap="none">
                <a:solidFill>
                  <a:srgbClr val="000000"/>
                </a:solidFill>
                <a:latin typeface="Times New Roman"/>
                <a:ea typeface="Times New Roman"/>
                <a:cs typeface="Times New Roman"/>
                <a:sym typeface="Times New Roman"/>
              </a:rPr>
              <a:t>relevant transcript(s)</a:t>
            </a:r>
            <a:endParaRPr/>
          </a:p>
        </p:txBody>
      </p:sp>
      <p:sp>
        <p:nvSpPr>
          <p:cNvPr id="58" name="Google Shape;58;p13"/>
          <p:cNvSpPr/>
          <p:nvPr/>
        </p:nvSpPr>
        <p:spPr>
          <a:xfrm>
            <a:off x="4536275" y="621275"/>
            <a:ext cx="5868000" cy="27690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 sz="1200" b="0" i="0" u="none" strike="noStrike" cap="none">
                <a:solidFill>
                  <a:srgbClr val="000000"/>
                </a:solidFill>
                <a:latin typeface="Times New Roman"/>
                <a:ea typeface="Times New Roman"/>
                <a:cs typeface="Times New Roman"/>
                <a:sym typeface="Times New Roman"/>
              </a:rPr>
              <a:t>Exon is absent from </a:t>
            </a:r>
            <a:r>
              <a:rPr lang="en" sz="1200">
                <a:solidFill>
                  <a:srgbClr val="000000"/>
                </a:solidFill>
                <a:latin typeface="Times New Roman"/>
                <a:ea typeface="Times New Roman"/>
                <a:cs typeface="Times New Roman"/>
                <a:sym typeface="Times New Roman"/>
              </a:rPr>
              <a:t>biologically-relevant transcript(s)</a:t>
            </a:r>
            <a:endParaRPr sz="1200">
              <a:solidFill>
                <a:srgbClr val="000000"/>
              </a:solidFill>
              <a:latin typeface="Times New Roman"/>
              <a:ea typeface="Times New Roman"/>
              <a:cs typeface="Times New Roman"/>
              <a:sym typeface="Times New Roman"/>
            </a:endParaRPr>
          </a:p>
        </p:txBody>
      </p:sp>
      <p:sp>
        <p:nvSpPr>
          <p:cNvPr id="59" name="Google Shape;59;p13"/>
          <p:cNvSpPr/>
          <p:nvPr/>
        </p:nvSpPr>
        <p:spPr>
          <a:xfrm>
            <a:off x="10945225" y="192700"/>
            <a:ext cx="1281000" cy="27690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 sz="1200" b="0" i="0" u="none" strike="noStrike" cap="none">
                <a:solidFill>
                  <a:srgbClr val="000000"/>
                </a:solidFill>
                <a:latin typeface="Times New Roman"/>
                <a:ea typeface="Times New Roman"/>
                <a:cs typeface="Times New Roman"/>
                <a:sym typeface="Times New Roman"/>
              </a:rPr>
              <a:t>PVS1</a:t>
            </a:r>
            <a:endParaRPr/>
          </a:p>
        </p:txBody>
      </p:sp>
      <p:sp>
        <p:nvSpPr>
          <p:cNvPr id="60" name="Google Shape;60;p13"/>
          <p:cNvSpPr/>
          <p:nvPr/>
        </p:nvSpPr>
        <p:spPr>
          <a:xfrm>
            <a:off x="10945225" y="621275"/>
            <a:ext cx="1281000" cy="27690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 sz="1200" b="0" i="0" u="none" strike="noStrike" cap="none">
                <a:solidFill>
                  <a:srgbClr val="000000"/>
                </a:solidFill>
                <a:latin typeface="Times New Roman"/>
                <a:ea typeface="Times New Roman"/>
                <a:cs typeface="Times New Roman"/>
                <a:sym typeface="Times New Roman"/>
              </a:rPr>
              <a:t>N/A</a:t>
            </a:r>
            <a:endParaRPr/>
          </a:p>
        </p:txBody>
      </p:sp>
      <p:sp>
        <p:nvSpPr>
          <p:cNvPr id="61" name="Google Shape;61;p13"/>
          <p:cNvSpPr/>
          <p:nvPr/>
        </p:nvSpPr>
        <p:spPr>
          <a:xfrm>
            <a:off x="4529000" y="1112700"/>
            <a:ext cx="5896500" cy="27690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 sz="1200">
                <a:solidFill>
                  <a:srgbClr val="000000"/>
                </a:solidFill>
                <a:latin typeface="Times New Roman"/>
                <a:ea typeface="Times New Roman"/>
                <a:cs typeface="Times New Roman"/>
                <a:sym typeface="Times New Roman"/>
              </a:rPr>
              <a:t>Truncated/altered region is critical to protein function </a:t>
            </a:r>
            <a:r>
              <a:rPr lang="en" sz="1200" baseline="30000">
                <a:latin typeface="Times New Roman"/>
                <a:ea typeface="Times New Roman"/>
                <a:cs typeface="Times New Roman"/>
                <a:sym typeface="Times New Roman"/>
              </a:rPr>
              <a:t>c</a:t>
            </a:r>
            <a:endParaRPr sz="1200">
              <a:solidFill>
                <a:srgbClr val="000000"/>
              </a:solidFill>
              <a:latin typeface="Times New Roman"/>
              <a:ea typeface="Times New Roman"/>
              <a:cs typeface="Times New Roman"/>
              <a:sym typeface="Times New Roman"/>
            </a:endParaRPr>
          </a:p>
        </p:txBody>
      </p:sp>
      <p:sp>
        <p:nvSpPr>
          <p:cNvPr id="62" name="Google Shape;62;p13"/>
          <p:cNvSpPr/>
          <p:nvPr/>
        </p:nvSpPr>
        <p:spPr>
          <a:xfrm>
            <a:off x="4557575" y="1487150"/>
            <a:ext cx="1080900" cy="140910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 sz="1200">
                <a:solidFill>
                  <a:srgbClr val="000000"/>
                </a:solidFill>
                <a:latin typeface="Times New Roman"/>
                <a:ea typeface="Times New Roman"/>
                <a:cs typeface="Times New Roman"/>
                <a:sym typeface="Times New Roman"/>
              </a:rPr>
              <a:t>Role of region in protein function is unknown</a:t>
            </a:r>
            <a:endParaRPr/>
          </a:p>
        </p:txBody>
      </p:sp>
      <p:sp>
        <p:nvSpPr>
          <p:cNvPr id="63" name="Google Shape;63;p13"/>
          <p:cNvSpPr/>
          <p:nvPr/>
        </p:nvSpPr>
        <p:spPr>
          <a:xfrm>
            <a:off x="6201875" y="1497075"/>
            <a:ext cx="4234500" cy="46170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 sz="1200">
                <a:solidFill>
                  <a:srgbClr val="000000"/>
                </a:solidFill>
                <a:latin typeface="Times New Roman"/>
                <a:ea typeface="Times New Roman"/>
                <a:cs typeface="Times New Roman"/>
                <a:sym typeface="Times New Roman"/>
              </a:rPr>
              <a:t>L</a:t>
            </a:r>
            <a:r>
              <a:rPr lang="en" sz="1200">
                <a:latin typeface="Times New Roman"/>
                <a:ea typeface="Times New Roman"/>
                <a:cs typeface="Times New Roman"/>
                <a:sym typeface="Times New Roman"/>
              </a:rPr>
              <a:t>o</a:t>
            </a:r>
            <a:r>
              <a:rPr lang="en" sz="1200">
                <a:solidFill>
                  <a:srgbClr val="000000"/>
                </a:solidFill>
                <a:latin typeface="Times New Roman"/>
                <a:ea typeface="Times New Roman"/>
                <a:cs typeface="Times New Roman"/>
                <a:sym typeface="Times New Roman"/>
              </a:rPr>
              <a:t>F variants in this exon are frequent in the general population and/or exon is absent from biologically-relevant transcript(s)</a:t>
            </a:r>
            <a:endParaRPr/>
          </a:p>
        </p:txBody>
      </p:sp>
      <p:sp>
        <p:nvSpPr>
          <p:cNvPr id="64" name="Google Shape;64;p13"/>
          <p:cNvSpPr/>
          <p:nvPr/>
        </p:nvSpPr>
        <p:spPr>
          <a:xfrm>
            <a:off x="10945225" y="1112700"/>
            <a:ext cx="1281000" cy="27690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 sz="1200" b="0" i="0" u="none" strike="noStrike" cap="none">
                <a:solidFill>
                  <a:srgbClr val="000000"/>
                </a:solidFill>
                <a:latin typeface="Times New Roman"/>
                <a:ea typeface="Times New Roman"/>
                <a:cs typeface="Times New Roman"/>
                <a:sym typeface="Times New Roman"/>
              </a:rPr>
              <a:t>PVS1_Strong</a:t>
            </a:r>
            <a:endParaRPr/>
          </a:p>
        </p:txBody>
      </p:sp>
      <p:sp>
        <p:nvSpPr>
          <p:cNvPr id="65" name="Google Shape;65;p13"/>
          <p:cNvSpPr/>
          <p:nvPr/>
        </p:nvSpPr>
        <p:spPr>
          <a:xfrm>
            <a:off x="10945225" y="1542225"/>
            <a:ext cx="1281000" cy="37140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 sz="1200" b="0" i="0" u="none" strike="noStrike" cap="none">
                <a:solidFill>
                  <a:srgbClr val="000000"/>
                </a:solidFill>
                <a:latin typeface="Times New Roman"/>
                <a:ea typeface="Times New Roman"/>
                <a:cs typeface="Times New Roman"/>
                <a:sym typeface="Times New Roman"/>
              </a:rPr>
              <a:t>N/A</a:t>
            </a:r>
            <a:endParaRPr/>
          </a:p>
        </p:txBody>
      </p:sp>
      <p:sp>
        <p:nvSpPr>
          <p:cNvPr id="66" name="Google Shape;66;p13"/>
          <p:cNvSpPr/>
          <p:nvPr/>
        </p:nvSpPr>
        <p:spPr>
          <a:xfrm>
            <a:off x="10945225" y="2130450"/>
            <a:ext cx="1281000" cy="32430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 sz="1200" b="0" i="0" u="none" strike="noStrike" cap="none">
                <a:solidFill>
                  <a:srgbClr val="000000"/>
                </a:solidFill>
                <a:latin typeface="Times New Roman"/>
                <a:ea typeface="Times New Roman"/>
                <a:cs typeface="Times New Roman"/>
                <a:sym typeface="Times New Roman"/>
              </a:rPr>
              <a:t>PVS1_Strong</a:t>
            </a:r>
            <a:endParaRPr/>
          </a:p>
        </p:txBody>
      </p:sp>
      <p:sp>
        <p:nvSpPr>
          <p:cNvPr id="67" name="Google Shape;67;p13"/>
          <p:cNvSpPr/>
          <p:nvPr/>
        </p:nvSpPr>
        <p:spPr>
          <a:xfrm>
            <a:off x="10945225" y="2633075"/>
            <a:ext cx="1281000" cy="37140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 sz="1200">
                <a:solidFill>
                  <a:srgbClr val="000000"/>
                </a:solidFill>
                <a:latin typeface="Times New Roman"/>
                <a:ea typeface="Times New Roman"/>
                <a:cs typeface="Times New Roman"/>
                <a:sym typeface="Times New Roman"/>
              </a:rPr>
              <a:t>PVS1_Moderate</a:t>
            </a:r>
            <a:endParaRPr/>
          </a:p>
        </p:txBody>
      </p:sp>
      <p:sp>
        <p:nvSpPr>
          <p:cNvPr id="68" name="Google Shape;68;p13"/>
          <p:cNvSpPr/>
          <p:nvPr/>
        </p:nvSpPr>
        <p:spPr>
          <a:xfrm>
            <a:off x="6201875" y="2066250"/>
            <a:ext cx="2618100" cy="97890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lvl="0" indent="0" algn="ctr" rtl="0">
              <a:spcBef>
                <a:spcPts val="0"/>
              </a:spcBef>
              <a:spcAft>
                <a:spcPts val="0"/>
              </a:spcAft>
              <a:buNone/>
            </a:pPr>
            <a:r>
              <a:rPr lang="en" sz="1200">
                <a:solidFill>
                  <a:srgbClr val="000000"/>
                </a:solidFill>
                <a:latin typeface="Times New Roman"/>
                <a:ea typeface="Times New Roman"/>
                <a:cs typeface="Times New Roman"/>
                <a:sym typeface="Times New Roman"/>
              </a:rPr>
              <a:t>L</a:t>
            </a:r>
            <a:r>
              <a:rPr lang="en" sz="1200">
                <a:latin typeface="Times New Roman"/>
                <a:ea typeface="Times New Roman"/>
                <a:cs typeface="Times New Roman"/>
                <a:sym typeface="Times New Roman"/>
              </a:rPr>
              <a:t>o</a:t>
            </a:r>
            <a:r>
              <a:rPr lang="en" sz="1200">
                <a:solidFill>
                  <a:srgbClr val="000000"/>
                </a:solidFill>
                <a:latin typeface="Times New Roman"/>
                <a:ea typeface="Times New Roman"/>
                <a:cs typeface="Times New Roman"/>
                <a:sym typeface="Times New Roman"/>
              </a:rPr>
              <a:t>F variants in this exon are not frequent in the general population and exon is present in biologically-relevant transcript(s)</a:t>
            </a:r>
            <a:endParaRPr sz="1200">
              <a:solidFill>
                <a:srgbClr val="000000"/>
              </a:solidFill>
              <a:latin typeface="Times New Roman"/>
              <a:ea typeface="Times New Roman"/>
              <a:cs typeface="Times New Roman"/>
              <a:sym typeface="Times New Roman"/>
            </a:endParaRPr>
          </a:p>
        </p:txBody>
      </p:sp>
      <p:sp>
        <p:nvSpPr>
          <p:cNvPr id="69" name="Google Shape;69;p13"/>
          <p:cNvSpPr/>
          <p:nvPr/>
        </p:nvSpPr>
        <p:spPr>
          <a:xfrm>
            <a:off x="9204900" y="2066250"/>
            <a:ext cx="1231500" cy="45270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 sz="1200">
                <a:solidFill>
                  <a:srgbClr val="000000"/>
                </a:solidFill>
                <a:latin typeface="Times New Roman"/>
                <a:ea typeface="Times New Roman"/>
                <a:cs typeface="Times New Roman"/>
                <a:sym typeface="Times New Roman"/>
              </a:rPr>
              <a:t>Variant removes </a:t>
            </a:r>
            <a:r>
              <a:rPr lang="en" sz="1200" b="0" i="0" u="none" strike="noStrike" cap="none">
                <a:solidFill>
                  <a:srgbClr val="000000"/>
                </a:solidFill>
                <a:latin typeface="Times New Roman"/>
                <a:ea typeface="Times New Roman"/>
                <a:cs typeface="Times New Roman"/>
                <a:sym typeface="Times New Roman"/>
              </a:rPr>
              <a:t>&gt;10% of protein</a:t>
            </a:r>
            <a:endParaRPr/>
          </a:p>
        </p:txBody>
      </p:sp>
      <p:sp>
        <p:nvSpPr>
          <p:cNvPr id="70" name="Google Shape;70;p13"/>
          <p:cNvSpPr/>
          <p:nvPr/>
        </p:nvSpPr>
        <p:spPr>
          <a:xfrm>
            <a:off x="9204825" y="2592425"/>
            <a:ext cx="1231500" cy="45270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 sz="1200">
                <a:solidFill>
                  <a:srgbClr val="000000"/>
                </a:solidFill>
                <a:latin typeface="Times New Roman"/>
                <a:ea typeface="Times New Roman"/>
                <a:cs typeface="Times New Roman"/>
                <a:sym typeface="Times New Roman"/>
              </a:rPr>
              <a:t>Variant removes &lt;</a:t>
            </a:r>
            <a:r>
              <a:rPr lang="en" sz="1200" b="0" i="0" u="none" strike="noStrike" cap="none">
                <a:solidFill>
                  <a:srgbClr val="000000"/>
                </a:solidFill>
                <a:latin typeface="Times New Roman"/>
                <a:ea typeface="Times New Roman"/>
                <a:cs typeface="Times New Roman"/>
                <a:sym typeface="Times New Roman"/>
              </a:rPr>
              <a:t>10% of p</a:t>
            </a:r>
            <a:r>
              <a:rPr lang="en" sz="1200">
                <a:solidFill>
                  <a:srgbClr val="000000"/>
                </a:solidFill>
                <a:latin typeface="Times New Roman"/>
                <a:ea typeface="Times New Roman"/>
                <a:cs typeface="Times New Roman"/>
                <a:sym typeface="Times New Roman"/>
              </a:rPr>
              <a:t>rotein</a:t>
            </a:r>
            <a:endParaRPr/>
          </a:p>
        </p:txBody>
      </p:sp>
      <p:cxnSp>
        <p:nvCxnSpPr>
          <p:cNvPr id="71" name="Google Shape;71;p13"/>
          <p:cNvCxnSpPr>
            <a:stCxn id="68" idx="3"/>
            <a:endCxn id="69" idx="1"/>
          </p:cNvCxnSpPr>
          <p:nvPr/>
        </p:nvCxnSpPr>
        <p:spPr>
          <a:xfrm rot="10800000" flipH="1">
            <a:off x="8819975" y="2292600"/>
            <a:ext cx="384900" cy="263100"/>
          </a:xfrm>
          <a:prstGeom prst="straightConnector1">
            <a:avLst/>
          </a:prstGeom>
          <a:noFill/>
          <a:ln w="9525" cap="flat" cmpd="sng">
            <a:solidFill>
              <a:srgbClr val="44546A"/>
            </a:solidFill>
            <a:prstDash val="solid"/>
            <a:round/>
            <a:headEnd type="none" w="med" len="med"/>
            <a:tailEnd type="triangle" w="med" len="med"/>
          </a:ln>
        </p:spPr>
      </p:cxnSp>
      <p:cxnSp>
        <p:nvCxnSpPr>
          <p:cNvPr id="72" name="Google Shape;72;p13"/>
          <p:cNvCxnSpPr>
            <a:stCxn id="68" idx="3"/>
            <a:endCxn id="70" idx="1"/>
          </p:cNvCxnSpPr>
          <p:nvPr/>
        </p:nvCxnSpPr>
        <p:spPr>
          <a:xfrm>
            <a:off x="8819975" y="2555700"/>
            <a:ext cx="384900" cy="263100"/>
          </a:xfrm>
          <a:prstGeom prst="straightConnector1">
            <a:avLst/>
          </a:prstGeom>
          <a:noFill/>
          <a:ln w="9525" cap="flat" cmpd="sng">
            <a:solidFill>
              <a:srgbClr val="44546A"/>
            </a:solidFill>
            <a:prstDash val="solid"/>
            <a:round/>
            <a:headEnd type="none" w="med" len="med"/>
            <a:tailEnd type="triangle" w="med" len="med"/>
          </a:ln>
        </p:spPr>
      </p:cxnSp>
      <p:cxnSp>
        <p:nvCxnSpPr>
          <p:cNvPr id="73" name="Google Shape;73;p13"/>
          <p:cNvCxnSpPr>
            <a:stCxn id="54" idx="3"/>
            <a:endCxn id="55" idx="1"/>
          </p:cNvCxnSpPr>
          <p:nvPr/>
        </p:nvCxnSpPr>
        <p:spPr>
          <a:xfrm rot="10800000" flipH="1">
            <a:off x="1186125" y="569023"/>
            <a:ext cx="478500" cy="1066500"/>
          </a:xfrm>
          <a:prstGeom prst="straightConnector1">
            <a:avLst/>
          </a:prstGeom>
          <a:noFill/>
          <a:ln w="9525" cap="flat" cmpd="sng">
            <a:solidFill>
              <a:srgbClr val="44546A"/>
            </a:solidFill>
            <a:prstDash val="solid"/>
            <a:round/>
            <a:headEnd type="none" w="med" len="med"/>
            <a:tailEnd type="triangle" w="med" len="med"/>
          </a:ln>
        </p:spPr>
      </p:cxnSp>
      <p:cxnSp>
        <p:nvCxnSpPr>
          <p:cNvPr id="74" name="Google Shape;74;p13"/>
          <p:cNvCxnSpPr>
            <a:stCxn id="54" idx="3"/>
            <a:endCxn id="56" idx="1"/>
          </p:cNvCxnSpPr>
          <p:nvPr/>
        </p:nvCxnSpPr>
        <p:spPr>
          <a:xfrm>
            <a:off x="1186125" y="1635523"/>
            <a:ext cx="478500" cy="308700"/>
          </a:xfrm>
          <a:prstGeom prst="straightConnector1">
            <a:avLst/>
          </a:prstGeom>
          <a:noFill/>
          <a:ln w="9525" cap="flat" cmpd="sng">
            <a:solidFill>
              <a:srgbClr val="44546A"/>
            </a:solidFill>
            <a:prstDash val="solid"/>
            <a:round/>
            <a:headEnd type="none" w="med" len="med"/>
            <a:tailEnd type="triangle" w="med" len="med"/>
          </a:ln>
        </p:spPr>
      </p:cxnSp>
      <p:cxnSp>
        <p:nvCxnSpPr>
          <p:cNvPr id="75" name="Google Shape;75;p13"/>
          <p:cNvCxnSpPr>
            <a:stCxn id="55" idx="3"/>
            <a:endCxn id="57" idx="1"/>
          </p:cNvCxnSpPr>
          <p:nvPr/>
        </p:nvCxnSpPr>
        <p:spPr>
          <a:xfrm rot="10800000" flipH="1">
            <a:off x="4038775" y="331225"/>
            <a:ext cx="497700" cy="237900"/>
          </a:xfrm>
          <a:prstGeom prst="straightConnector1">
            <a:avLst/>
          </a:prstGeom>
          <a:noFill/>
          <a:ln w="9525" cap="flat" cmpd="sng">
            <a:solidFill>
              <a:srgbClr val="44546A"/>
            </a:solidFill>
            <a:prstDash val="solid"/>
            <a:round/>
            <a:headEnd type="none" w="med" len="med"/>
            <a:tailEnd type="triangle" w="med" len="med"/>
          </a:ln>
        </p:spPr>
      </p:cxnSp>
      <p:cxnSp>
        <p:nvCxnSpPr>
          <p:cNvPr id="76" name="Google Shape;76;p13"/>
          <p:cNvCxnSpPr>
            <a:stCxn id="55" idx="3"/>
            <a:endCxn id="58" idx="1"/>
          </p:cNvCxnSpPr>
          <p:nvPr/>
        </p:nvCxnSpPr>
        <p:spPr>
          <a:xfrm>
            <a:off x="4038775" y="569125"/>
            <a:ext cx="497400" cy="190500"/>
          </a:xfrm>
          <a:prstGeom prst="straightConnector1">
            <a:avLst/>
          </a:prstGeom>
          <a:noFill/>
          <a:ln w="9525" cap="flat" cmpd="sng">
            <a:solidFill>
              <a:srgbClr val="44546A"/>
            </a:solidFill>
            <a:prstDash val="solid"/>
            <a:round/>
            <a:headEnd type="none" w="med" len="med"/>
            <a:tailEnd type="triangle" w="med" len="med"/>
          </a:ln>
        </p:spPr>
      </p:cxnSp>
      <p:cxnSp>
        <p:nvCxnSpPr>
          <p:cNvPr id="77" name="Google Shape;77;p13"/>
          <p:cNvCxnSpPr>
            <a:stCxn id="56" idx="3"/>
            <a:endCxn id="61" idx="1"/>
          </p:cNvCxnSpPr>
          <p:nvPr/>
        </p:nvCxnSpPr>
        <p:spPr>
          <a:xfrm rot="10800000" flipH="1">
            <a:off x="4038775" y="1251175"/>
            <a:ext cx="490200" cy="693000"/>
          </a:xfrm>
          <a:prstGeom prst="straightConnector1">
            <a:avLst/>
          </a:prstGeom>
          <a:noFill/>
          <a:ln w="9525" cap="flat" cmpd="sng">
            <a:solidFill>
              <a:srgbClr val="44546A"/>
            </a:solidFill>
            <a:prstDash val="solid"/>
            <a:round/>
            <a:headEnd type="none" w="med" len="med"/>
            <a:tailEnd type="triangle" w="med" len="med"/>
          </a:ln>
        </p:spPr>
      </p:cxnSp>
      <p:cxnSp>
        <p:nvCxnSpPr>
          <p:cNvPr id="78" name="Google Shape;78;p13"/>
          <p:cNvCxnSpPr>
            <a:stCxn id="56" idx="3"/>
            <a:endCxn id="62" idx="1"/>
          </p:cNvCxnSpPr>
          <p:nvPr/>
        </p:nvCxnSpPr>
        <p:spPr>
          <a:xfrm>
            <a:off x="4038775" y="1944175"/>
            <a:ext cx="518700" cy="247500"/>
          </a:xfrm>
          <a:prstGeom prst="straightConnector1">
            <a:avLst/>
          </a:prstGeom>
          <a:noFill/>
          <a:ln w="9525" cap="flat" cmpd="sng">
            <a:solidFill>
              <a:srgbClr val="44546A"/>
            </a:solidFill>
            <a:prstDash val="solid"/>
            <a:round/>
            <a:headEnd type="none" w="med" len="med"/>
            <a:tailEnd type="triangle" w="med" len="med"/>
          </a:ln>
        </p:spPr>
      </p:cxnSp>
      <p:cxnSp>
        <p:nvCxnSpPr>
          <p:cNvPr id="79" name="Google Shape;79;p13"/>
          <p:cNvCxnSpPr>
            <a:stCxn id="62" idx="3"/>
            <a:endCxn id="63" idx="1"/>
          </p:cNvCxnSpPr>
          <p:nvPr/>
        </p:nvCxnSpPr>
        <p:spPr>
          <a:xfrm rot="10800000" flipH="1">
            <a:off x="5638475" y="1727900"/>
            <a:ext cx="563400" cy="463800"/>
          </a:xfrm>
          <a:prstGeom prst="straightConnector1">
            <a:avLst/>
          </a:prstGeom>
          <a:noFill/>
          <a:ln w="9525" cap="flat" cmpd="sng">
            <a:solidFill>
              <a:srgbClr val="44546A"/>
            </a:solidFill>
            <a:prstDash val="solid"/>
            <a:round/>
            <a:headEnd type="none" w="med" len="med"/>
            <a:tailEnd type="triangle" w="med" len="med"/>
          </a:ln>
        </p:spPr>
      </p:cxnSp>
      <p:cxnSp>
        <p:nvCxnSpPr>
          <p:cNvPr id="80" name="Google Shape;80;p13"/>
          <p:cNvCxnSpPr>
            <a:stCxn id="62" idx="3"/>
            <a:endCxn id="68" idx="1"/>
          </p:cNvCxnSpPr>
          <p:nvPr/>
        </p:nvCxnSpPr>
        <p:spPr>
          <a:xfrm>
            <a:off x="5638475" y="2191700"/>
            <a:ext cx="563400" cy="363900"/>
          </a:xfrm>
          <a:prstGeom prst="straightConnector1">
            <a:avLst/>
          </a:prstGeom>
          <a:noFill/>
          <a:ln w="9525" cap="flat" cmpd="sng">
            <a:solidFill>
              <a:srgbClr val="44546A"/>
            </a:solidFill>
            <a:prstDash val="solid"/>
            <a:round/>
            <a:headEnd type="none" w="med" len="med"/>
            <a:tailEnd type="triangle" w="med" len="med"/>
          </a:ln>
        </p:spPr>
      </p:cxnSp>
      <p:sp>
        <p:nvSpPr>
          <p:cNvPr id="81" name="Google Shape;81;p13"/>
          <p:cNvSpPr txBox="1"/>
          <p:nvPr/>
        </p:nvSpPr>
        <p:spPr>
          <a:xfrm>
            <a:off x="80325" y="3209450"/>
            <a:ext cx="1105800" cy="480030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 sz="1200" b="1">
                <a:solidFill>
                  <a:srgbClr val="000000"/>
                </a:solidFill>
                <a:latin typeface="Times New Roman"/>
                <a:ea typeface="Times New Roman"/>
                <a:cs typeface="Times New Roman"/>
                <a:sym typeface="Times New Roman"/>
              </a:rPr>
              <a:t>GT--AG</a:t>
            </a:r>
            <a:endParaRPr sz="1200" b="1">
              <a:solidFill>
                <a:srgbClr val="000000"/>
              </a:solidFill>
              <a:latin typeface="Times New Roman"/>
              <a:ea typeface="Times New Roman"/>
              <a:cs typeface="Times New Roman"/>
              <a:sym typeface="Times New Roman"/>
            </a:endParaRPr>
          </a:p>
          <a:p>
            <a:pPr marL="0" marR="0" lvl="0" indent="0" algn="ctr" rtl="0">
              <a:spcBef>
                <a:spcPts val="0"/>
              </a:spcBef>
              <a:spcAft>
                <a:spcPts val="0"/>
              </a:spcAft>
              <a:buNone/>
            </a:pPr>
            <a:r>
              <a:rPr lang="en" sz="1200" b="1">
                <a:solidFill>
                  <a:srgbClr val="000000"/>
                </a:solidFill>
                <a:latin typeface="Times New Roman"/>
                <a:ea typeface="Times New Roman"/>
                <a:cs typeface="Times New Roman"/>
                <a:sym typeface="Times New Roman"/>
              </a:rPr>
              <a:t>1,2 splice </a:t>
            </a:r>
            <a:endParaRPr sz="1200" b="1">
              <a:solidFill>
                <a:srgbClr val="000000"/>
              </a:solidFill>
              <a:latin typeface="Times New Roman"/>
              <a:ea typeface="Times New Roman"/>
              <a:cs typeface="Times New Roman"/>
              <a:sym typeface="Times New Roman"/>
            </a:endParaRPr>
          </a:p>
          <a:p>
            <a:pPr marL="0" marR="0" lvl="0" indent="0" algn="ctr" rtl="0">
              <a:spcBef>
                <a:spcPts val="0"/>
              </a:spcBef>
              <a:spcAft>
                <a:spcPts val="0"/>
              </a:spcAft>
              <a:buNone/>
            </a:pPr>
            <a:r>
              <a:rPr lang="en" sz="1200" b="1">
                <a:solidFill>
                  <a:srgbClr val="000000"/>
                </a:solidFill>
                <a:latin typeface="Times New Roman"/>
                <a:ea typeface="Times New Roman"/>
                <a:cs typeface="Times New Roman"/>
                <a:sym typeface="Times New Roman"/>
              </a:rPr>
              <a:t>sites </a:t>
            </a:r>
            <a:r>
              <a:rPr lang="en" sz="1200" b="1" baseline="30000">
                <a:solidFill>
                  <a:srgbClr val="000000"/>
                </a:solidFill>
                <a:latin typeface="Times New Roman"/>
                <a:ea typeface="Times New Roman"/>
                <a:cs typeface="Times New Roman"/>
                <a:sym typeface="Times New Roman"/>
              </a:rPr>
              <a:t>a</a:t>
            </a:r>
            <a:endParaRPr b="1" baseline="30000"/>
          </a:p>
        </p:txBody>
      </p:sp>
      <p:sp>
        <p:nvSpPr>
          <p:cNvPr id="82" name="Google Shape;82;p13"/>
          <p:cNvSpPr/>
          <p:nvPr/>
        </p:nvSpPr>
        <p:spPr>
          <a:xfrm>
            <a:off x="1664575" y="3308700"/>
            <a:ext cx="2374200" cy="80250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 sz="1200">
                <a:latin typeface="Times New Roman"/>
                <a:ea typeface="Times New Roman"/>
                <a:cs typeface="Times New Roman"/>
                <a:sym typeface="Times New Roman"/>
              </a:rPr>
              <a:t>Exon skipping or use of a cryptic splice site d</a:t>
            </a:r>
            <a:r>
              <a:rPr lang="en" sz="1200" b="0" i="0" u="none" strike="noStrike" cap="none">
                <a:solidFill>
                  <a:srgbClr val="000000"/>
                </a:solidFill>
                <a:latin typeface="Times New Roman"/>
                <a:ea typeface="Times New Roman"/>
                <a:cs typeface="Times New Roman"/>
                <a:sym typeface="Times New Roman"/>
              </a:rPr>
              <a:t>isrupts reading frame and is predicted to undergo NMD</a:t>
            </a:r>
            <a:r>
              <a:rPr lang="en" sz="1200">
                <a:solidFill>
                  <a:schemeClr val="dk1"/>
                </a:solidFill>
                <a:latin typeface="Times New Roman"/>
                <a:ea typeface="Times New Roman"/>
                <a:cs typeface="Times New Roman"/>
                <a:sym typeface="Times New Roman"/>
              </a:rPr>
              <a:t> </a:t>
            </a:r>
            <a:r>
              <a:rPr lang="en" sz="1200" baseline="30000">
                <a:solidFill>
                  <a:schemeClr val="dk1"/>
                </a:solidFill>
                <a:latin typeface="Times New Roman"/>
                <a:ea typeface="Times New Roman"/>
                <a:cs typeface="Times New Roman"/>
                <a:sym typeface="Times New Roman"/>
              </a:rPr>
              <a:t>b</a:t>
            </a:r>
            <a:endParaRPr/>
          </a:p>
        </p:txBody>
      </p:sp>
      <p:sp>
        <p:nvSpPr>
          <p:cNvPr id="83" name="Google Shape;83;p13"/>
          <p:cNvSpPr/>
          <p:nvPr/>
        </p:nvSpPr>
        <p:spPr>
          <a:xfrm>
            <a:off x="1654125" y="6290300"/>
            <a:ext cx="2374200" cy="155820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 sz="1200">
                <a:latin typeface="Times New Roman"/>
                <a:ea typeface="Times New Roman"/>
                <a:cs typeface="Times New Roman"/>
                <a:sym typeface="Times New Roman"/>
              </a:rPr>
              <a:t>Exon skipping or use of a cryptic splice site p</a:t>
            </a:r>
            <a:r>
              <a:rPr lang="en" sz="1200" b="0" i="0" u="none" strike="noStrike" cap="none">
                <a:solidFill>
                  <a:srgbClr val="000000"/>
                </a:solidFill>
                <a:latin typeface="Times New Roman"/>
                <a:ea typeface="Times New Roman"/>
                <a:cs typeface="Times New Roman"/>
                <a:sym typeface="Times New Roman"/>
              </a:rPr>
              <a:t>reserves reading frame</a:t>
            </a:r>
            <a:endParaRPr/>
          </a:p>
        </p:txBody>
      </p:sp>
      <p:sp>
        <p:nvSpPr>
          <p:cNvPr id="84" name="Google Shape;84;p13"/>
          <p:cNvSpPr/>
          <p:nvPr/>
        </p:nvSpPr>
        <p:spPr>
          <a:xfrm>
            <a:off x="4536350" y="3232500"/>
            <a:ext cx="5868000" cy="27690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 sz="1200" b="0" i="0" u="none" strike="noStrike" cap="none">
                <a:solidFill>
                  <a:srgbClr val="000000"/>
                </a:solidFill>
                <a:latin typeface="Times New Roman"/>
                <a:ea typeface="Times New Roman"/>
                <a:cs typeface="Times New Roman"/>
                <a:sym typeface="Times New Roman"/>
              </a:rPr>
              <a:t>Exon is present in </a:t>
            </a:r>
            <a:r>
              <a:rPr lang="en" sz="1200">
                <a:solidFill>
                  <a:srgbClr val="000000"/>
                </a:solidFill>
                <a:latin typeface="Times New Roman"/>
                <a:ea typeface="Times New Roman"/>
                <a:cs typeface="Times New Roman"/>
                <a:sym typeface="Times New Roman"/>
              </a:rPr>
              <a:t>biologically-</a:t>
            </a:r>
            <a:r>
              <a:rPr lang="en" sz="1200" b="0" i="0" u="none" strike="noStrike" cap="none">
                <a:solidFill>
                  <a:srgbClr val="000000"/>
                </a:solidFill>
                <a:latin typeface="Times New Roman"/>
                <a:ea typeface="Times New Roman"/>
                <a:cs typeface="Times New Roman"/>
                <a:sym typeface="Times New Roman"/>
              </a:rPr>
              <a:t>relevant transcript(s)</a:t>
            </a:r>
            <a:endParaRPr/>
          </a:p>
        </p:txBody>
      </p:sp>
      <p:sp>
        <p:nvSpPr>
          <p:cNvPr id="85" name="Google Shape;85;p13"/>
          <p:cNvSpPr/>
          <p:nvPr/>
        </p:nvSpPr>
        <p:spPr>
          <a:xfrm>
            <a:off x="4507775" y="4114825"/>
            <a:ext cx="5896500" cy="27690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 sz="1200">
                <a:solidFill>
                  <a:srgbClr val="000000"/>
                </a:solidFill>
                <a:latin typeface="Times New Roman"/>
                <a:ea typeface="Times New Roman"/>
                <a:cs typeface="Times New Roman"/>
                <a:sym typeface="Times New Roman"/>
              </a:rPr>
              <a:t>Truncated/altered region is critical to protein function </a:t>
            </a:r>
            <a:r>
              <a:rPr lang="en" sz="1200" baseline="30000">
                <a:latin typeface="Times New Roman"/>
                <a:ea typeface="Times New Roman"/>
                <a:cs typeface="Times New Roman"/>
                <a:sym typeface="Times New Roman"/>
              </a:rPr>
              <a:t>c</a:t>
            </a:r>
            <a:endParaRPr sz="1200">
              <a:solidFill>
                <a:srgbClr val="000000"/>
              </a:solidFill>
              <a:latin typeface="Times New Roman"/>
              <a:ea typeface="Times New Roman"/>
              <a:cs typeface="Times New Roman"/>
              <a:sym typeface="Times New Roman"/>
            </a:endParaRPr>
          </a:p>
        </p:txBody>
      </p:sp>
      <p:sp>
        <p:nvSpPr>
          <p:cNvPr id="86" name="Google Shape;86;p13"/>
          <p:cNvSpPr/>
          <p:nvPr/>
        </p:nvSpPr>
        <p:spPr>
          <a:xfrm>
            <a:off x="4536275" y="3661075"/>
            <a:ext cx="5868000" cy="27690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 sz="1200" b="0" i="0" u="none" strike="noStrike" cap="none">
                <a:solidFill>
                  <a:srgbClr val="000000"/>
                </a:solidFill>
                <a:latin typeface="Times New Roman"/>
                <a:ea typeface="Times New Roman"/>
                <a:cs typeface="Times New Roman"/>
                <a:sym typeface="Times New Roman"/>
              </a:rPr>
              <a:t>Exon is absent from </a:t>
            </a:r>
            <a:r>
              <a:rPr lang="en" sz="1200">
                <a:solidFill>
                  <a:srgbClr val="000000"/>
                </a:solidFill>
                <a:latin typeface="Times New Roman"/>
                <a:ea typeface="Times New Roman"/>
                <a:cs typeface="Times New Roman"/>
                <a:sym typeface="Times New Roman"/>
              </a:rPr>
              <a:t>biologically-relevant transcript(s)</a:t>
            </a:r>
            <a:endParaRPr sz="1200">
              <a:solidFill>
                <a:srgbClr val="000000"/>
              </a:solidFill>
              <a:latin typeface="Times New Roman"/>
              <a:ea typeface="Times New Roman"/>
              <a:cs typeface="Times New Roman"/>
              <a:sym typeface="Times New Roman"/>
            </a:endParaRPr>
          </a:p>
        </p:txBody>
      </p:sp>
      <p:sp>
        <p:nvSpPr>
          <p:cNvPr id="87" name="Google Shape;87;p13"/>
          <p:cNvSpPr/>
          <p:nvPr/>
        </p:nvSpPr>
        <p:spPr>
          <a:xfrm>
            <a:off x="4536350" y="4489275"/>
            <a:ext cx="1080900" cy="155820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 sz="1200">
                <a:solidFill>
                  <a:srgbClr val="000000"/>
                </a:solidFill>
                <a:latin typeface="Times New Roman"/>
                <a:ea typeface="Times New Roman"/>
                <a:cs typeface="Times New Roman"/>
                <a:sym typeface="Times New Roman"/>
              </a:rPr>
              <a:t>Role of region in protein function is unknown</a:t>
            </a:r>
            <a:endParaRPr/>
          </a:p>
        </p:txBody>
      </p:sp>
      <p:sp>
        <p:nvSpPr>
          <p:cNvPr id="88" name="Google Shape;88;p13"/>
          <p:cNvSpPr/>
          <p:nvPr/>
        </p:nvSpPr>
        <p:spPr>
          <a:xfrm>
            <a:off x="6180650" y="4499200"/>
            <a:ext cx="4234500" cy="46170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 sz="1200">
                <a:solidFill>
                  <a:srgbClr val="000000"/>
                </a:solidFill>
                <a:latin typeface="Times New Roman"/>
                <a:ea typeface="Times New Roman"/>
                <a:cs typeface="Times New Roman"/>
                <a:sym typeface="Times New Roman"/>
              </a:rPr>
              <a:t>L</a:t>
            </a:r>
            <a:r>
              <a:rPr lang="en" sz="1200">
                <a:latin typeface="Times New Roman"/>
                <a:ea typeface="Times New Roman"/>
                <a:cs typeface="Times New Roman"/>
                <a:sym typeface="Times New Roman"/>
              </a:rPr>
              <a:t>o</a:t>
            </a:r>
            <a:r>
              <a:rPr lang="en" sz="1200">
                <a:solidFill>
                  <a:srgbClr val="000000"/>
                </a:solidFill>
                <a:latin typeface="Times New Roman"/>
                <a:ea typeface="Times New Roman"/>
                <a:cs typeface="Times New Roman"/>
                <a:sym typeface="Times New Roman"/>
              </a:rPr>
              <a:t>F variants in this exon are frequent in the general population and/or exon is absent from biologically-relevant transcript(s)</a:t>
            </a:r>
            <a:endParaRPr/>
          </a:p>
        </p:txBody>
      </p:sp>
      <p:sp>
        <p:nvSpPr>
          <p:cNvPr id="89" name="Google Shape;89;p13"/>
          <p:cNvSpPr/>
          <p:nvPr/>
        </p:nvSpPr>
        <p:spPr>
          <a:xfrm>
            <a:off x="6180650" y="5068725"/>
            <a:ext cx="2618100" cy="97890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lvl="0" indent="0" algn="ctr" rtl="0">
              <a:spcBef>
                <a:spcPts val="0"/>
              </a:spcBef>
              <a:spcAft>
                <a:spcPts val="0"/>
              </a:spcAft>
              <a:buNone/>
            </a:pPr>
            <a:r>
              <a:rPr lang="en" sz="1200">
                <a:solidFill>
                  <a:srgbClr val="000000"/>
                </a:solidFill>
                <a:latin typeface="Times New Roman"/>
                <a:ea typeface="Times New Roman"/>
                <a:cs typeface="Times New Roman"/>
                <a:sym typeface="Times New Roman"/>
              </a:rPr>
              <a:t>L</a:t>
            </a:r>
            <a:r>
              <a:rPr lang="en" sz="1200">
                <a:latin typeface="Times New Roman"/>
                <a:ea typeface="Times New Roman"/>
                <a:cs typeface="Times New Roman"/>
                <a:sym typeface="Times New Roman"/>
              </a:rPr>
              <a:t>o</a:t>
            </a:r>
            <a:r>
              <a:rPr lang="en" sz="1200">
                <a:solidFill>
                  <a:srgbClr val="000000"/>
                </a:solidFill>
                <a:latin typeface="Times New Roman"/>
                <a:ea typeface="Times New Roman"/>
                <a:cs typeface="Times New Roman"/>
                <a:sym typeface="Times New Roman"/>
              </a:rPr>
              <a:t>F variants in this exon are not frequent in the general population and exon is present in biologically-relevant transcript(s)</a:t>
            </a:r>
            <a:endParaRPr sz="1200">
              <a:solidFill>
                <a:srgbClr val="000000"/>
              </a:solidFill>
              <a:latin typeface="Times New Roman"/>
              <a:ea typeface="Times New Roman"/>
              <a:cs typeface="Times New Roman"/>
              <a:sym typeface="Times New Roman"/>
            </a:endParaRPr>
          </a:p>
        </p:txBody>
      </p:sp>
      <p:sp>
        <p:nvSpPr>
          <p:cNvPr id="90" name="Google Shape;90;p13"/>
          <p:cNvSpPr/>
          <p:nvPr/>
        </p:nvSpPr>
        <p:spPr>
          <a:xfrm>
            <a:off x="9183675" y="5068725"/>
            <a:ext cx="1231500" cy="45270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 sz="1200">
                <a:solidFill>
                  <a:srgbClr val="000000"/>
                </a:solidFill>
                <a:latin typeface="Times New Roman"/>
                <a:ea typeface="Times New Roman"/>
                <a:cs typeface="Times New Roman"/>
                <a:sym typeface="Times New Roman"/>
              </a:rPr>
              <a:t>Variant removes </a:t>
            </a:r>
            <a:r>
              <a:rPr lang="en" sz="1200" b="0" i="0" u="none" strike="noStrike" cap="none">
                <a:solidFill>
                  <a:srgbClr val="000000"/>
                </a:solidFill>
                <a:latin typeface="Times New Roman"/>
                <a:ea typeface="Times New Roman"/>
                <a:cs typeface="Times New Roman"/>
                <a:sym typeface="Times New Roman"/>
              </a:rPr>
              <a:t>&gt;10% of protein</a:t>
            </a:r>
            <a:endParaRPr/>
          </a:p>
        </p:txBody>
      </p:sp>
      <p:sp>
        <p:nvSpPr>
          <p:cNvPr id="91" name="Google Shape;91;p13"/>
          <p:cNvSpPr/>
          <p:nvPr/>
        </p:nvSpPr>
        <p:spPr>
          <a:xfrm>
            <a:off x="4533750" y="7752350"/>
            <a:ext cx="5907300" cy="27690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lvl="0" indent="0" algn="ctr" rtl="0">
              <a:spcBef>
                <a:spcPts val="0"/>
              </a:spcBef>
              <a:spcAft>
                <a:spcPts val="0"/>
              </a:spcAft>
              <a:buNone/>
            </a:pPr>
            <a:r>
              <a:rPr lang="en" sz="1200">
                <a:solidFill>
                  <a:srgbClr val="000000"/>
                </a:solidFill>
                <a:latin typeface="Times New Roman"/>
                <a:ea typeface="Times New Roman"/>
                <a:cs typeface="Times New Roman"/>
                <a:sym typeface="Times New Roman"/>
              </a:rPr>
              <a:t>Truncated/altered region is critical to protein function </a:t>
            </a:r>
            <a:r>
              <a:rPr lang="en" sz="1200" baseline="30000">
                <a:latin typeface="Times New Roman"/>
                <a:ea typeface="Times New Roman"/>
                <a:cs typeface="Times New Roman"/>
                <a:sym typeface="Times New Roman"/>
              </a:rPr>
              <a:t>c</a:t>
            </a:r>
            <a:endParaRPr sz="1200">
              <a:solidFill>
                <a:srgbClr val="000000"/>
              </a:solidFill>
              <a:latin typeface="Times New Roman"/>
              <a:ea typeface="Times New Roman"/>
              <a:cs typeface="Times New Roman"/>
              <a:sym typeface="Times New Roman"/>
            </a:endParaRPr>
          </a:p>
        </p:txBody>
      </p:sp>
      <p:sp>
        <p:nvSpPr>
          <p:cNvPr id="92" name="Google Shape;92;p13"/>
          <p:cNvSpPr/>
          <p:nvPr/>
        </p:nvSpPr>
        <p:spPr>
          <a:xfrm>
            <a:off x="10945225" y="3232500"/>
            <a:ext cx="1281000" cy="27690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 sz="1200" b="0" i="0" u="none" strike="noStrike" cap="none">
                <a:solidFill>
                  <a:srgbClr val="000000"/>
                </a:solidFill>
                <a:latin typeface="Times New Roman"/>
                <a:ea typeface="Times New Roman"/>
                <a:cs typeface="Times New Roman"/>
                <a:sym typeface="Times New Roman"/>
              </a:rPr>
              <a:t>PVS1</a:t>
            </a:r>
            <a:endParaRPr/>
          </a:p>
        </p:txBody>
      </p:sp>
      <p:sp>
        <p:nvSpPr>
          <p:cNvPr id="93" name="Google Shape;93;p13"/>
          <p:cNvSpPr/>
          <p:nvPr/>
        </p:nvSpPr>
        <p:spPr>
          <a:xfrm>
            <a:off x="10945225" y="3661075"/>
            <a:ext cx="1281000" cy="27690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 sz="1200" b="0" i="0" u="none" strike="noStrike" cap="none">
                <a:solidFill>
                  <a:srgbClr val="000000"/>
                </a:solidFill>
                <a:latin typeface="Times New Roman"/>
                <a:ea typeface="Times New Roman"/>
                <a:cs typeface="Times New Roman"/>
                <a:sym typeface="Times New Roman"/>
              </a:rPr>
              <a:t>N/A</a:t>
            </a:r>
            <a:endParaRPr/>
          </a:p>
        </p:txBody>
      </p:sp>
      <p:sp>
        <p:nvSpPr>
          <p:cNvPr id="94" name="Google Shape;94;p13"/>
          <p:cNvSpPr/>
          <p:nvPr/>
        </p:nvSpPr>
        <p:spPr>
          <a:xfrm>
            <a:off x="10945225" y="4114825"/>
            <a:ext cx="1281000" cy="27690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 sz="1200" b="0" i="0" u="none" strike="noStrike" cap="none">
                <a:solidFill>
                  <a:srgbClr val="000000"/>
                </a:solidFill>
                <a:latin typeface="Times New Roman"/>
                <a:ea typeface="Times New Roman"/>
                <a:cs typeface="Times New Roman"/>
                <a:sym typeface="Times New Roman"/>
              </a:rPr>
              <a:t>PVS1_Strong</a:t>
            </a:r>
            <a:endParaRPr/>
          </a:p>
        </p:txBody>
      </p:sp>
      <p:sp>
        <p:nvSpPr>
          <p:cNvPr id="95" name="Google Shape;95;p13"/>
          <p:cNvSpPr/>
          <p:nvPr/>
        </p:nvSpPr>
        <p:spPr>
          <a:xfrm>
            <a:off x="10945225" y="4544350"/>
            <a:ext cx="1281000" cy="37140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 sz="1200" b="0" i="0" u="none" strike="noStrike" cap="none">
                <a:solidFill>
                  <a:srgbClr val="000000"/>
                </a:solidFill>
                <a:latin typeface="Times New Roman"/>
                <a:ea typeface="Times New Roman"/>
                <a:cs typeface="Times New Roman"/>
                <a:sym typeface="Times New Roman"/>
              </a:rPr>
              <a:t>N/A</a:t>
            </a:r>
            <a:endParaRPr/>
          </a:p>
        </p:txBody>
      </p:sp>
      <p:sp>
        <p:nvSpPr>
          <p:cNvPr id="96" name="Google Shape;96;p13"/>
          <p:cNvSpPr/>
          <p:nvPr/>
        </p:nvSpPr>
        <p:spPr>
          <a:xfrm>
            <a:off x="10945225" y="5132925"/>
            <a:ext cx="1281000" cy="32430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 sz="1200" b="0" i="0" u="none" strike="noStrike" cap="none">
                <a:solidFill>
                  <a:srgbClr val="000000"/>
                </a:solidFill>
                <a:latin typeface="Times New Roman"/>
                <a:ea typeface="Times New Roman"/>
                <a:cs typeface="Times New Roman"/>
                <a:sym typeface="Times New Roman"/>
              </a:rPr>
              <a:t>PVS1_Strong</a:t>
            </a:r>
            <a:endParaRPr/>
          </a:p>
        </p:txBody>
      </p:sp>
      <p:sp>
        <p:nvSpPr>
          <p:cNvPr id="97" name="Google Shape;97;p13"/>
          <p:cNvSpPr/>
          <p:nvPr/>
        </p:nvSpPr>
        <p:spPr>
          <a:xfrm>
            <a:off x="10945225" y="5635550"/>
            <a:ext cx="1281000" cy="37140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 sz="1200">
                <a:latin typeface="Times New Roman"/>
                <a:ea typeface="Times New Roman"/>
                <a:cs typeface="Times New Roman"/>
                <a:sym typeface="Times New Roman"/>
              </a:rPr>
              <a:t>PVS1_Moderate</a:t>
            </a:r>
            <a:endParaRPr/>
          </a:p>
        </p:txBody>
      </p:sp>
      <p:sp>
        <p:nvSpPr>
          <p:cNvPr id="98" name="Google Shape;98;p13"/>
          <p:cNvSpPr/>
          <p:nvPr/>
        </p:nvSpPr>
        <p:spPr>
          <a:xfrm>
            <a:off x="10945225" y="7759100"/>
            <a:ext cx="1281000" cy="27690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 sz="1200" b="0" i="0" u="none" strike="noStrike" cap="none">
                <a:solidFill>
                  <a:srgbClr val="000000"/>
                </a:solidFill>
                <a:latin typeface="Times New Roman"/>
                <a:ea typeface="Times New Roman"/>
                <a:cs typeface="Times New Roman"/>
                <a:sym typeface="Times New Roman"/>
              </a:rPr>
              <a:t>PVS1_Strong</a:t>
            </a:r>
            <a:endParaRPr/>
          </a:p>
        </p:txBody>
      </p:sp>
      <p:sp>
        <p:nvSpPr>
          <p:cNvPr id="99" name="Google Shape;99;p13"/>
          <p:cNvSpPr/>
          <p:nvPr/>
        </p:nvSpPr>
        <p:spPr>
          <a:xfrm>
            <a:off x="9183600" y="5594900"/>
            <a:ext cx="1231500" cy="45270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 sz="1200">
                <a:solidFill>
                  <a:srgbClr val="000000"/>
                </a:solidFill>
                <a:latin typeface="Times New Roman"/>
                <a:ea typeface="Times New Roman"/>
                <a:cs typeface="Times New Roman"/>
                <a:sym typeface="Times New Roman"/>
              </a:rPr>
              <a:t>Variant removes &lt;</a:t>
            </a:r>
            <a:r>
              <a:rPr lang="en" sz="1200" b="0" i="0" u="none" strike="noStrike" cap="none">
                <a:solidFill>
                  <a:srgbClr val="000000"/>
                </a:solidFill>
                <a:latin typeface="Times New Roman"/>
                <a:ea typeface="Times New Roman"/>
                <a:cs typeface="Times New Roman"/>
                <a:sym typeface="Times New Roman"/>
              </a:rPr>
              <a:t>10% of p</a:t>
            </a:r>
            <a:r>
              <a:rPr lang="en" sz="1200">
                <a:solidFill>
                  <a:srgbClr val="000000"/>
                </a:solidFill>
                <a:latin typeface="Times New Roman"/>
                <a:ea typeface="Times New Roman"/>
                <a:cs typeface="Times New Roman"/>
                <a:sym typeface="Times New Roman"/>
              </a:rPr>
              <a:t>rotein</a:t>
            </a:r>
            <a:endParaRPr/>
          </a:p>
        </p:txBody>
      </p:sp>
      <p:sp>
        <p:nvSpPr>
          <p:cNvPr id="100" name="Google Shape;100;p13"/>
          <p:cNvSpPr/>
          <p:nvPr/>
        </p:nvSpPr>
        <p:spPr>
          <a:xfrm>
            <a:off x="1643625" y="4315725"/>
            <a:ext cx="2395200" cy="161220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 sz="1200">
                <a:latin typeface="Times New Roman"/>
                <a:ea typeface="Times New Roman"/>
                <a:cs typeface="Times New Roman"/>
                <a:sym typeface="Times New Roman"/>
              </a:rPr>
              <a:t>Exon skipping or use of a cryptic splice site d</a:t>
            </a:r>
            <a:r>
              <a:rPr lang="en" sz="1200" b="0" i="0" u="none" strike="noStrike" cap="none">
                <a:solidFill>
                  <a:srgbClr val="000000"/>
                </a:solidFill>
                <a:latin typeface="Times New Roman"/>
                <a:ea typeface="Times New Roman"/>
                <a:cs typeface="Times New Roman"/>
                <a:sym typeface="Times New Roman"/>
              </a:rPr>
              <a:t>isrupts reading frame and is </a:t>
            </a:r>
            <a:r>
              <a:rPr lang="en" sz="1200" b="1">
                <a:solidFill>
                  <a:srgbClr val="000000"/>
                </a:solidFill>
                <a:latin typeface="Times New Roman"/>
                <a:ea typeface="Times New Roman"/>
                <a:cs typeface="Times New Roman"/>
                <a:sym typeface="Times New Roman"/>
              </a:rPr>
              <a:t>NOT</a:t>
            </a:r>
            <a:r>
              <a:rPr lang="en" sz="1200" b="0" i="0" u="none" strike="noStrike" cap="none">
                <a:solidFill>
                  <a:srgbClr val="000000"/>
                </a:solidFill>
                <a:latin typeface="Times New Roman"/>
                <a:ea typeface="Times New Roman"/>
                <a:cs typeface="Times New Roman"/>
                <a:sym typeface="Times New Roman"/>
              </a:rPr>
              <a:t> predicted to undergo NMD</a:t>
            </a:r>
            <a:r>
              <a:rPr lang="en" sz="1200">
                <a:solidFill>
                  <a:schemeClr val="dk1"/>
                </a:solidFill>
                <a:latin typeface="Times New Roman"/>
                <a:ea typeface="Times New Roman"/>
                <a:cs typeface="Times New Roman"/>
                <a:sym typeface="Times New Roman"/>
              </a:rPr>
              <a:t> </a:t>
            </a:r>
            <a:r>
              <a:rPr lang="en" sz="1200" baseline="30000">
                <a:solidFill>
                  <a:schemeClr val="dk1"/>
                </a:solidFill>
                <a:latin typeface="Times New Roman"/>
                <a:ea typeface="Times New Roman"/>
                <a:cs typeface="Times New Roman"/>
                <a:sym typeface="Times New Roman"/>
              </a:rPr>
              <a:t>b</a:t>
            </a:r>
            <a:endParaRPr/>
          </a:p>
        </p:txBody>
      </p:sp>
      <p:cxnSp>
        <p:nvCxnSpPr>
          <p:cNvPr id="101" name="Google Shape;101;p13"/>
          <p:cNvCxnSpPr>
            <a:stCxn id="81" idx="3"/>
            <a:endCxn id="82" idx="1"/>
          </p:cNvCxnSpPr>
          <p:nvPr/>
        </p:nvCxnSpPr>
        <p:spPr>
          <a:xfrm rot="10800000" flipH="1">
            <a:off x="1186125" y="3710000"/>
            <a:ext cx="478500" cy="1899600"/>
          </a:xfrm>
          <a:prstGeom prst="straightConnector1">
            <a:avLst/>
          </a:prstGeom>
          <a:noFill/>
          <a:ln w="9525" cap="flat" cmpd="sng">
            <a:solidFill>
              <a:srgbClr val="44546A"/>
            </a:solidFill>
            <a:prstDash val="solid"/>
            <a:round/>
            <a:headEnd type="none" w="med" len="med"/>
            <a:tailEnd type="triangle" w="med" len="med"/>
          </a:ln>
        </p:spPr>
      </p:cxnSp>
      <p:cxnSp>
        <p:nvCxnSpPr>
          <p:cNvPr id="102" name="Google Shape;102;p13"/>
          <p:cNvCxnSpPr>
            <a:stCxn id="81" idx="3"/>
            <a:endCxn id="100" idx="1"/>
          </p:cNvCxnSpPr>
          <p:nvPr/>
        </p:nvCxnSpPr>
        <p:spPr>
          <a:xfrm rot="10800000" flipH="1">
            <a:off x="1186125" y="5121800"/>
            <a:ext cx="457500" cy="487800"/>
          </a:xfrm>
          <a:prstGeom prst="straightConnector1">
            <a:avLst/>
          </a:prstGeom>
          <a:noFill/>
          <a:ln w="9525" cap="flat" cmpd="sng">
            <a:solidFill>
              <a:srgbClr val="44546A"/>
            </a:solidFill>
            <a:prstDash val="solid"/>
            <a:round/>
            <a:headEnd type="none" w="med" len="med"/>
            <a:tailEnd type="triangle" w="med" len="med"/>
          </a:ln>
        </p:spPr>
      </p:cxnSp>
      <p:cxnSp>
        <p:nvCxnSpPr>
          <p:cNvPr id="103" name="Google Shape;103;p13"/>
          <p:cNvCxnSpPr>
            <a:stCxn id="81" idx="3"/>
            <a:endCxn id="83" idx="1"/>
          </p:cNvCxnSpPr>
          <p:nvPr/>
        </p:nvCxnSpPr>
        <p:spPr>
          <a:xfrm>
            <a:off x="1186125" y="5609600"/>
            <a:ext cx="468000" cy="1459800"/>
          </a:xfrm>
          <a:prstGeom prst="straightConnector1">
            <a:avLst/>
          </a:prstGeom>
          <a:noFill/>
          <a:ln w="9525" cap="flat" cmpd="sng">
            <a:solidFill>
              <a:srgbClr val="44546A"/>
            </a:solidFill>
            <a:prstDash val="solid"/>
            <a:round/>
            <a:headEnd type="none" w="med" len="med"/>
            <a:tailEnd type="triangle" w="med" len="med"/>
          </a:ln>
        </p:spPr>
      </p:cxnSp>
      <p:cxnSp>
        <p:nvCxnSpPr>
          <p:cNvPr id="104" name="Google Shape;104;p13"/>
          <p:cNvCxnSpPr>
            <a:stCxn id="82" idx="3"/>
            <a:endCxn id="84" idx="1"/>
          </p:cNvCxnSpPr>
          <p:nvPr/>
        </p:nvCxnSpPr>
        <p:spPr>
          <a:xfrm rot="10800000" flipH="1">
            <a:off x="4038775" y="3370950"/>
            <a:ext cx="497700" cy="339000"/>
          </a:xfrm>
          <a:prstGeom prst="straightConnector1">
            <a:avLst/>
          </a:prstGeom>
          <a:noFill/>
          <a:ln w="9525" cap="flat" cmpd="sng">
            <a:solidFill>
              <a:srgbClr val="44546A"/>
            </a:solidFill>
            <a:prstDash val="solid"/>
            <a:round/>
            <a:headEnd type="none" w="med" len="med"/>
            <a:tailEnd type="triangle" w="med" len="med"/>
          </a:ln>
        </p:spPr>
      </p:cxnSp>
      <p:cxnSp>
        <p:nvCxnSpPr>
          <p:cNvPr id="105" name="Google Shape;105;p13"/>
          <p:cNvCxnSpPr>
            <a:stCxn id="82" idx="3"/>
            <a:endCxn id="86" idx="1"/>
          </p:cNvCxnSpPr>
          <p:nvPr/>
        </p:nvCxnSpPr>
        <p:spPr>
          <a:xfrm>
            <a:off x="4038775" y="3709950"/>
            <a:ext cx="497400" cy="89700"/>
          </a:xfrm>
          <a:prstGeom prst="straightConnector1">
            <a:avLst/>
          </a:prstGeom>
          <a:noFill/>
          <a:ln w="9525" cap="flat" cmpd="sng">
            <a:solidFill>
              <a:srgbClr val="44546A"/>
            </a:solidFill>
            <a:prstDash val="solid"/>
            <a:round/>
            <a:headEnd type="none" w="med" len="med"/>
            <a:tailEnd type="triangle" w="med" len="med"/>
          </a:ln>
        </p:spPr>
      </p:cxnSp>
      <p:cxnSp>
        <p:nvCxnSpPr>
          <p:cNvPr id="106" name="Google Shape;106;p13"/>
          <p:cNvCxnSpPr>
            <a:stCxn id="100" idx="3"/>
            <a:endCxn id="85" idx="1"/>
          </p:cNvCxnSpPr>
          <p:nvPr/>
        </p:nvCxnSpPr>
        <p:spPr>
          <a:xfrm rot="10800000" flipH="1">
            <a:off x="4038825" y="4253325"/>
            <a:ext cx="468900" cy="868500"/>
          </a:xfrm>
          <a:prstGeom prst="straightConnector1">
            <a:avLst/>
          </a:prstGeom>
          <a:noFill/>
          <a:ln w="9525" cap="flat" cmpd="sng">
            <a:solidFill>
              <a:srgbClr val="44546A"/>
            </a:solidFill>
            <a:prstDash val="solid"/>
            <a:round/>
            <a:headEnd type="none" w="med" len="med"/>
            <a:tailEnd type="triangle" w="med" len="med"/>
          </a:ln>
        </p:spPr>
      </p:cxnSp>
      <p:cxnSp>
        <p:nvCxnSpPr>
          <p:cNvPr id="107" name="Google Shape;107;p13"/>
          <p:cNvCxnSpPr>
            <a:stCxn id="100" idx="3"/>
            <a:endCxn id="87" idx="1"/>
          </p:cNvCxnSpPr>
          <p:nvPr/>
        </p:nvCxnSpPr>
        <p:spPr>
          <a:xfrm>
            <a:off x="4038825" y="5121825"/>
            <a:ext cx="497400" cy="146700"/>
          </a:xfrm>
          <a:prstGeom prst="straightConnector1">
            <a:avLst/>
          </a:prstGeom>
          <a:noFill/>
          <a:ln w="9525" cap="flat" cmpd="sng">
            <a:solidFill>
              <a:srgbClr val="44546A"/>
            </a:solidFill>
            <a:prstDash val="solid"/>
            <a:round/>
            <a:headEnd type="none" w="med" len="med"/>
            <a:tailEnd type="triangle" w="med" len="med"/>
          </a:ln>
        </p:spPr>
      </p:cxnSp>
      <p:cxnSp>
        <p:nvCxnSpPr>
          <p:cNvPr id="108" name="Google Shape;108;p13"/>
          <p:cNvCxnSpPr>
            <a:stCxn id="87" idx="3"/>
            <a:endCxn id="88" idx="1"/>
          </p:cNvCxnSpPr>
          <p:nvPr/>
        </p:nvCxnSpPr>
        <p:spPr>
          <a:xfrm rot="10800000" flipH="1">
            <a:off x="5617250" y="4730175"/>
            <a:ext cx="563400" cy="538200"/>
          </a:xfrm>
          <a:prstGeom prst="straightConnector1">
            <a:avLst/>
          </a:prstGeom>
          <a:noFill/>
          <a:ln w="9525" cap="flat" cmpd="sng">
            <a:solidFill>
              <a:srgbClr val="44546A"/>
            </a:solidFill>
            <a:prstDash val="solid"/>
            <a:round/>
            <a:headEnd type="none" w="med" len="med"/>
            <a:tailEnd type="triangle" w="med" len="med"/>
          </a:ln>
        </p:spPr>
      </p:cxnSp>
      <p:cxnSp>
        <p:nvCxnSpPr>
          <p:cNvPr id="109" name="Google Shape;109;p13"/>
          <p:cNvCxnSpPr>
            <a:stCxn id="87" idx="3"/>
            <a:endCxn id="89" idx="1"/>
          </p:cNvCxnSpPr>
          <p:nvPr/>
        </p:nvCxnSpPr>
        <p:spPr>
          <a:xfrm>
            <a:off x="5617250" y="5268375"/>
            <a:ext cx="563400" cy="289800"/>
          </a:xfrm>
          <a:prstGeom prst="straightConnector1">
            <a:avLst/>
          </a:prstGeom>
          <a:noFill/>
          <a:ln w="9525" cap="flat" cmpd="sng">
            <a:solidFill>
              <a:srgbClr val="44546A"/>
            </a:solidFill>
            <a:prstDash val="solid"/>
            <a:round/>
            <a:headEnd type="none" w="med" len="med"/>
            <a:tailEnd type="triangle" w="med" len="med"/>
          </a:ln>
        </p:spPr>
      </p:cxnSp>
      <p:cxnSp>
        <p:nvCxnSpPr>
          <p:cNvPr id="110" name="Google Shape;110;p13"/>
          <p:cNvCxnSpPr>
            <a:stCxn id="89" idx="3"/>
            <a:endCxn id="90" idx="1"/>
          </p:cNvCxnSpPr>
          <p:nvPr/>
        </p:nvCxnSpPr>
        <p:spPr>
          <a:xfrm rot="10800000" flipH="1">
            <a:off x="8798750" y="5295075"/>
            <a:ext cx="384900" cy="263100"/>
          </a:xfrm>
          <a:prstGeom prst="straightConnector1">
            <a:avLst/>
          </a:prstGeom>
          <a:noFill/>
          <a:ln w="9525" cap="flat" cmpd="sng">
            <a:solidFill>
              <a:srgbClr val="44546A"/>
            </a:solidFill>
            <a:prstDash val="solid"/>
            <a:round/>
            <a:headEnd type="none" w="med" len="med"/>
            <a:tailEnd type="triangle" w="med" len="med"/>
          </a:ln>
        </p:spPr>
      </p:cxnSp>
      <p:cxnSp>
        <p:nvCxnSpPr>
          <p:cNvPr id="111" name="Google Shape;111;p13"/>
          <p:cNvCxnSpPr>
            <a:stCxn id="89" idx="3"/>
            <a:endCxn id="99" idx="1"/>
          </p:cNvCxnSpPr>
          <p:nvPr/>
        </p:nvCxnSpPr>
        <p:spPr>
          <a:xfrm>
            <a:off x="8798750" y="5558175"/>
            <a:ext cx="384900" cy="263100"/>
          </a:xfrm>
          <a:prstGeom prst="straightConnector1">
            <a:avLst/>
          </a:prstGeom>
          <a:noFill/>
          <a:ln w="9525" cap="flat" cmpd="sng">
            <a:solidFill>
              <a:srgbClr val="44546A"/>
            </a:solidFill>
            <a:prstDash val="solid"/>
            <a:round/>
            <a:headEnd type="none" w="med" len="med"/>
            <a:tailEnd type="triangle" w="med" len="med"/>
          </a:ln>
        </p:spPr>
      </p:cxnSp>
      <p:cxnSp>
        <p:nvCxnSpPr>
          <p:cNvPr id="112" name="Google Shape;112;p13"/>
          <p:cNvCxnSpPr>
            <a:stCxn id="57" idx="3"/>
            <a:endCxn id="59" idx="1"/>
          </p:cNvCxnSpPr>
          <p:nvPr/>
        </p:nvCxnSpPr>
        <p:spPr>
          <a:xfrm>
            <a:off x="10404350" y="331150"/>
            <a:ext cx="540900" cy="0"/>
          </a:xfrm>
          <a:prstGeom prst="straightConnector1">
            <a:avLst/>
          </a:prstGeom>
          <a:noFill/>
          <a:ln w="9525" cap="flat" cmpd="sng">
            <a:solidFill>
              <a:srgbClr val="595959"/>
            </a:solidFill>
            <a:prstDash val="solid"/>
            <a:round/>
            <a:headEnd type="none" w="med" len="med"/>
            <a:tailEnd type="triangle" w="med" len="med"/>
          </a:ln>
        </p:spPr>
      </p:cxnSp>
      <p:cxnSp>
        <p:nvCxnSpPr>
          <p:cNvPr id="113" name="Google Shape;113;p13"/>
          <p:cNvCxnSpPr>
            <a:stCxn id="58" idx="3"/>
            <a:endCxn id="60" idx="1"/>
          </p:cNvCxnSpPr>
          <p:nvPr/>
        </p:nvCxnSpPr>
        <p:spPr>
          <a:xfrm>
            <a:off x="10404275" y="759725"/>
            <a:ext cx="540900" cy="0"/>
          </a:xfrm>
          <a:prstGeom prst="straightConnector1">
            <a:avLst/>
          </a:prstGeom>
          <a:noFill/>
          <a:ln w="9525" cap="flat" cmpd="sng">
            <a:solidFill>
              <a:srgbClr val="595959"/>
            </a:solidFill>
            <a:prstDash val="solid"/>
            <a:round/>
            <a:headEnd type="none" w="med" len="med"/>
            <a:tailEnd type="triangle" w="med" len="med"/>
          </a:ln>
        </p:spPr>
      </p:cxnSp>
      <p:cxnSp>
        <p:nvCxnSpPr>
          <p:cNvPr id="114" name="Google Shape;114;p13"/>
          <p:cNvCxnSpPr>
            <a:stCxn id="61" idx="3"/>
            <a:endCxn id="64" idx="1"/>
          </p:cNvCxnSpPr>
          <p:nvPr/>
        </p:nvCxnSpPr>
        <p:spPr>
          <a:xfrm>
            <a:off x="10425500" y="1251150"/>
            <a:ext cx="519600" cy="0"/>
          </a:xfrm>
          <a:prstGeom prst="straightConnector1">
            <a:avLst/>
          </a:prstGeom>
          <a:noFill/>
          <a:ln w="9525" cap="flat" cmpd="sng">
            <a:solidFill>
              <a:srgbClr val="595959"/>
            </a:solidFill>
            <a:prstDash val="solid"/>
            <a:round/>
            <a:headEnd type="none" w="med" len="med"/>
            <a:tailEnd type="triangle" w="med" len="med"/>
          </a:ln>
        </p:spPr>
      </p:cxnSp>
      <p:cxnSp>
        <p:nvCxnSpPr>
          <p:cNvPr id="115" name="Google Shape;115;p13"/>
          <p:cNvCxnSpPr>
            <a:stCxn id="63" idx="3"/>
            <a:endCxn id="65" idx="1"/>
          </p:cNvCxnSpPr>
          <p:nvPr/>
        </p:nvCxnSpPr>
        <p:spPr>
          <a:xfrm>
            <a:off x="10436375" y="1727925"/>
            <a:ext cx="508800" cy="0"/>
          </a:xfrm>
          <a:prstGeom prst="straightConnector1">
            <a:avLst/>
          </a:prstGeom>
          <a:noFill/>
          <a:ln w="9525" cap="flat" cmpd="sng">
            <a:solidFill>
              <a:srgbClr val="595959"/>
            </a:solidFill>
            <a:prstDash val="solid"/>
            <a:round/>
            <a:headEnd type="none" w="med" len="med"/>
            <a:tailEnd type="triangle" w="med" len="med"/>
          </a:ln>
        </p:spPr>
      </p:cxnSp>
      <p:cxnSp>
        <p:nvCxnSpPr>
          <p:cNvPr id="116" name="Google Shape;116;p13"/>
          <p:cNvCxnSpPr>
            <a:stCxn id="69" idx="3"/>
            <a:endCxn id="66" idx="1"/>
          </p:cNvCxnSpPr>
          <p:nvPr/>
        </p:nvCxnSpPr>
        <p:spPr>
          <a:xfrm>
            <a:off x="10436400" y="2292600"/>
            <a:ext cx="508800" cy="0"/>
          </a:xfrm>
          <a:prstGeom prst="straightConnector1">
            <a:avLst/>
          </a:prstGeom>
          <a:noFill/>
          <a:ln w="9525" cap="flat" cmpd="sng">
            <a:solidFill>
              <a:srgbClr val="595959"/>
            </a:solidFill>
            <a:prstDash val="solid"/>
            <a:round/>
            <a:headEnd type="none" w="med" len="med"/>
            <a:tailEnd type="triangle" w="med" len="med"/>
          </a:ln>
        </p:spPr>
      </p:cxnSp>
      <p:cxnSp>
        <p:nvCxnSpPr>
          <p:cNvPr id="117" name="Google Shape;117;p13"/>
          <p:cNvCxnSpPr>
            <a:stCxn id="70" idx="3"/>
            <a:endCxn id="67" idx="1"/>
          </p:cNvCxnSpPr>
          <p:nvPr/>
        </p:nvCxnSpPr>
        <p:spPr>
          <a:xfrm>
            <a:off x="10436325" y="2818775"/>
            <a:ext cx="508800" cy="0"/>
          </a:xfrm>
          <a:prstGeom prst="straightConnector1">
            <a:avLst/>
          </a:prstGeom>
          <a:noFill/>
          <a:ln w="9525" cap="flat" cmpd="sng">
            <a:solidFill>
              <a:srgbClr val="595959"/>
            </a:solidFill>
            <a:prstDash val="solid"/>
            <a:round/>
            <a:headEnd type="none" w="med" len="med"/>
            <a:tailEnd type="triangle" w="med" len="med"/>
          </a:ln>
        </p:spPr>
      </p:cxnSp>
      <p:cxnSp>
        <p:nvCxnSpPr>
          <p:cNvPr id="118" name="Google Shape;118;p13"/>
          <p:cNvCxnSpPr>
            <a:stCxn id="84" idx="3"/>
            <a:endCxn id="92" idx="1"/>
          </p:cNvCxnSpPr>
          <p:nvPr/>
        </p:nvCxnSpPr>
        <p:spPr>
          <a:xfrm>
            <a:off x="10404350" y="3370950"/>
            <a:ext cx="540900" cy="0"/>
          </a:xfrm>
          <a:prstGeom prst="straightConnector1">
            <a:avLst/>
          </a:prstGeom>
          <a:noFill/>
          <a:ln w="9525" cap="flat" cmpd="sng">
            <a:solidFill>
              <a:srgbClr val="595959"/>
            </a:solidFill>
            <a:prstDash val="solid"/>
            <a:round/>
            <a:headEnd type="none" w="med" len="med"/>
            <a:tailEnd type="triangle" w="med" len="med"/>
          </a:ln>
        </p:spPr>
      </p:cxnSp>
      <p:cxnSp>
        <p:nvCxnSpPr>
          <p:cNvPr id="119" name="Google Shape;119;p13"/>
          <p:cNvCxnSpPr>
            <a:stCxn id="86" idx="3"/>
            <a:endCxn id="93" idx="1"/>
          </p:cNvCxnSpPr>
          <p:nvPr/>
        </p:nvCxnSpPr>
        <p:spPr>
          <a:xfrm>
            <a:off x="10404275" y="3799525"/>
            <a:ext cx="540900" cy="0"/>
          </a:xfrm>
          <a:prstGeom prst="straightConnector1">
            <a:avLst/>
          </a:prstGeom>
          <a:noFill/>
          <a:ln w="9525" cap="flat" cmpd="sng">
            <a:solidFill>
              <a:srgbClr val="595959"/>
            </a:solidFill>
            <a:prstDash val="solid"/>
            <a:round/>
            <a:headEnd type="none" w="med" len="med"/>
            <a:tailEnd type="triangle" w="med" len="med"/>
          </a:ln>
        </p:spPr>
      </p:cxnSp>
      <p:cxnSp>
        <p:nvCxnSpPr>
          <p:cNvPr id="120" name="Google Shape;120;p13"/>
          <p:cNvCxnSpPr>
            <a:stCxn id="85" idx="3"/>
            <a:endCxn id="94" idx="1"/>
          </p:cNvCxnSpPr>
          <p:nvPr/>
        </p:nvCxnSpPr>
        <p:spPr>
          <a:xfrm>
            <a:off x="10404275" y="4253275"/>
            <a:ext cx="540900" cy="0"/>
          </a:xfrm>
          <a:prstGeom prst="straightConnector1">
            <a:avLst/>
          </a:prstGeom>
          <a:noFill/>
          <a:ln w="9525" cap="flat" cmpd="sng">
            <a:solidFill>
              <a:srgbClr val="595959"/>
            </a:solidFill>
            <a:prstDash val="solid"/>
            <a:round/>
            <a:headEnd type="none" w="med" len="med"/>
            <a:tailEnd type="triangle" w="med" len="med"/>
          </a:ln>
        </p:spPr>
      </p:cxnSp>
      <p:cxnSp>
        <p:nvCxnSpPr>
          <p:cNvPr id="121" name="Google Shape;121;p13"/>
          <p:cNvCxnSpPr>
            <a:stCxn id="88" idx="3"/>
            <a:endCxn id="95" idx="1"/>
          </p:cNvCxnSpPr>
          <p:nvPr/>
        </p:nvCxnSpPr>
        <p:spPr>
          <a:xfrm>
            <a:off x="10415150" y="4730050"/>
            <a:ext cx="530100" cy="0"/>
          </a:xfrm>
          <a:prstGeom prst="straightConnector1">
            <a:avLst/>
          </a:prstGeom>
          <a:noFill/>
          <a:ln w="9525" cap="flat" cmpd="sng">
            <a:solidFill>
              <a:srgbClr val="595959"/>
            </a:solidFill>
            <a:prstDash val="solid"/>
            <a:round/>
            <a:headEnd type="none" w="med" len="med"/>
            <a:tailEnd type="triangle" w="med" len="med"/>
          </a:ln>
        </p:spPr>
      </p:cxnSp>
      <p:cxnSp>
        <p:nvCxnSpPr>
          <p:cNvPr id="122" name="Google Shape;122;p13"/>
          <p:cNvCxnSpPr>
            <a:stCxn id="90" idx="3"/>
            <a:endCxn id="96" idx="1"/>
          </p:cNvCxnSpPr>
          <p:nvPr/>
        </p:nvCxnSpPr>
        <p:spPr>
          <a:xfrm>
            <a:off x="10415175" y="5295075"/>
            <a:ext cx="530100" cy="0"/>
          </a:xfrm>
          <a:prstGeom prst="straightConnector1">
            <a:avLst/>
          </a:prstGeom>
          <a:noFill/>
          <a:ln w="9525" cap="flat" cmpd="sng">
            <a:solidFill>
              <a:srgbClr val="595959"/>
            </a:solidFill>
            <a:prstDash val="solid"/>
            <a:round/>
            <a:headEnd type="none" w="med" len="med"/>
            <a:tailEnd type="triangle" w="med" len="med"/>
          </a:ln>
        </p:spPr>
      </p:cxnSp>
      <p:cxnSp>
        <p:nvCxnSpPr>
          <p:cNvPr id="123" name="Google Shape;123;p13"/>
          <p:cNvCxnSpPr>
            <a:stCxn id="99" idx="3"/>
            <a:endCxn id="97" idx="1"/>
          </p:cNvCxnSpPr>
          <p:nvPr/>
        </p:nvCxnSpPr>
        <p:spPr>
          <a:xfrm>
            <a:off x="10415100" y="5821250"/>
            <a:ext cx="530100" cy="0"/>
          </a:xfrm>
          <a:prstGeom prst="straightConnector1">
            <a:avLst/>
          </a:prstGeom>
          <a:noFill/>
          <a:ln w="9525" cap="flat" cmpd="sng">
            <a:solidFill>
              <a:srgbClr val="595959"/>
            </a:solidFill>
            <a:prstDash val="solid"/>
            <a:round/>
            <a:headEnd type="none" w="med" len="med"/>
            <a:tailEnd type="triangle" w="med" len="med"/>
          </a:ln>
        </p:spPr>
      </p:cxnSp>
      <p:cxnSp>
        <p:nvCxnSpPr>
          <p:cNvPr id="124" name="Google Shape;124;p13"/>
          <p:cNvCxnSpPr>
            <a:stCxn id="91" idx="3"/>
            <a:endCxn id="98" idx="1"/>
          </p:cNvCxnSpPr>
          <p:nvPr/>
        </p:nvCxnSpPr>
        <p:spPr>
          <a:xfrm>
            <a:off x="10441050" y="7890800"/>
            <a:ext cx="504300" cy="6900"/>
          </a:xfrm>
          <a:prstGeom prst="straightConnector1">
            <a:avLst/>
          </a:prstGeom>
          <a:noFill/>
          <a:ln w="9525" cap="flat" cmpd="sng">
            <a:solidFill>
              <a:srgbClr val="595959"/>
            </a:solidFill>
            <a:prstDash val="solid"/>
            <a:round/>
            <a:headEnd type="none" w="med" len="med"/>
            <a:tailEnd type="triangle" w="med" len="med"/>
          </a:ln>
        </p:spPr>
      </p:cxnSp>
      <p:sp>
        <p:nvSpPr>
          <p:cNvPr id="125" name="Google Shape;125;p13"/>
          <p:cNvSpPr txBox="1"/>
          <p:nvPr/>
        </p:nvSpPr>
        <p:spPr>
          <a:xfrm>
            <a:off x="80325" y="8238775"/>
            <a:ext cx="1105800" cy="365730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lvl="0" indent="0" algn="ctr" rtl="0">
              <a:spcBef>
                <a:spcPts val="0"/>
              </a:spcBef>
              <a:spcAft>
                <a:spcPts val="0"/>
              </a:spcAft>
              <a:buNone/>
            </a:pPr>
            <a:r>
              <a:rPr lang="en" sz="1200" b="1">
                <a:solidFill>
                  <a:srgbClr val="000000"/>
                </a:solidFill>
                <a:latin typeface="Times New Roman"/>
                <a:ea typeface="Times New Roman"/>
                <a:cs typeface="Times New Roman"/>
                <a:sym typeface="Times New Roman"/>
              </a:rPr>
              <a:t>Deletion</a:t>
            </a:r>
            <a:endParaRPr sz="1200" b="1">
              <a:solidFill>
                <a:srgbClr val="000000"/>
              </a:solidFill>
              <a:latin typeface="Times New Roman"/>
              <a:ea typeface="Times New Roman"/>
              <a:cs typeface="Times New Roman"/>
              <a:sym typeface="Times New Roman"/>
            </a:endParaRPr>
          </a:p>
          <a:p>
            <a:pPr marL="0" marR="0" lvl="0" indent="0" algn="ctr" rtl="0">
              <a:spcBef>
                <a:spcPts val="0"/>
              </a:spcBef>
              <a:spcAft>
                <a:spcPts val="0"/>
              </a:spcAft>
              <a:buNone/>
            </a:pPr>
            <a:r>
              <a:rPr lang="en" sz="1000">
                <a:solidFill>
                  <a:srgbClr val="000000"/>
                </a:solidFill>
                <a:latin typeface="Times New Roman"/>
                <a:ea typeface="Times New Roman"/>
                <a:cs typeface="Times New Roman"/>
                <a:sym typeface="Times New Roman"/>
              </a:rPr>
              <a:t>(Single exon to full gene)</a:t>
            </a:r>
            <a:endParaRPr sz="1000">
              <a:solidFill>
                <a:srgbClr val="000000"/>
              </a:solidFill>
              <a:latin typeface="Times New Roman"/>
              <a:ea typeface="Times New Roman"/>
              <a:cs typeface="Times New Roman"/>
              <a:sym typeface="Times New Roman"/>
            </a:endParaRPr>
          </a:p>
          <a:p>
            <a:pPr marL="0" marR="0" lvl="0" indent="0" algn="ctr" rtl="0">
              <a:spcBef>
                <a:spcPts val="0"/>
              </a:spcBef>
              <a:spcAft>
                <a:spcPts val="0"/>
              </a:spcAft>
              <a:buNone/>
            </a:pPr>
            <a:endParaRPr/>
          </a:p>
        </p:txBody>
      </p:sp>
      <p:sp>
        <p:nvSpPr>
          <p:cNvPr id="126" name="Google Shape;126;p13"/>
          <p:cNvSpPr/>
          <p:nvPr/>
        </p:nvSpPr>
        <p:spPr>
          <a:xfrm>
            <a:off x="1701200" y="8738200"/>
            <a:ext cx="2327100" cy="80250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 sz="1200" b="0" i="0" u="none" strike="noStrike" cap="none">
                <a:solidFill>
                  <a:srgbClr val="000000"/>
                </a:solidFill>
                <a:latin typeface="Times New Roman"/>
                <a:ea typeface="Times New Roman"/>
                <a:cs typeface="Times New Roman"/>
                <a:sym typeface="Times New Roman"/>
              </a:rPr>
              <a:t>Single to </a:t>
            </a:r>
            <a:r>
              <a:rPr lang="en" sz="1200">
                <a:solidFill>
                  <a:srgbClr val="000000"/>
                </a:solidFill>
                <a:latin typeface="Times New Roman"/>
                <a:ea typeface="Times New Roman"/>
                <a:cs typeface="Times New Roman"/>
                <a:sym typeface="Times New Roman"/>
              </a:rPr>
              <a:t>m</a:t>
            </a:r>
            <a:r>
              <a:rPr lang="en" sz="1200" b="0" i="0" u="none" strike="noStrike" cap="none">
                <a:solidFill>
                  <a:srgbClr val="000000"/>
                </a:solidFill>
                <a:latin typeface="Times New Roman"/>
                <a:ea typeface="Times New Roman"/>
                <a:cs typeface="Times New Roman"/>
                <a:sym typeface="Times New Roman"/>
              </a:rPr>
              <a:t>ulti e</a:t>
            </a:r>
            <a:r>
              <a:rPr lang="en" sz="1200">
                <a:solidFill>
                  <a:srgbClr val="000000"/>
                </a:solidFill>
                <a:latin typeface="Times New Roman"/>
                <a:ea typeface="Times New Roman"/>
                <a:cs typeface="Times New Roman"/>
                <a:sym typeface="Times New Roman"/>
              </a:rPr>
              <a:t>xon d</a:t>
            </a:r>
            <a:r>
              <a:rPr lang="en" sz="1200" b="0" i="0" u="none" strike="noStrike" cap="none">
                <a:solidFill>
                  <a:srgbClr val="000000"/>
                </a:solidFill>
                <a:latin typeface="Times New Roman"/>
                <a:ea typeface="Times New Roman"/>
                <a:cs typeface="Times New Roman"/>
                <a:sym typeface="Times New Roman"/>
              </a:rPr>
              <a:t>eletion </a:t>
            </a:r>
            <a:r>
              <a:rPr lang="en" sz="1200">
                <a:solidFill>
                  <a:srgbClr val="000000"/>
                </a:solidFill>
                <a:latin typeface="Times New Roman"/>
                <a:ea typeface="Times New Roman"/>
                <a:cs typeface="Times New Roman"/>
                <a:sym typeface="Times New Roman"/>
              </a:rPr>
              <a:t>–</a:t>
            </a:r>
            <a:r>
              <a:rPr lang="en" sz="1200" b="0" i="0" u="none" strike="noStrike" cap="none">
                <a:solidFill>
                  <a:srgbClr val="000000"/>
                </a:solidFill>
                <a:latin typeface="Times New Roman"/>
                <a:ea typeface="Times New Roman"/>
                <a:cs typeface="Times New Roman"/>
                <a:sym typeface="Times New Roman"/>
              </a:rPr>
              <a:t> </a:t>
            </a:r>
            <a:endParaRPr/>
          </a:p>
          <a:p>
            <a:pPr marL="0" marR="0" lvl="0" indent="0" algn="ctr" rtl="0">
              <a:spcBef>
                <a:spcPts val="0"/>
              </a:spcBef>
              <a:spcAft>
                <a:spcPts val="0"/>
              </a:spcAft>
              <a:buNone/>
            </a:pPr>
            <a:r>
              <a:rPr lang="en" sz="1200" b="0" i="0" u="none" strike="noStrike" cap="none">
                <a:solidFill>
                  <a:srgbClr val="000000"/>
                </a:solidFill>
                <a:latin typeface="Times New Roman"/>
                <a:ea typeface="Times New Roman"/>
                <a:cs typeface="Times New Roman"/>
                <a:sym typeface="Times New Roman"/>
              </a:rPr>
              <a:t>Disrupts reading frame and is predicted to undergo NMD</a:t>
            </a:r>
            <a:r>
              <a:rPr lang="en" sz="1200">
                <a:solidFill>
                  <a:schemeClr val="dk1"/>
                </a:solidFill>
                <a:latin typeface="Times New Roman"/>
                <a:ea typeface="Times New Roman"/>
                <a:cs typeface="Times New Roman"/>
                <a:sym typeface="Times New Roman"/>
              </a:rPr>
              <a:t> </a:t>
            </a:r>
            <a:r>
              <a:rPr lang="en" sz="1200" baseline="30000">
                <a:solidFill>
                  <a:schemeClr val="dk1"/>
                </a:solidFill>
                <a:latin typeface="Times New Roman"/>
                <a:ea typeface="Times New Roman"/>
                <a:cs typeface="Times New Roman"/>
                <a:sym typeface="Times New Roman"/>
              </a:rPr>
              <a:t>b</a:t>
            </a:r>
            <a:endParaRPr/>
          </a:p>
        </p:txBody>
      </p:sp>
      <p:sp>
        <p:nvSpPr>
          <p:cNvPr id="127" name="Google Shape;127;p13"/>
          <p:cNvSpPr/>
          <p:nvPr/>
        </p:nvSpPr>
        <p:spPr>
          <a:xfrm>
            <a:off x="1701200" y="10904150"/>
            <a:ext cx="2327100" cy="80250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 sz="1200" b="0" i="0" u="none" strike="noStrike" cap="none">
                <a:solidFill>
                  <a:srgbClr val="000000"/>
                </a:solidFill>
                <a:latin typeface="Times New Roman"/>
                <a:ea typeface="Times New Roman"/>
                <a:cs typeface="Times New Roman"/>
                <a:sym typeface="Times New Roman"/>
              </a:rPr>
              <a:t>Single to </a:t>
            </a:r>
            <a:r>
              <a:rPr lang="en" sz="1200">
                <a:solidFill>
                  <a:srgbClr val="000000"/>
                </a:solidFill>
                <a:latin typeface="Times New Roman"/>
                <a:ea typeface="Times New Roman"/>
                <a:cs typeface="Times New Roman"/>
                <a:sym typeface="Times New Roman"/>
              </a:rPr>
              <a:t>m</a:t>
            </a:r>
            <a:r>
              <a:rPr lang="en" sz="1200" b="0" i="0" u="none" strike="noStrike" cap="none">
                <a:solidFill>
                  <a:srgbClr val="000000"/>
                </a:solidFill>
                <a:latin typeface="Times New Roman"/>
                <a:ea typeface="Times New Roman"/>
                <a:cs typeface="Times New Roman"/>
                <a:sym typeface="Times New Roman"/>
              </a:rPr>
              <a:t>ulti exon </a:t>
            </a:r>
            <a:r>
              <a:rPr lang="en" sz="1200">
                <a:solidFill>
                  <a:srgbClr val="000000"/>
                </a:solidFill>
                <a:latin typeface="Times New Roman"/>
                <a:ea typeface="Times New Roman"/>
                <a:cs typeface="Times New Roman"/>
                <a:sym typeface="Times New Roman"/>
              </a:rPr>
              <a:t>d</a:t>
            </a:r>
            <a:r>
              <a:rPr lang="en" sz="1200" b="0" i="0" u="none" strike="noStrike" cap="none">
                <a:solidFill>
                  <a:srgbClr val="000000"/>
                </a:solidFill>
                <a:latin typeface="Times New Roman"/>
                <a:ea typeface="Times New Roman"/>
                <a:cs typeface="Times New Roman"/>
                <a:sym typeface="Times New Roman"/>
              </a:rPr>
              <a:t>eletion – </a:t>
            </a:r>
            <a:endParaRPr/>
          </a:p>
          <a:p>
            <a:pPr marL="0" marR="0" lvl="0" indent="0" algn="ctr" rtl="0">
              <a:spcBef>
                <a:spcPts val="0"/>
              </a:spcBef>
              <a:spcAft>
                <a:spcPts val="0"/>
              </a:spcAft>
              <a:buNone/>
            </a:pPr>
            <a:r>
              <a:rPr lang="en" sz="1200" b="0" i="0" u="none" strike="noStrike" cap="none">
                <a:solidFill>
                  <a:srgbClr val="000000"/>
                </a:solidFill>
                <a:latin typeface="Times New Roman"/>
                <a:ea typeface="Times New Roman"/>
                <a:cs typeface="Times New Roman"/>
                <a:sym typeface="Times New Roman"/>
              </a:rPr>
              <a:t>Preserves reading frame</a:t>
            </a:r>
            <a:endParaRPr/>
          </a:p>
        </p:txBody>
      </p:sp>
      <p:sp>
        <p:nvSpPr>
          <p:cNvPr id="128" name="Google Shape;128;p13"/>
          <p:cNvSpPr/>
          <p:nvPr/>
        </p:nvSpPr>
        <p:spPr>
          <a:xfrm>
            <a:off x="1701200" y="8253750"/>
            <a:ext cx="2327100" cy="27690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 sz="1200" b="0" i="0" u="none" strike="noStrike" cap="none">
                <a:solidFill>
                  <a:srgbClr val="000000"/>
                </a:solidFill>
                <a:latin typeface="Times New Roman"/>
                <a:ea typeface="Times New Roman"/>
                <a:cs typeface="Times New Roman"/>
                <a:sym typeface="Times New Roman"/>
              </a:rPr>
              <a:t>Full gene deletion</a:t>
            </a:r>
            <a:endParaRPr/>
          </a:p>
        </p:txBody>
      </p:sp>
      <p:sp>
        <p:nvSpPr>
          <p:cNvPr id="129" name="Google Shape;129;p13"/>
          <p:cNvSpPr/>
          <p:nvPr/>
        </p:nvSpPr>
        <p:spPr>
          <a:xfrm>
            <a:off x="4572975" y="8662000"/>
            <a:ext cx="5868000" cy="27690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 sz="1200" b="0" i="0" u="none" strike="noStrike" cap="none">
                <a:solidFill>
                  <a:srgbClr val="000000"/>
                </a:solidFill>
                <a:latin typeface="Times New Roman"/>
                <a:ea typeface="Times New Roman"/>
                <a:cs typeface="Times New Roman"/>
                <a:sym typeface="Times New Roman"/>
              </a:rPr>
              <a:t>Exon is present in </a:t>
            </a:r>
            <a:r>
              <a:rPr lang="en" sz="1200">
                <a:solidFill>
                  <a:srgbClr val="000000"/>
                </a:solidFill>
                <a:latin typeface="Times New Roman"/>
                <a:ea typeface="Times New Roman"/>
                <a:cs typeface="Times New Roman"/>
                <a:sym typeface="Times New Roman"/>
              </a:rPr>
              <a:t>biologically-</a:t>
            </a:r>
            <a:r>
              <a:rPr lang="en" sz="1200" b="0" i="0" u="none" strike="noStrike" cap="none">
                <a:solidFill>
                  <a:srgbClr val="000000"/>
                </a:solidFill>
                <a:latin typeface="Times New Roman"/>
                <a:ea typeface="Times New Roman"/>
                <a:cs typeface="Times New Roman"/>
                <a:sym typeface="Times New Roman"/>
              </a:rPr>
              <a:t>relevant transcript(s)</a:t>
            </a:r>
            <a:endParaRPr/>
          </a:p>
        </p:txBody>
      </p:sp>
      <p:sp>
        <p:nvSpPr>
          <p:cNvPr id="130" name="Google Shape;130;p13"/>
          <p:cNvSpPr/>
          <p:nvPr/>
        </p:nvSpPr>
        <p:spPr>
          <a:xfrm>
            <a:off x="4544400" y="9544325"/>
            <a:ext cx="5896500" cy="27690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 sz="1200">
                <a:solidFill>
                  <a:srgbClr val="000000"/>
                </a:solidFill>
                <a:latin typeface="Times New Roman"/>
                <a:ea typeface="Times New Roman"/>
                <a:cs typeface="Times New Roman"/>
                <a:sym typeface="Times New Roman"/>
              </a:rPr>
              <a:t>Truncated/altered region is critical to protein function </a:t>
            </a:r>
            <a:r>
              <a:rPr lang="en" sz="1200" baseline="30000">
                <a:latin typeface="Times New Roman"/>
                <a:ea typeface="Times New Roman"/>
                <a:cs typeface="Times New Roman"/>
                <a:sym typeface="Times New Roman"/>
              </a:rPr>
              <a:t>c</a:t>
            </a:r>
            <a:endParaRPr baseline="30000"/>
          </a:p>
        </p:txBody>
      </p:sp>
      <p:sp>
        <p:nvSpPr>
          <p:cNvPr id="131" name="Google Shape;131;p13"/>
          <p:cNvSpPr/>
          <p:nvPr/>
        </p:nvSpPr>
        <p:spPr>
          <a:xfrm>
            <a:off x="4572900" y="9090575"/>
            <a:ext cx="5868000" cy="27690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 sz="1200" b="0" i="0" u="none" strike="noStrike" cap="none">
                <a:solidFill>
                  <a:srgbClr val="000000"/>
                </a:solidFill>
                <a:latin typeface="Times New Roman"/>
                <a:ea typeface="Times New Roman"/>
                <a:cs typeface="Times New Roman"/>
                <a:sym typeface="Times New Roman"/>
              </a:rPr>
              <a:t>Exon is absent from </a:t>
            </a:r>
            <a:r>
              <a:rPr lang="en" sz="1200">
                <a:solidFill>
                  <a:srgbClr val="000000"/>
                </a:solidFill>
                <a:latin typeface="Times New Roman"/>
                <a:ea typeface="Times New Roman"/>
                <a:cs typeface="Times New Roman"/>
                <a:sym typeface="Times New Roman"/>
              </a:rPr>
              <a:t>biologically-relevant transcript(s)</a:t>
            </a:r>
            <a:endParaRPr sz="1200">
              <a:solidFill>
                <a:srgbClr val="000000"/>
              </a:solidFill>
              <a:latin typeface="Times New Roman"/>
              <a:ea typeface="Times New Roman"/>
              <a:cs typeface="Times New Roman"/>
              <a:sym typeface="Times New Roman"/>
            </a:endParaRPr>
          </a:p>
        </p:txBody>
      </p:sp>
      <p:sp>
        <p:nvSpPr>
          <p:cNvPr id="132" name="Google Shape;132;p13"/>
          <p:cNvSpPr/>
          <p:nvPr/>
        </p:nvSpPr>
        <p:spPr>
          <a:xfrm>
            <a:off x="4572975" y="9918775"/>
            <a:ext cx="1080900" cy="155820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 sz="1200">
                <a:solidFill>
                  <a:srgbClr val="000000"/>
                </a:solidFill>
                <a:latin typeface="Times New Roman"/>
                <a:ea typeface="Times New Roman"/>
                <a:cs typeface="Times New Roman"/>
                <a:sym typeface="Times New Roman"/>
              </a:rPr>
              <a:t>Role of region in protein function is unknown</a:t>
            </a:r>
            <a:endParaRPr/>
          </a:p>
        </p:txBody>
      </p:sp>
      <p:sp>
        <p:nvSpPr>
          <p:cNvPr id="133" name="Google Shape;133;p13"/>
          <p:cNvSpPr/>
          <p:nvPr/>
        </p:nvSpPr>
        <p:spPr>
          <a:xfrm>
            <a:off x="6217275" y="9928700"/>
            <a:ext cx="4234500" cy="46170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 sz="1200">
                <a:solidFill>
                  <a:srgbClr val="000000"/>
                </a:solidFill>
                <a:latin typeface="Times New Roman"/>
                <a:ea typeface="Times New Roman"/>
                <a:cs typeface="Times New Roman"/>
                <a:sym typeface="Times New Roman"/>
              </a:rPr>
              <a:t>L</a:t>
            </a:r>
            <a:r>
              <a:rPr lang="en" sz="1200">
                <a:latin typeface="Times New Roman"/>
                <a:ea typeface="Times New Roman"/>
                <a:cs typeface="Times New Roman"/>
                <a:sym typeface="Times New Roman"/>
              </a:rPr>
              <a:t>o</a:t>
            </a:r>
            <a:r>
              <a:rPr lang="en" sz="1200">
                <a:solidFill>
                  <a:srgbClr val="000000"/>
                </a:solidFill>
                <a:latin typeface="Times New Roman"/>
                <a:ea typeface="Times New Roman"/>
                <a:cs typeface="Times New Roman"/>
                <a:sym typeface="Times New Roman"/>
              </a:rPr>
              <a:t>F variants in this exon are frequent in the general population and/or exon is absent from biologically-relevant transcript(s)</a:t>
            </a:r>
            <a:endParaRPr/>
          </a:p>
        </p:txBody>
      </p:sp>
      <p:sp>
        <p:nvSpPr>
          <p:cNvPr id="134" name="Google Shape;134;p13"/>
          <p:cNvSpPr/>
          <p:nvPr/>
        </p:nvSpPr>
        <p:spPr>
          <a:xfrm>
            <a:off x="10945225" y="8253750"/>
            <a:ext cx="1281000" cy="27690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 sz="1200" b="0" i="0" u="none" strike="noStrike" cap="none">
                <a:solidFill>
                  <a:srgbClr val="000000"/>
                </a:solidFill>
                <a:latin typeface="Times New Roman"/>
                <a:ea typeface="Times New Roman"/>
                <a:cs typeface="Times New Roman"/>
                <a:sym typeface="Times New Roman"/>
              </a:rPr>
              <a:t>PVS1 </a:t>
            </a:r>
            <a:r>
              <a:rPr lang="en" sz="1200" b="0" i="0" u="none" strike="noStrike" cap="none" baseline="30000">
                <a:solidFill>
                  <a:srgbClr val="000000"/>
                </a:solidFill>
                <a:latin typeface="Times New Roman"/>
                <a:ea typeface="Times New Roman"/>
                <a:cs typeface="Times New Roman"/>
                <a:sym typeface="Times New Roman"/>
              </a:rPr>
              <a:t>d</a:t>
            </a:r>
            <a:endParaRPr baseline="30000"/>
          </a:p>
        </p:txBody>
      </p:sp>
      <p:sp>
        <p:nvSpPr>
          <p:cNvPr id="135" name="Google Shape;135;p13"/>
          <p:cNvSpPr/>
          <p:nvPr/>
        </p:nvSpPr>
        <p:spPr>
          <a:xfrm>
            <a:off x="4544400" y="11562250"/>
            <a:ext cx="5907300" cy="27690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lvl="0" indent="0" algn="ctr" rtl="0">
              <a:spcBef>
                <a:spcPts val="0"/>
              </a:spcBef>
              <a:spcAft>
                <a:spcPts val="0"/>
              </a:spcAft>
              <a:buNone/>
            </a:pPr>
            <a:r>
              <a:rPr lang="en" sz="1200">
                <a:solidFill>
                  <a:srgbClr val="000000"/>
                </a:solidFill>
                <a:latin typeface="Times New Roman"/>
                <a:ea typeface="Times New Roman"/>
                <a:cs typeface="Times New Roman"/>
                <a:sym typeface="Times New Roman"/>
              </a:rPr>
              <a:t>Truncated/altered region is critical to protein function </a:t>
            </a:r>
            <a:r>
              <a:rPr lang="en" sz="1200" baseline="30000">
                <a:latin typeface="Times New Roman"/>
                <a:ea typeface="Times New Roman"/>
                <a:cs typeface="Times New Roman"/>
                <a:sym typeface="Times New Roman"/>
              </a:rPr>
              <a:t>c</a:t>
            </a:r>
            <a:endParaRPr sz="1200">
              <a:solidFill>
                <a:srgbClr val="000000"/>
              </a:solidFill>
              <a:latin typeface="Times New Roman"/>
              <a:ea typeface="Times New Roman"/>
              <a:cs typeface="Times New Roman"/>
              <a:sym typeface="Times New Roman"/>
            </a:endParaRPr>
          </a:p>
        </p:txBody>
      </p:sp>
      <p:sp>
        <p:nvSpPr>
          <p:cNvPr id="136" name="Google Shape;136;p13"/>
          <p:cNvSpPr/>
          <p:nvPr/>
        </p:nvSpPr>
        <p:spPr>
          <a:xfrm>
            <a:off x="10945225" y="8662000"/>
            <a:ext cx="1281000" cy="27690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 sz="1200" b="0" i="0" u="none" strike="noStrike" cap="none">
                <a:solidFill>
                  <a:srgbClr val="000000"/>
                </a:solidFill>
                <a:latin typeface="Times New Roman"/>
                <a:ea typeface="Times New Roman"/>
                <a:cs typeface="Times New Roman"/>
                <a:sym typeface="Times New Roman"/>
              </a:rPr>
              <a:t>PVS1</a:t>
            </a:r>
            <a:endParaRPr/>
          </a:p>
        </p:txBody>
      </p:sp>
      <p:sp>
        <p:nvSpPr>
          <p:cNvPr id="137" name="Google Shape;137;p13"/>
          <p:cNvSpPr/>
          <p:nvPr/>
        </p:nvSpPr>
        <p:spPr>
          <a:xfrm>
            <a:off x="10945225" y="9090575"/>
            <a:ext cx="1281000" cy="27690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 sz="1200" b="0" i="0" u="none" strike="noStrike" cap="none">
                <a:solidFill>
                  <a:srgbClr val="000000"/>
                </a:solidFill>
                <a:latin typeface="Times New Roman"/>
                <a:ea typeface="Times New Roman"/>
                <a:cs typeface="Times New Roman"/>
                <a:sym typeface="Times New Roman"/>
              </a:rPr>
              <a:t>N/A</a:t>
            </a:r>
            <a:endParaRPr/>
          </a:p>
        </p:txBody>
      </p:sp>
      <p:sp>
        <p:nvSpPr>
          <p:cNvPr id="138" name="Google Shape;138;p13"/>
          <p:cNvSpPr/>
          <p:nvPr/>
        </p:nvSpPr>
        <p:spPr>
          <a:xfrm>
            <a:off x="10945225" y="9544325"/>
            <a:ext cx="1281000" cy="27690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 sz="1200" b="0" i="0" u="none" strike="noStrike" cap="none">
                <a:solidFill>
                  <a:srgbClr val="000000"/>
                </a:solidFill>
                <a:latin typeface="Times New Roman"/>
                <a:ea typeface="Times New Roman"/>
                <a:cs typeface="Times New Roman"/>
                <a:sym typeface="Times New Roman"/>
              </a:rPr>
              <a:t>PVS1_Strong</a:t>
            </a:r>
            <a:endParaRPr/>
          </a:p>
        </p:txBody>
      </p:sp>
      <p:sp>
        <p:nvSpPr>
          <p:cNvPr id="139" name="Google Shape;139;p13"/>
          <p:cNvSpPr/>
          <p:nvPr/>
        </p:nvSpPr>
        <p:spPr>
          <a:xfrm>
            <a:off x="10945225" y="9973850"/>
            <a:ext cx="1281000" cy="37140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 sz="1200" b="0" i="0" u="none" strike="noStrike" cap="none">
                <a:solidFill>
                  <a:srgbClr val="000000"/>
                </a:solidFill>
                <a:latin typeface="Times New Roman"/>
                <a:ea typeface="Times New Roman"/>
                <a:cs typeface="Times New Roman"/>
                <a:sym typeface="Times New Roman"/>
              </a:rPr>
              <a:t>N/A</a:t>
            </a:r>
            <a:endParaRPr/>
          </a:p>
        </p:txBody>
      </p:sp>
      <p:sp>
        <p:nvSpPr>
          <p:cNvPr id="140" name="Google Shape;140;p13"/>
          <p:cNvSpPr/>
          <p:nvPr/>
        </p:nvSpPr>
        <p:spPr>
          <a:xfrm>
            <a:off x="10945225" y="10562425"/>
            <a:ext cx="1281000" cy="32430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 sz="1200" b="0" i="0" u="none" strike="noStrike" cap="none">
                <a:solidFill>
                  <a:srgbClr val="000000"/>
                </a:solidFill>
                <a:latin typeface="Times New Roman"/>
                <a:ea typeface="Times New Roman"/>
                <a:cs typeface="Times New Roman"/>
                <a:sym typeface="Times New Roman"/>
              </a:rPr>
              <a:t>PVS1_Strong</a:t>
            </a:r>
            <a:endParaRPr/>
          </a:p>
        </p:txBody>
      </p:sp>
      <p:sp>
        <p:nvSpPr>
          <p:cNvPr id="141" name="Google Shape;141;p13"/>
          <p:cNvSpPr/>
          <p:nvPr/>
        </p:nvSpPr>
        <p:spPr>
          <a:xfrm>
            <a:off x="10945225" y="11065050"/>
            <a:ext cx="1281000" cy="37140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 sz="1200" b="0" i="0" u="none" strike="noStrike" cap="none">
                <a:solidFill>
                  <a:srgbClr val="000000"/>
                </a:solidFill>
                <a:latin typeface="Times New Roman"/>
                <a:ea typeface="Times New Roman"/>
                <a:cs typeface="Times New Roman"/>
                <a:sym typeface="Times New Roman"/>
              </a:rPr>
              <a:t>P</a:t>
            </a:r>
            <a:r>
              <a:rPr lang="en" sz="1200">
                <a:latin typeface="Times New Roman"/>
                <a:ea typeface="Times New Roman"/>
                <a:cs typeface="Times New Roman"/>
                <a:sym typeface="Times New Roman"/>
              </a:rPr>
              <a:t>VS1_Moderate</a:t>
            </a:r>
            <a:endParaRPr/>
          </a:p>
        </p:txBody>
      </p:sp>
      <p:sp>
        <p:nvSpPr>
          <p:cNvPr id="142" name="Google Shape;142;p13"/>
          <p:cNvSpPr/>
          <p:nvPr/>
        </p:nvSpPr>
        <p:spPr>
          <a:xfrm>
            <a:off x="10945225" y="11562250"/>
            <a:ext cx="1281000" cy="27690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 sz="1200" b="0" i="0" u="none" strike="noStrike" cap="none">
                <a:solidFill>
                  <a:srgbClr val="000000"/>
                </a:solidFill>
                <a:latin typeface="Times New Roman"/>
                <a:ea typeface="Times New Roman"/>
                <a:cs typeface="Times New Roman"/>
                <a:sym typeface="Times New Roman"/>
              </a:rPr>
              <a:t>PVS1_Strong</a:t>
            </a:r>
            <a:endParaRPr/>
          </a:p>
        </p:txBody>
      </p:sp>
      <p:sp>
        <p:nvSpPr>
          <p:cNvPr id="143" name="Google Shape;143;p13"/>
          <p:cNvSpPr txBox="1"/>
          <p:nvPr/>
        </p:nvSpPr>
        <p:spPr>
          <a:xfrm>
            <a:off x="80325" y="12085325"/>
            <a:ext cx="1105800" cy="148110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 sz="1200" b="1" i="0" u="none" strike="noStrike" cap="none">
                <a:solidFill>
                  <a:srgbClr val="000000"/>
                </a:solidFill>
                <a:latin typeface="Times New Roman"/>
                <a:ea typeface="Times New Roman"/>
                <a:cs typeface="Times New Roman"/>
                <a:sym typeface="Times New Roman"/>
              </a:rPr>
              <a:t>Duplication</a:t>
            </a:r>
            <a:endParaRPr sz="1200" b="1" i="0" u="none" strike="noStrike" cap="none">
              <a:solidFill>
                <a:srgbClr val="000000"/>
              </a:solidFill>
              <a:latin typeface="Times New Roman"/>
              <a:ea typeface="Times New Roman"/>
              <a:cs typeface="Times New Roman"/>
              <a:sym typeface="Times New Roman"/>
            </a:endParaRPr>
          </a:p>
          <a:p>
            <a:pPr marL="0" marR="0" lvl="0" indent="0" algn="ctr" rtl="0">
              <a:spcBef>
                <a:spcPts val="0"/>
              </a:spcBef>
              <a:spcAft>
                <a:spcPts val="0"/>
              </a:spcAft>
              <a:buNone/>
            </a:pPr>
            <a:r>
              <a:rPr lang="en" sz="1000">
                <a:solidFill>
                  <a:srgbClr val="000000"/>
                </a:solidFill>
                <a:latin typeface="Times New Roman"/>
                <a:ea typeface="Times New Roman"/>
                <a:cs typeface="Times New Roman"/>
                <a:sym typeface="Times New Roman"/>
              </a:rPr>
              <a:t>(≥1 exon in size and must be completely contained within gene)</a:t>
            </a:r>
            <a:endParaRPr sz="1000">
              <a:solidFill>
                <a:srgbClr val="000000"/>
              </a:solidFill>
              <a:latin typeface="Times New Roman"/>
              <a:ea typeface="Times New Roman"/>
              <a:cs typeface="Times New Roman"/>
              <a:sym typeface="Times New Roman"/>
            </a:endParaRPr>
          </a:p>
        </p:txBody>
      </p:sp>
      <p:sp>
        <p:nvSpPr>
          <p:cNvPr id="144" name="Google Shape;144;p13"/>
          <p:cNvSpPr/>
          <p:nvPr/>
        </p:nvSpPr>
        <p:spPr>
          <a:xfrm>
            <a:off x="1701200" y="12052375"/>
            <a:ext cx="2327100" cy="37140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 sz="1200" b="0" i="0" u="none" strike="noStrike" cap="none">
                <a:solidFill>
                  <a:srgbClr val="000000"/>
                </a:solidFill>
                <a:latin typeface="Times New Roman"/>
                <a:ea typeface="Times New Roman"/>
                <a:cs typeface="Times New Roman"/>
                <a:sym typeface="Times New Roman"/>
              </a:rPr>
              <a:t>Proven in tandem</a:t>
            </a:r>
            <a:endParaRPr/>
          </a:p>
        </p:txBody>
      </p:sp>
      <p:sp>
        <p:nvSpPr>
          <p:cNvPr id="145" name="Google Shape;145;p13"/>
          <p:cNvSpPr/>
          <p:nvPr/>
        </p:nvSpPr>
        <p:spPr>
          <a:xfrm>
            <a:off x="1701200" y="12571475"/>
            <a:ext cx="2327100" cy="45000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 sz="1200" b="0" i="0" u="none" strike="noStrike" cap="none">
                <a:solidFill>
                  <a:srgbClr val="000000"/>
                </a:solidFill>
                <a:latin typeface="Times New Roman"/>
                <a:ea typeface="Times New Roman"/>
                <a:cs typeface="Times New Roman"/>
                <a:sym typeface="Times New Roman"/>
              </a:rPr>
              <a:t>Presumed in tandem</a:t>
            </a:r>
            <a:endParaRPr/>
          </a:p>
        </p:txBody>
      </p:sp>
      <p:sp>
        <p:nvSpPr>
          <p:cNvPr id="146" name="Google Shape;146;p13"/>
          <p:cNvSpPr/>
          <p:nvPr/>
        </p:nvSpPr>
        <p:spPr>
          <a:xfrm>
            <a:off x="1701200" y="13068275"/>
            <a:ext cx="2327100" cy="46170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 sz="1200" b="0" i="0" u="none" strike="noStrike" cap="none">
                <a:solidFill>
                  <a:srgbClr val="000000"/>
                </a:solidFill>
                <a:latin typeface="Times New Roman"/>
                <a:ea typeface="Times New Roman"/>
                <a:cs typeface="Times New Roman"/>
                <a:sym typeface="Times New Roman"/>
              </a:rPr>
              <a:t>Proven not in tandem</a:t>
            </a:r>
            <a:endParaRPr/>
          </a:p>
        </p:txBody>
      </p:sp>
      <p:sp>
        <p:nvSpPr>
          <p:cNvPr id="147" name="Google Shape;147;p13"/>
          <p:cNvSpPr/>
          <p:nvPr/>
        </p:nvSpPr>
        <p:spPr>
          <a:xfrm>
            <a:off x="4533725" y="12051213"/>
            <a:ext cx="5907300" cy="27690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 sz="1200" b="0" i="0" u="none" strike="noStrike" cap="none">
                <a:solidFill>
                  <a:srgbClr val="000000"/>
                </a:solidFill>
                <a:latin typeface="Times New Roman"/>
                <a:ea typeface="Times New Roman"/>
                <a:cs typeface="Times New Roman"/>
                <a:sym typeface="Times New Roman"/>
              </a:rPr>
              <a:t>Reading frame disrupted and NMD predicted to occur</a:t>
            </a:r>
            <a:endParaRPr/>
          </a:p>
        </p:txBody>
      </p:sp>
      <p:sp>
        <p:nvSpPr>
          <p:cNvPr id="148" name="Google Shape;148;p13"/>
          <p:cNvSpPr/>
          <p:nvPr/>
        </p:nvSpPr>
        <p:spPr>
          <a:xfrm>
            <a:off x="4533625" y="12418650"/>
            <a:ext cx="5907300" cy="27690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 sz="1200">
                <a:latin typeface="Times New Roman"/>
                <a:ea typeface="Times New Roman"/>
                <a:cs typeface="Times New Roman"/>
                <a:sym typeface="Times New Roman"/>
              </a:rPr>
              <a:t>No or unknown i</a:t>
            </a:r>
            <a:r>
              <a:rPr lang="en" sz="1200" b="0" i="0" u="none" strike="noStrike" cap="none">
                <a:solidFill>
                  <a:srgbClr val="000000"/>
                </a:solidFill>
                <a:latin typeface="Times New Roman"/>
                <a:ea typeface="Times New Roman"/>
                <a:cs typeface="Times New Roman"/>
                <a:sym typeface="Times New Roman"/>
              </a:rPr>
              <a:t>mpact on reading frame and NMD</a:t>
            </a:r>
            <a:endParaRPr/>
          </a:p>
        </p:txBody>
      </p:sp>
      <p:sp>
        <p:nvSpPr>
          <p:cNvPr id="149" name="Google Shape;149;p13"/>
          <p:cNvSpPr/>
          <p:nvPr/>
        </p:nvSpPr>
        <p:spPr>
          <a:xfrm>
            <a:off x="4533750" y="12818300"/>
            <a:ext cx="5907300" cy="27690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 sz="1200" b="0" i="0" u="none" strike="noStrike" cap="none">
                <a:solidFill>
                  <a:srgbClr val="000000"/>
                </a:solidFill>
                <a:latin typeface="Times New Roman"/>
                <a:ea typeface="Times New Roman"/>
                <a:cs typeface="Times New Roman"/>
                <a:sym typeface="Times New Roman"/>
              </a:rPr>
              <a:t>Reading frame presumed disrupted and NMD predicted to occur</a:t>
            </a:r>
            <a:endParaRPr/>
          </a:p>
        </p:txBody>
      </p:sp>
      <p:sp>
        <p:nvSpPr>
          <p:cNvPr id="150" name="Google Shape;150;p13"/>
          <p:cNvSpPr/>
          <p:nvPr/>
        </p:nvSpPr>
        <p:spPr>
          <a:xfrm>
            <a:off x="10945225" y="12051213"/>
            <a:ext cx="1281000" cy="27690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 sz="1200" b="0" i="0" u="none" strike="noStrike" cap="none">
                <a:solidFill>
                  <a:srgbClr val="000000"/>
                </a:solidFill>
                <a:latin typeface="Times New Roman"/>
                <a:ea typeface="Times New Roman"/>
                <a:cs typeface="Times New Roman"/>
                <a:sym typeface="Times New Roman"/>
              </a:rPr>
              <a:t>PVS1</a:t>
            </a:r>
            <a:endParaRPr/>
          </a:p>
        </p:txBody>
      </p:sp>
      <p:sp>
        <p:nvSpPr>
          <p:cNvPr id="151" name="Google Shape;151;p13"/>
          <p:cNvSpPr/>
          <p:nvPr/>
        </p:nvSpPr>
        <p:spPr>
          <a:xfrm>
            <a:off x="10945225" y="12418650"/>
            <a:ext cx="1281000" cy="27690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 sz="1200" b="0" i="0" u="none" strike="noStrike" cap="none">
                <a:solidFill>
                  <a:srgbClr val="000000"/>
                </a:solidFill>
                <a:latin typeface="Times New Roman"/>
                <a:ea typeface="Times New Roman"/>
                <a:cs typeface="Times New Roman"/>
                <a:sym typeface="Times New Roman"/>
              </a:rPr>
              <a:t>N/A</a:t>
            </a:r>
            <a:endParaRPr/>
          </a:p>
        </p:txBody>
      </p:sp>
      <p:sp>
        <p:nvSpPr>
          <p:cNvPr id="152" name="Google Shape;152;p13"/>
          <p:cNvSpPr/>
          <p:nvPr/>
        </p:nvSpPr>
        <p:spPr>
          <a:xfrm>
            <a:off x="10945225" y="12818300"/>
            <a:ext cx="1281000" cy="27690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 sz="1200" b="0" i="0" u="none" strike="noStrike" cap="none">
                <a:solidFill>
                  <a:srgbClr val="000000"/>
                </a:solidFill>
                <a:latin typeface="Times New Roman"/>
                <a:ea typeface="Times New Roman"/>
                <a:cs typeface="Times New Roman"/>
                <a:sym typeface="Times New Roman"/>
              </a:rPr>
              <a:t>PVS1_Strong</a:t>
            </a:r>
            <a:endParaRPr/>
          </a:p>
        </p:txBody>
      </p:sp>
      <p:sp>
        <p:nvSpPr>
          <p:cNvPr id="153" name="Google Shape;153;p13"/>
          <p:cNvSpPr/>
          <p:nvPr/>
        </p:nvSpPr>
        <p:spPr>
          <a:xfrm>
            <a:off x="10945225" y="13160675"/>
            <a:ext cx="1281000" cy="27690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 sz="1200" b="0" i="0" u="none" strike="noStrike" cap="none">
                <a:solidFill>
                  <a:srgbClr val="000000"/>
                </a:solidFill>
                <a:latin typeface="Times New Roman"/>
                <a:ea typeface="Times New Roman"/>
                <a:cs typeface="Times New Roman"/>
                <a:sym typeface="Times New Roman"/>
              </a:rPr>
              <a:t>N/A</a:t>
            </a:r>
            <a:endParaRPr/>
          </a:p>
        </p:txBody>
      </p:sp>
      <p:sp>
        <p:nvSpPr>
          <p:cNvPr id="154" name="Google Shape;154;p13"/>
          <p:cNvSpPr txBox="1"/>
          <p:nvPr/>
        </p:nvSpPr>
        <p:spPr>
          <a:xfrm>
            <a:off x="80325" y="13755673"/>
            <a:ext cx="1105800" cy="107580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 sz="1200" b="1" i="0" u="none" strike="noStrike" cap="none">
                <a:solidFill>
                  <a:srgbClr val="000000"/>
                </a:solidFill>
                <a:latin typeface="Times New Roman"/>
                <a:ea typeface="Times New Roman"/>
                <a:cs typeface="Times New Roman"/>
                <a:sym typeface="Times New Roman"/>
              </a:rPr>
              <a:t>Initiation Codon</a:t>
            </a:r>
            <a:endParaRPr b="1"/>
          </a:p>
        </p:txBody>
      </p:sp>
      <p:sp>
        <p:nvSpPr>
          <p:cNvPr id="155" name="Google Shape;155;p13"/>
          <p:cNvSpPr/>
          <p:nvPr/>
        </p:nvSpPr>
        <p:spPr>
          <a:xfrm>
            <a:off x="1659400" y="14372150"/>
            <a:ext cx="2327100" cy="55590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 sz="1200" b="0" i="0" u="none" strike="noStrike" cap="none">
                <a:solidFill>
                  <a:srgbClr val="000000"/>
                </a:solidFill>
                <a:latin typeface="Times New Roman"/>
                <a:ea typeface="Times New Roman"/>
                <a:cs typeface="Times New Roman"/>
                <a:sym typeface="Times New Roman"/>
              </a:rPr>
              <a:t>Different functional transcript uses alternative start codon</a:t>
            </a:r>
            <a:endParaRPr/>
          </a:p>
        </p:txBody>
      </p:sp>
      <p:sp>
        <p:nvSpPr>
          <p:cNvPr id="156" name="Google Shape;156;p13"/>
          <p:cNvSpPr/>
          <p:nvPr/>
        </p:nvSpPr>
        <p:spPr>
          <a:xfrm>
            <a:off x="1659400" y="13779525"/>
            <a:ext cx="2327100" cy="55590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 sz="1200" b="0" i="0" u="none" strike="noStrike" cap="none">
                <a:solidFill>
                  <a:srgbClr val="000000"/>
                </a:solidFill>
                <a:latin typeface="Times New Roman"/>
                <a:ea typeface="Times New Roman"/>
                <a:cs typeface="Times New Roman"/>
                <a:sym typeface="Times New Roman"/>
              </a:rPr>
              <a:t>No known alternative start codon in other transcripts</a:t>
            </a:r>
            <a:endParaRPr/>
          </a:p>
        </p:txBody>
      </p:sp>
      <p:sp>
        <p:nvSpPr>
          <p:cNvPr id="157" name="Google Shape;157;p13"/>
          <p:cNvSpPr/>
          <p:nvPr/>
        </p:nvSpPr>
        <p:spPr>
          <a:xfrm>
            <a:off x="4533801" y="13784050"/>
            <a:ext cx="5781600" cy="27420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 sz="1200" b="0" i="0" u="none" strike="noStrike" cap="none">
                <a:solidFill>
                  <a:srgbClr val="000000"/>
                </a:solidFill>
                <a:latin typeface="Times New Roman"/>
                <a:ea typeface="Times New Roman"/>
                <a:cs typeface="Times New Roman"/>
                <a:sym typeface="Times New Roman"/>
              </a:rPr>
              <a:t>≥1 pathogenic variant(s) upstream of closest potential in-frame start codon</a:t>
            </a:r>
            <a:endParaRPr sz="1000" b="0" i="0" u="none" strike="noStrike" cap="none">
              <a:solidFill>
                <a:srgbClr val="000000"/>
              </a:solidFill>
              <a:latin typeface="Times New Roman"/>
              <a:ea typeface="Times New Roman"/>
              <a:cs typeface="Times New Roman"/>
              <a:sym typeface="Times New Roman"/>
            </a:endParaRPr>
          </a:p>
        </p:txBody>
      </p:sp>
      <p:sp>
        <p:nvSpPr>
          <p:cNvPr id="158" name="Google Shape;158;p13"/>
          <p:cNvSpPr/>
          <p:nvPr/>
        </p:nvSpPr>
        <p:spPr>
          <a:xfrm>
            <a:off x="4533800" y="14162050"/>
            <a:ext cx="5762700" cy="27420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 sz="1200" b="0" i="0" u="none" strike="noStrike" cap="none">
                <a:solidFill>
                  <a:srgbClr val="000000"/>
                </a:solidFill>
                <a:latin typeface="Times New Roman"/>
                <a:ea typeface="Times New Roman"/>
                <a:cs typeface="Times New Roman"/>
                <a:sym typeface="Times New Roman"/>
              </a:rPr>
              <a:t>No pathogenic variant(s) upstream of closest potential in-frame start codon</a:t>
            </a:r>
            <a:endParaRPr sz="1000" b="0" i="0" u="none" strike="noStrike" cap="none">
              <a:solidFill>
                <a:srgbClr val="000000"/>
              </a:solidFill>
              <a:latin typeface="Times New Roman"/>
              <a:ea typeface="Times New Roman"/>
              <a:cs typeface="Times New Roman"/>
              <a:sym typeface="Times New Roman"/>
            </a:endParaRPr>
          </a:p>
        </p:txBody>
      </p:sp>
      <p:sp>
        <p:nvSpPr>
          <p:cNvPr id="159" name="Google Shape;159;p13"/>
          <p:cNvSpPr/>
          <p:nvPr/>
        </p:nvSpPr>
        <p:spPr>
          <a:xfrm>
            <a:off x="10945225" y="14160700"/>
            <a:ext cx="1281000" cy="27690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 sz="1200" b="0" i="0" u="none" strike="noStrike" cap="none">
                <a:solidFill>
                  <a:srgbClr val="000000"/>
                </a:solidFill>
                <a:latin typeface="Times New Roman"/>
                <a:ea typeface="Times New Roman"/>
                <a:cs typeface="Times New Roman"/>
                <a:sym typeface="Times New Roman"/>
              </a:rPr>
              <a:t>PVS1_Supp</a:t>
            </a:r>
            <a:endParaRPr/>
          </a:p>
        </p:txBody>
      </p:sp>
      <p:sp>
        <p:nvSpPr>
          <p:cNvPr id="160" name="Google Shape;160;p13"/>
          <p:cNvSpPr/>
          <p:nvPr/>
        </p:nvSpPr>
        <p:spPr>
          <a:xfrm>
            <a:off x="10945225" y="13780400"/>
            <a:ext cx="1281000" cy="27690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 sz="1200">
                <a:solidFill>
                  <a:srgbClr val="000000"/>
                </a:solidFill>
                <a:latin typeface="Times New Roman"/>
                <a:ea typeface="Times New Roman"/>
                <a:cs typeface="Times New Roman"/>
                <a:sym typeface="Times New Roman"/>
              </a:rPr>
              <a:t>PVS1_Moderate</a:t>
            </a:r>
            <a:endParaRPr/>
          </a:p>
        </p:txBody>
      </p:sp>
      <p:sp>
        <p:nvSpPr>
          <p:cNvPr id="161" name="Google Shape;161;p13"/>
          <p:cNvSpPr/>
          <p:nvPr/>
        </p:nvSpPr>
        <p:spPr>
          <a:xfrm>
            <a:off x="10945225" y="14511650"/>
            <a:ext cx="1281000" cy="27690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 sz="1200" b="0" i="0" u="none" strike="noStrike" cap="none">
                <a:solidFill>
                  <a:srgbClr val="000000"/>
                </a:solidFill>
                <a:latin typeface="Times New Roman"/>
                <a:ea typeface="Times New Roman"/>
                <a:cs typeface="Times New Roman"/>
                <a:sym typeface="Times New Roman"/>
              </a:rPr>
              <a:t>N/A</a:t>
            </a:r>
            <a:endParaRPr/>
          </a:p>
        </p:txBody>
      </p:sp>
      <p:sp>
        <p:nvSpPr>
          <p:cNvPr id="162" name="Google Shape;162;p13"/>
          <p:cNvSpPr/>
          <p:nvPr/>
        </p:nvSpPr>
        <p:spPr>
          <a:xfrm>
            <a:off x="1680250" y="9768325"/>
            <a:ext cx="2327100" cy="91020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 sz="1200" b="0" i="0" u="none" strike="noStrike" cap="none">
                <a:solidFill>
                  <a:srgbClr val="000000"/>
                </a:solidFill>
                <a:latin typeface="Times New Roman"/>
                <a:ea typeface="Times New Roman"/>
                <a:cs typeface="Times New Roman"/>
                <a:sym typeface="Times New Roman"/>
              </a:rPr>
              <a:t>Single to </a:t>
            </a:r>
            <a:r>
              <a:rPr lang="en" sz="1200">
                <a:solidFill>
                  <a:srgbClr val="000000"/>
                </a:solidFill>
                <a:latin typeface="Times New Roman"/>
                <a:ea typeface="Times New Roman"/>
                <a:cs typeface="Times New Roman"/>
                <a:sym typeface="Times New Roman"/>
              </a:rPr>
              <a:t>m</a:t>
            </a:r>
            <a:r>
              <a:rPr lang="en" sz="1200" b="0" i="0" u="none" strike="noStrike" cap="none">
                <a:solidFill>
                  <a:srgbClr val="000000"/>
                </a:solidFill>
                <a:latin typeface="Times New Roman"/>
                <a:ea typeface="Times New Roman"/>
                <a:cs typeface="Times New Roman"/>
                <a:sym typeface="Times New Roman"/>
              </a:rPr>
              <a:t>ulti e</a:t>
            </a:r>
            <a:r>
              <a:rPr lang="en" sz="1200">
                <a:solidFill>
                  <a:srgbClr val="000000"/>
                </a:solidFill>
                <a:latin typeface="Times New Roman"/>
                <a:ea typeface="Times New Roman"/>
                <a:cs typeface="Times New Roman"/>
                <a:sym typeface="Times New Roman"/>
              </a:rPr>
              <a:t>xon d</a:t>
            </a:r>
            <a:r>
              <a:rPr lang="en" sz="1200" b="0" i="0" u="none" strike="noStrike" cap="none">
                <a:solidFill>
                  <a:srgbClr val="000000"/>
                </a:solidFill>
                <a:latin typeface="Times New Roman"/>
                <a:ea typeface="Times New Roman"/>
                <a:cs typeface="Times New Roman"/>
                <a:sym typeface="Times New Roman"/>
              </a:rPr>
              <a:t>eletion – </a:t>
            </a:r>
            <a:endParaRPr/>
          </a:p>
          <a:p>
            <a:pPr marL="0" marR="0" lvl="0" indent="0" algn="ctr" rtl="0">
              <a:spcBef>
                <a:spcPts val="0"/>
              </a:spcBef>
              <a:spcAft>
                <a:spcPts val="0"/>
              </a:spcAft>
              <a:buNone/>
            </a:pPr>
            <a:r>
              <a:rPr lang="en" sz="1200" b="0" i="0" u="none" strike="noStrike" cap="none">
                <a:solidFill>
                  <a:srgbClr val="000000"/>
                </a:solidFill>
                <a:latin typeface="Times New Roman"/>
                <a:ea typeface="Times New Roman"/>
                <a:cs typeface="Times New Roman"/>
                <a:sym typeface="Times New Roman"/>
              </a:rPr>
              <a:t>Disrupts reading frame and is </a:t>
            </a:r>
            <a:r>
              <a:rPr lang="en" sz="1200" b="1">
                <a:solidFill>
                  <a:srgbClr val="000000"/>
                </a:solidFill>
                <a:latin typeface="Times New Roman"/>
                <a:ea typeface="Times New Roman"/>
                <a:cs typeface="Times New Roman"/>
                <a:sym typeface="Times New Roman"/>
              </a:rPr>
              <a:t>NOT</a:t>
            </a:r>
            <a:r>
              <a:rPr lang="en" sz="1200" b="0" i="0" u="none" strike="noStrike" cap="none">
                <a:solidFill>
                  <a:srgbClr val="000000"/>
                </a:solidFill>
                <a:latin typeface="Times New Roman"/>
                <a:ea typeface="Times New Roman"/>
                <a:cs typeface="Times New Roman"/>
                <a:sym typeface="Times New Roman"/>
              </a:rPr>
              <a:t> predicted to undergo NMD</a:t>
            </a:r>
            <a:r>
              <a:rPr lang="en" sz="1200">
                <a:solidFill>
                  <a:schemeClr val="dk1"/>
                </a:solidFill>
                <a:latin typeface="Times New Roman"/>
                <a:ea typeface="Times New Roman"/>
                <a:cs typeface="Times New Roman"/>
                <a:sym typeface="Times New Roman"/>
              </a:rPr>
              <a:t> </a:t>
            </a:r>
            <a:r>
              <a:rPr lang="en" sz="1200" baseline="30000">
                <a:solidFill>
                  <a:schemeClr val="dk1"/>
                </a:solidFill>
                <a:latin typeface="Times New Roman"/>
                <a:ea typeface="Times New Roman"/>
                <a:cs typeface="Times New Roman"/>
                <a:sym typeface="Times New Roman"/>
              </a:rPr>
              <a:t>b</a:t>
            </a:r>
            <a:endParaRPr/>
          </a:p>
        </p:txBody>
      </p:sp>
      <p:cxnSp>
        <p:nvCxnSpPr>
          <p:cNvPr id="163" name="Google Shape;163;p13"/>
          <p:cNvCxnSpPr>
            <a:stCxn id="125" idx="3"/>
            <a:endCxn id="128" idx="1"/>
          </p:cNvCxnSpPr>
          <p:nvPr/>
        </p:nvCxnSpPr>
        <p:spPr>
          <a:xfrm rot="10800000" flipH="1">
            <a:off x="1186125" y="8392225"/>
            <a:ext cx="515100" cy="1675200"/>
          </a:xfrm>
          <a:prstGeom prst="straightConnector1">
            <a:avLst/>
          </a:prstGeom>
          <a:noFill/>
          <a:ln w="9525" cap="flat" cmpd="sng">
            <a:solidFill>
              <a:srgbClr val="44546A"/>
            </a:solidFill>
            <a:prstDash val="solid"/>
            <a:round/>
            <a:headEnd type="none" w="med" len="med"/>
            <a:tailEnd type="triangle" w="med" len="med"/>
          </a:ln>
        </p:spPr>
      </p:cxnSp>
      <p:cxnSp>
        <p:nvCxnSpPr>
          <p:cNvPr id="164" name="Google Shape;164;p13"/>
          <p:cNvCxnSpPr>
            <a:stCxn id="125" idx="3"/>
            <a:endCxn id="126" idx="1"/>
          </p:cNvCxnSpPr>
          <p:nvPr/>
        </p:nvCxnSpPr>
        <p:spPr>
          <a:xfrm rot="10800000" flipH="1">
            <a:off x="1186125" y="9139525"/>
            <a:ext cx="515100" cy="927900"/>
          </a:xfrm>
          <a:prstGeom prst="straightConnector1">
            <a:avLst/>
          </a:prstGeom>
          <a:noFill/>
          <a:ln w="9525" cap="flat" cmpd="sng">
            <a:solidFill>
              <a:srgbClr val="44546A"/>
            </a:solidFill>
            <a:prstDash val="solid"/>
            <a:round/>
            <a:headEnd type="none" w="med" len="med"/>
            <a:tailEnd type="triangle" w="med" len="med"/>
          </a:ln>
        </p:spPr>
      </p:cxnSp>
      <p:cxnSp>
        <p:nvCxnSpPr>
          <p:cNvPr id="165" name="Google Shape;165;p13"/>
          <p:cNvCxnSpPr>
            <a:stCxn id="125" idx="3"/>
            <a:endCxn id="162" idx="1"/>
          </p:cNvCxnSpPr>
          <p:nvPr/>
        </p:nvCxnSpPr>
        <p:spPr>
          <a:xfrm>
            <a:off x="1186125" y="10067425"/>
            <a:ext cx="494100" cy="156000"/>
          </a:xfrm>
          <a:prstGeom prst="straightConnector1">
            <a:avLst/>
          </a:prstGeom>
          <a:noFill/>
          <a:ln w="9525" cap="flat" cmpd="sng">
            <a:solidFill>
              <a:srgbClr val="44546A"/>
            </a:solidFill>
            <a:prstDash val="solid"/>
            <a:round/>
            <a:headEnd type="none" w="med" len="med"/>
            <a:tailEnd type="triangle" w="med" len="med"/>
          </a:ln>
        </p:spPr>
      </p:cxnSp>
      <p:cxnSp>
        <p:nvCxnSpPr>
          <p:cNvPr id="166" name="Google Shape;166;p13"/>
          <p:cNvCxnSpPr>
            <a:stCxn id="125" idx="3"/>
            <a:endCxn id="127" idx="1"/>
          </p:cNvCxnSpPr>
          <p:nvPr/>
        </p:nvCxnSpPr>
        <p:spPr>
          <a:xfrm>
            <a:off x="1186125" y="10067425"/>
            <a:ext cx="515100" cy="1238100"/>
          </a:xfrm>
          <a:prstGeom prst="straightConnector1">
            <a:avLst/>
          </a:prstGeom>
          <a:noFill/>
          <a:ln w="9525" cap="flat" cmpd="sng">
            <a:solidFill>
              <a:srgbClr val="44546A"/>
            </a:solidFill>
            <a:prstDash val="solid"/>
            <a:round/>
            <a:headEnd type="none" w="med" len="med"/>
            <a:tailEnd type="triangle" w="med" len="med"/>
          </a:ln>
        </p:spPr>
      </p:cxnSp>
      <p:cxnSp>
        <p:nvCxnSpPr>
          <p:cNvPr id="167" name="Google Shape;167;p13"/>
          <p:cNvCxnSpPr>
            <a:stCxn id="128" idx="3"/>
            <a:endCxn id="134" idx="1"/>
          </p:cNvCxnSpPr>
          <p:nvPr/>
        </p:nvCxnSpPr>
        <p:spPr>
          <a:xfrm>
            <a:off x="4028300" y="8392200"/>
            <a:ext cx="6916800" cy="0"/>
          </a:xfrm>
          <a:prstGeom prst="straightConnector1">
            <a:avLst/>
          </a:prstGeom>
          <a:noFill/>
          <a:ln w="9525" cap="flat" cmpd="sng">
            <a:solidFill>
              <a:srgbClr val="44546A"/>
            </a:solidFill>
            <a:prstDash val="solid"/>
            <a:round/>
            <a:headEnd type="none" w="med" len="med"/>
            <a:tailEnd type="triangle" w="med" len="med"/>
          </a:ln>
        </p:spPr>
      </p:cxnSp>
      <p:cxnSp>
        <p:nvCxnSpPr>
          <p:cNvPr id="168" name="Google Shape;168;p13"/>
          <p:cNvCxnSpPr>
            <a:stCxn id="126" idx="3"/>
            <a:endCxn id="129" idx="1"/>
          </p:cNvCxnSpPr>
          <p:nvPr/>
        </p:nvCxnSpPr>
        <p:spPr>
          <a:xfrm rot="10800000" flipH="1">
            <a:off x="4028300" y="8800450"/>
            <a:ext cx="544800" cy="339000"/>
          </a:xfrm>
          <a:prstGeom prst="straightConnector1">
            <a:avLst/>
          </a:prstGeom>
          <a:noFill/>
          <a:ln w="9525" cap="flat" cmpd="sng">
            <a:solidFill>
              <a:srgbClr val="44546A"/>
            </a:solidFill>
            <a:prstDash val="solid"/>
            <a:round/>
            <a:headEnd type="none" w="med" len="med"/>
            <a:tailEnd type="triangle" w="med" len="med"/>
          </a:ln>
        </p:spPr>
      </p:cxnSp>
      <p:cxnSp>
        <p:nvCxnSpPr>
          <p:cNvPr id="169" name="Google Shape;169;p13"/>
          <p:cNvCxnSpPr>
            <a:stCxn id="126" idx="3"/>
            <a:endCxn id="131" idx="1"/>
          </p:cNvCxnSpPr>
          <p:nvPr/>
        </p:nvCxnSpPr>
        <p:spPr>
          <a:xfrm>
            <a:off x="4028300" y="9139450"/>
            <a:ext cx="544500" cy="89700"/>
          </a:xfrm>
          <a:prstGeom prst="straightConnector1">
            <a:avLst/>
          </a:prstGeom>
          <a:noFill/>
          <a:ln w="9525" cap="flat" cmpd="sng">
            <a:solidFill>
              <a:srgbClr val="44546A"/>
            </a:solidFill>
            <a:prstDash val="solid"/>
            <a:round/>
            <a:headEnd type="none" w="med" len="med"/>
            <a:tailEnd type="triangle" w="med" len="med"/>
          </a:ln>
        </p:spPr>
      </p:cxnSp>
      <p:cxnSp>
        <p:nvCxnSpPr>
          <p:cNvPr id="170" name="Google Shape;170;p13"/>
          <p:cNvCxnSpPr>
            <a:stCxn id="162" idx="3"/>
            <a:endCxn id="130" idx="1"/>
          </p:cNvCxnSpPr>
          <p:nvPr/>
        </p:nvCxnSpPr>
        <p:spPr>
          <a:xfrm rot="10800000" flipH="1">
            <a:off x="4007350" y="9682825"/>
            <a:ext cx="537000" cy="540600"/>
          </a:xfrm>
          <a:prstGeom prst="straightConnector1">
            <a:avLst/>
          </a:prstGeom>
          <a:noFill/>
          <a:ln w="9525" cap="flat" cmpd="sng">
            <a:solidFill>
              <a:srgbClr val="44546A"/>
            </a:solidFill>
            <a:prstDash val="solid"/>
            <a:round/>
            <a:headEnd type="none" w="med" len="med"/>
            <a:tailEnd type="triangle" w="med" len="med"/>
          </a:ln>
        </p:spPr>
      </p:cxnSp>
      <p:cxnSp>
        <p:nvCxnSpPr>
          <p:cNvPr id="171" name="Google Shape;171;p13"/>
          <p:cNvCxnSpPr>
            <a:stCxn id="162" idx="3"/>
            <a:endCxn id="132" idx="1"/>
          </p:cNvCxnSpPr>
          <p:nvPr/>
        </p:nvCxnSpPr>
        <p:spPr>
          <a:xfrm>
            <a:off x="4007350" y="10223425"/>
            <a:ext cx="565500" cy="474600"/>
          </a:xfrm>
          <a:prstGeom prst="straightConnector1">
            <a:avLst/>
          </a:prstGeom>
          <a:noFill/>
          <a:ln w="9525" cap="flat" cmpd="sng">
            <a:solidFill>
              <a:srgbClr val="44546A"/>
            </a:solidFill>
            <a:prstDash val="solid"/>
            <a:round/>
            <a:headEnd type="none" w="med" len="med"/>
            <a:tailEnd type="triangle" w="med" len="med"/>
          </a:ln>
        </p:spPr>
      </p:cxnSp>
      <p:cxnSp>
        <p:nvCxnSpPr>
          <p:cNvPr id="172" name="Google Shape;172;p13"/>
          <p:cNvCxnSpPr>
            <a:stCxn id="127" idx="3"/>
            <a:endCxn id="132" idx="1"/>
          </p:cNvCxnSpPr>
          <p:nvPr/>
        </p:nvCxnSpPr>
        <p:spPr>
          <a:xfrm rot="10800000" flipH="1">
            <a:off x="4028300" y="10697900"/>
            <a:ext cx="544800" cy="607500"/>
          </a:xfrm>
          <a:prstGeom prst="straightConnector1">
            <a:avLst/>
          </a:prstGeom>
          <a:noFill/>
          <a:ln w="9525" cap="flat" cmpd="sng">
            <a:solidFill>
              <a:srgbClr val="44546A"/>
            </a:solidFill>
            <a:prstDash val="solid"/>
            <a:round/>
            <a:headEnd type="none" w="med" len="med"/>
            <a:tailEnd type="triangle" w="med" len="med"/>
          </a:ln>
        </p:spPr>
      </p:cxnSp>
      <p:cxnSp>
        <p:nvCxnSpPr>
          <p:cNvPr id="173" name="Google Shape;173;p13"/>
          <p:cNvCxnSpPr>
            <a:stCxn id="127" idx="3"/>
            <a:endCxn id="135" idx="1"/>
          </p:cNvCxnSpPr>
          <p:nvPr/>
        </p:nvCxnSpPr>
        <p:spPr>
          <a:xfrm>
            <a:off x="4028300" y="11305400"/>
            <a:ext cx="516000" cy="395400"/>
          </a:xfrm>
          <a:prstGeom prst="straightConnector1">
            <a:avLst/>
          </a:prstGeom>
          <a:noFill/>
          <a:ln w="9525" cap="flat" cmpd="sng">
            <a:solidFill>
              <a:srgbClr val="44546A"/>
            </a:solidFill>
            <a:prstDash val="solid"/>
            <a:round/>
            <a:headEnd type="none" w="med" len="med"/>
            <a:tailEnd type="triangle" w="med" len="med"/>
          </a:ln>
        </p:spPr>
      </p:cxnSp>
      <p:cxnSp>
        <p:nvCxnSpPr>
          <p:cNvPr id="174" name="Google Shape;174;p13"/>
          <p:cNvCxnSpPr>
            <a:stCxn id="132" idx="3"/>
            <a:endCxn id="133" idx="1"/>
          </p:cNvCxnSpPr>
          <p:nvPr/>
        </p:nvCxnSpPr>
        <p:spPr>
          <a:xfrm rot="10800000" flipH="1">
            <a:off x="5653875" y="10159675"/>
            <a:ext cx="563400" cy="538200"/>
          </a:xfrm>
          <a:prstGeom prst="straightConnector1">
            <a:avLst/>
          </a:prstGeom>
          <a:noFill/>
          <a:ln w="9525" cap="flat" cmpd="sng">
            <a:solidFill>
              <a:srgbClr val="44546A"/>
            </a:solidFill>
            <a:prstDash val="solid"/>
            <a:round/>
            <a:headEnd type="none" w="med" len="med"/>
            <a:tailEnd type="triangle" w="med" len="med"/>
          </a:ln>
        </p:spPr>
      </p:cxnSp>
      <p:cxnSp>
        <p:nvCxnSpPr>
          <p:cNvPr id="175" name="Google Shape;175;p13"/>
          <p:cNvCxnSpPr>
            <a:stCxn id="132" idx="3"/>
          </p:cNvCxnSpPr>
          <p:nvPr/>
        </p:nvCxnSpPr>
        <p:spPr>
          <a:xfrm>
            <a:off x="5653875" y="10697875"/>
            <a:ext cx="563400" cy="289800"/>
          </a:xfrm>
          <a:prstGeom prst="straightConnector1">
            <a:avLst/>
          </a:prstGeom>
          <a:noFill/>
          <a:ln w="9525" cap="flat" cmpd="sng">
            <a:solidFill>
              <a:srgbClr val="44546A"/>
            </a:solidFill>
            <a:prstDash val="solid"/>
            <a:round/>
            <a:headEnd type="none" w="med" len="med"/>
            <a:tailEnd type="triangle" w="med" len="med"/>
          </a:ln>
        </p:spPr>
      </p:cxnSp>
      <p:cxnSp>
        <p:nvCxnSpPr>
          <p:cNvPr id="176" name="Google Shape;176;p13"/>
          <p:cNvCxnSpPr>
            <a:stCxn id="129" idx="3"/>
            <a:endCxn id="136" idx="1"/>
          </p:cNvCxnSpPr>
          <p:nvPr/>
        </p:nvCxnSpPr>
        <p:spPr>
          <a:xfrm>
            <a:off x="10440975" y="8800450"/>
            <a:ext cx="504300" cy="0"/>
          </a:xfrm>
          <a:prstGeom prst="straightConnector1">
            <a:avLst/>
          </a:prstGeom>
          <a:noFill/>
          <a:ln w="9525" cap="flat" cmpd="sng">
            <a:solidFill>
              <a:srgbClr val="44546A"/>
            </a:solidFill>
            <a:prstDash val="solid"/>
            <a:round/>
            <a:headEnd type="none" w="med" len="med"/>
            <a:tailEnd type="triangle" w="med" len="med"/>
          </a:ln>
        </p:spPr>
      </p:cxnSp>
      <p:cxnSp>
        <p:nvCxnSpPr>
          <p:cNvPr id="177" name="Google Shape;177;p13"/>
          <p:cNvCxnSpPr>
            <a:stCxn id="131" idx="3"/>
            <a:endCxn id="137" idx="1"/>
          </p:cNvCxnSpPr>
          <p:nvPr/>
        </p:nvCxnSpPr>
        <p:spPr>
          <a:xfrm>
            <a:off x="10440900" y="9229025"/>
            <a:ext cx="504300" cy="0"/>
          </a:xfrm>
          <a:prstGeom prst="straightConnector1">
            <a:avLst/>
          </a:prstGeom>
          <a:noFill/>
          <a:ln w="9525" cap="flat" cmpd="sng">
            <a:solidFill>
              <a:srgbClr val="44546A"/>
            </a:solidFill>
            <a:prstDash val="solid"/>
            <a:round/>
            <a:headEnd type="none" w="med" len="med"/>
            <a:tailEnd type="triangle" w="med" len="med"/>
          </a:ln>
        </p:spPr>
      </p:cxnSp>
      <p:cxnSp>
        <p:nvCxnSpPr>
          <p:cNvPr id="178" name="Google Shape;178;p13"/>
          <p:cNvCxnSpPr>
            <a:stCxn id="130" idx="3"/>
            <a:endCxn id="138" idx="1"/>
          </p:cNvCxnSpPr>
          <p:nvPr/>
        </p:nvCxnSpPr>
        <p:spPr>
          <a:xfrm>
            <a:off x="10440900" y="9682775"/>
            <a:ext cx="504300" cy="0"/>
          </a:xfrm>
          <a:prstGeom prst="straightConnector1">
            <a:avLst/>
          </a:prstGeom>
          <a:noFill/>
          <a:ln w="9525" cap="flat" cmpd="sng">
            <a:solidFill>
              <a:srgbClr val="44546A"/>
            </a:solidFill>
            <a:prstDash val="solid"/>
            <a:round/>
            <a:headEnd type="none" w="med" len="med"/>
            <a:tailEnd type="triangle" w="med" len="med"/>
          </a:ln>
        </p:spPr>
      </p:cxnSp>
      <p:cxnSp>
        <p:nvCxnSpPr>
          <p:cNvPr id="179" name="Google Shape;179;p13"/>
          <p:cNvCxnSpPr>
            <a:stCxn id="133" idx="3"/>
            <a:endCxn id="139" idx="1"/>
          </p:cNvCxnSpPr>
          <p:nvPr/>
        </p:nvCxnSpPr>
        <p:spPr>
          <a:xfrm>
            <a:off x="10451775" y="10159550"/>
            <a:ext cx="493500" cy="0"/>
          </a:xfrm>
          <a:prstGeom prst="straightConnector1">
            <a:avLst/>
          </a:prstGeom>
          <a:noFill/>
          <a:ln w="9525" cap="flat" cmpd="sng">
            <a:solidFill>
              <a:srgbClr val="44546A"/>
            </a:solidFill>
            <a:prstDash val="solid"/>
            <a:round/>
            <a:headEnd type="none" w="med" len="med"/>
            <a:tailEnd type="triangle" w="med" len="med"/>
          </a:ln>
        </p:spPr>
      </p:cxnSp>
      <p:cxnSp>
        <p:nvCxnSpPr>
          <p:cNvPr id="180" name="Google Shape;180;p13"/>
          <p:cNvCxnSpPr>
            <a:stCxn id="135" idx="3"/>
            <a:endCxn id="142" idx="1"/>
          </p:cNvCxnSpPr>
          <p:nvPr/>
        </p:nvCxnSpPr>
        <p:spPr>
          <a:xfrm>
            <a:off x="10451700" y="11700700"/>
            <a:ext cx="493500" cy="0"/>
          </a:xfrm>
          <a:prstGeom prst="straightConnector1">
            <a:avLst/>
          </a:prstGeom>
          <a:noFill/>
          <a:ln w="9525" cap="flat" cmpd="sng">
            <a:solidFill>
              <a:srgbClr val="44546A"/>
            </a:solidFill>
            <a:prstDash val="solid"/>
            <a:round/>
            <a:headEnd type="none" w="med" len="med"/>
            <a:tailEnd type="triangle" w="med" len="med"/>
          </a:ln>
        </p:spPr>
      </p:cxnSp>
      <p:cxnSp>
        <p:nvCxnSpPr>
          <p:cNvPr id="181" name="Google Shape;181;p13"/>
          <p:cNvCxnSpPr>
            <a:stCxn id="143" idx="3"/>
            <a:endCxn id="144" idx="1"/>
          </p:cNvCxnSpPr>
          <p:nvPr/>
        </p:nvCxnSpPr>
        <p:spPr>
          <a:xfrm rot="10800000" flipH="1">
            <a:off x="1186125" y="12238175"/>
            <a:ext cx="515100" cy="587700"/>
          </a:xfrm>
          <a:prstGeom prst="straightConnector1">
            <a:avLst/>
          </a:prstGeom>
          <a:noFill/>
          <a:ln w="9525" cap="flat" cmpd="sng">
            <a:solidFill>
              <a:srgbClr val="44546A"/>
            </a:solidFill>
            <a:prstDash val="solid"/>
            <a:round/>
            <a:headEnd type="none" w="med" len="med"/>
            <a:tailEnd type="triangle" w="med" len="med"/>
          </a:ln>
        </p:spPr>
      </p:cxnSp>
      <p:cxnSp>
        <p:nvCxnSpPr>
          <p:cNvPr id="182" name="Google Shape;182;p13"/>
          <p:cNvCxnSpPr>
            <a:stCxn id="143" idx="3"/>
            <a:endCxn id="145" idx="1"/>
          </p:cNvCxnSpPr>
          <p:nvPr/>
        </p:nvCxnSpPr>
        <p:spPr>
          <a:xfrm rot="10800000" flipH="1">
            <a:off x="1186125" y="12796475"/>
            <a:ext cx="515100" cy="29400"/>
          </a:xfrm>
          <a:prstGeom prst="straightConnector1">
            <a:avLst/>
          </a:prstGeom>
          <a:noFill/>
          <a:ln w="9525" cap="flat" cmpd="sng">
            <a:solidFill>
              <a:srgbClr val="44546A"/>
            </a:solidFill>
            <a:prstDash val="solid"/>
            <a:round/>
            <a:headEnd type="none" w="med" len="med"/>
            <a:tailEnd type="triangle" w="med" len="med"/>
          </a:ln>
        </p:spPr>
      </p:cxnSp>
      <p:cxnSp>
        <p:nvCxnSpPr>
          <p:cNvPr id="183" name="Google Shape;183;p13"/>
          <p:cNvCxnSpPr>
            <a:stCxn id="143" idx="3"/>
            <a:endCxn id="146" idx="1"/>
          </p:cNvCxnSpPr>
          <p:nvPr/>
        </p:nvCxnSpPr>
        <p:spPr>
          <a:xfrm>
            <a:off x="1186125" y="12825875"/>
            <a:ext cx="515100" cy="473100"/>
          </a:xfrm>
          <a:prstGeom prst="straightConnector1">
            <a:avLst/>
          </a:prstGeom>
          <a:noFill/>
          <a:ln w="9525" cap="flat" cmpd="sng">
            <a:solidFill>
              <a:srgbClr val="44546A"/>
            </a:solidFill>
            <a:prstDash val="solid"/>
            <a:round/>
            <a:headEnd type="none" w="med" len="med"/>
            <a:tailEnd type="triangle" w="med" len="med"/>
          </a:ln>
        </p:spPr>
      </p:cxnSp>
      <p:cxnSp>
        <p:nvCxnSpPr>
          <p:cNvPr id="184" name="Google Shape;184;p13"/>
          <p:cNvCxnSpPr>
            <a:stCxn id="144" idx="3"/>
            <a:endCxn id="148" idx="1"/>
          </p:cNvCxnSpPr>
          <p:nvPr/>
        </p:nvCxnSpPr>
        <p:spPr>
          <a:xfrm>
            <a:off x="4028300" y="12238075"/>
            <a:ext cx="505200" cy="318900"/>
          </a:xfrm>
          <a:prstGeom prst="straightConnector1">
            <a:avLst/>
          </a:prstGeom>
          <a:noFill/>
          <a:ln w="9525" cap="flat" cmpd="sng">
            <a:solidFill>
              <a:srgbClr val="44546A"/>
            </a:solidFill>
            <a:prstDash val="solid"/>
            <a:round/>
            <a:headEnd type="none" w="med" len="med"/>
            <a:tailEnd type="triangle" w="med" len="med"/>
          </a:ln>
        </p:spPr>
      </p:cxnSp>
      <p:cxnSp>
        <p:nvCxnSpPr>
          <p:cNvPr id="185" name="Google Shape;185;p13"/>
          <p:cNvCxnSpPr>
            <a:stCxn id="145" idx="3"/>
            <a:endCxn id="148" idx="1"/>
          </p:cNvCxnSpPr>
          <p:nvPr/>
        </p:nvCxnSpPr>
        <p:spPr>
          <a:xfrm rot="10800000" flipH="1">
            <a:off x="4028300" y="12557075"/>
            <a:ext cx="505200" cy="239400"/>
          </a:xfrm>
          <a:prstGeom prst="straightConnector1">
            <a:avLst/>
          </a:prstGeom>
          <a:noFill/>
          <a:ln w="9525" cap="flat" cmpd="sng">
            <a:solidFill>
              <a:srgbClr val="44546A"/>
            </a:solidFill>
            <a:prstDash val="solid"/>
            <a:round/>
            <a:headEnd type="none" w="med" len="med"/>
            <a:tailEnd type="triangle" w="med" len="med"/>
          </a:ln>
        </p:spPr>
      </p:cxnSp>
      <p:cxnSp>
        <p:nvCxnSpPr>
          <p:cNvPr id="186" name="Google Shape;186;p13"/>
          <p:cNvCxnSpPr>
            <a:stCxn id="145" idx="3"/>
            <a:endCxn id="149" idx="1"/>
          </p:cNvCxnSpPr>
          <p:nvPr/>
        </p:nvCxnSpPr>
        <p:spPr>
          <a:xfrm>
            <a:off x="4028300" y="12796475"/>
            <a:ext cx="505500" cy="160200"/>
          </a:xfrm>
          <a:prstGeom prst="straightConnector1">
            <a:avLst/>
          </a:prstGeom>
          <a:noFill/>
          <a:ln w="9525" cap="flat" cmpd="sng">
            <a:solidFill>
              <a:srgbClr val="44546A"/>
            </a:solidFill>
            <a:prstDash val="solid"/>
            <a:round/>
            <a:headEnd type="none" w="med" len="med"/>
            <a:tailEnd type="triangle" w="med" len="med"/>
          </a:ln>
        </p:spPr>
      </p:cxnSp>
      <p:cxnSp>
        <p:nvCxnSpPr>
          <p:cNvPr id="187" name="Google Shape;187;p13"/>
          <p:cNvCxnSpPr>
            <a:stCxn id="147" idx="3"/>
            <a:endCxn id="150" idx="1"/>
          </p:cNvCxnSpPr>
          <p:nvPr/>
        </p:nvCxnSpPr>
        <p:spPr>
          <a:xfrm>
            <a:off x="10441025" y="12189663"/>
            <a:ext cx="504300" cy="0"/>
          </a:xfrm>
          <a:prstGeom prst="straightConnector1">
            <a:avLst/>
          </a:prstGeom>
          <a:noFill/>
          <a:ln w="9525" cap="flat" cmpd="sng">
            <a:solidFill>
              <a:srgbClr val="44546A"/>
            </a:solidFill>
            <a:prstDash val="solid"/>
            <a:round/>
            <a:headEnd type="none" w="med" len="med"/>
            <a:tailEnd type="triangle" w="med" len="med"/>
          </a:ln>
        </p:spPr>
      </p:cxnSp>
      <p:cxnSp>
        <p:nvCxnSpPr>
          <p:cNvPr id="188" name="Google Shape;188;p13"/>
          <p:cNvCxnSpPr>
            <a:stCxn id="148" idx="3"/>
            <a:endCxn id="151" idx="1"/>
          </p:cNvCxnSpPr>
          <p:nvPr/>
        </p:nvCxnSpPr>
        <p:spPr>
          <a:xfrm>
            <a:off x="10440925" y="12557100"/>
            <a:ext cx="504300" cy="0"/>
          </a:xfrm>
          <a:prstGeom prst="straightConnector1">
            <a:avLst/>
          </a:prstGeom>
          <a:noFill/>
          <a:ln w="9525" cap="flat" cmpd="sng">
            <a:solidFill>
              <a:srgbClr val="44546A"/>
            </a:solidFill>
            <a:prstDash val="solid"/>
            <a:round/>
            <a:headEnd type="none" w="med" len="med"/>
            <a:tailEnd type="triangle" w="med" len="med"/>
          </a:ln>
        </p:spPr>
      </p:cxnSp>
      <p:cxnSp>
        <p:nvCxnSpPr>
          <p:cNvPr id="189" name="Google Shape;189;p13"/>
          <p:cNvCxnSpPr>
            <a:stCxn id="149" idx="3"/>
            <a:endCxn id="152" idx="1"/>
          </p:cNvCxnSpPr>
          <p:nvPr/>
        </p:nvCxnSpPr>
        <p:spPr>
          <a:xfrm>
            <a:off x="10441050" y="12956750"/>
            <a:ext cx="504300" cy="0"/>
          </a:xfrm>
          <a:prstGeom prst="straightConnector1">
            <a:avLst/>
          </a:prstGeom>
          <a:noFill/>
          <a:ln w="9525" cap="flat" cmpd="sng">
            <a:solidFill>
              <a:srgbClr val="44546A"/>
            </a:solidFill>
            <a:prstDash val="solid"/>
            <a:round/>
            <a:headEnd type="none" w="med" len="med"/>
            <a:tailEnd type="triangle" w="med" len="med"/>
          </a:ln>
        </p:spPr>
      </p:cxnSp>
      <p:cxnSp>
        <p:nvCxnSpPr>
          <p:cNvPr id="190" name="Google Shape;190;p13"/>
          <p:cNvCxnSpPr>
            <a:stCxn id="156" idx="3"/>
            <a:endCxn id="157" idx="1"/>
          </p:cNvCxnSpPr>
          <p:nvPr/>
        </p:nvCxnSpPr>
        <p:spPr>
          <a:xfrm rot="10800000" flipH="1">
            <a:off x="3986500" y="13921275"/>
            <a:ext cx="547200" cy="136200"/>
          </a:xfrm>
          <a:prstGeom prst="straightConnector1">
            <a:avLst/>
          </a:prstGeom>
          <a:noFill/>
          <a:ln w="9525" cap="flat" cmpd="sng">
            <a:solidFill>
              <a:srgbClr val="44546A"/>
            </a:solidFill>
            <a:prstDash val="solid"/>
            <a:round/>
            <a:headEnd type="none" w="med" len="med"/>
            <a:tailEnd type="triangle" w="med" len="med"/>
          </a:ln>
        </p:spPr>
      </p:cxnSp>
      <p:cxnSp>
        <p:nvCxnSpPr>
          <p:cNvPr id="191" name="Google Shape;191;p13"/>
          <p:cNvCxnSpPr>
            <a:stCxn id="156" idx="3"/>
            <a:endCxn id="158" idx="1"/>
          </p:cNvCxnSpPr>
          <p:nvPr/>
        </p:nvCxnSpPr>
        <p:spPr>
          <a:xfrm>
            <a:off x="3986500" y="14057475"/>
            <a:ext cx="547200" cy="241800"/>
          </a:xfrm>
          <a:prstGeom prst="straightConnector1">
            <a:avLst/>
          </a:prstGeom>
          <a:noFill/>
          <a:ln w="9525" cap="flat" cmpd="sng">
            <a:solidFill>
              <a:srgbClr val="44546A"/>
            </a:solidFill>
            <a:prstDash val="solid"/>
            <a:round/>
            <a:headEnd type="none" w="med" len="med"/>
            <a:tailEnd type="triangle" w="med" len="med"/>
          </a:ln>
        </p:spPr>
      </p:cxnSp>
      <p:cxnSp>
        <p:nvCxnSpPr>
          <p:cNvPr id="192" name="Google Shape;192;p13"/>
          <p:cNvCxnSpPr>
            <a:stCxn id="155" idx="3"/>
            <a:endCxn id="161" idx="1"/>
          </p:cNvCxnSpPr>
          <p:nvPr/>
        </p:nvCxnSpPr>
        <p:spPr>
          <a:xfrm>
            <a:off x="3986500" y="14650100"/>
            <a:ext cx="6958800" cy="0"/>
          </a:xfrm>
          <a:prstGeom prst="straightConnector1">
            <a:avLst/>
          </a:prstGeom>
          <a:noFill/>
          <a:ln w="9525" cap="flat" cmpd="sng">
            <a:solidFill>
              <a:srgbClr val="44546A"/>
            </a:solidFill>
            <a:prstDash val="solid"/>
            <a:round/>
            <a:headEnd type="none" w="med" len="med"/>
            <a:tailEnd type="triangle" w="med" len="med"/>
          </a:ln>
        </p:spPr>
      </p:cxnSp>
      <p:cxnSp>
        <p:nvCxnSpPr>
          <p:cNvPr id="193" name="Google Shape;193;p13"/>
          <p:cNvCxnSpPr>
            <a:stCxn id="157" idx="3"/>
            <a:endCxn id="160" idx="1"/>
          </p:cNvCxnSpPr>
          <p:nvPr/>
        </p:nvCxnSpPr>
        <p:spPr>
          <a:xfrm rot="10800000" flipH="1">
            <a:off x="10315401" y="13918750"/>
            <a:ext cx="629700" cy="2400"/>
          </a:xfrm>
          <a:prstGeom prst="straightConnector1">
            <a:avLst/>
          </a:prstGeom>
          <a:noFill/>
          <a:ln w="9525" cap="flat" cmpd="sng">
            <a:solidFill>
              <a:srgbClr val="44546A"/>
            </a:solidFill>
            <a:prstDash val="solid"/>
            <a:round/>
            <a:headEnd type="none" w="med" len="med"/>
            <a:tailEnd type="triangle" w="med" len="med"/>
          </a:ln>
        </p:spPr>
      </p:cxnSp>
      <p:cxnSp>
        <p:nvCxnSpPr>
          <p:cNvPr id="194" name="Google Shape;194;p13"/>
          <p:cNvCxnSpPr>
            <a:stCxn id="158" idx="3"/>
            <a:endCxn id="159" idx="1"/>
          </p:cNvCxnSpPr>
          <p:nvPr/>
        </p:nvCxnSpPr>
        <p:spPr>
          <a:xfrm>
            <a:off x="10296500" y="14299150"/>
            <a:ext cx="648600" cy="0"/>
          </a:xfrm>
          <a:prstGeom prst="straightConnector1">
            <a:avLst/>
          </a:prstGeom>
          <a:noFill/>
          <a:ln w="9525" cap="flat" cmpd="sng">
            <a:solidFill>
              <a:srgbClr val="44546A"/>
            </a:solidFill>
            <a:prstDash val="solid"/>
            <a:round/>
            <a:headEnd type="none" w="med" len="med"/>
            <a:tailEnd type="triangle" w="med" len="med"/>
          </a:ln>
        </p:spPr>
      </p:cxnSp>
      <p:cxnSp>
        <p:nvCxnSpPr>
          <p:cNvPr id="195" name="Google Shape;195;p13"/>
          <p:cNvCxnSpPr>
            <a:stCxn id="154" idx="3"/>
            <a:endCxn id="156" idx="1"/>
          </p:cNvCxnSpPr>
          <p:nvPr/>
        </p:nvCxnSpPr>
        <p:spPr>
          <a:xfrm rot="10800000" flipH="1">
            <a:off x="1186125" y="14057473"/>
            <a:ext cx="473400" cy="236100"/>
          </a:xfrm>
          <a:prstGeom prst="straightConnector1">
            <a:avLst/>
          </a:prstGeom>
          <a:noFill/>
          <a:ln w="9525" cap="flat" cmpd="sng">
            <a:solidFill>
              <a:srgbClr val="44546A"/>
            </a:solidFill>
            <a:prstDash val="solid"/>
            <a:round/>
            <a:headEnd type="none" w="med" len="med"/>
            <a:tailEnd type="triangle" w="med" len="med"/>
          </a:ln>
        </p:spPr>
      </p:cxnSp>
      <p:cxnSp>
        <p:nvCxnSpPr>
          <p:cNvPr id="196" name="Google Shape;196;p13"/>
          <p:cNvCxnSpPr>
            <a:stCxn id="154" idx="3"/>
            <a:endCxn id="155" idx="1"/>
          </p:cNvCxnSpPr>
          <p:nvPr/>
        </p:nvCxnSpPr>
        <p:spPr>
          <a:xfrm>
            <a:off x="1186125" y="14293573"/>
            <a:ext cx="473400" cy="356400"/>
          </a:xfrm>
          <a:prstGeom prst="straightConnector1">
            <a:avLst/>
          </a:prstGeom>
          <a:noFill/>
          <a:ln w="9525" cap="flat" cmpd="sng">
            <a:solidFill>
              <a:srgbClr val="44546A"/>
            </a:solidFill>
            <a:prstDash val="solid"/>
            <a:round/>
            <a:headEnd type="none" w="med" len="med"/>
            <a:tailEnd type="triangle" w="med" len="med"/>
          </a:ln>
        </p:spPr>
      </p:cxnSp>
      <p:sp>
        <p:nvSpPr>
          <p:cNvPr id="197" name="Google Shape;197;p13"/>
          <p:cNvSpPr/>
          <p:nvPr/>
        </p:nvSpPr>
        <p:spPr>
          <a:xfrm>
            <a:off x="6217275" y="10498225"/>
            <a:ext cx="2618100" cy="97890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lvl="0" indent="0" algn="ctr" rtl="0">
              <a:spcBef>
                <a:spcPts val="0"/>
              </a:spcBef>
              <a:spcAft>
                <a:spcPts val="0"/>
              </a:spcAft>
              <a:buNone/>
            </a:pPr>
            <a:r>
              <a:rPr lang="en" sz="1200">
                <a:solidFill>
                  <a:srgbClr val="000000"/>
                </a:solidFill>
                <a:latin typeface="Times New Roman"/>
                <a:ea typeface="Times New Roman"/>
                <a:cs typeface="Times New Roman"/>
                <a:sym typeface="Times New Roman"/>
              </a:rPr>
              <a:t>L</a:t>
            </a:r>
            <a:r>
              <a:rPr lang="en" sz="1200">
                <a:latin typeface="Times New Roman"/>
                <a:ea typeface="Times New Roman"/>
                <a:cs typeface="Times New Roman"/>
                <a:sym typeface="Times New Roman"/>
              </a:rPr>
              <a:t>o</a:t>
            </a:r>
            <a:r>
              <a:rPr lang="en" sz="1200">
                <a:solidFill>
                  <a:srgbClr val="000000"/>
                </a:solidFill>
                <a:latin typeface="Times New Roman"/>
                <a:ea typeface="Times New Roman"/>
                <a:cs typeface="Times New Roman"/>
                <a:sym typeface="Times New Roman"/>
              </a:rPr>
              <a:t>F variants in this exon are not frequent in the general population and exon is present in biologically-relevant transcript(s)</a:t>
            </a:r>
            <a:endParaRPr sz="1200">
              <a:solidFill>
                <a:srgbClr val="000000"/>
              </a:solidFill>
              <a:latin typeface="Times New Roman"/>
              <a:ea typeface="Times New Roman"/>
              <a:cs typeface="Times New Roman"/>
              <a:sym typeface="Times New Roman"/>
            </a:endParaRPr>
          </a:p>
        </p:txBody>
      </p:sp>
      <p:sp>
        <p:nvSpPr>
          <p:cNvPr id="198" name="Google Shape;198;p13"/>
          <p:cNvSpPr/>
          <p:nvPr/>
        </p:nvSpPr>
        <p:spPr>
          <a:xfrm>
            <a:off x="9220300" y="10498225"/>
            <a:ext cx="1231500" cy="45270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 sz="1200">
                <a:solidFill>
                  <a:srgbClr val="000000"/>
                </a:solidFill>
                <a:latin typeface="Times New Roman"/>
                <a:ea typeface="Times New Roman"/>
                <a:cs typeface="Times New Roman"/>
                <a:sym typeface="Times New Roman"/>
              </a:rPr>
              <a:t>Variant removes </a:t>
            </a:r>
            <a:r>
              <a:rPr lang="en" sz="1200" b="0" i="0" u="none" strike="noStrike" cap="none">
                <a:solidFill>
                  <a:srgbClr val="000000"/>
                </a:solidFill>
                <a:latin typeface="Times New Roman"/>
                <a:ea typeface="Times New Roman"/>
                <a:cs typeface="Times New Roman"/>
                <a:sym typeface="Times New Roman"/>
              </a:rPr>
              <a:t>&gt;10% of protein</a:t>
            </a:r>
            <a:endParaRPr/>
          </a:p>
        </p:txBody>
      </p:sp>
      <p:sp>
        <p:nvSpPr>
          <p:cNvPr id="199" name="Google Shape;199;p13"/>
          <p:cNvSpPr/>
          <p:nvPr/>
        </p:nvSpPr>
        <p:spPr>
          <a:xfrm>
            <a:off x="9220225" y="11024400"/>
            <a:ext cx="1231500" cy="45270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 sz="1200">
                <a:solidFill>
                  <a:srgbClr val="000000"/>
                </a:solidFill>
                <a:latin typeface="Times New Roman"/>
                <a:ea typeface="Times New Roman"/>
                <a:cs typeface="Times New Roman"/>
                <a:sym typeface="Times New Roman"/>
              </a:rPr>
              <a:t>Variant removes &lt;</a:t>
            </a:r>
            <a:r>
              <a:rPr lang="en" sz="1200" b="0" i="0" u="none" strike="noStrike" cap="none">
                <a:solidFill>
                  <a:srgbClr val="000000"/>
                </a:solidFill>
                <a:latin typeface="Times New Roman"/>
                <a:ea typeface="Times New Roman"/>
                <a:cs typeface="Times New Roman"/>
                <a:sym typeface="Times New Roman"/>
              </a:rPr>
              <a:t>10% of p</a:t>
            </a:r>
            <a:r>
              <a:rPr lang="en" sz="1200">
                <a:solidFill>
                  <a:srgbClr val="000000"/>
                </a:solidFill>
                <a:latin typeface="Times New Roman"/>
                <a:ea typeface="Times New Roman"/>
                <a:cs typeface="Times New Roman"/>
                <a:sym typeface="Times New Roman"/>
              </a:rPr>
              <a:t>rotein</a:t>
            </a:r>
            <a:endParaRPr/>
          </a:p>
        </p:txBody>
      </p:sp>
      <p:cxnSp>
        <p:nvCxnSpPr>
          <p:cNvPr id="200" name="Google Shape;200;p13"/>
          <p:cNvCxnSpPr>
            <a:stCxn id="197" idx="3"/>
            <a:endCxn id="198" idx="1"/>
          </p:cNvCxnSpPr>
          <p:nvPr/>
        </p:nvCxnSpPr>
        <p:spPr>
          <a:xfrm rot="10800000" flipH="1">
            <a:off x="8835375" y="10724575"/>
            <a:ext cx="384900" cy="263100"/>
          </a:xfrm>
          <a:prstGeom prst="straightConnector1">
            <a:avLst/>
          </a:prstGeom>
          <a:noFill/>
          <a:ln w="9525" cap="flat" cmpd="sng">
            <a:solidFill>
              <a:srgbClr val="44546A"/>
            </a:solidFill>
            <a:prstDash val="solid"/>
            <a:round/>
            <a:headEnd type="none" w="med" len="med"/>
            <a:tailEnd type="triangle" w="med" len="med"/>
          </a:ln>
        </p:spPr>
      </p:cxnSp>
      <p:cxnSp>
        <p:nvCxnSpPr>
          <p:cNvPr id="201" name="Google Shape;201;p13"/>
          <p:cNvCxnSpPr>
            <a:stCxn id="197" idx="3"/>
            <a:endCxn id="199" idx="1"/>
          </p:cNvCxnSpPr>
          <p:nvPr/>
        </p:nvCxnSpPr>
        <p:spPr>
          <a:xfrm>
            <a:off x="8835375" y="10987675"/>
            <a:ext cx="384900" cy="263100"/>
          </a:xfrm>
          <a:prstGeom prst="straightConnector1">
            <a:avLst/>
          </a:prstGeom>
          <a:noFill/>
          <a:ln w="9525" cap="flat" cmpd="sng">
            <a:solidFill>
              <a:srgbClr val="44546A"/>
            </a:solidFill>
            <a:prstDash val="solid"/>
            <a:round/>
            <a:headEnd type="none" w="med" len="med"/>
            <a:tailEnd type="triangle" w="med" len="med"/>
          </a:ln>
        </p:spPr>
      </p:cxnSp>
      <p:cxnSp>
        <p:nvCxnSpPr>
          <p:cNvPr id="202" name="Google Shape;202;p13"/>
          <p:cNvCxnSpPr>
            <a:stCxn id="198" idx="3"/>
            <a:endCxn id="140" idx="1"/>
          </p:cNvCxnSpPr>
          <p:nvPr/>
        </p:nvCxnSpPr>
        <p:spPr>
          <a:xfrm>
            <a:off x="10451800" y="10724575"/>
            <a:ext cx="493500" cy="0"/>
          </a:xfrm>
          <a:prstGeom prst="straightConnector1">
            <a:avLst/>
          </a:prstGeom>
          <a:noFill/>
          <a:ln w="9525" cap="flat" cmpd="sng">
            <a:solidFill>
              <a:srgbClr val="595959"/>
            </a:solidFill>
            <a:prstDash val="solid"/>
            <a:round/>
            <a:headEnd type="none" w="med" len="med"/>
            <a:tailEnd type="triangle" w="med" len="med"/>
          </a:ln>
        </p:spPr>
      </p:cxnSp>
      <p:cxnSp>
        <p:nvCxnSpPr>
          <p:cNvPr id="203" name="Google Shape;203;p13"/>
          <p:cNvCxnSpPr>
            <a:stCxn id="199" idx="3"/>
            <a:endCxn id="141" idx="1"/>
          </p:cNvCxnSpPr>
          <p:nvPr/>
        </p:nvCxnSpPr>
        <p:spPr>
          <a:xfrm>
            <a:off x="10451725" y="11250750"/>
            <a:ext cx="493500" cy="0"/>
          </a:xfrm>
          <a:prstGeom prst="straightConnector1">
            <a:avLst/>
          </a:prstGeom>
          <a:noFill/>
          <a:ln w="9525" cap="flat" cmpd="sng">
            <a:solidFill>
              <a:srgbClr val="595959"/>
            </a:solidFill>
            <a:prstDash val="solid"/>
            <a:round/>
            <a:headEnd type="none" w="med" len="med"/>
            <a:tailEnd type="triangle" w="med" len="med"/>
          </a:ln>
        </p:spPr>
      </p:cxnSp>
      <p:sp>
        <p:nvSpPr>
          <p:cNvPr id="204" name="Google Shape;204;p13"/>
          <p:cNvSpPr/>
          <p:nvPr/>
        </p:nvSpPr>
        <p:spPr>
          <a:xfrm>
            <a:off x="4536350" y="6111113"/>
            <a:ext cx="1080900" cy="155820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 sz="1200">
                <a:solidFill>
                  <a:srgbClr val="000000"/>
                </a:solidFill>
                <a:latin typeface="Times New Roman"/>
                <a:ea typeface="Times New Roman"/>
                <a:cs typeface="Times New Roman"/>
                <a:sym typeface="Times New Roman"/>
              </a:rPr>
              <a:t>Role of region in protein function is unknown</a:t>
            </a:r>
            <a:endParaRPr/>
          </a:p>
        </p:txBody>
      </p:sp>
      <p:sp>
        <p:nvSpPr>
          <p:cNvPr id="205" name="Google Shape;205;p13"/>
          <p:cNvSpPr/>
          <p:nvPr/>
        </p:nvSpPr>
        <p:spPr>
          <a:xfrm>
            <a:off x="6180650" y="6099400"/>
            <a:ext cx="4234500" cy="46170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 sz="1200">
                <a:solidFill>
                  <a:srgbClr val="000000"/>
                </a:solidFill>
                <a:latin typeface="Times New Roman"/>
                <a:ea typeface="Times New Roman"/>
                <a:cs typeface="Times New Roman"/>
                <a:sym typeface="Times New Roman"/>
              </a:rPr>
              <a:t>L</a:t>
            </a:r>
            <a:r>
              <a:rPr lang="en" sz="1200">
                <a:latin typeface="Times New Roman"/>
                <a:ea typeface="Times New Roman"/>
                <a:cs typeface="Times New Roman"/>
                <a:sym typeface="Times New Roman"/>
              </a:rPr>
              <a:t>o</a:t>
            </a:r>
            <a:r>
              <a:rPr lang="en" sz="1200">
                <a:solidFill>
                  <a:srgbClr val="000000"/>
                </a:solidFill>
                <a:latin typeface="Times New Roman"/>
                <a:ea typeface="Times New Roman"/>
                <a:cs typeface="Times New Roman"/>
                <a:sym typeface="Times New Roman"/>
              </a:rPr>
              <a:t>F variants in this exon are frequent in the general population and/or exon is absent from biologically-relevant transcript(s)</a:t>
            </a:r>
            <a:endParaRPr/>
          </a:p>
        </p:txBody>
      </p:sp>
      <p:sp>
        <p:nvSpPr>
          <p:cNvPr id="206" name="Google Shape;206;p13"/>
          <p:cNvSpPr/>
          <p:nvPr/>
        </p:nvSpPr>
        <p:spPr>
          <a:xfrm>
            <a:off x="6180650" y="6668925"/>
            <a:ext cx="2618100" cy="97890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lvl="0" indent="0" algn="ctr" rtl="0">
              <a:spcBef>
                <a:spcPts val="0"/>
              </a:spcBef>
              <a:spcAft>
                <a:spcPts val="0"/>
              </a:spcAft>
              <a:buNone/>
            </a:pPr>
            <a:r>
              <a:rPr lang="en" sz="1200">
                <a:solidFill>
                  <a:srgbClr val="000000"/>
                </a:solidFill>
                <a:latin typeface="Times New Roman"/>
                <a:ea typeface="Times New Roman"/>
                <a:cs typeface="Times New Roman"/>
                <a:sym typeface="Times New Roman"/>
              </a:rPr>
              <a:t>L</a:t>
            </a:r>
            <a:r>
              <a:rPr lang="en" sz="1200">
                <a:latin typeface="Times New Roman"/>
                <a:ea typeface="Times New Roman"/>
                <a:cs typeface="Times New Roman"/>
                <a:sym typeface="Times New Roman"/>
              </a:rPr>
              <a:t>o</a:t>
            </a:r>
            <a:r>
              <a:rPr lang="en" sz="1200">
                <a:solidFill>
                  <a:srgbClr val="000000"/>
                </a:solidFill>
                <a:latin typeface="Times New Roman"/>
                <a:ea typeface="Times New Roman"/>
                <a:cs typeface="Times New Roman"/>
                <a:sym typeface="Times New Roman"/>
              </a:rPr>
              <a:t>F variants in this exon are not frequent in the general population and exon is present in biologically-relevant transcript(s)</a:t>
            </a:r>
            <a:endParaRPr sz="1200">
              <a:solidFill>
                <a:srgbClr val="000000"/>
              </a:solidFill>
              <a:latin typeface="Times New Roman"/>
              <a:ea typeface="Times New Roman"/>
              <a:cs typeface="Times New Roman"/>
              <a:sym typeface="Times New Roman"/>
            </a:endParaRPr>
          </a:p>
        </p:txBody>
      </p:sp>
      <p:sp>
        <p:nvSpPr>
          <p:cNvPr id="207" name="Google Shape;207;p13"/>
          <p:cNvSpPr/>
          <p:nvPr/>
        </p:nvSpPr>
        <p:spPr>
          <a:xfrm>
            <a:off x="9183675" y="6668925"/>
            <a:ext cx="1231500" cy="45270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 sz="1200">
                <a:solidFill>
                  <a:srgbClr val="000000"/>
                </a:solidFill>
                <a:latin typeface="Times New Roman"/>
                <a:ea typeface="Times New Roman"/>
                <a:cs typeface="Times New Roman"/>
                <a:sym typeface="Times New Roman"/>
              </a:rPr>
              <a:t>Variant removes </a:t>
            </a:r>
            <a:r>
              <a:rPr lang="en" sz="1200" b="0" i="0" u="none" strike="noStrike" cap="none">
                <a:solidFill>
                  <a:srgbClr val="000000"/>
                </a:solidFill>
                <a:latin typeface="Times New Roman"/>
                <a:ea typeface="Times New Roman"/>
                <a:cs typeface="Times New Roman"/>
                <a:sym typeface="Times New Roman"/>
              </a:rPr>
              <a:t>&gt;10% of protein</a:t>
            </a:r>
            <a:endParaRPr/>
          </a:p>
        </p:txBody>
      </p:sp>
      <p:sp>
        <p:nvSpPr>
          <p:cNvPr id="208" name="Google Shape;208;p13"/>
          <p:cNvSpPr/>
          <p:nvPr/>
        </p:nvSpPr>
        <p:spPr>
          <a:xfrm>
            <a:off x="10945225" y="6144550"/>
            <a:ext cx="1281000" cy="37140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 sz="1200" b="0" i="0" u="none" strike="noStrike" cap="none">
                <a:solidFill>
                  <a:srgbClr val="000000"/>
                </a:solidFill>
                <a:latin typeface="Times New Roman"/>
                <a:ea typeface="Times New Roman"/>
                <a:cs typeface="Times New Roman"/>
                <a:sym typeface="Times New Roman"/>
              </a:rPr>
              <a:t>N/A</a:t>
            </a:r>
            <a:endParaRPr/>
          </a:p>
        </p:txBody>
      </p:sp>
      <p:sp>
        <p:nvSpPr>
          <p:cNvPr id="209" name="Google Shape;209;p13"/>
          <p:cNvSpPr/>
          <p:nvPr/>
        </p:nvSpPr>
        <p:spPr>
          <a:xfrm>
            <a:off x="10945225" y="6733125"/>
            <a:ext cx="1281000" cy="32430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 sz="1200" b="0" i="0" u="none" strike="noStrike" cap="none">
                <a:solidFill>
                  <a:srgbClr val="000000"/>
                </a:solidFill>
                <a:latin typeface="Times New Roman"/>
                <a:ea typeface="Times New Roman"/>
                <a:cs typeface="Times New Roman"/>
                <a:sym typeface="Times New Roman"/>
              </a:rPr>
              <a:t>PVS1_Strong</a:t>
            </a:r>
            <a:endParaRPr/>
          </a:p>
        </p:txBody>
      </p:sp>
      <p:sp>
        <p:nvSpPr>
          <p:cNvPr id="210" name="Google Shape;210;p13"/>
          <p:cNvSpPr/>
          <p:nvPr/>
        </p:nvSpPr>
        <p:spPr>
          <a:xfrm>
            <a:off x="10945225" y="7235750"/>
            <a:ext cx="1281000" cy="37140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 sz="1200" b="0" i="0" u="none" strike="noStrike" cap="none">
                <a:solidFill>
                  <a:srgbClr val="000000"/>
                </a:solidFill>
                <a:latin typeface="Times New Roman"/>
                <a:ea typeface="Times New Roman"/>
                <a:cs typeface="Times New Roman"/>
                <a:sym typeface="Times New Roman"/>
              </a:rPr>
              <a:t>P</a:t>
            </a:r>
            <a:r>
              <a:rPr lang="en" sz="1200">
                <a:latin typeface="Times New Roman"/>
                <a:ea typeface="Times New Roman"/>
                <a:cs typeface="Times New Roman"/>
                <a:sym typeface="Times New Roman"/>
              </a:rPr>
              <a:t>VS1_Moderate</a:t>
            </a:r>
            <a:endParaRPr/>
          </a:p>
        </p:txBody>
      </p:sp>
      <p:sp>
        <p:nvSpPr>
          <p:cNvPr id="211" name="Google Shape;211;p13"/>
          <p:cNvSpPr/>
          <p:nvPr/>
        </p:nvSpPr>
        <p:spPr>
          <a:xfrm>
            <a:off x="9183600" y="7195100"/>
            <a:ext cx="1231500" cy="45270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 sz="1200">
                <a:solidFill>
                  <a:srgbClr val="000000"/>
                </a:solidFill>
                <a:latin typeface="Times New Roman"/>
                <a:ea typeface="Times New Roman"/>
                <a:cs typeface="Times New Roman"/>
                <a:sym typeface="Times New Roman"/>
              </a:rPr>
              <a:t>Variant removes &lt;</a:t>
            </a:r>
            <a:r>
              <a:rPr lang="en" sz="1200" b="0" i="0" u="none" strike="noStrike" cap="none">
                <a:solidFill>
                  <a:srgbClr val="000000"/>
                </a:solidFill>
                <a:latin typeface="Times New Roman"/>
                <a:ea typeface="Times New Roman"/>
                <a:cs typeface="Times New Roman"/>
                <a:sym typeface="Times New Roman"/>
              </a:rPr>
              <a:t>10% of p</a:t>
            </a:r>
            <a:r>
              <a:rPr lang="en" sz="1200">
                <a:solidFill>
                  <a:srgbClr val="000000"/>
                </a:solidFill>
                <a:latin typeface="Times New Roman"/>
                <a:ea typeface="Times New Roman"/>
                <a:cs typeface="Times New Roman"/>
                <a:sym typeface="Times New Roman"/>
              </a:rPr>
              <a:t>rotein</a:t>
            </a:r>
            <a:endParaRPr/>
          </a:p>
        </p:txBody>
      </p:sp>
      <p:cxnSp>
        <p:nvCxnSpPr>
          <p:cNvPr id="212" name="Google Shape;212;p13"/>
          <p:cNvCxnSpPr>
            <a:endCxn id="205" idx="1"/>
          </p:cNvCxnSpPr>
          <p:nvPr/>
        </p:nvCxnSpPr>
        <p:spPr>
          <a:xfrm rot="10800000" flipH="1">
            <a:off x="5617250" y="6330250"/>
            <a:ext cx="563400" cy="538200"/>
          </a:xfrm>
          <a:prstGeom prst="straightConnector1">
            <a:avLst/>
          </a:prstGeom>
          <a:noFill/>
          <a:ln w="9525" cap="flat" cmpd="sng">
            <a:solidFill>
              <a:srgbClr val="44546A"/>
            </a:solidFill>
            <a:prstDash val="solid"/>
            <a:round/>
            <a:headEnd type="none" w="med" len="med"/>
            <a:tailEnd type="triangle" w="med" len="med"/>
          </a:ln>
        </p:spPr>
      </p:cxnSp>
      <p:cxnSp>
        <p:nvCxnSpPr>
          <p:cNvPr id="213" name="Google Shape;213;p13"/>
          <p:cNvCxnSpPr>
            <a:endCxn id="206" idx="1"/>
          </p:cNvCxnSpPr>
          <p:nvPr/>
        </p:nvCxnSpPr>
        <p:spPr>
          <a:xfrm>
            <a:off x="5617250" y="6868575"/>
            <a:ext cx="563400" cy="289800"/>
          </a:xfrm>
          <a:prstGeom prst="straightConnector1">
            <a:avLst/>
          </a:prstGeom>
          <a:noFill/>
          <a:ln w="9525" cap="flat" cmpd="sng">
            <a:solidFill>
              <a:srgbClr val="44546A"/>
            </a:solidFill>
            <a:prstDash val="solid"/>
            <a:round/>
            <a:headEnd type="none" w="med" len="med"/>
            <a:tailEnd type="triangle" w="med" len="med"/>
          </a:ln>
        </p:spPr>
      </p:cxnSp>
      <p:cxnSp>
        <p:nvCxnSpPr>
          <p:cNvPr id="214" name="Google Shape;214;p13"/>
          <p:cNvCxnSpPr>
            <a:stCxn id="206" idx="3"/>
            <a:endCxn id="207" idx="1"/>
          </p:cNvCxnSpPr>
          <p:nvPr/>
        </p:nvCxnSpPr>
        <p:spPr>
          <a:xfrm rot="10800000" flipH="1">
            <a:off x="8798750" y="6895275"/>
            <a:ext cx="384900" cy="263100"/>
          </a:xfrm>
          <a:prstGeom prst="straightConnector1">
            <a:avLst/>
          </a:prstGeom>
          <a:noFill/>
          <a:ln w="9525" cap="flat" cmpd="sng">
            <a:solidFill>
              <a:srgbClr val="44546A"/>
            </a:solidFill>
            <a:prstDash val="solid"/>
            <a:round/>
            <a:headEnd type="none" w="med" len="med"/>
            <a:tailEnd type="triangle" w="med" len="med"/>
          </a:ln>
        </p:spPr>
      </p:cxnSp>
      <p:cxnSp>
        <p:nvCxnSpPr>
          <p:cNvPr id="215" name="Google Shape;215;p13"/>
          <p:cNvCxnSpPr>
            <a:stCxn id="206" idx="3"/>
            <a:endCxn id="211" idx="1"/>
          </p:cNvCxnSpPr>
          <p:nvPr/>
        </p:nvCxnSpPr>
        <p:spPr>
          <a:xfrm>
            <a:off x="8798750" y="7158375"/>
            <a:ext cx="384900" cy="263100"/>
          </a:xfrm>
          <a:prstGeom prst="straightConnector1">
            <a:avLst/>
          </a:prstGeom>
          <a:noFill/>
          <a:ln w="9525" cap="flat" cmpd="sng">
            <a:solidFill>
              <a:srgbClr val="44546A"/>
            </a:solidFill>
            <a:prstDash val="solid"/>
            <a:round/>
            <a:headEnd type="none" w="med" len="med"/>
            <a:tailEnd type="triangle" w="med" len="med"/>
          </a:ln>
        </p:spPr>
      </p:cxnSp>
      <p:cxnSp>
        <p:nvCxnSpPr>
          <p:cNvPr id="216" name="Google Shape;216;p13"/>
          <p:cNvCxnSpPr>
            <a:stCxn id="205" idx="3"/>
            <a:endCxn id="208" idx="1"/>
          </p:cNvCxnSpPr>
          <p:nvPr/>
        </p:nvCxnSpPr>
        <p:spPr>
          <a:xfrm>
            <a:off x="10415150" y="6330250"/>
            <a:ext cx="530100" cy="0"/>
          </a:xfrm>
          <a:prstGeom prst="straightConnector1">
            <a:avLst/>
          </a:prstGeom>
          <a:noFill/>
          <a:ln w="9525" cap="flat" cmpd="sng">
            <a:solidFill>
              <a:srgbClr val="595959"/>
            </a:solidFill>
            <a:prstDash val="solid"/>
            <a:round/>
            <a:headEnd type="none" w="med" len="med"/>
            <a:tailEnd type="triangle" w="med" len="med"/>
          </a:ln>
        </p:spPr>
      </p:cxnSp>
      <p:cxnSp>
        <p:nvCxnSpPr>
          <p:cNvPr id="217" name="Google Shape;217;p13"/>
          <p:cNvCxnSpPr>
            <a:stCxn id="207" idx="3"/>
            <a:endCxn id="209" idx="1"/>
          </p:cNvCxnSpPr>
          <p:nvPr/>
        </p:nvCxnSpPr>
        <p:spPr>
          <a:xfrm>
            <a:off x="10415175" y="6895275"/>
            <a:ext cx="530100" cy="0"/>
          </a:xfrm>
          <a:prstGeom prst="straightConnector1">
            <a:avLst/>
          </a:prstGeom>
          <a:noFill/>
          <a:ln w="9525" cap="flat" cmpd="sng">
            <a:solidFill>
              <a:srgbClr val="595959"/>
            </a:solidFill>
            <a:prstDash val="solid"/>
            <a:round/>
            <a:headEnd type="none" w="med" len="med"/>
            <a:tailEnd type="triangle" w="med" len="med"/>
          </a:ln>
        </p:spPr>
      </p:cxnSp>
      <p:cxnSp>
        <p:nvCxnSpPr>
          <p:cNvPr id="218" name="Google Shape;218;p13"/>
          <p:cNvCxnSpPr>
            <a:stCxn id="211" idx="3"/>
            <a:endCxn id="210" idx="1"/>
          </p:cNvCxnSpPr>
          <p:nvPr/>
        </p:nvCxnSpPr>
        <p:spPr>
          <a:xfrm>
            <a:off x="10415100" y="7421450"/>
            <a:ext cx="530100" cy="0"/>
          </a:xfrm>
          <a:prstGeom prst="straightConnector1">
            <a:avLst/>
          </a:prstGeom>
          <a:noFill/>
          <a:ln w="9525" cap="flat" cmpd="sng">
            <a:solidFill>
              <a:srgbClr val="595959"/>
            </a:solidFill>
            <a:prstDash val="solid"/>
            <a:round/>
            <a:headEnd type="none" w="med" len="med"/>
            <a:tailEnd type="triangle" w="med" len="med"/>
          </a:ln>
        </p:spPr>
      </p:cxnSp>
      <p:cxnSp>
        <p:nvCxnSpPr>
          <p:cNvPr id="219" name="Google Shape;219;p13"/>
          <p:cNvCxnSpPr>
            <a:stCxn id="83" idx="3"/>
            <a:endCxn id="204" idx="1"/>
          </p:cNvCxnSpPr>
          <p:nvPr/>
        </p:nvCxnSpPr>
        <p:spPr>
          <a:xfrm rot="10800000" flipH="1">
            <a:off x="4028325" y="6890300"/>
            <a:ext cx="507900" cy="179100"/>
          </a:xfrm>
          <a:prstGeom prst="straightConnector1">
            <a:avLst/>
          </a:prstGeom>
          <a:noFill/>
          <a:ln w="9525" cap="flat" cmpd="sng">
            <a:solidFill>
              <a:schemeClr val="dk2"/>
            </a:solidFill>
            <a:prstDash val="solid"/>
            <a:round/>
            <a:headEnd type="none" w="med" len="med"/>
            <a:tailEnd type="triangle" w="med" len="med"/>
          </a:ln>
        </p:spPr>
      </p:cxnSp>
      <p:cxnSp>
        <p:nvCxnSpPr>
          <p:cNvPr id="220" name="Google Shape;220;p13"/>
          <p:cNvCxnSpPr>
            <a:stCxn id="83" idx="3"/>
            <a:endCxn id="91" idx="1"/>
          </p:cNvCxnSpPr>
          <p:nvPr/>
        </p:nvCxnSpPr>
        <p:spPr>
          <a:xfrm>
            <a:off x="4028325" y="7069400"/>
            <a:ext cx="505500" cy="821400"/>
          </a:xfrm>
          <a:prstGeom prst="straightConnector1">
            <a:avLst/>
          </a:prstGeom>
          <a:noFill/>
          <a:ln w="9525" cap="flat" cmpd="sng">
            <a:solidFill>
              <a:schemeClr val="dk2"/>
            </a:solidFill>
            <a:prstDash val="solid"/>
            <a:round/>
            <a:headEnd type="none" w="med" len="med"/>
            <a:tailEnd type="triangle" w="med" len="med"/>
          </a:ln>
        </p:spPr>
      </p:cxnSp>
      <p:cxnSp>
        <p:nvCxnSpPr>
          <p:cNvPr id="221" name="Google Shape;221;p13"/>
          <p:cNvCxnSpPr>
            <a:stCxn id="146" idx="3"/>
            <a:endCxn id="153" idx="1"/>
          </p:cNvCxnSpPr>
          <p:nvPr/>
        </p:nvCxnSpPr>
        <p:spPr>
          <a:xfrm>
            <a:off x="4028300" y="13299125"/>
            <a:ext cx="6916800" cy="0"/>
          </a:xfrm>
          <a:prstGeom prst="straightConnector1">
            <a:avLst/>
          </a:prstGeom>
          <a:noFill/>
          <a:ln w="9525" cap="flat" cmpd="sng">
            <a:solidFill>
              <a:schemeClr val="dk2"/>
            </a:solidFill>
            <a:prstDash val="solid"/>
            <a:round/>
            <a:headEnd type="none" w="med" len="med"/>
            <a:tailEnd type="triangle" w="med" len="med"/>
          </a:ln>
        </p:spPr>
      </p:cxnSp>
      <p:cxnSp>
        <p:nvCxnSpPr>
          <p:cNvPr id="222" name="Google Shape;222;p13"/>
          <p:cNvCxnSpPr>
            <a:stCxn id="144" idx="3"/>
            <a:endCxn id="147" idx="1"/>
          </p:cNvCxnSpPr>
          <p:nvPr/>
        </p:nvCxnSpPr>
        <p:spPr>
          <a:xfrm rot="10800000" flipH="1">
            <a:off x="4028300" y="12189775"/>
            <a:ext cx="505500" cy="48300"/>
          </a:xfrm>
          <a:prstGeom prst="straightConnector1">
            <a:avLst/>
          </a:prstGeom>
          <a:noFill/>
          <a:ln w="9525" cap="flat" cmpd="sng">
            <a:solidFill>
              <a:schemeClr val="dk2"/>
            </a:solidFill>
            <a:prstDash val="solid"/>
            <a:round/>
            <a:headEnd type="none" w="med" len="med"/>
            <a:tailEnd type="triangle" w="med" len="med"/>
          </a:ln>
        </p:spPr>
      </p:cxnSp>
    </p:spTree>
    <p:extLst>
      <p:ext uri="{BB962C8B-B14F-4D97-AF65-F5344CB8AC3E}">
        <p14:creationId xmlns:p14="http://schemas.microsoft.com/office/powerpoint/2010/main" val="32106819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59">
          <a:extLst>
            <a:ext uri="{FF2B5EF4-FFF2-40B4-BE49-F238E27FC236}">
              <a16:creationId xmlns:a16="http://schemas.microsoft.com/office/drawing/2014/main" id="{0DEFCD7F-572C-A786-4A02-55DA728D885C}"/>
            </a:ext>
          </a:extLst>
        </p:cNvPr>
        <p:cNvGrpSpPr/>
        <p:nvPr/>
      </p:nvGrpSpPr>
      <p:grpSpPr>
        <a:xfrm>
          <a:off x="0" y="0"/>
          <a:ext cx="0" cy="0"/>
          <a:chOff x="0" y="0"/>
          <a:chExt cx="0" cy="0"/>
        </a:xfrm>
      </p:grpSpPr>
      <p:sp>
        <p:nvSpPr>
          <p:cNvPr id="410" name="Google Shape;66;p1">
            <a:extLst>
              <a:ext uri="{FF2B5EF4-FFF2-40B4-BE49-F238E27FC236}">
                <a16:creationId xmlns:a16="http://schemas.microsoft.com/office/drawing/2014/main" id="{8A32F4AC-510D-7839-3C00-AD5D42DFEAB7}"/>
              </a:ext>
            </a:extLst>
          </p:cNvPr>
          <p:cNvSpPr/>
          <p:nvPr/>
        </p:nvSpPr>
        <p:spPr>
          <a:xfrm>
            <a:off x="10534659" y="6861561"/>
            <a:ext cx="1618693" cy="41148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algn="ctr">
              <a:buSzPts val="1200"/>
            </a:pPr>
            <a:r>
              <a:rPr lang="en-US" sz="1200" b="0" i="0" u="none" strike="noStrike" cap="none" dirty="0">
                <a:solidFill>
                  <a:srgbClr val="000000"/>
                </a:solidFill>
                <a:latin typeface="Times New Roman"/>
                <a:ea typeface="Times New Roman"/>
                <a:cs typeface="Times New Roman"/>
                <a:sym typeface="Times New Roman"/>
              </a:rPr>
              <a:t>BP7_S (RNA) + prediction (PP3/BP4)</a:t>
            </a:r>
            <a:endParaRPr sz="1400" b="0" i="0" u="none" strike="noStrike" cap="none" dirty="0">
              <a:solidFill>
                <a:srgbClr val="000000"/>
              </a:solidFill>
              <a:latin typeface="Arial"/>
              <a:ea typeface="Arial"/>
              <a:cs typeface="Arial"/>
              <a:sym typeface="Arial"/>
            </a:endParaRPr>
          </a:p>
        </p:txBody>
      </p:sp>
      <p:sp>
        <p:nvSpPr>
          <p:cNvPr id="282" name="Google Shape;61;p1">
            <a:extLst>
              <a:ext uri="{FF2B5EF4-FFF2-40B4-BE49-F238E27FC236}">
                <a16:creationId xmlns:a16="http://schemas.microsoft.com/office/drawing/2014/main" id="{059D6711-A254-8C98-211A-99C0183C89AF}"/>
              </a:ext>
            </a:extLst>
          </p:cNvPr>
          <p:cNvSpPr/>
          <p:nvPr/>
        </p:nvSpPr>
        <p:spPr>
          <a:xfrm>
            <a:off x="4392227" y="4451111"/>
            <a:ext cx="1311248" cy="1752879"/>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dirty="0">
                <a:solidFill>
                  <a:srgbClr val="000000"/>
                </a:solidFill>
                <a:latin typeface="Times New Roman"/>
                <a:ea typeface="Times New Roman"/>
                <a:cs typeface="Times New Roman"/>
                <a:sym typeface="Times New Roman"/>
              </a:rPr>
              <a:t>PVS1_S, PVS1_M, or PVS1_P (PVS1_Strength) applied</a:t>
            </a:r>
            <a:endParaRPr sz="1400" b="0" i="0" u="none" strike="noStrike" cap="none" dirty="0">
              <a:solidFill>
                <a:srgbClr val="FF0000"/>
              </a:solidFill>
              <a:latin typeface="Arial"/>
              <a:ea typeface="Arial"/>
              <a:cs typeface="Arial"/>
              <a:sym typeface="Arial"/>
            </a:endParaRPr>
          </a:p>
        </p:txBody>
      </p:sp>
      <p:sp>
        <p:nvSpPr>
          <p:cNvPr id="60" name="Google Shape;60;p1">
            <a:extLst>
              <a:ext uri="{FF2B5EF4-FFF2-40B4-BE49-F238E27FC236}">
                <a16:creationId xmlns:a16="http://schemas.microsoft.com/office/drawing/2014/main" id="{CC750A95-42A4-D13D-F598-7A2A8B78C1D5}"/>
              </a:ext>
            </a:extLst>
          </p:cNvPr>
          <p:cNvSpPr txBox="1"/>
          <p:nvPr/>
        </p:nvSpPr>
        <p:spPr>
          <a:xfrm>
            <a:off x="1592413" y="202456"/>
            <a:ext cx="1105800" cy="281970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 sz="1200" b="1" i="0" u="none" strike="noStrike" cap="none" dirty="0">
                <a:solidFill>
                  <a:srgbClr val="000000"/>
                </a:solidFill>
                <a:latin typeface="Times New Roman"/>
                <a:ea typeface="Times New Roman"/>
                <a:cs typeface="Times New Roman"/>
                <a:sym typeface="Times New Roman"/>
              </a:rPr>
              <a:t>Outside donor/acceptor +/- 1,2 dinucleotide positions (</a:t>
            </a:r>
            <a:r>
              <a:rPr lang="en" sz="1200" b="1" i="0" u="none" strike="noStrike" cap="none" dirty="0" err="1">
                <a:solidFill>
                  <a:srgbClr val="000000"/>
                </a:solidFill>
                <a:latin typeface="Times New Roman"/>
                <a:ea typeface="Times New Roman"/>
                <a:cs typeface="Times New Roman"/>
                <a:sym typeface="Times New Roman"/>
              </a:rPr>
              <a:t>exonic</a:t>
            </a:r>
            <a:r>
              <a:rPr lang="en" sz="1200" b="1" i="0" u="none" strike="noStrike" cap="none" dirty="0">
                <a:solidFill>
                  <a:srgbClr val="000000"/>
                </a:solidFill>
                <a:latin typeface="Times New Roman"/>
                <a:ea typeface="Times New Roman"/>
                <a:cs typeface="Times New Roman"/>
                <a:sym typeface="Times New Roman"/>
              </a:rPr>
              <a:t> or intronic)</a:t>
            </a:r>
            <a:endParaRPr sz="1400" b="1" i="0" u="none" strike="noStrike" cap="none" dirty="0">
              <a:solidFill>
                <a:srgbClr val="000000"/>
              </a:solidFill>
              <a:latin typeface="Arial"/>
              <a:ea typeface="Arial"/>
              <a:cs typeface="Arial"/>
              <a:sym typeface="Arial"/>
            </a:endParaRPr>
          </a:p>
        </p:txBody>
      </p:sp>
      <p:sp>
        <p:nvSpPr>
          <p:cNvPr id="61" name="Google Shape;61;p1">
            <a:extLst>
              <a:ext uri="{FF2B5EF4-FFF2-40B4-BE49-F238E27FC236}">
                <a16:creationId xmlns:a16="http://schemas.microsoft.com/office/drawing/2014/main" id="{66D65AF3-788F-16E0-A119-EDCC58C24923}"/>
              </a:ext>
            </a:extLst>
          </p:cNvPr>
          <p:cNvSpPr/>
          <p:nvPr/>
        </p:nvSpPr>
        <p:spPr>
          <a:xfrm>
            <a:off x="4392226" y="192717"/>
            <a:ext cx="1312149" cy="1793807"/>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dirty="0">
                <a:solidFill>
                  <a:srgbClr val="000000"/>
                </a:solidFill>
                <a:latin typeface="Times New Roman"/>
                <a:ea typeface="Times New Roman"/>
                <a:cs typeface="Times New Roman"/>
                <a:sym typeface="Times New Roman"/>
              </a:rPr>
              <a:t>PP3 applied</a:t>
            </a:r>
            <a:endParaRPr sz="1400" b="0" i="0" u="none" strike="noStrike" cap="none" dirty="0">
              <a:solidFill>
                <a:srgbClr val="FF0000"/>
              </a:solidFill>
              <a:latin typeface="Arial"/>
              <a:ea typeface="Arial"/>
              <a:cs typeface="Arial"/>
              <a:sym typeface="Arial"/>
            </a:endParaRPr>
          </a:p>
        </p:txBody>
      </p:sp>
      <p:sp>
        <p:nvSpPr>
          <p:cNvPr id="63" name="Google Shape;63;p1">
            <a:extLst>
              <a:ext uri="{FF2B5EF4-FFF2-40B4-BE49-F238E27FC236}">
                <a16:creationId xmlns:a16="http://schemas.microsoft.com/office/drawing/2014/main" id="{AF79B709-4C66-5007-AE56-9A33898A64D4}"/>
              </a:ext>
            </a:extLst>
          </p:cNvPr>
          <p:cNvSpPr/>
          <p:nvPr/>
        </p:nvSpPr>
        <p:spPr>
          <a:xfrm>
            <a:off x="5964241" y="192700"/>
            <a:ext cx="4572000" cy="274320"/>
          </a:xfrm>
          <a:prstGeom prst="rect">
            <a:avLst/>
          </a:prstGeom>
          <a:solidFill>
            <a:schemeClr val="lt1"/>
          </a:solid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 sz="1200" b="0" i="0" u="none" strike="noStrike" cap="none" dirty="0">
                <a:solidFill>
                  <a:srgbClr val="000000"/>
                </a:solidFill>
                <a:latin typeface="Times New Roman"/>
                <a:ea typeface="Times New Roman"/>
                <a:cs typeface="Times New Roman"/>
                <a:sym typeface="Times New Roman"/>
              </a:rPr>
              <a:t>No appropriate comparison P/LP variant in this splice region</a:t>
            </a:r>
            <a:endParaRPr sz="1400" b="0" i="0" u="none" strike="noStrike" cap="none" dirty="0">
              <a:solidFill>
                <a:srgbClr val="000000"/>
              </a:solidFill>
              <a:latin typeface="Arial"/>
              <a:ea typeface="Arial"/>
              <a:cs typeface="Arial"/>
              <a:sym typeface="Arial"/>
            </a:endParaRPr>
          </a:p>
        </p:txBody>
      </p:sp>
      <p:sp>
        <p:nvSpPr>
          <p:cNvPr id="64" name="Google Shape;64;p1">
            <a:extLst>
              <a:ext uri="{FF2B5EF4-FFF2-40B4-BE49-F238E27FC236}">
                <a16:creationId xmlns:a16="http://schemas.microsoft.com/office/drawing/2014/main" id="{664278A6-84B3-81E7-7465-0845C7A28F67}"/>
              </a:ext>
            </a:extLst>
          </p:cNvPr>
          <p:cNvSpPr/>
          <p:nvPr/>
        </p:nvSpPr>
        <p:spPr>
          <a:xfrm>
            <a:off x="5964241" y="539652"/>
            <a:ext cx="4572000" cy="27432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dirty="0">
                <a:solidFill>
                  <a:srgbClr val="000000"/>
                </a:solidFill>
                <a:latin typeface="Times New Roman"/>
                <a:ea typeface="Times New Roman"/>
                <a:cs typeface="Times New Roman"/>
                <a:sym typeface="Times New Roman"/>
              </a:rPr>
              <a:t>P variant at this </a:t>
            </a:r>
            <a:r>
              <a:rPr lang="en-US" sz="1200" b="0" i="0" u="none" strike="noStrike" cap="none" dirty="0" err="1">
                <a:solidFill>
                  <a:srgbClr val="000000"/>
                </a:solidFill>
                <a:latin typeface="Times New Roman"/>
                <a:ea typeface="Times New Roman"/>
                <a:cs typeface="Times New Roman"/>
                <a:sym typeface="Times New Roman"/>
              </a:rPr>
              <a:t>nt</a:t>
            </a:r>
            <a:r>
              <a:rPr lang="en-US" sz="1200" b="0" i="0" u="none" strike="noStrike" cap="none" dirty="0">
                <a:solidFill>
                  <a:srgbClr val="000000"/>
                </a:solidFill>
                <a:latin typeface="Times New Roman"/>
                <a:ea typeface="Times New Roman"/>
                <a:cs typeface="Times New Roman"/>
                <a:sym typeface="Times New Roman"/>
              </a:rPr>
              <a:t> position with same predicted impact</a:t>
            </a:r>
            <a:endParaRPr lang="en-US" sz="1400" b="0" i="0" u="none" strike="noStrike" cap="none" dirty="0">
              <a:solidFill>
                <a:srgbClr val="000000"/>
              </a:solidFill>
              <a:latin typeface="Arial"/>
              <a:ea typeface="Arial"/>
              <a:cs typeface="Arial"/>
              <a:sym typeface="Arial"/>
            </a:endParaRPr>
          </a:p>
        </p:txBody>
      </p:sp>
      <p:sp>
        <p:nvSpPr>
          <p:cNvPr id="65" name="Google Shape;65;p1">
            <a:extLst>
              <a:ext uri="{FF2B5EF4-FFF2-40B4-BE49-F238E27FC236}">
                <a16:creationId xmlns:a16="http://schemas.microsoft.com/office/drawing/2014/main" id="{B39906C6-F8D7-5774-AABF-C3E1CD475791}"/>
              </a:ext>
            </a:extLst>
          </p:cNvPr>
          <p:cNvSpPr/>
          <p:nvPr/>
        </p:nvSpPr>
        <p:spPr>
          <a:xfrm>
            <a:off x="10945100" y="192700"/>
            <a:ext cx="1188720" cy="27432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 sz="1200" b="0" i="0" u="none" strike="noStrike" cap="none" dirty="0">
                <a:solidFill>
                  <a:srgbClr val="000000"/>
                </a:solidFill>
                <a:latin typeface="Times New Roman"/>
                <a:ea typeface="Times New Roman"/>
                <a:cs typeface="Times New Roman"/>
                <a:sym typeface="Times New Roman"/>
              </a:rPr>
              <a:t>PP3</a:t>
            </a:r>
            <a:endParaRPr sz="1400" b="0" i="0" u="none" strike="noStrike" cap="none" dirty="0">
              <a:solidFill>
                <a:srgbClr val="000000"/>
              </a:solidFill>
              <a:latin typeface="Arial"/>
              <a:ea typeface="Arial"/>
              <a:cs typeface="Arial"/>
              <a:sym typeface="Arial"/>
            </a:endParaRPr>
          </a:p>
        </p:txBody>
      </p:sp>
      <p:sp>
        <p:nvSpPr>
          <p:cNvPr id="66" name="Google Shape;66;p1">
            <a:extLst>
              <a:ext uri="{FF2B5EF4-FFF2-40B4-BE49-F238E27FC236}">
                <a16:creationId xmlns:a16="http://schemas.microsoft.com/office/drawing/2014/main" id="{7197C144-6DCB-70B8-01C6-841AA88DF9A6}"/>
              </a:ext>
            </a:extLst>
          </p:cNvPr>
          <p:cNvSpPr/>
          <p:nvPr/>
        </p:nvSpPr>
        <p:spPr>
          <a:xfrm>
            <a:off x="10945100" y="568535"/>
            <a:ext cx="1188720" cy="27432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 sz="1200" b="0" i="0" u="none" strike="noStrike" cap="none" dirty="0">
                <a:solidFill>
                  <a:srgbClr val="000000"/>
                </a:solidFill>
                <a:latin typeface="Times New Roman"/>
                <a:ea typeface="Times New Roman"/>
                <a:cs typeface="Times New Roman"/>
                <a:sym typeface="Times New Roman"/>
              </a:rPr>
              <a:t>PP3 + PS1</a:t>
            </a:r>
            <a:endParaRPr sz="1400" b="0" i="0" u="none" strike="noStrike" cap="none" dirty="0">
              <a:solidFill>
                <a:srgbClr val="000000"/>
              </a:solidFill>
              <a:latin typeface="Arial"/>
              <a:ea typeface="Arial"/>
              <a:cs typeface="Arial"/>
              <a:sym typeface="Arial"/>
            </a:endParaRPr>
          </a:p>
        </p:txBody>
      </p:sp>
      <p:sp>
        <p:nvSpPr>
          <p:cNvPr id="67" name="Google Shape;67;p1">
            <a:extLst>
              <a:ext uri="{FF2B5EF4-FFF2-40B4-BE49-F238E27FC236}">
                <a16:creationId xmlns:a16="http://schemas.microsoft.com/office/drawing/2014/main" id="{A241DF37-ABB2-87DD-A7A6-94FDC75E73A6}"/>
              </a:ext>
            </a:extLst>
          </p:cNvPr>
          <p:cNvSpPr/>
          <p:nvPr/>
        </p:nvSpPr>
        <p:spPr>
          <a:xfrm>
            <a:off x="5964241" y="914102"/>
            <a:ext cx="4572000" cy="27432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dirty="0">
                <a:solidFill>
                  <a:srgbClr val="000000"/>
                </a:solidFill>
                <a:latin typeface="Times New Roman"/>
                <a:ea typeface="Times New Roman"/>
                <a:cs typeface="Times New Roman"/>
                <a:sym typeface="Times New Roman"/>
              </a:rPr>
              <a:t>LP variant at this </a:t>
            </a:r>
            <a:r>
              <a:rPr lang="en-US" sz="1200" b="0" i="0" u="none" strike="noStrike" cap="none" dirty="0" err="1">
                <a:solidFill>
                  <a:srgbClr val="000000"/>
                </a:solidFill>
                <a:latin typeface="Times New Roman"/>
                <a:ea typeface="Times New Roman"/>
                <a:cs typeface="Times New Roman"/>
                <a:sym typeface="Times New Roman"/>
              </a:rPr>
              <a:t>nt</a:t>
            </a:r>
            <a:r>
              <a:rPr lang="en-US" sz="1200" b="0" i="0" u="none" strike="noStrike" cap="none" dirty="0">
                <a:solidFill>
                  <a:srgbClr val="000000"/>
                </a:solidFill>
                <a:latin typeface="Times New Roman"/>
                <a:ea typeface="Times New Roman"/>
                <a:cs typeface="Times New Roman"/>
                <a:sym typeface="Times New Roman"/>
              </a:rPr>
              <a:t> position with same predicted impact</a:t>
            </a:r>
            <a:endParaRPr lang="en-US" sz="1400" b="0" i="0" u="none" strike="noStrike" cap="none" dirty="0">
              <a:solidFill>
                <a:srgbClr val="000000"/>
              </a:solidFill>
              <a:latin typeface="Arial"/>
              <a:ea typeface="Arial"/>
              <a:cs typeface="Arial"/>
              <a:sym typeface="Arial"/>
            </a:endParaRPr>
          </a:p>
        </p:txBody>
      </p:sp>
      <p:sp>
        <p:nvSpPr>
          <p:cNvPr id="69" name="Google Shape;69;p1">
            <a:extLst>
              <a:ext uri="{FF2B5EF4-FFF2-40B4-BE49-F238E27FC236}">
                <a16:creationId xmlns:a16="http://schemas.microsoft.com/office/drawing/2014/main" id="{334422F8-422D-236F-67F6-BBB94305C67B}"/>
              </a:ext>
            </a:extLst>
          </p:cNvPr>
          <p:cNvSpPr/>
          <p:nvPr/>
        </p:nvSpPr>
        <p:spPr>
          <a:xfrm>
            <a:off x="5964241" y="1286262"/>
            <a:ext cx="4572000" cy="27432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dirty="0">
                <a:solidFill>
                  <a:srgbClr val="000000"/>
                </a:solidFill>
                <a:latin typeface="Times New Roman"/>
                <a:ea typeface="Times New Roman"/>
                <a:cs typeface="Times New Roman"/>
                <a:sym typeface="Times New Roman"/>
              </a:rPr>
              <a:t>P variant within the same splice region with same predicted impact</a:t>
            </a:r>
            <a:endParaRPr lang="en-US" sz="1400" b="0" i="0" u="none" strike="noStrike" cap="none" dirty="0">
              <a:solidFill>
                <a:srgbClr val="000000"/>
              </a:solidFill>
              <a:latin typeface="Arial"/>
              <a:ea typeface="Arial"/>
              <a:cs typeface="Arial"/>
              <a:sym typeface="Arial"/>
            </a:endParaRPr>
          </a:p>
        </p:txBody>
      </p:sp>
      <p:sp>
        <p:nvSpPr>
          <p:cNvPr id="70" name="Google Shape;70;p1">
            <a:extLst>
              <a:ext uri="{FF2B5EF4-FFF2-40B4-BE49-F238E27FC236}">
                <a16:creationId xmlns:a16="http://schemas.microsoft.com/office/drawing/2014/main" id="{38EA5A89-07DD-1831-4850-5BC600832D74}"/>
              </a:ext>
            </a:extLst>
          </p:cNvPr>
          <p:cNvSpPr/>
          <p:nvPr/>
        </p:nvSpPr>
        <p:spPr>
          <a:xfrm>
            <a:off x="10945100" y="944370"/>
            <a:ext cx="1188720" cy="27432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dirty="0">
                <a:solidFill>
                  <a:srgbClr val="000000"/>
                </a:solidFill>
                <a:latin typeface="Times New Roman"/>
                <a:ea typeface="Times New Roman"/>
                <a:cs typeface="Times New Roman"/>
                <a:sym typeface="Times New Roman"/>
              </a:rPr>
              <a:t>PP3 + PS1_M</a:t>
            </a:r>
            <a:endParaRPr lang="en-US" sz="1400" b="0" i="0" u="none" strike="noStrike" cap="none" dirty="0">
              <a:solidFill>
                <a:srgbClr val="000000"/>
              </a:solidFill>
              <a:latin typeface="Arial"/>
              <a:ea typeface="Arial"/>
              <a:cs typeface="Arial"/>
              <a:sym typeface="Arial"/>
            </a:endParaRPr>
          </a:p>
        </p:txBody>
      </p:sp>
      <p:sp>
        <p:nvSpPr>
          <p:cNvPr id="71" name="Google Shape;71;p1">
            <a:extLst>
              <a:ext uri="{FF2B5EF4-FFF2-40B4-BE49-F238E27FC236}">
                <a16:creationId xmlns:a16="http://schemas.microsoft.com/office/drawing/2014/main" id="{736AD2C6-CCC9-92DB-7B4F-874A523ABD7F}"/>
              </a:ext>
            </a:extLst>
          </p:cNvPr>
          <p:cNvSpPr/>
          <p:nvPr/>
        </p:nvSpPr>
        <p:spPr>
          <a:xfrm>
            <a:off x="10945100" y="1320205"/>
            <a:ext cx="1188720" cy="27432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dirty="0">
                <a:solidFill>
                  <a:srgbClr val="000000"/>
                </a:solidFill>
                <a:latin typeface="Times New Roman"/>
                <a:ea typeface="Times New Roman"/>
                <a:cs typeface="Times New Roman"/>
                <a:sym typeface="Times New Roman"/>
              </a:rPr>
              <a:t>PP3 + PS1_M</a:t>
            </a:r>
            <a:endParaRPr lang="en-US" sz="1400" b="0" i="0" u="none" strike="noStrike" cap="none" dirty="0">
              <a:solidFill>
                <a:srgbClr val="000000"/>
              </a:solidFill>
              <a:latin typeface="Arial"/>
              <a:ea typeface="Arial"/>
              <a:cs typeface="Arial"/>
              <a:sym typeface="Arial"/>
            </a:endParaRPr>
          </a:p>
        </p:txBody>
      </p:sp>
      <p:sp>
        <p:nvSpPr>
          <p:cNvPr id="72" name="Google Shape;72;p1">
            <a:extLst>
              <a:ext uri="{FF2B5EF4-FFF2-40B4-BE49-F238E27FC236}">
                <a16:creationId xmlns:a16="http://schemas.microsoft.com/office/drawing/2014/main" id="{F9FE4059-C05A-8047-3239-83A12F60C98B}"/>
              </a:ext>
            </a:extLst>
          </p:cNvPr>
          <p:cNvSpPr/>
          <p:nvPr/>
        </p:nvSpPr>
        <p:spPr>
          <a:xfrm>
            <a:off x="10945100" y="1696039"/>
            <a:ext cx="1188720" cy="27432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dirty="0">
                <a:solidFill>
                  <a:srgbClr val="000000"/>
                </a:solidFill>
                <a:latin typeface="Times New Roman"/>
                <a:ea typeface="Times New Roman"/>
                <a:cs typeface="Times New Roman"/>
                <a:sym typeface="Times New Roman"/>
              </a:rPr>
              <a:t>PP3 + PS1_P</a:t>
            </a:r>
            <a:endParaRPr lang="en-US" sz="1400" b="0" i="0" u="none" strike="noStrike" cap="none" dirty="0">
              <a:solidFill>
                <a:srgbClr val="000000"/>
              </a:solidFill>
              <a:latin typeface="Arial"/>
              <a:ea typeface="Arial"/>
              <a:cs typeface="Arial"/>
              <a:sym typeface="Arial"/>
            </a:endParaRPr>
          </a:p>
        </p:txBody>
      </p:sp>
      <p:sp>
        <p:nvSpPr>
          <p:cNvPr id="73" name="Google Shape;73;p1">
            <a:extLst>
              <a:ext uri="{FF2B5EF4-FFF2-40B4-BE49-F238E27FC236}">
                <a16:creationId xmlns:a16="http://schemas.microsoft.com/office/drawing/2014/main" id="{7966D079-61A6-E0EE-DF9A-C5E1A1663D73}"/>
              </a:ext>
            </a:extLst>
          </p:cNvPr>
          <p:cNvSpPr/>
          <p:nvPr/>
        </p:nvSpPr>
        <p:spPr>
          <a:xfrm>
            <a:off x="9236252" y="2045688"/>
            <a:ext cx="2913595" cy="27432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 sz="1200" b="0" i="0" u="none" strike="noStrike" cap="none" dirty="0">
                <a:solidFill>
                  <a:srgbClr val="000000"/>
                </a:solidFill>
                <a:latin typeface="Times New Roman"/>
                <a:ea typeface="Times New Roman"/>
                <a:cs typeface="Times New Roman"/>
                <a:sym typeface="Times New Roman"/>
              </a:rPr>
              <a:t>N/A (consider protein impact if relevant)</a:t>
            </a:r>
            <a:endParaRPr sz="1400" b="0" i="0" u="none" strike="noStrike" cap="none" dirty="0">
              <a:solidFill>
                <a:srgbClr val="000000"/>
              </a:solidFill>
              <a:latin typeface="Arial"/>
              <a:ea typeface="Arial"/>
              <a:cs typeface="Arial"/>
              <a:sym typeface="Arial"/>
            </a:endParaRPr>
          </a:p>
        </p:txBody>
      </p:sp>
      <p:cxnSp>
        <p:nvCxnSpPr>
          <p:cNvPr id="79" name="Google Shape;79;p1">
            <a:extLst>
              <a:ext uri="{FF2B5EF4-FFF2-40B4-BE49-F238E27FC236}">
                <a16:creationId xmlns:a16="http://schemas.microsoft.com/office/drawing/2014/main" id="{19690275-B329-1887-68FE-76FD034AA4AA}"/>
              </a:ext>
            </a:extLst>
          </p:cNvPr>
          <p:cNvCxnSpPr>
            <a:cxnSpLocks/>
            <a:stCxn id="59" idx="3"/>
            <a:endCxn id="61" idx="1"/>
          </p:cNvCxnSpPr>
          <p:nvPr/>
        </p:nvCxnSpPr>
        <p:spPr>
          <a:xfrm flipV="1">
            <a:off x="4043366" y="1089621"/>
            <a:ext cx="348860" cy="522685"/>
          </a:xfrm>
          <a:prstGeom prst="straightConnector1">
            <a:avLst/>
          </a:prstGeom>
          <a:noFill/>
          <a:ln w="9525" cap="flat" cmpd="sng">
            <a:solidFill>
              <a:srgbClr val="44546A"/>
            </a:solidFill>
            <a:prstDash val="solid"/>
            <a:round/>
            <a:headEnd type="none" w="sm" len="sm"/>
            <a:tailEnd type="triangle" w="med" len="med"/>
          </a:ln>
        </p:spPr>
      </p:cxnSp>
      <p:cxnSp>
        <p:nvCxnSpPr>
          <p:cNvPr id="80" name="Google Shape;80;p1">
            <a:extLst>
              <a:ext uri="{FF2B5EF4-FFF2-40B4-BE49-F238E27FC236}">
                <a16:creationId xmlns:a16="http://schemas.microsoft.com/office/drawing/2014/main" id="{CB9F7551-0D55-FE59-A010-A62E2F1E3828}"/>
              </a:ext>
            </a:extLst>
          </p:cNvPr>
          <p:cNvCxnSpPr>
            <a:cxnSpLocks/>
            <a:stCxn id="59" idx="3"/>
            <a:endCxn id="45" idx="1"/>
          </p:cNvCxnSpPr>
          <p:nvPr/>
        </p:nvCxnSpPr>
        <p:spPr>
          <a:xfrm>
            <a:off x="4043366" y="1612306"/>
            <a:ext cx="348860" cy="570013"/>
          </a:xfrm>
          <a:prstGeom prst="straightConnector1">
            <a:avLst/>
          </a:prstGeom>
          <a:noFill/>
          <a:ln w="9525" cap="flat" cmpd="sng">
            <a:solidFill>
              <a:srgbClr val="44546A"/>
            </a:solidFill>
            <a:prstDash val="solid"/>
            <a:round/>
            <a:headEnd type="none" w="sm" len="sm"/>
            <a:tailEnd type="triangle" w="med" len="med"/>
          </a:ln>
        </p:spPr>
      </p:cxnSp>
      <p:cxnSp>
        <p:nvCxnSpPr>
          <p:cNvPr id="81" name="Google Shape;81;p1">
            <a:extLst>
              <a:ext uri="{FF2B5EF4-FFF2-40B4-BE49-F238E27FC236}">
                <a16:creationId xmlns:a16="http://schemas.microsoft.com/office/drawing/2014/main" id="{90220B47-2924-BE4B-E5F1-A97487153626}"/>
              </a:ext>
            </a:extLst>
          </p:cNvPr>
          <p:cNvCxnSpPr>
            <a:cxnSpLocks/>
            <a:stCxn id="61" idx="3"/>
            <a:endCxn id="63" idx="1"/>
          </p:cNvCxnSpPr>
          <p:nvPr/>
        </p:nvCxnSpPr>
        <p:spPr>
          <a:xfrm flipV="1">
            <a:off x="5704375" y="329860"/>
            <a:ext cx="259866" cy="759761"/>
          </a:xfrm>
          <a:prstGeom prst="straightConnector1">
            <a:avLst/>
          </a:prstGeom>
          <a:noFill/>
          <a:ln w="9525" cap="flat" cmpd="sng">
            <a:solidFill>
              <a:srgbClr val="44546A"/>
            </a:solidFill>
            <a:prstDash val="solid"/>
            <a:round/>
            <a:headEnd type="none" w="sm" len="sm"/>
            <a:tailEnd type="triangle" w="med" len="med"/>
          </a:ln>
        </p:spPr>
      </p:cxnSp>
      <p:cxnSp>
        <p:nvCxnSpPr>
          <p:cNvPr id="82" name="Google Shape;82;p1">
            <a:extLst>
              <a:ext uri="{FF2B5EF4-FFF2-40B4-BE49-F238E27FC236}">
                <a16:creationId xmlns:a16="http://schemas.microsoft.com/office/drawing/2014/main" id="{E77C769D-934F-8004-7B54-5D308C474EED}"/>
              </a:ext>
            </a:extLst>
          </p:cNvPr>
          <p:cNvCxnSpPr>
            <a:cxnSpLocks/>
            <a:stCxn id="61" idx="3"/>
            <a:endCxn id="64" idx="1"/>
          </p:cNvCxnSpPr>
          <p:nvPr/>
        </p:nvCxnSpPr>
        <p:spPr>
          <a:xfrm flipV="1">
            <a:off x="5704375" y="676812"/>
            <a:ext cx="259866" cy="412809"/>
          </a:xfrm>
          <a:prstGeom prst="straightConnector1">
            <a:avLst/>
          </a:prstGeom>
          <a:noFill/>
          <a:ln w="9525" cap="flat" cmpd="sng">
            <a:solidFill>
              <a:srgbClr val="44546A"/>
            </a:solidFill>
            <a:prstDash val="solid"/>
            <a:round/>
            <a:headEnd type="none" w="sm" len="sm"/>
            <a:tailEnd type="triangle" w="med" len="med"/>
          </a:ln>
        </p:spPr>
      </p:cxnSp>
      <p:cxnSp>
        <p:nvCxnSpPr>
          <p:cNvPr id="83" name="Google Shape;83;p1">
            <a:extLst>
              <a:ext uri="{FF2B5EF4-FFF2-40B4-BE49-F238E27FC236}">
                <a16:creationId xmlns:a16="http://schemas.microsoft.com/office/drawing/2014/main" id="{3ADB04D8-6F56-3790-2CE1-7A8CA6A6A5F4}"/>
              </a:ext>
            </a:extLst>
          </p:cNvPr>
          <p:cNvCxnSpPr>
            <a:cxnSpLocks/>
            <a:stCxn id="61" idx="3"/>
            <a:endCxn id="67" idx="1"/>
          </p:cNvCxnSpPr>
          <p:nvPr/>
        </p:nvCxnSpPr>
        <p:spPr>
          <a:xfrm flipV="1">
            <a:off x="5704375" y="1051262"/>
            <a:ext cx="259866" cy="38359"/>
          </a:xfrm>
          <a:prstGeom prst="straightConnector1">
            <a:avLst/>
          </a:prstGeom>
          <a:noFill/>
          <a:ln w="9525" cap="flat" cmpd="sng">
            <a:solidFill>
              <a:srgbClr val="44546A"/>
            </a:solidFill>
            <a:prstDash val="solid"/>
            <a:round/>
            <a:headEnd type="none" w="sm" len="sm"/>
            <a:tailEnd type="triangle" w="med" len="med"/>
          </a:ln>
        </p:spPr>
      </p:cxnSp>
      <p:cxnSp>
        <p:nvCxnSpPr>
          <p:cNvPr id="85" name="Google Shape;85;p1">
            <a:extLst>
              <a:ext uri="{FF2B5EF4-FFF2-40B4-BE49-F238E27FC236}">
                <a16:creationId xmlns:a16="http://schemas.microsoft.com/office/drawing/2014/main" id="{40C773D5-A0C8-37F2-AD68-529F1DCC7CC3}"/>
              </a:ext>
            </a:extLst>
          </p:cNvPr>
          <p:cNvCxnSpPr>
            <a:cxnSpLocks/>
            <a:stCxn id="61" idx="3"/>
            <a:endCxn id="69" idx="1"/>
          </p:cNvCxnSpPr>
          <p:nvPr/>
        </p:nvCxnSpPr>
        <p:spPr>
          <a:xfrm>
            <a:off x="5704375" y="1089621"/>
            <a:ext cx="259866" cy="333801"/>
          </a:xfrm>
          <a:prstGeom prst="straightConnector1">
            <a:avLst/>
          </a:prstGeom>
          <a:noFill/>
          <a:ln w="9525" cap="flat" cmpd="sng">
            <a:solidFill>
              <a:srgbClr val="44546A"/>
            </a:solidFill>
            <a:prstDash val="solid"/>
            <a:round/>
            <a:headEnd type="none" w="sm" len="sm"/>
            <a:tailEnd type="triangle" w="med" len="med"/>
          </a:ln>
        </p:spPr>
      </p:cxnSp>
      <p:cxnSp>
        <p:nvCxnSpPr>
          <p:cNvPr id="86" name="Google Shape;86;p1">
            <a:extLst>
              <a:ext uri="{FF2B5EF4-FFF2-40B4-BE49-F238E27FC236}">
                <a16:creationId xmlns:a16="http://schemas.microsoft.com/office/drawing/2014/main" id="{0E7F9DD3-66F7-D45A-888D-48CC4ABC9FC1}"/>
              </a:ext>
            </a:extLst>
          </p:cNvPr>
          <p:cNvCxnSpPr>
            <a:cxnSpLocks/>
            <a:stCxn id="61" idx="3"/>
          </p:cNvCxnSpPr>
          <p:nvPr/>
        </p:nvCxnSpPr>
        <p:spPr>
          <a:xfrm>
            <a:off x="5704375" y="1089621"/>
            <a:ext cx="259866" cy="735122"/>
          </a:xfrm>
          <a:prstGeom prst="straightConnector1">
            <a:avLst/>
          </a:prstGeom>
          <a:noFill/>
          <a:ln w="9525" cap="flat" cmpd="sng">
            <a:solidFill>
              <a:srgbClr val="44546A"/>
            </a:solidFill>
            <a:prstDash val="solid"/>
            <a:round/>
            <a:headEnd type="none" w="sm" len="sm"/>
            <a:tailEnd type="triangle" w="med" len="med"/>
          </a:ln>
        </p:spPr>
      </p:cxnSp>
      <p:cxnSp>
        <p:nvCxnSpPr>
          <p:cNvPr id="118" name="Google Shape;118;p1">
            <a:extLst>
              <a:ext uri="{FF2B5EF4-FFF2-40B4-BE49-F238E27FC236}">
                <a16:creationId xmlns:a16="http://schemas.microsoft.com/office/drawing/2014/main" id="{89B20734-E9C2-7449-BF3D-570CF0D76FA7}"/>
              </a:ext>
            </a:extLst>
          </p:cNvPr>
          <p:cNvCxnSpPr>
            <a:stCxn id="63" idx="3"/>
            <a:endCxn id="65" idx="1"/>
          </p:cNvCxnSpPr>
          <p:nvPr/>
        </p:nvCxnSpPr>
        <p:spPr>
          <a:xfrm>
            <a:off x="10536241" y="329860"/>
            <a:ext cx="408859" cy="0"/>
          </a:xfrm>
          <a:prstGeom prst="straightConnector1">
            <a:avLst/>
          </a:prstGeom>
          <a:noFill/>
          <a:ln w="9525" cap="flat" cmpd="sng">
            <a:solidFill>
              <a:srgbClr val="595959"/>
            </a:solidFill>
            <a:prstDash val="solid"/>
            <a:round/>
            <a:headEnd type="none" w="sm" len="sm"/>
            <a:tailEnd type="triangle" w="med" len="med"/>
          </a:ln>
        </p:spPr>
      </p:cxnSp>
      <p:cxnSp>
        <p:nvCxnSpPr>
          <p:cNvPr id="119" name="Google Shape;119;p1">
            <a:extLst>
              <a:ext uri="{FF2B5EF4-FFF2-40B4-BE49-F238E27FC236}">
                <a16:creationId xmlns:a16="http://schemas.microsoft.com/office/drawing/2014/main" id="{76A80E33-227C-40F6-7352-B76CF34067A4}"/>
              </a:ext>
            </a:extLst>
          </p:cNvPr>
          <p:cNvCxnSpPr>
            <a:cxnSpLocks/>
            <a:stCxn id="64" idx="3"/>
            <a:endCxn id="66" idx="1"/>
          </p:cNvCxnSpPr>
          <p:nvPr/>
        </p:nvCxnSpPr>
        <p:spPr>
          <a:xfrm>
            <a:off x="10536241" y="676812"/>
            <a:ext cx="408859" cy="0"/>
          </a:xfrm>
          <a:prstGeom prst="straightConnector1">
            <a:avLst/>
          </a:prstGeom>
          <a:noFill/>
          <a:ln w="9525" cap="flat" cmpd="sng">
            <a:solidFill>
              <a:srgbClr val="595959"/>
            </a:solidFill>
            <a:prstDash val="solid"/>
            <a:round/>
            <a:headEnd type="none" w="sm" len="sm"/>
            <a:tailEnd type="triangle" w="med" len="med"/>
          </a:ln>
        </p:spPr>
      </p:cxnSp>
      <p:cxnSp>
        <p:nvCxnSpPr>
          <p:cNvPr id="120" name="Google Shape;120;p1">
            <a:extLst>
              <a:ext uri="{FF2B5EF4-FFF2-40B4-BE49-F238E27FC236}">
                <a16:creationId xmlns:a16="http://schemas.microsoft.com/office/drawing/2014/main" id="{422C0BFC-D1CC-3D1F-0B77-F12AB93D8C91}"/>
              </a:ext>
            </a:extLst>
          </p:cNvPr>
          <p:cNvCxnSpPr>
            <a:stCxn id="67" idx="3"/>
            <a:endCxn id="70" idx="1"/>
          </p:cNvCxnSpPr>
          <p:nvPr/>
        </p:nvCxnSpPr>
        <p:spPr>
          <a:xfrm>
            <a:off x="10536241" y="1051262"/>
            <a:ext cx="408859" cy="0"/>
          </a:xfrm>
          <a:prstGeom prst="straightConnector1">
            <a:avLst/>
          </a:prstGeom>
          <a:noFill/>
          <a:ln w="9525" cap="flat" cmpd="sng">
            <a:solidFill>
              <a:srgbClr val="595959"/>
            </a:solidFill>
            <a:prstDash val="solid"/>
            <a:round/>
            <a:headEnd type="none" w="sm" len="sm"/>
            <a:tailEnd type="triangle" w="med" len="med"/>
          </a:ln>
        </p:spPr>
      </p:cxnSp>
      <p:cxnSp>
        <p:nvCxnSpPr>
          <p:cNvPr id="121" name="Google Shape;121;p1">
            <a:extLst>
              <a:ext uri="{FF2B5EF4-FFF2-40B4-BE49-F238E27FC236}">
                <a16:creationId xmlns:a16="http://schemas.microsoft.com/office/drawing/2014/main" id="{CB4CAFDE-5515-2110-DEF8-CD01EE2A284F}"/>
              </a:ext>
            </a:extLst>
          </p:cNvPr>
          <p:cNvCxnSpPr>
            <a:cxnSpLocks/>
            <a:stCxn id="69" idx="3"/>
            <a:endCxn id="71" idx="1"/>
          </p:cNvCxnSpPr>
          <p:nvPr/>
        </p:nvCxnSpPr>
        <p:spPr>
          <a:xfrm>
            <a:off x="10536241" y="1423422"/>
            <a:ext cx="408859" cy="0"/>
          </a:xfrm>
          <a:prstGeom prst="straightConnector1">
            <a:avLst/>
          </a:prstGeom>
          <a:noFill/>
          <a:ln w="9525" cap="flat" cmpd="sng">
            <a:solidFill>
              <a:srgbClr val="595959"/>
            </a:solidFill>
            <a:prstDash val="solid"/>
            <a:round/>
            <a:headEnd type="none" w="sm" len="sm"/>
            <a:tailEnd type="triangle" w="med" len="med"/>
          </a:ln>
        </p:spPr>
      </p:cxnSp>
      <p:cxnSp>
        <p:nvCxnSpPr>
          <p:cNvPr id="122" name="Google Shape;122;p1">
            <a:extLst>
              <a:ext uri="{FF2B5EF4-FFF2-40B4-BE49-F238E27FC236}">
                <a16:creationId xmlns:a16="http://schemas.microsoft.com/office/drawing/2014/main" id="{4D4D1235-2B74-F9A4-5272-9A7A007E4611}"/>
              </a:ext>
            </a:extLst>
          </p:cNvPr>
          <p:cNvCxnSpPr>
            <a:cxnSpLocks/>
            <a:stCxn id="8" idx="3"/>
            <a:endCxn id="72" idx="1"/>
          </p:cNvCxnSpPr>
          <p:nvPr/>
        </p:nvCxnSpPr>
        <p:spPr>
          <a:xfrm flipV="1">
            <a:off x="10536241" y="1833199"/>
            <a:ext cx="408859" cy="3273"/>
          </a:xfrm>
          <a:prstGeom prst="straightConnector1">
            <a:avLst/>
          </a:prstGeom>
          <a:noFill/>
          <a:ln w="9525" cap="flat" cmpd="sng">
            <a:solidFill>
              <a:srgbClr val="595959"/>
            </a:solidFill>
            <a:prstDash val="solid"/>
            <a:round/>
            <a:headEnd type="none" w="sm" len="sm"/>
            <a:tailEnd type="triangle" w="med" len="med"/>
          </a:ln>
        </p:spPr>
      </p:cxnSp>
      <p:cxnSp>
        <p:nvCxnSpPr>
          <p:cNvPr id="123" name="Google Shape;123;p1">
            <a:extLst>
              <a:ext uri="{FF2B5EF4-FFF2-40B4-BE49-F238E27FC236}">
                <a16:creationId xmlns:a16="http://schemas.microsoft.com/office/drawing/2014/main" id="{F7D67984-FAD3-2BBD-B419-2C621DCE6BB0}"/>
              </a:ext>
            </a:extLst>
          </p:cNvPr>
          <p:cNvCxnSpPr>
            <a:cxnSpLocks/>
            <a:stCxn id="45" idx="3"/>
            <a:endCxn id="73" idx="1"/>
          </p:cNvCxnSpPr>
          <p:nvPr/>
        </p:nvCxnSpPr>
        <p:spPr>
          <a:xfrm>
            <a:off x="8364915" y="2182319"/>
            <a:ext cx="871337" cy="529"/>
          </a:xfrm>
          <a:prstGeom prst="straightConnector1">
            <a:avLst/>
          </a:prstGeom>
          <a:noFill/>
          <a:ln w="9525" cap="flat" cmpd="sng">
            <a:solidFill>
              <a:srgbClr val="595959"/>
            </a:solidFill>
            <a:prstDash val="solid"/>
            <a:round/>
            <a:headEnd type="none" w="sm" len="sm"/>
            <a:tailEnd type="triangle" w="med" len="med"/>
          </a:ln>
        </p:spPr>
      </p:cxnSp>
      <p:sp>
        <p:nvSpPr>
          <p:cNvPr id="131" name="Google Shape;131;p1">
            <a:extLst>
              <a:ext uri="{FF2B5EF4-FFF2-40B4-BE49-F238E27FC236}">
                <a16:creationId xmlns:a16="http://schemas.microsoft.com/office/drawing/2014/main" id="{DC084B7B-EBE5-F934-C941-B22CBC36940E}"/>
              </a:ext>
            </a:extLst>
          </p:cNvPr>
          <p:cNvSpPr txBox="1"/>
          <p:nvPr/>
        </p:nvSpPr>
        <p:spPr>
          <a:xfrm>
            <a:off x="234482" y="6861561"/>
            <a:ext cx="1105800" cy="4158296"/>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1" i="0" u="none" strike="noStrike" cap="none" dirty="0">
                <a:solidFill>
                  <a:srgbClr val="000000"/>
                </a:solidFill>
                <a:latin typeface="Times New Roman"/>
                <a:ea typeface="Times New Roman"/>
                <a:cs typeface="Times New Roman"/>
                <a:sym typeface="Times New Roman"/>
              </a:rPr>
              <a:t>RNA/Splicing Data</a:t>
            </a:r>
          </a:p>
          <a:p>
            <a:pPr marL="0" marR="0" lvl="0" indent="0" algn="ctr" rtl="0">
              <a:lnSpc>
                <a:spcPct val="100000"/>
              </a:lnSpc>
              <a:spcBef>
                <a:spcPts val="0"/>
              </a:spcBef>
              <a:spcAft>
                <a:spcPts val="0"/>
              </a:spcAft>
              <a:buClr>
                <a:srgbClr val="000000"/>
              </a:buClr>
              <a:buSzPts val="1200"/>
              <a:buFont typeface="Arial"/>
              <a:buNone/>
            </a:pPr>
            <a:endParaRPr lang="en-US" sz="1200" b="1" dirty="0">
              <a:latin typeface="Times New Roman"/>
              <a:ea typeface="Times New Roman"/>
              <a:cs typeface="Times New Roman"/>
              <a:sym typeface="Times New Roman"/>
            </a:endParaRPr>
          </a:p>
          <a:p>
            <a:pPr marL="0" marR="0" lvl="0" indent="0" algn="ctr" rtl="0">
              <a:lnSpc>
                <a:spcPct val="100000"/>
              </a:lnSpc>
              <a:spcBef>
                <a:spcPts val="0"/>
              </a:spcBef>
              <a:spcAft>
                <a:spcPts val="0"/>
              </a:spcAft>
              <a:buClr>
                <a:srgbClr val="000000"/>
              </a:buClr>
              <a:buSzPts val="1200"/>
              <a:buFont typeface="Arial"/>
              <a:buNone/>
            </a:pPr>
            <a:r>
              <a:rPr lang="en-US" sz="1200" b="1" i="0" u="none" strike="noStrike" cap="none" dirty="0">
                <a:solidFill>
                  <a:srgbClr val="000000"/>
                </a:solidFill>
                <a:latin typeface="Times New Roman"/>
                <a:ea typeface="Times New Roman"/>
                <a:cs typeface="Times New Roman"/>
                <a:sym typeface="Times New Roman"/>
              </a:rPr>
              <a:t>Categorization of splicing data need to consider multiple factors including assay / technique, RNA source, and gene-specific knowledge.</a:t>
            </a:r>
          </a:p>
          <a:p>
            <a:pPr marL="0" marR="0" lvl="0" indent="0" algn="ctr" rtl="0">
              <a:lnSpc>
                <a:spcPct val="100000"/>
              </a:lnSpc>
              <a:spcBef>
                <a:spcPts val="0"/>
              </a:spcBef>
              <a:spcAft>
                <a:spcPts val="0"/>
              </a:spcAft>
              <a:buClr>
                <a:srgbClr val="000000"/>
              </a:buClr>
              <a:buSzPts val="1200"/>
              <a:buFont typeface="Arial"/>
              <a:buNone/>
            </a:pPr>
            <a:endParaRPr lang="en-US" sz="1200" b="1" dirty="0">
              <a:latin typeface="Times New Roman"/>
              <a:ea typeface="Times New Roman"/>
              <a:cs typeface="Times New Roman"/>
              <a:sym typeface="Times New Roman"/>
            </a:endParaRPr>
          </a:p>
          <a:p>
            <a:pPr marL="0" marR="0" lvl="0" indent="0" algn="ctr" rtl="0">
              <a:lnSpc>
                <a:spcPct val="100000"/>
              </a:lnSpc>
              <a:spcBef>
                <a:spcPts val="0"/>
              </a:spcBef>
              <a:spcAft>
                <a:spcPts val="0"/>
              </a:spcAft>
              <a:buClr>
                <a:srgbClr val="000000"/>
              </a:buClr>
              <a:buSzPts val="1200"/>
              <a:buFont typeface="Arial"/>
              <a:buNone/>
            </a:pPr>
            <a:r>
              <a:rPr lang="en-US" sz="1200" b="1" dirty="0">
                <a:latin typeface="Times New Roman"/>
                <a:ea typeface="Times New Roman"/>
                <a:cs typeface="Times New Roman"/>
                <a:sym typeface="Times New Roman"/>
              </a:rPr>
              <a:t>See (c): RPGR Rule Table for PVS1</a:t>
            </a:r>
            <a:endParaRPr sz="1000" b="0" i="0" u="none" strike="noStrike" cap="none" dirty="0">
              <a:solidFill>
                <a:srgbClr val="000000"/>
              </a:solidFill>
              <a:latin typeface="Times New Roman"/>
              <a:ea typeface="Times New Roman"/>
              <a:cs typeface="Times New Roman"/>
              <a:sym typeface="Times New Roman"/>
            </a:endParaRPr>
          </a:p>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sp>
        <p:nvSpPr>
          <p:cNvPr id="133" name="Google Shape;133;p1">
            <a:extLst>
              <a:ext uri="{FF2B5EF4-FFF2-40B4-BE49-F238E27FC236}">
                <a16:creationId xmlns:a16="http://schemas.microsoft.com/office/drawing/2014/main" id="{5B2016A5-054C-136A-A8BD-B7281FCFA9AB}"/>
              </a:ext>
            </a:extLst>
          </p:cNvPr>
          <p:cNvSpPr/>
          <p:nvPr/>
        </p:nvSpPr>
        <p:spPr>
          <a:xfrm>
            <a:off x="1592413" y="8798940"/>
            <a:ext cx="1105775" cy="222546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dirty="0">
                <a:solidFill>
                  <a:srgbClr val="000000"/>
                </a:solidFill>
                <a:latin typeface="Times New Roman"/>
                <a:ea typeface="Times New Roman"/>
                <a:cs typeface="Times New Roman"/>
                <a:sym typeface="Times New Roman"/>
              </a:rPr>
              <a:t>Variant-specific impact (compared to controls)</a:t>
            </a:r>
          </a:p>
          <a:p>
            <a:pPr marL="0" marR="0" lvl="0" indent="0" algn="ctr" rtl="0">
              <a:lnSpc>
                <a:spcPct val="100000"/>
              </a:lnSpc>
              <a:spcBef>
                <a:spcPts val="0"/>
              </a:spcBef>
              <a:spcAft>
                <a:spcPts val="0"/>
              </a:spcAft>
              <a:buClr>
                <a:srgbClr val="000000"/>
              </a:buClr>
              <a:buSzPts val="1200"/>
              <a:buFont typeface="Arial"/>
              <a:buNone/>
            </a:pPr>
            <a:endParaRPr lang="en-US" sz="1200" dirty="0">
              <a:latin typeface="Times New Roman"/>
              <a:cs typeface="Times New Roman"/>
              <a:sym typeface="Times New Roman"/>
            </a:endParaRPr>
          </a:p>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dirty="0">
                <a:solidFill>
                  <a:srgbClr val="000000"/>
                </a:solidFill>
                <a:latin typeface="Times New Roman"/>
                <a:ea typeface="Arial"/>
                <a:cs typeface="Times New Roman"/>
                <a:sym typeface="Times New Roman"/>
              </a:rPr>
              <a:t>Use PVS1 rule table OBSERVED RNA impact</a:t>
            </a:r>
            <a:endParaRPr sz="1400" b="0" i="0" u="none" strike="noStrike" cap="none" dirty="0">
              <a:solidFill>
                <a:srgbClr val="000000"/>
              </a:solidFill>
              <a:latin typeface="Arial"/>
              <a:ea typeface="Arial"/>
              <a:cs typeface="Arial"/>
              <a:sym typeface="Arial"/>
            </a:endParaRPr>
          </a:p>
        </p:txBody>
      </p:sp>
      <p:sp>
        <p:nvSpPr>
          <p:cNvPr id="138" name="Google Shape;138;p1">
            <a:extLst>
              <a:ext uri="{FF2B5EF4-FFF2-40B4-BE49-F238E27FC236}">
                <a16:creationId xmlns:a16="http://schemas.microsoft.com/office/drawing/2014/main" id="{319C30AC-2158-420D-C554-7619C94CFF63}"/>
              </a:ext>
            </a:extLst>
          </p:cNvPr>
          <p:cNvSpPr/>
          <p:nvPr/>
        </p:nvSpPr>
        <p:spPr>
          <a:xfrm>
            <a:off x="2950288" y="8816353"/>
            <a:ext cx="1319713" cy="2203503"/>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 sz="1200" b="0" i="0" u="none" strike="noStrike" cap="none" dirty="0">
                <a:solidFill>
                  <a:srgbClr val="000000"/>
                </a:solidFill>
                <a:latin typeface="Times New Roman"/>
                <a:ea typeface="Times New Roman"/>
                <a:cs typeface="Times New Roman"/>
                <a:sym typeface="Times New Roman"/>
              </a:rPr>
              <a:t>PVS1_Strength assigned to at least 1 transcript</a:t>
            </a:r>
            <a:endParaRPr sz="1400" b="0" i="0" u="none" strike="noStrike" cap="none" dirty="0">
              <a:solidFill>
                <a:srgbClr val="000000"/>
              </a:solidFill>
              <a:latin typeface="Arial"/>
              <a:ea typeface="Arial"/>
              <a:cs typeface="Arial"/>
              <a:sym typeface="Arial"/>
            </a:endParaRPr>
          </a:p>
        </p:txBody>
      </p:sp>
      <p:sp>
        <p:nvSpPr>
          <p:cNvPr id="168" name="Google Shape;168;p1">
            <a:extLst>
              <a:ext uri="{FF2B5EF4-FFF2-40B4-BE49-F238E27FC236}">
                <a16:creationId xmlns:a16="http://schemas.microsoft.com/office/drawing/2014/main" id="{BDA0B471-B1E3-27B8-B592-E2175B72F98E}"/>
              </a:ext>
            </a:extLst>
          </p:cNvPr>
          <p:cNvSpPr/>
          <p:nvPr/>
        </p:nvSpPr>
        <p:spPr>
          <a:xfrm>
            <a:off x="1592413" y="6861561"/>
            <a:ext cx="1105800" cy="175311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dirty="0">
                <a:solidFill>
                  <a:srgbClr val="000000"/>
                </a:solidFill>
                <a:latin typeface="Times New Roman"/>
                <a:ea typeface="Times New Roman"/>
                <a:cs typeface="Times New Roman"/>
                <a:sym typeface="Times New Roman"/>
              </a:rPr>
              <a:t>No variant-specific observed impact</a:t>
            </a:r>
            <a:endParaRPr sz="1400" b="0" i="0" u="none" strike="noStrike" cap="none" dirty="0">
              <a:solidFill>
                <a:srgbClr val="000000"/>
              </a:solidFill>
              <a:latin typeface="Arial"/>
              <a:ea typeface="Arial"/>
              <a:cs typeface="Arial"/>
              <a:sym typeface="Arial"/>
            </a:endParaRPr>
          </a:p>
        </p:txBody>
      </p:sp>
      <p:cxnSp>
        <p:nvCxnSpPr>
          <p:cNvPr id="172" name="Google Shape;172;p1">
            <a:extLst>
              <a:ext uri="{FF2B5EF4-FFF2-40B4-BE49-F238E27FC236}">
                <a16:creationId xmlns:a16="http://schemas.microsoft.com/office/drawing/2014/main" id="{4FE8C6B0-6274-D576-8B57-660521554BAC}"/>
              </a:ext>
            </a:extLst>
          </p:cNvPr>
          <p:cNvCxnSpPr>
            <a:cxnSpLocks/>
            <a:stCxn id="131" idx="3"/>
            <a:endCxn id="133" idx="1"/>
          </p:cNvCxnSpPr>
          <p:nvPr/>
        </p:nvCxnSpPr>
        <p:spPr>
          <a:xfrm>
            <a:off x="1340282" y="8940709"/>
            <a:ext cx="252131" cy="970961"/>
          </a:xfrm>
          <a:prstGeom prst="straightConnector1">
            <a:avLst/>
          </a:prstGeom>
          <a:noFill/>
          <a:ln w="9525" cap="flat" cmpd="sng">
            <a:solidFill>
              <a:srgbClr val="44546A"/>
            </a:solidFill>
            <a:prstDash val="solid"/>
            <a:round/>
            <a:headEnd type="none" w="sm" len="sm"/>
            <a:tailEnd type="triangle" w="med" len="med"/>
          </a:ln>
        </p:spPr>
      </p:cxnSp>
      <p:cxnSp>
        <p:nvCxnSpPr>
          <p:cNvPr id="178" name="Google Shape;178;p1">
            <a:extLst>
              <a:ext uri="{FF2B5EF4-FFF2-40B4-BE49-F238E27FC236}">
                <a16:creationId xmlns:a16="http://schemas.microsoft.com/office/drawing/2014/main" id="{DA3A5244-714F-8581-C7D8-8AFE9B1E4946}"/>
              </a:ext>
            </a:extLst>
          </p:cNvPr>
          <p:cNvCxnSpPr>
            <a:cxnSpLocks/>
            <a:stCxn id="133" idx="3"/>
            <a:endCxn id="138" idx="1"/>
          </p:cNvCxnSpPr>
          <p:nvPr/>
        </p:nvCxnSpPr>
        <p:spPr>
          <a:xfrm>
            <a:off x="2698188" y="9911670"/>
            <a:ext cx="252100" cy="6435"/>
          </a:xfrm>
          <a:prstGeom prst="straightConnector1">
            <a:avLst/>
          </a:prstGeom>
          <a:noFill/>
          <a:ln w="9525" cap="flat" cmpd="sng">
            <a:solidFill>
              <a:srgbClr val="44546A"/>
            </a:solidFill>
            <a:prstDash val="solid"/>
            <a:round/>
            <a:headEnd type="none" w="sm" len="sm"/>
            <a:tailEnd type="triangle" w="med" len="med"/>
          </a:ln>
        </p:spPr>
      </p:cxnSp>
      <p:cxnSp>
        <p:nvCxnSpPr>
          <p:cNvPr id="180" name="Google Shape;180;p1">
            <a:extLst>
              <a:ext uri="{FF2B5EF4-FFF2-40B4-BE49-F238E27FC236}">
                <a16:creationId xmlns:a16="http://schemas.microsoft.com/office/drawing/2014/main" id="{B617EA89-0327-0EAA-8BEB-2C4868530382}"/>
              </a:ext>
            </a:extLst>
          </p:cNvPr>
          <p:cNvCxnSpPr>
            <a:cxnSpLocks/>
          </p:cNvCxnSpPr>
          <p:nvPr/>
        </p:nvCxnSpPr>
        <p:spPr>
          <a:xfrm flipV="1">
            <a:off x="4270001" y="9502728"/>
            <a:ext cx="324588" cy="860851"/>
          </a:xfrm>
          <a:prstGeom prst="straightConnector1">
            <a:avLst/>
          </a:prstGeom>
          <a:noFill/>
          <a:ln w="9525" cap="flat" cmpd="sng">
            <a:solidFill>
              <a:srgbClr val="44546A"/>
            </a:solidFill>
            <a:prstDash val="solid"/>
            <a:round/>
            <a:headEnd type="none" w="sm" len="sm"/>
            <a:tailEnd type="triangle" w="med" len="med"/>
          </a:ln>
        </p:spPr>
      </p:cxnSp>
      <p:sp>
        <p:nvSpPr>
          <p:cNvPr id="203" name="Google Shape;203;p1">
            <a:extLst>
              <a:ext uri="{FF2B5EF4-FFF2-40B4-BE49-F238E27FC236}">
                <a16:creationId xmlns:a16="http://schemas.microsoft.com/office/drawing/2014/main" id="{7069E65F-E213-8C32-5C54-8D135EEFA50D}"/>
              </a:ext>
            </a:extLst>
          </p:cNvPr>
          <p:cNvSpPr/>
          <p:nvPr/>
        </p:nvSpPr>
        <p:spPr>
          <a:xfrm>
            <a:off x="4627359" y="8814962"/>
            <a:ext cx="5031171" cy="1167812"/>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1" i="0" u="none" strike="noStrike" cap="none" dirty="0">
                <a:solidFill>
                  <a:srgbClr val="000000"/>
                </a:solidFill>
                <a:latin typeface="Times New Roman"/>
                <a:ea typeface="Times New Roman"/>
                <a:cs typeface="Times New Roman"/>
                <a:sym typeface="Times New Roman"/>
              </a:rPr>
              <a:t>Proportion of alternative transcript/s (inferred to be) predicted </a:t>
            </a:r>
          </a:p>
          <a:p>
            <a:pPr marL="0" marR="0" lvl="0" indent="0" algn="ctr" rtl="0">
              <a:lnSpc>
                <a:spcPct val="100000"/>
              </a:lnSpc>
              <a:spcBef>
                <a:spcPts val="0"/>
              </a:spcBef>
              <a:spcAft>
                <a:spcPts val="0"/>
              </a:spcAft>
              <a:buClr>
                <a:srgbClr val="000000"/>
              </a:buClr>
              <a:buSzPts val="1200"/>
              <a:buFont typeface="Arial"/>
              <a:buNone/>
            </a:pPr>
            <a:r>
              <a:rPr lang="en-US" sz="1200" b="1" i="0" u="none" strike="noStrike" cap="none" dirty="0">
                <a:solidFill>
                  <a:srgbClr val="000000"/>
                </a:solidFill>
                <a:latin typeface="Times New Roman"/>
                <a:ea typeface="Times New Roman"/>
                <a:cs typeface="Times New Roman"/>
                <a:sym typeface="Times New Roman"/>
              </a:rPr>
              <a:t>by variant allele </a:t>
            </a:r>
            <a:r>
              <a:rPr lang="en-US" sz="1200" b="0" i="0" u="none" strike="noStrike" cap="none" dirty="0">
                <a:solidFill>
                  <a:srgbClr val="000000"/>
                </a:solidFill>
                <a:latin typeface="Times New Roman"/>
                <a:ea typeface="Times New Roman"/>
                <a:cs typeface="Times New Roman"/>
                <a:sym typeface="Times New Roman"/>
              </a:rPr>
              <a:t>(e)</a:t>
            </a:r>
          </a:p>
          <a:p>
            <a:pPr marL="0" marR="0" lvl="0" indent="0" algn="ctr" rtl="0">
              <a:lnSpc>
                <a:spcPct val="100000"/>
              </a:lnSpc>
              <a:spcBef>
                <a:spcPts val="0"/>
              </a:spcBef>
              <a:spcAft>
                <a:spcPts val="0"/>
              </a:spcAft>
              <a:buClr>
                <a:srgbClr val="000000"/>
              </a:buClr>
              <a:buSzPts val="1200"/>
              <a:buFont typeface="Arial"/>
              <a:buNone/>
            </a:pPr>
            <a:r>
              <a:rPr lang="en-US" sz="1200" dirty="0">
                <a:latin typeface="Times New Roman"/>
                <a:ea typeface="Times New Roman"/>
                <a:cs typeface="Times New Roman"/>
                <a:sym typeface="Times New Roman"/>
              </a:rPr>
              <a:t>If background rate is considered to be low-moderate levels suggestive of being tolerated, consider reducing PVS1 (RNA) codes by an additional level</a:t>
            </a:r>
            <a:endParaRPr sz="1200" b="0" i="0" u="none" strike="noStrike" cap="none" dirty="0">
              <a:solidFill>
                <a:srgbClr val="000000"/>
              </a:solidFill>
              <a:latin typeface="Times New Roman"/>
              <a:ea typeface="Times New Roman"/>
              <a:cs typeface="Times New Roman"/>
              <a:sym typeface="Times New Roman"/>
            </a:endParaRPr>
          </a:p>
        </p:txBody>
      </p:sp>
      <p:sp>
        <p:nvSpPr>
          <p:cNvPr id="204" name="Google Shape;204;p1">
            <a:extLst>
              <a:ext uri="{FF2B5EF4-FFF2-40B4-BE49-F238E27FC236}">
                <a16:creationId xmlns:a16="http://schemas.microsoft.com/office/drawing/2014/main" id="{A9C665EB-D9CB-3CB0-E5FB-323A5550B655}"/>
              </a:ext>
            </a:extLst>
          </p:cNvPr>
          <p:cNvSpPr/>
          <p:nvPr/>
        </p:nvSpPr>
        <p:spPr>
          <a:xfrm>
            <a:off x="9944427" y="9654484"/>
            <a:ext cx="2208603" cy="622995"/>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 sz="1200" b="0" i="0" u="none" strike="noStrike" cap="none" dirty="0">
                <a:solidFill>
                  <a:srgbClr val="000000"/>
                </a:solidFill>
                <a:latin typeface="Times New Roman"/>
                <a:ea typeface="Times New Roman"/>
                <a:cs typeface="Times New Roman"/>
                <a:sym typeface="Times New Roman"/>
              </a:rPr>
              <a:t>Determine PVS1 (RNA) weight from combined analysis (PP3/BP4 not applicable)</a:t>
            </a:r>
            <a:endParaRPr sz="1400" b="0" i="0" u="none" strike="noStrike" cap="none" dirty="0">
              <a:solidFill>
                <a:srgbClr val="000000"/>
              </a:solidFill>
              <a:latin typeface="Arial"/>
              <a:ea typeface="Arial"/>
              <a:cs typeface="Arial"/>
              <a:sym typeface="Arial"/>
            </a:endParaRPr>
          </a:p>
        </p:txBody>
      </p:sp>
      <p:sp>
        <p:nvSpPr>
          <p:cNvPr id="205" name="Google Shape;205;p1">
            <a:extLst>
              <a:ext uri="{FF2B5EF4-FFF2-40B4-BE49-F238E27FC236}">
                <a16:creationId xmlns:a16="http://schemas.microsoft.com/office/drawing/2014/main" id="{3A4E677F-21B9-6150-2747-93F3F2C4E9F2}"/>
              </a:ext>
            </a:extLst>
          </p:cNvPr>
          <p:cNvSpPr/>
          <p:nvPr/>
        </p:nvSpPr>
        <p:spPr>
          <a:xfrm>
            <a:off x="9944426" y="10369086"/>
            <a:ext cx="2208603" cy="622995"/>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dirty="0">
                <a:solidFill>
                  <a:srgbClr val="000000"/>
                </a:solidFill>
                <a:latin typeface="Times New Roman"/>
                <a:ea typeface="Times New Roman"/>
                <a:cs typeface="Times New Roman"/>
                <a:sym typeface="Times New Roman"/>
              </a:rPr>
              <a:t>PVS1 (RNA) or BP7_S (RNA) not applicable (reconsider PVS1 decision tree as appropriate)</a:t>
            </a:r>
            <a:endParaRPr lang="en-US" sz="1400" b="0" i="0" u="none" strike="noStrike" cap="none" dirty="0">
              <a:solidFill>
                <a:srgbClr val="000000"/>
              </a:solidFill>
              <a:latin typeface="Arial"/>
              <a:ea typeface="Arial"/>
              <a:cs typeface="Arial"/>
              <a:sym typeface="Arial"/>
            </a:endParaRPr>
          </a:p>
        </p:txBody>
      </p:sp>
      <p:cxnSp>
        <p:nvCxnSpPr>
          <p:cNvPr id="206" name="Google Shape;206;p1">
            <a:extLst>
              <a:ext uri="{FF2B5EF4-FFF2-40B4-BE49-F238E27FC236}">
                <a16:creationId xmlns:a16="http://schemas.microsoft.com/office/drawing/2014/main" id="{08A80DDC-0178-7F40-543D-004EA38C9437}"/>
              </a:ext>
            </a:extLst>
          </p:cNvPr>
          <p:cNvCxnSpPr>
            <a:cxnSpLocks/>
            <a:endCxn id="204" idx="1"/>
          </p:cNvCxnSpPr>
          <p:nvPr/>
        </p:nvCxnSpPr>
        <p:spPr>
          <a:xfrm flipV="1">
            <a:off x="9645090" y="9965982"/>
            <a:ext cx="299337" cy="210282"/>
          </a:xfrm>
          <a:prstGeom prst="straightConnector1">
            <a:avLst/>
          </a:prstGeom>
          <a:noFill/>
          <a:ln w="9525" cap="flat" cmpd="sng">
            <a:solidFill>
              <a:srgbClr val="44546A"/>
            </a:solidFill>
            <a:prstDash val="solid"/>
            <a:round/>
            <a:headEnd type="none" w="sm" len="sm"/>
            <a:tailEnd type="triangle" w="med" len="med"/>
          </a:ln>
        </p:spPr>
      </p:cxnSp>
      <p:cxnSp>
        <p:nvCxnSpPr>
          <p:cNvPr id="207" name="Google Shape;207;p1">
            <a:extLst>
              <a:ext uri="{FF2B5EF4-FFF2-40B4-BE49-F238E27FC236}">
                <a16:creationId xmlns:a16="http://schemas.microsoft.com/office/drawing/2014/main" id="{F0ED5E37-98C7-0A49-A0DF-812FAD72A8FD}"/>
              </a:ext>
            </a:extLst>
          </p:cNvPr>
          <p:cNvCxnSpPr>
            <a:cxnSpLocks/>
            <a:endCxn id="205" idx="1"/>
          </p:cNvCxnSpPr>
          <p:nvPr/>
        </p:nvCxnSpPr>
        <p:spPr>
          <a:xfrm flipV="1">
            <a:off x="9658641" y="10680584"/>
            <a:ext cx="285785" cy="151524"/>
          </a:xfrm>
          <a:prstGeom prst="straightConnector1">
            <a:avLst/>
          </a:prstGeom>
          <a:noFill/>
          <a:ln w="9525" cap="flat" cmpd="sng">
            <a:solidFill>
              <a:srgbClr val="44546A"/>
            </a:solidFill>
            <a:prstDash val="solid"/>
            <a:round/>
            <a:headEnd type="none" w="sm" len="sm"/>
            <a:tailEnd type="triangle" w="med" len="med"/>
          </a:ln>
        </p:spPr>
      </p:cxnSp>
      <p:sp>
        <p:nvSpPr>
          <p:cNvPr id="8" name="Google Shape;69;p1">
            <a:extLst>
              <a:ext uri="{FF2B5EF4-FFF2-40B4-BE49-F238E27FC236}">
                <a16:creationId xmlns:a16="http://schemas.microsoft.com/office/drawing/2014/main" id="{B50F09C5-1B90-279A-1710-5C5D929A5A9F}"/>
              </a:ext>
            </a:extLst>
          </p:cNvPr>
          <p:cNvSpPr/>
          <p:nvPr/>
        </p:nvSpPr>
        <p:spPr>
          <a:xfrm>
            <a:off x="5964241" y="1699312"/>
            <a:ext cx="4572000" cy="27432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dirty="0">
                <a:solidFill>
                  <a:srgbClr val="000000"/>
                </a:solidFill>
                <a:latin typeface="Times New Roman"/>
                <a:ea typeface="Times New Roman"/>
                <a:cs typeface="Times New Roman"/>
                <a:sym typeface="Times New Roman"/>
              </a:rPr>
              <a:t>LP variant within the same splice region with same predicted impact</a:t>
            </a:r>
            <a:endParaRPr lang="en-US" sz="1400" b="0" i="0" u="none" strike="noStrike" cap="none" dirty="0">
              <a:solidFill>
                <a:srgbClr val="000000"/>
              </a:solidFill>
              <a:latin typeface="Arial"/>
              <a:ea typeface="Arial"/>
              <a:cs typeface="Arial"/>
              <a:sym typeface="Arial"/>
            </a:endParaRPr>
          </a:p>
        </p:txBody>
      </p:sp>
      <p:sp>
        <p:nvSpPr>
          <p:cNvPr id="45" name="Google Shape;61;p1">
            <a:extLst>
              <a:ext uri="{FF2B5EF4-FFF2-40B4-BE49-F238E27FC236}">
                <a16:creationId xmlns:a16="http://schemas.microsoft.com/office/drawing/2014/main" id="{31E4B30E-BB4F-9B37-B4AA-374A4D7A0B2A}"/>
              </a:ext>
            </a:extLst>
          </p:cNvPr>
          <p:cNvSpPr/>
          <p:nvPr/>
        </p:nvSpPr>
        <p:spPr>
          <a:xfrm>
            <a:off x="4392226" y="2045688"/>
            <a:ext cx="3972689" cy="273261"/>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dirty="0">
                <a:solidFill>
                  <a:srgbClr val="000000"/>
                </a:solidFill>
                <a:latin typeface="Times New Roman"/>
                <a:ea typeface="Times New Roman"/>
                <a:cs typeface="Times New Roman"/>
                <a:sym typeface="Times New Roman"/>
              </a:rPr>
              <a:t>Not applied (prediction inconclusive)</a:t>
            </a:r>
            <a:endParaRPr sz="1400" b="0" i="0" u="none" strike="noStrike" cap="none" dirty="0">
              <a:solidFill>
                <a:srgbClr val="FF0000"/>
              </a:solidFill>
              <a:latin typeface="Arial"/>
              <a:ea typeface="Arial"/>
              <a:cs typeface="Arial"/>
              <a:sym typeface="Arial"/>
            </a:endParaRPr>
          </a:p>
        </p:txBody>
      </p:sp>
      <p:sp>
        <p:nvSpPr>
          <p:cNvPr id="50" name="Google Shape;61;p1">
            <a:extLst>
              <a:ext uri="{FF2B5EF4-FFF2-40B4-BE49-F238E27FC236}">
                <a16:creationId xmlns:a16="http://schemas.microsoft.com/office/drawing/2014/main" id="{501BC6DE-B38E-5566-E1F6-42C18D180F51}"/>
              </a:ext>
            </a:extLst>
          </p:cNvPr>
          <p:cNvSpPr/>
          <p:nvPr/>
        </p:nvSpPr>
        <p:spPr>
          <a:xfrm>
            <a:off x="4392226" y="2396016"/>
            <a:ext cx="1312149" cy="630404"/>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dirty="0">
                <a:solidFill>
                  <a:srgbClr val="000000"/>
                </a:solidFill>
                <a:latin typeface="Times New Roman"/>
                <a:ea typeface="Times New Roman"/>
                <a:cs typeface="Times New Roman"/>
                <a:sym typeface="Times New Roman"/>
              </a:rPr>
              <a:t>BP4 applied</a:t>
            </a:r>
            <a:endParaRPr sz="1400" b="0" i="0" u="none" strike="noStrike" cap="none" dirty="0">
              <a:solidFill>
                <a:srgbClr val="FF0000"/>
              </a:solidFill>
              <a:latin typeface="Arial"/>
              <a:ea typeface="Arial"/>
              <a:cs typeface="Arial"/>
              <a:sym typeface="Arial"/>
            </a:endParaRPr>
          </a:p>
        </p:txBody>
      </p:sp>
      <p:sp>
        <p:nvSpPr>
          <p:cNvPr id="51" name="Google Shape;71;p1">
            <a:extLst>
              <a:ext uri="{FF2B5EF4-FFF2-40B4-BE49-F238E27FC236}">
                <a16:creationId xmlns:a16="http://schemas.microsoft.com/office/drawing/2014/main" id="{17AF16F1-6471-199A-C057-12529DD9CE77}"/>
              </a:ext>
            </a:extLst>
          </p:cNvPr>
          <p:cNvSpPr/>
          <p:nvPr/>
        </p:nvSpPr>
        <p:spPr>
          <a:xfrm>
            <a:off x="9236252" y="2388671"/>
            <a:ext cx="2913595" cy="27432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dirty="0">
                <a:solidFill>
                  <a:srgbClr val="000000"/>
                </a:solidFill>
                <a:latin typeface="Times New Roman"/>
                <a:ea typeface="Times New Roman"/>
                <a:cs typeface="Times New Roman"/>
                <a:sym typeface="Times New Roman"/>
              </a:rPr>
              <a:t>BP4 + BP7</a:t>
            </a:r>
            <a:endParaRPr lang="en-US" sz="1400" b="0" i="0" u="none" strike="noStrike" cap="none" dirty="0">
              <a:solidFill>
                <a:srgbClr val="000000"/>
              </a:solidFill>
              <a:latin typeface="Arial"/>
              <a:ea typeface="Arial"/>
              <a:cs typeface="Arial"/>
              <a:sym typeface="Arial"/>
            </a:endParaRPr>
          </a:p>
        </p:txBody>
      </p:sp>
      <p:sp>
        <p:nvSpPr>
          <p:cNvPr id="52" name="Google Shape;72;p1">
            <a:extLst>
              <a:ext uri="{FF2B5EF4-FFF2-40B4-BE49-F238E27FC236}">
                <a16:creationId xmlns:a16="http://schemas.microsoft.com/office/drawing/2014/main" id="{C77D67F7-4E96-79BB-750E-5EE7E1376D75}"/>
              </a:ext>
            </a:extLst>
          </p:cNvPr>
          <p:cNvSpPr/>
          <p:nvPr/>
        </p:nvSpPr>
        <p:spPr>
          <a:xfrm>
            <a:off x="9236252" y="2740189"/>
            <a:ext cx="2913595" cy="27432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dirty="0">
                <a:solidFill>
                  <a:srgbClr val="000000"/>
                </a:solidFill>
                <a:latin typeface="Times New Roman"/>
                <a:ea typeface="Times New Roman"/>
                <a:cs typeface="Times New Roman"/>
                <a:sym typeface="Times New Roman"/>
              </a:rPr>
              <a:t>BP4 (only if protein impact ruled out)</a:t>
            </a:r>
            <a:endParaRPr lang="en-US" sz="1400" b="0" i="0" u="none" strike="noStrike" cap="none" dirty="0">
              <a:solidFill>
                <a:srgbClr val="000000"/>
              </a:solidFill>
              <a:latin typeface="Arial"/>
              <a:ea typeface="Arial"/>
              <a:cs typeface="Arial"/>
              <a:sym typeface="Arial"/>
            </a:endParaRPr>
          </a:p>
        </p:txBody>
      </p:sp>
      <p:cxnSp>
        <p:nvCxnSpPr>
          <p:cNvPr id="53" name="Google Shape;121;p1">
            <a:extLst>
              <a:ext uri="{FF2B5EF4-FFF2-40B4-BE49-F238E27FC236}">
                <a16:creationId xmlns:a16="http://schemas.microsoft.com/office/drawing/2014/main" id="{2633F8CB-0677-D08D-DFAA-3A75047FB2D6}"/>
              </a:ext>
            </a:extLst>
          </p:cNvPr>
          <p:cNvCxnSpPr>
            <a:cxnSpLocks/>
            <a:endCxn id="51" idx="1"/>
          </p:cNvCxnSpPr>
          <p:nvPr/>
        </p:nvCxnSpPr>
        <p:spPr>
          <a:xfrm>
            <a:off x="8383500" y="2503798"/>
            <a:ext cx="852752" cy="0"/>
          </a:xfrm>
          <a:prstGeom prst="straightConnector1">
            <a:avLst/>
          </a:prstGeom>
          <a:noFill/>
          <a:ln w="9525" cap="flat" cmpd="sng">
            <a:solidFill>
              <a:srgbClr val="595959"/>
            </a:solidFill>
            <a:prstDash val="solid"/>
            <a:round/>
            <a:headEnd type="none" w="sm" len="sm"/>
            <a:tailEnd type="triangle" w="med" len="med"/>
          </a:ln>
        </p:spPr>
      </p:cxnSp>
      <p:cxnSp>
        <p:nvCxnSpPr>
          <p:cNvPr id="54" name="Google Shape;122;p1">
            <a:extLst>
              <a:ext uri="{FF2B5EF4-FFF2-40B4-BE49-F238E27FC236}">
                <a16:creationId xmlns:a16="http://schemas.microsoft.com/office/drawing/2014/main" id="{CA246748-6DAA-2E1A-24CB-B497431E0CC2}"/>
              </a:ext>
            </a:extLst>
          </p:cNvPr>
          <p:cNvCxnSpPr>
            <a:cxnSpLocks/>
            <a:endCxn id="52" idx="1"/>
          </p:cNvCxnSpPr>
          <p:nvPr/>
        </p:nvCxnSpPr>
        <p:spPr>
          <a:xfrm flipV="1">
            <a:off x="8356567" y="2877349"/>
            <a:ext cx="879685" cy="0"/>
          </a:xfrm>
          <a:prstGeom prst="straightConnector1">
            <a:avLst/>
          </a:prstGeom>
          <a:noFill/>
          <a:ln w="9525" cap="flat" cmpd="sng">
            <a:solidFill>
              <a:srgbClr val="595959"/>
            </a:solidFill>
            <a:prstDash val="solid"/>
            <a:round/>
            <a:headEnd type="none" w="sm" len="sm"/>
            <a:tailEnd type="triangle" w="med" len="med"/>
          </a:ln>
        </p:spPr>
      </p:cxnSp>
      <p:sp>
        <p:nvSpPr>
          <p:cNvPr id="55" name="Google Shape;69;p1">
            <a:extLst>
              <a:ext uri="{FF2B5EF4-FFF2-40B4-BE49-F238E27FC236}">
                <a16:creationId xmlns:a16="http://schemas.microsoft.com/office/drawing/2014/main" id="{88BA4FC8-C10B-F1C8-B827-114CE4F39320}"/>
              </a:ext>
            </a:extLst>
          </p:cNvPr>
          <p:cNvSpPr/>
          <p:nvPr/>
        </p:nvSpPr>
        <p:spPr>
          <a:xfrm>
            <a:off x="5980268" y="2388671"/>
            <a:ext cx="2400674" cy="268465"/>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dirty="0">
                <a:solidFill>
                  <a:srgbClr val="000000"/>
                </a:solidFill>
                <a:latin typeface="Times New Roman"/>
                <a:ea typeface="Times New Roman"/>
                <a:cs typeface="Times New Roman"/>
                <a:sym typeface="Times New Roman"/>
              </a:rPr>
              <a:t>Silent / Intronic</a:t>
            </a:r>
            <a:endParaRPr lang="en-US" sz="1400" b="0" i="0" u="none" strike="noStrike" cap="none" dirty="0">
              <a:solidFill>
                <a:srgbClr val="000000"/>
              </a:solidFill>
              <a:latin typeface="Arial"/>
              <a:ea typeface="Arial"/>
              <a:cs typeface="Arial"/>
              <a:sym typeface="Arial"/>
            </a:endParaRPr>
          </a:p>
        </p:txBody>
      </p:sp>
      <p:sp>
        <p:nvSpPr>
          <p:cNvPr id="56" name="Google Shape;69;p1">
            <a:extLst>
              <a:ext uri="{FF2B5EF4-FFF2-40B4-BE49-F238E27FC236}">
                <a16:creationId xmlns:a16="http://schemas.microsoft.com/office/drawing/2014/main" id="{984B83F4-C94E-94DC-8173-5B9CC13B3EB9}"/>
              </a:ext>
            </a:extLst>
          </p:cNvPr>
          <p:cNvSpPr/>
          <p:nvPr/>
        </p:nvSpPr>
        <p:spPr>
          <a:xfrm>
            <a:off x="5964241" y="2754818"/>
            <a:ext cx="2400674" cy="268465"/>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dirty="0">
                <a:solidFill>
                  <a:srgbClr val="000000"/>
                </a:solidFill>
                <a:latin typeface="Times New Roman"/>
                <a:ea typeface="Times New Roman"/>
                <a:cs typeface="Times New Roman"/>
                <a:sym typeface="Times New Roman"/>
              </a:rPr>
              <a:t>Other variant types / positions</a:t>
            </a:r>
            <a:endParaRPr lang="en-US" sz="1400" b="0" i="0" u="none" strike="noStrike" cap="none" dirty="0">
              <a:solidFill>
                <a:srgbClr val="000000"/>
              </a:solidFill>
              <a:latin typeface="Arial"/>
              <a:ea typeface="Arial"/>
              <a:cs typeface="Arial"/>
              <a:sym typeface="Arial"/>
            </a:endParaRPr>
          </a:p>
        </p:txBody>
      </p:sp>
      <p:sp>
        <p:nvSpPr>
          <p:cNvPr id="59" name="Google Shape;60;p1">
            <a:extLst>
              <a:ext uri="{FF2B5EF4-FFF2-40B4-BE49-F238E27FC236}">
                <a16:creationId xmlns:a16="http://schemas.microsoft.com/office/drawing/2014/main" id="{5A68635B-C7C7-B914-F1E2-BE3234F7CF01}"/>
              </a:ext>
            </a:extLst>
          </p:cNvPr>
          <p:cNvSpPr txBox="1"/>
          <p:nvPr/>
        </p:nvSpPr>
        <p:spPr>
          <a:xfrm>
            <a:off x="2937566" y="202456"/>
            <a:ext cx="1105800" cy="281970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 sz="1200" b="1" i="0" u="none" strike="noStrike" cap="none" dirty="0">
                <a:solidFill>
                  <a:srgbClr val="000000"/>
                </a:solidFill>
                <a:latin typeface="Times New Roman"/>
                <a:ea typeface="Times New Roman"/>
                <a:cs typeface="Times New Roman"/>
                <a:sym typeface="Times New Roman"/>
              </a:rPr>
              <a:t>Splicing tool prediction</a:t>
            </a:r>
          </a:p>
          <a:p>
            <a:pPr marL="0" marR="0" lvl="0" indent="0" algn="ctr" rtl="0">
              <a:lnSpc>
                <a:spcPct val="100000"/>
              </a:lnSpc>
              <a:spcBef>
                <a:spcPts val="0"/>
              </a:spcBef>
              <a:spcAft>
                <a:spcPts val="0"/>
              </a:spcAft>
              <a:buClr>
                <a:srgbClr val="000000"/>
              </a:buClr>
              <a:buSzPts val="1200"/>
              <a:buFont typeface="Arial"/>
              <a:buNone/>
            </a:pPr>
            <a:endParaRPr lang="en" sz="1200" b="1" dirty="0">
              <a:latin typeface="Times New Roman"/>
              <a:cs typeface="Times New Roman"/>
              <a:sym typeface="Times New Roman"/>
            </a:endParaRPr>
          </a:p>
          <a:p>
            <a:pPr marL="0" marR="0" lvl="0" indent="0" algn="ctr" rtl="0">
              <a:lnSpc>
                <a:spcPct val="100000"/>
              </a:lnSpc>
              <a:spcBef>
                <a:spcPts val="0"/>
              </a:spcBef>
              <a:spcAft>
                <a:spcPts val="0"/>
              </a:spcAft>
              <a:buClr>
                <a:srgbClr val="000000"/>
              </a:buClr>
              <a:buSzPts val="1200"/>
              <a:buFont typeface="Arial"/>
              <a:buNone/>
            </a:pPr>
            <a:r>
              <a:rPr lang="en" sz="1200" b="1" dirty="0">
                <a:latin typeface="Times New Roman"/>
                <a:cs typeface="Times New Roman"/>
                <a:sym typeface="Times New Roman"/>
              </a:rPr>
              <a:t>(for missense/in-frame indel variants, also consider relevant predictions of protein impact</a:t>
            </a:r>
            <a:endParaRPr sz="1400" b="1" i="0" u="none" strike="noStrike" cap="none" dirty="0">
              <a:solidFill>
                <a:srgbClr val="00B0F0"/>
              </a:solidFill>
              <a:latin typeface="Arial"/>
              <a:ea typeface="Arial"/>
              <a:cs typeface="Arial"/>
              <a:sym typeface="Arial"/>
            </a:endParaRPr>
          </a:p>
        </p:txBody>
      </p:sp>
      <p:cxnSp>
        <p:nvCxnSpPr>
          <p:cNvPr id="231" name="Google Shape;80;p1">
            <a:extLst>
              <a:ext uri="{FF2B5EF4-FFF2-40B4-BE49-F238E27FC236}">
                <a16:creationId xmlns:a16="http://schemas.microsoft.com/office/drawing/2014/main" id="{6652488D-F76A-326C-A237-43554DC9628F}"/>
              </a:ext>
            </a:extLst>
          </p:cNvPr>
          <p:cNvCxnSpPr>
            <a:cxnSpLocks/>
            <a:stCxn id="59" idx="3"/>
            <a:endCxn id="50" idx="1"/>
          </p:cNvCxnSpPr>
          <p:nvPr/>
        </p:nvCxnSpPr>
        <p:spPr>
          <a:xfrm>
            <a:off x="4043366" y="1612306"/>
            <a:ext cx="348860" cy="1098912"/>
          </a:xfrm>
          <a:prstGeom prst="straightConnector1">
            <a:avLst/>
          </a:prstGeom>
          <a:noFill/>
          <a:ln w="9525" cap="flat" cmpd="sng">
            <a:solidFill>
              <a:srgbClr val="44546A"/>
            </a:solidFill>
            <a:prstDash val="solid"/>
            <a:round/>
            <a:headEnd type="none" w="sm" len="sm"/>
            <a:tailEnd type="triangle" w="med" len="med"/>
          </a:ln>
        </p:spPr>
      </p:cxnSp>
      <p:cxnSp>
        <p:nvCxnSpPr>
          <p:cNvPr id="233" name="Google Shape;80;p1">
            <a:extLst>
              <a:ext uri="{FF2B5EF4-FFF2-40B4-BE49-F238E27FC236}">
                <a16:creationId xmlns:a16="http://schemas.microsoft.com/office/drawing/2014/main" id="{E9261A01-E379-6E44-92C1-9E0C72FB716D}"/>
              </a:ext>
            </a:extLst>
          </p:cNvPr>
          <p:cNvCxnSpPr>
            <a:cxnSpLocks/>
            <a:endCxn id="55" idx="1"/>
          </p:cNvCxnSpPr>
          <p:nvPr/>
        </p:nvCxnSpPr>
        <p:spPr>
          <a:xfrm flipV="1">
            <a:off x="5711939" y="2522904"/>
            <a:ext cx="268329" cy="156057"/>
          </a:xfrm>
          <a:prstGeom prst="straightConnector1">
            <a:avLst/>
          </a:prstGeom>
          <a:noFill/>
          <a:ln w="9525" cap="flat" cmpd="sng">
            <a:solidFill>
              <a:srgbClr val="44546A"/>
            </a:solidFill>
            <a:prstDash val="solid"/>
            <a:round/>
            <a:headEnd type="none" w="sm" len="sm"/>
            <a:tailEnd type="triangle" w="med" len="med"/>
          </a:ln>
        </p:spPr>
      </p:cxnSp>
      <p:cxnSp>
        <p:nvCxnSpPr>
          <p:cNvPr id="235" name="Google Shape;80;p1">
            <a:extLst>
              <a:ext uri="{FF2B5EF4-FFF2-40B4-BE49-F238E27FC236}">
                <a16:creationId xmlns:a16="http://schemas.microsoft.com/office/drawing/2014/main" id="{AF9189EA-A52E-164D-03CE-773FEF7A82E9}"/>
              </a:ext>
            </a:extLst>
          </p:cNvPr>
          <p:cNvCxnSpPr>
            <a:cxnSpLocks/>
            <a:endCxn id="56" idx="1"/>
          </p:cNvCxnSpPr>
          <p:nvPr/>
        </p:nvCxnSpPr>
        <p:spPr>
          <a:xfrm>
            <a:off x="5704375" y="2686812"/>
            <a:ext cx="259866" cy="202239"/>
          </a:xfrm>
          <a:prstGeom prst="straightConnector1">
            <a:avLst/>
          </a:prstGeom>
          <a:noFill/>
          <a:ln w="9525" cap="flat" cmpd="sng">
            <a:solidFill>
              <a:srgbClr val="44546A"/>
            </a:solidFill>
            <a:prstDash val="solid"/>
            <a:round/>
            <a:headEnd type="none" w="sm" len="sm"/>
            <a:tailEnd type="triangle" w="med" len="med"/>
          </a:ln>
        </p:spPr>
      </p:cxnSp>
      <p:sp>
        <p:nvSpPr>
          <p:cNvPr id="238" name="Google Shape;60;p1">
            <a:extLst>
              <a:ext uri="{FF2B5EF4-FFF2-40B4-BE49-F238E27FC236}">
                <a16:creationId xmlns:a16="http://schemas.microsoft.com/office/drawing/2014/main" id="{83A01066-B11D-31D8-14F7-E20C6581753D}"/>
              </a:ext>
            </a:extLst>
          </p:cNvPr>
          <p:cNvSpPr txBox="1"/>
          <p:nvPr/>
        </p:nvSpPr>
        <p:spPr>
          <a:xfrm>
            <a:off x="234482" y="202456"/>
            <a:ext cx="1105800" cy="6477848"/>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 sz="1200" b="1" i="0" u="none" strike="noStrike" cap="none" dirty="0">
                <a:solidFill>
                  <a:srgbClr val="000000"/>
                </a:solidFill>
                <a:latin typeface="Times New Roman"/>
                <a:ea typeface="Times New Roman"/>
                <a:cs typeface="Times New Roman"/>
                <a:sym typeface="Times New Roman"/>
              </a:rPr>
              <a:t>Splicing </a:t>
            </a:r>
            <a:r>
              <a:rPr lang="en" sz="1200" b="1" i="0" u="none" strike="noStrike" cap="none" dirty="0" err="1">
                <a:solidFill>
                  <a:srgbClr val="000000"/>
                </a:solidFill>
                <a:latin typeface="Times New Roman"/>
                <a:ea typeface="Times New Roman"/>
                <a:cs typeface="Times New Roman"/>
                <a:sym typeface="Times New Roman"/>
              </a:rPr>
              <a:t>predicti</a:t>
            </a:r>
            <a:r>
              <a:rPr lang="en-US" sz="1200" b="1" i="0" u="none" strike="noStrike" cap="none" dirty="0">
                <a:solidFill>
                  <a:srgbClr val="000000"/>
                </a:solidFill>
                <a:latin typeface="Times New Roman"/>
                <a:ea typeface="Times New Roman"/>
                <a:cs typeface="Times New Roman"/>
                <a:sym typeface="Times New Roman"/>
              </a:rPr>
              <a:t>on</a:t>
            </a:r>
            <a:r>
              <a:rPr lang="en" sz="1200" b="1" i="0" u="none" strike="noStrike" cap="none" dirty="0">
                <a:solidFill>
                  <a:srgbClr val="000000"/>
                </a:solidFill>
                <a:latin typeface="Times New Roman"/>
                <a:ea typeface="Times New Roman"/>
                <a:cs typeface="Times New Roman"/>
                <a:sym typeface="Times New Roman"/>
              </a:rPr>
              <a:t> data only</a:t>
            </a:r>
            <a:endParaRPr sz="1400" b="1" i="0" u="none" strike="noStrike" cap="none" dirty="0">
              <a:solidFill>
                <a:srgbClr val="000000"/>
              </a:solidFill>
              <a:latin typeface="Arial"/>
              <a:ea typeface="Arial"/>
              <a:cs typeface="Arial"/>
              <a:sym typeface="Arial"/>
            </a:endParaRPr>
          </a:p>
        </p:txBody>
      </p:sp>
      <p:sp>
        <p:nvSpPr>
          <p:cNvPr id="239" name="Google Shape;60;p1">
            <a:extLst>
              <a:ext uri="{FF2B5EF4-FFF2-40B4-BE49-F238E27FC236}">
                <a16:creationId xmlns:a16="http://schemas.microsoft.com/office/drawing/2014/main" id="{DC69C332-6D99-12A3-C2EB-067889D97052}"/>
              </a:ext>
            </a:extLst>
          </p:cNvPr>
          <p:cNvSpPr txBox="1"/>
          <p:nvPr/>
        </p:nvSpPr>
        <p:spPr>
          <a:xfrm>
            <a:off x="1592413" y="3167358"/>
            <a:ext cx="1105800" cy="3512946"/>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 sz="1200" b="1" dirty="0">
                <a:latin typeface="Times New Roman"/>
                <a:ea typeface="Times New Roman"/>
                <a:cs typeface="Times New Roman"/>
                <a:sym typeface="Times New Roman"/>
              </a:rPr>
              <a:t>D</a:t>
            </a:r>
            <a:r>
              <a:rPr lang="en" sz="1200" b="1" i="0" u="none" strike="noStrike" cap="none" dirty="0">
                <a:solidFill>
                  <a:srgbClr val="000000"/>
                </a:solidFill>
                <a:latin typeface="Times New Roman"/>
                <a:ea typeface="Times New Roman"/>
                <a:cs typeface="Times New Roman"/>
                <a:sym typeface="Times New Roman"/>
              </a:rPr>
              <a:t>onor/acceptor +/- 1,2 dinucleotide positions</a:t>
            </a:r>
          </a:p>
          <a:p>
            <a:pPr marL="0" marR="0" lvl="0" indent="0" algn="ctr" rtl="0">
              <a:lnSpc>
                <a:spcPct val="100000"/>
              </a:lnSpc>
              <a:spcBef>
                <a:spcPts val="0"/>
              </a:spcBef>
              <a:spcAft>
                <a:spcPts val="0"/>
              </a:spcAft>
              <a:buClr>
                <a:srgbClr val="000000"/>
              </a:buClr>
              <a:buSzPts val="1200"/>
              <a:buFont typeface="Arial"/>
              <a:buNone/>
            </a:pPr>
            <a:endParaRPr lang="en" sz="1200" b="1" dirty="0">
              <a:solidFill>
                <a:srgbClr val="00B0F0"/>
              </a:solidFill>
              <a:latin typeface="Times New Roman"/>
              <a:ea typeface="Times New Roman"/>
              <a:cs typeface="Times New Roman"/>
              <a:sym typeface="Times New Roman"/>
            </a:endParaRPr>
          </a:p>
        </p:txBody>
      </p:sp>
      <p:sp>
        <p:nvSpPr>
          <p:cNvPr id="240" name="Google Shape;61;p1">
            <a:extLst>
              <a:ext uri="{FF2B5EF4-FFF2-40B4-BE49-F238E27FC236}">
                <a16:creationId xmlns:a16="http://schemas.microsoft.com/office/drawing/2014/main" id="{AE1A5944-CD74-FCD5-4BF3-84B8856D6C56}"/>
              </a:ext>
            </a:extLst>
          </p:cNvPr>
          <p:cNvSpPr/>
          <p:nvPr/>
        </p:nvSpPr>
        <p:spPr>
          <a:xfrm>
            <a:off x="4392226" y="3157619"/>
            <a:ext cx="1312149" cy="1233861"/>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dirty="0">
                <a:solidFill>
                  <a:srgbClr val="000000"/>
                </a:solidFill>
                <a:latin typeface="Times New Roman"/>
                <a:ea typeface="Times New Roman"/>
                <a:cs typeface="Times New Roman"/>
                <a:sym typeface="Times New Roman"/>
              </a:rPr>
              <a:t>PVS1 applied</a:t>
            </a:r>
            <a:endParaRPr sz="1400" b="0" i="0" u="none" strike="noStrike" cap="none" dirty="0">
              <a:solidFill>
                <a:srgbClr val="FF0000"/>
              </a:solidFill>
              <a:latin typeface="Arial"/>
              <a:ea typeface="Arial"/>
              <a:cs typeface="Arial"/>
              <a:sym typeface="Arial"/>
            </a:endParaRPr>
          </a:p>
        </p:txBody>
      </p:sp>
      <p:sp>
        <p:nvSpPr>
          <p:cNvPr id="241" name="Google Shape;63;p1">
            <a:extLst>
              <a:ext uri="{FF2B5EF4-FFF2-40B4-BE49-F238E27FC236}">
                <a16:creationId xmlns:a16="http://schemas.microsoft.com/office/drawing/2014/main" id="{F55F3C30-1252-9E73-8EA5-0431B92BE72B}"/>
              </a:ext>
            </a:extLst>
          </p:cNvPr>
          <p:cNvSpPr/>
          <p:nvPr/>
        </p:nvSpPr>
        <p:spPr>
          <a:xfrm>
            <a:off x="5964241" y="3157602"/>
            <a:ext cx="4572000" cy="274320"/>
          </a:xfrm>
          <a:prstGeom prst="rect">
            <a:avLst/>
          </a:prstGeom>
          <a:solidFill>
            <a:schemeClr val="lt1"/>
          </a:solid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 sz="1200" b="0" i="0" u="none" strike="noStrike" cap="none" dirty="0">
                <a:solidFill>
                  <a:srgbClr val="000000"/>
                </a:solidFill>
                <a:latin typeface="Times New Roman"/>
                <a:ea typeface="Times New Roman"/>
                <a:cs typeface="Times New Roman"/>
                <a:sym typeface="Times New Roman"/>
              </a:rPr>
              <a:t>No appropriate comparison P/LP variant in this splice region</a:t>
            </a:r>
            <a:endParaRPr sz="1400" b="0" i="0" u="none" strike="noStrike" cap="none" dirty="0">
              <a:solidFill>
                <a:srgbClr val="000000"/>
              </a:solidFill>
              <a:latin typeface="Arial"/>
              <a:ea typeface="Arial"/>
              <a:cs typeface="Arial"/>
              <a:sym typeface="Arial"/>
            </a:endParaRPr>
          </a:p>
        </p:txBody>
      </p:sp>
      <p:sp>
        <p:nvSpPr>
          <p:cNvPr id="242" name="Google Shape;64;p1">
            <a:extLst>
              <a:ext uri="{FF2B5EF4-FFF2-40B4-BE49-F238E27FC236}">
                <a16:creationId xmlns:a16="http://schemas.microsoft.com/office/drawing/2014/main" id="{B6C42BCE-44E1-A7A2-5470-4673FA4A040B}"/>
              </a:ext>
            </a:extLst>
          </p:cNvPr>
          <p:cNvSpPr/>
          <p:nvPr/>
        </p:nvSpPr>
        <p:spPr>
          <a:xfrm>
            <a:off x="5972183" y="3526768"/>
            <a:ext cx="4572000" cy="384048"/>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dirty="0">
                <a:solidFill>
                  <a:srgbClr val="000000"/>
                </a:solidFill>
                <a:latin typeface="Times New Roman"/>
                <a:ea typeface="Times New Roman"/>
                <a:cs typeface="Times New Roman"/>
                <a:sym typeface="Times New Roman"/>
              </a:rPr>
              <a:t>P variant at this </a:t>
            </a:r>
            <a:r>
              <a:rPr lang="en-US" sz="1200" b="0" i="0" u="none" strike="noStrike" cap="none" dirty="0" err="1">
                <a:solidFill>
                  <a:srgbClr val="000000"/>
                </a:solidFill>
                <a:latin typeface="Times New Roman"/>
                <a:ea typeface="Times New Roman"/>
                <a:cs typeface="Times New Roman"/>
                <a:sym typeface="Times New Roman"/>
              </a:rPr>
              <a:t>nt</a:t>
            </a:r>
            <a:r>
              <a:rPr lang="en-US" sz="1200" b="0" i="0" u="none" strike="noStrike" cap="none" dirty="0">
                <a:solidFill>
                  <a:srgbClr val="000000"/>
                </a:solidFill>
                <a:latin typeface="Times New Roman"/>
                <a:ea typeface="Times New Roman"/>
                <a:cs typeface="Times New Roman"/>
                <a:sym typeface="Times New Roman"/>
              </a:rPr>
              <a:t> position or in same donor/acceptor +/-1,2 dinucleotide with same predicted impact</a:t>
            </a:r>
            <a:endParaRPr lang="en-US" sz="1400" b="0" i="0" u="none" strike="noStrike" cap="none" dirty="0">
              <a:solidFill>
                <a:srgbClr val="000000"/>
              </a:solidFill>
              <a:latin typeface="Arial"/>
              <a:ea typeface="Arial"/>
              <a:cs typeface="Arial"/>
              <a:sym typeface="Arial"/>
            </a:endParaRPr>
          </a:p>
        </p:txBody>
      </p:sp>
      <p:sp>
        <p:nvSpPr>
          <p:cNvPr id="243" name="Google Shape;65;p1">
            <a:extLst>
              <a:ext uri="{FF2B5EF4-FFF2-40B4-BE49-F238E27FC236}">
                <a16:creationId xmlns:a16="http://schemas.microsoft.com/office/drawing/2014/main" id="{907D3209-10AE-4097-19A6-7DC648FA8458}"/>
              </a:ext>
            </a:extLst>
          </p:cNvPr>
          <p:cNvSpPr/>
          <p:nvPr/>
        </p:nvSpPr>
        <p:spPr>
          <a:xfrm>
            <a:off x="10945100" y="3157602"/>
            <a:ext cx="1188720" cy="27432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 sz="1200" b="0" i="0" u="none" strike="noStrike" cap="none" dirty="0">
                <a:solidFill>
                  <a:srgbClr val="000000"/>
                </a:solidFill>
                <a:latin typeface="Times New Roman"/>
                <a:ea typeface="Times New Roman"/>
                <a:cs typeface="Times New Roman"/>
                <a:sym typeface="Times New Roman"/>
              </a:rPr>
              <a:t>PVS1</a:t>
            </a:r>
            <a:endParaRPr sz="1400" b="0" i="0" u="none" strike="noStrike" cap="none" dirty="0">
              <a:solidFill>
                <a:srgbClr val="000000"/>
              </a:solidFill>
              <a:latin typeface="Arial"/>
              <a:ea typeface="Arial"/>
              <a:cs typeface="Arial"/>
              <a:sym typeface="Arial"/>
            </a:endParaRPr>
          </a:p>
        </p:txBody>
      </p:sp>
      <p:sp>
        <p:nvSpPr>
          <p:cNvPr id="244" name="Google Shape;66;p1">
            <a:extLst>
              <a:ext uri="{FF2B5EF4-FFF2-40B4-BE49-F238E27FC236}">
                <a16:creationId xmlns:a16="http://schemas.microsoft.com/office/drawing/2014/main" id="{E6B3265B-A9F5-D2C0-AEF3-DE4591D8B401}"/>
              </a:ext>
            </a:extLst>
          </p:cNvPr>
          <p:cNvSpPr/>
          <p:nvPr/>
        </p:nvSpPr>
        <p:spPr>
          <a:xfrm>
            <a:off x="10945100" y="3533437"/>
            <a:ext cx="1188720" cy="384048"/>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 sz="1200" b="0" i="0" u="none" strike="noStrike" cap="none" dirty="0">
                <a:solidFill>
                  <a:srgbClr val="000000"/>
                </a:solidFill>
                <a:latin typeface="Times New Roman"/>
                <a:ea typeface="Times New Roman"/>
                <a:cs typeface="Times New Roman"/>
                <a:sym typeface="Times New Roman"/>
              </a:rPr>
              <a:t>PVS1 + PS1_P</a:t>
            </a:r>
            <a:endParaRPr sz="1400" b="0" i="0" u="none" strike="noStrike" cap="none" dirty="0">
              <a:solidFill>
                <a:srgbClr val="000000"/>
              </a:solidFill>
              <a:latin typeface="Arial"/>
              <a:ea typeface="Arial"/>
              <a:cs typeface="Arial"/>
              <a:sym typeface="Arial"/>
            </a:endParaRPr>
          </a:p>
        </p:txBody>
      </p:sp>
      <p:sp>
        <p:nvSpPr>
          <p:cNvPr id="245" name="Google Shape;67;p1">
            <a:extLst>
              <a:ext uri="{FF2B5EF4-FFF2-40B4-BE49-F238E27FC236}">
                <a16:creationId xmlns:a16="http://schemas.microsoft.com/office/drawing/2014/main" id="{7A359D49-7B59-6FA3-A36A-7E960A1E9130}"/>
              </a:ext>
            </a:extLst>
          </p:cNvPr>
          <p:cNvSpPr/>
          <p:nvPr/>
        </p:nvSpPr>
        <p:spPr>
          <a:xfrm>
            <a:off x="5962659" y="4007432"/>
            <a:ext cx="4572000" cy="384048"/>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dirty="0">
                <a:solidFill>
                  <a:srgbClr val="000000"/>
                </a:solidFill>
                <a:latin typeface="Times New Roman"/>
                <a:ea typeface="Times New Roman"/>
                <a:cs typeface="Times New Roman"/>
                <a:sym typeface="Times New Roman"/>
              </a:rPr>
              <a:t>P / LP variant within the same splice region, but outside donor/acceptor +/-1,2 dinucleotide, with same predicted impact</a:t>
            </a:r>
            <a:endParaRPr lang="en-US" sz="1400" b="0" i="0" u="none" strike="noStrike" cap="none" dirty="0">
              <a:solidFill>
                <a:srgbClr val="000000"/>
              </a:solidFill>
              <a:latin typeface="Arial"/>
              <a:ea typeface="Arial"/>
              <a:cs typeface="Arial"/>
              <a:sym typeface="Arial"/>
            </a:endParaRPr>
          </a:p>
        </p:txBody>
      </p:sp>
      <p:sp>
        <p:nvSpPr>
          <p:cNvPr id="246" name="Google Shape;69;p1">
            <a:extLst>
              <a:ext uri="{FF2B5EF4-FFF2-40B4-BE49-F238E27FC236}">
                <a16:creationId xmlns:a16="http://schemas.microsoft.com/office/drawing/2014/main" id="{5F5EB08D-A4FF-3D58-D172-6ABBB02FBE50}"/>
              </a:ext>
            </a:extLst>
          </p:cNvPr>
          <p:cNvSpPr/>
          <p:nvPr/>
        </p:nvSpPr>
        <p:spPr>
          <a:xfrm>
            <a:off x="5972183" y="4473783"/>
            <a:ext cx="4572000" cy="27432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dirty="0">
                <a:solidFill>
                  <a:srgbClr val="000000"/>
                </a:solidFill>
                <a:latin typeface="Times New Roman"/>
                <a:ea typeface="Times New Roman"/>
                <a:cs typeface="Times New Roman"/>
                <a:sym typeface="Times New Roman"/>
              </a:rPr>
              <a:t>No appropriate comparison P/LP variant within this splice region</a:t>
            </a:r>
            <a:endParaRPr lang="en-US" sz="1400" b="0" i="0" u="none" strike="noStrike" cap="none" dirty="0">
              <a:solidFill>
                <a:srgbClr val="000000"/>
              </a:solidFill>
              <a:latin typeface="Arial"/>
              <a:ea typeface="Arial"/>
              <a:cs typeface="Arial"/>
              <a:sym typeface="Arial"/>
            </a:endParaRPr>
          </a:p>
        </p:txBody>
      </p:sp>
      <p:sp>
        <p:nvSpPr>
          <p:cNvPr id="247" name="Google Shape;70;p1">
            <a:extLst>
              <a:ext uri="{FF2B5EF4-FFF2-40B4-BE49-F238E27FC236}">
                <a16:creationId xmlns:a16="http://schemas.microsoft.com/office/drawing/2014/main" id="{D248837A-3423-7DF0-292D-CCC514F32258}"/>
              </a:ext>
            </a:extLst>
          </p:cNvPr>
          <p:cNvSpPr/>
          <p:nvPr/>
        </p:nvSpPr>
        <p:spPr>
          <a:xfrm>
            <a:off x="10945100" y="4026281"/>
            <a:ext cx="1188720" cy="384048"/>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dirty="0">
                <a:solidFill>
                  <a:srgbClr val="000000"/>
                </a:solidFill>
                <a:latin typeface="Times New Roman"/>
                <a:ea typeface="Times New Roman"/>
                <a:cs typeface="Times New Roman"/>
                <a:sym typeface="Times New Roman"/>
              </a:rPr>
              <a:t>PVS1 + PS1_P</a:t>
            </a:r>
            <a:endParaRPr lang="en-US" sz="1400" b="0" i="0" u="none" strike="noStrike" cap="none" dirty="0">
              <a:solidFill>
                <a:srgbClr val="000000"/>
              </a:solidFill>
              <a:latin typeface="Arial"/>
              <a:ea typeface="Arial"/>
              <a:cs typeface="Arial"/>
              <a:sym typeface="Arial"/>
            </a:endParaRPr>
          </a:p>
        </p:txBody>
      </p:sp>
      <p:sp>
        <p:nvSpPr>
          <p:cNvPr id="248" name="Google Shape;71;p1">
            <a:extLst>
              <a:ext uri="{FF2B5EF4-FFF2-40B4-BE49-F238E27FC236}">
                <a16:creationId xmlns:a16="http://schemas.microsoft.com/office/drawing/2014/main" id="{B3FB024C-64D5-031C-A290-45084560025D}"/>
              </a:ext>
            </a:extLst>
          </p:cNvPr>
          <p:cNvSpPr/>
          <p:nvPr/>
        </p:nvSpPr>
        <p:spPr>
          <a:xfrm>
            <a:off x="10945100" y="4472675"/>
            <a:ext cx="1188720" cy="27432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dirty="0">
                <a:solidFill>
                  <a:srgbClr val="000000"/>
                </a:solidFill>
                <a:latin typeface="Times New Roman"/>
                <a:ea typeface="Times New Roman"/>
                <a:cs typeface="Times New Roman"/>
                <a:sym typeface="Times New Roman"/>
              </a:rPr>
              <a:t>PVS1_Strength</a:t>
            </a:r>
            <a:endParaRPr lang="en-US" sz="1400" b="0" i="0" u="none" strike="noStrike" cap="none" dirty="0">
              <a:solidFill>
                <a:srgbClr val="000000"/>
              </a:solidFill>
              <a:latin typeface="Arial"/>
              <a:ea typeface="Arial"/>
              <a:cs typeface="Arial"/>
              <a:sym typeface="Arial"/>
            </a:endParaRPr>
          </a:p>
        </p:txBody>
      </p:sp>
      <p:cxnSp>
        <p:nvCxnSpPr>
          <p:cNvPr id="251" name="Google Shape;79;p1">
            <a:extLst>
              <a:ext uri="{FF2B5EF4-FFF2-40B4-BE49-F238E27FC236}">
                <a16:creationId xmlns:a16="http://schemas.microsoft.com/office/drawing/2014/main" id="{ABF773DC-1F5A-2DA1-8C98-CC9A7EBE8519}"/>
              </a:ext>
            </a:extLst>
          </p:cNvPr>
          <p:cNvCxnSpPr>
            <a:cxnSpLocks/>
            <a:stCxn id="273" idx="3"/>
          </p:cNvCxnSpPr>
          <p:nvPr/>
        </p:nvCxnSpPr>
        <p:spPr>
          <a:xfrm flipV="1">
            <a:off x="4043366" y="4031306"/>
            <a:ext cx="423506" cy="900216"/>
          </a:xfrm>
          <a:prstGeom prst="straightConnector1">
            <a:avLst/>
          </a:prstGeom>
          <a:noFill/>
          <a:ln w="9525" cap="flat" cmpd="sng">
            <a:solidFill>
              <a:srgbClr val="44546A"/>
            </a:solidFill>
            <a:prstDash val="solid"/>
            <a:round/>
            <a:headEnd type="none" w="sm" len="sm"/>
            <a:tailEnd type="triangle" w="med" len="med"/>
          </a:ln>
        </p:spPr>
      </p:cxnSp>
      <p:cxnSp>
        <p:nvCxnSpPr>
          <p:cNvPr id="252" name="Google Shape;80;p1">
            <a:extLst>
              <a:ext uri="{FF2B5EF4-FFF2-40B4-BE49-F238E27FC236}">
                <a16:creationId xmlns:a16="http://schemas.microsoft.com/office/drawing/2014/main" id="{90600F01-AAD6-B923-909F-CC90CE99AD47}"/>
              </a:ext>
            </a:extLst>
          </p:cNvPr>
          <p:cNvCxnSpPr>
            <a:cxnSpLocks/>
            <a:stCxn id="273" idx="3"/>
            <a:endCxn id="282" idx="1"/>
          </p:cNvCxnSpPr>
          <p:nvPr/>
        </p:nvCxnSpPr>
        <p:spPr>
          <a:xfrm>
            <a:off x="4043366" y="4931522"/>
            <a:ext cx="348861" cy="396029"/>
          </a:xfrm>
          <a:prstGeom prst="straightConnector1">
            <a:avLst/>
          </a:prstGeom>
          <a:noFill/>
          <a:ln w="9525" cap="flat" cmpd="sng">
            <a:solidFill>
              <a:srgbClr val="44546A"/>
            </a:solidFill>
            <a:prstDash val="solid"/>
            <a:round/>
            <a:headEnd type="none" w="sm" len="sm"/>
            <a:tailEnd type="triangle" w="med" len="med"/>
          </a:ln>
        </p:spPr>
      </p:cxnSp>
      <p:cxnSp>
        <p:nvCxnSpPr>
          <p:cNvPr id="253" name="Google Shape;81;p1">
            <a:extLst>
              <a:ext uri="{FF2B5EF4-FFF2-40B4-BE49-F238E27FC236}">
                <a16:creationId xmlns:a16="http://schemas.microsoft.com/office/drawing/2014/main" id="{37947770-9FC0-7ED0-764A-620EBA20BE8E}"/>
              </a:ext>
            </a:extLst>
          </p:cNvPr>
          <p:cNvCxnSpPr>
            <a:cxnSpLocks/>
            <a:stCxn id="240" idx="3"/>
            <a:endCxn id="241" idx="1"/>
          </p:cNvCxnSpPr>
          <p:nvPr/>
        </p:nvCxnSpPr>
        <p:spPr>
          <a:xfrm flipV="1">
            <a:off x="5704375" y="3294762"/>
            <a:ext cx="259866" cy="479788"/>
          </a:xfrm>
          <a:prstGeom prst="straightConnector1">
            <a:avLst/>
          </a:prstGeom>
          <a:noFill/>
          <a:ln w="9525" cap="flat" cmpd="sng">
            <a:solidFill>
              <a:srgbClr val="44546A"/>
            </a:solidFill>
            <a:prstDash val="solid"/>
            <a:round/>
            <a:headEnd type="none" w="sm" len="sm"/>
            <a:tailEnd type="triangle" w="med" len="med"/>
          </a:ln>
        </p:spPr>
      </p:cxnSp>
      <p:cxnSp>
        <p:nvCxnSpPr>
          <p:cNvPr id="254" name="Google Shape;82;p1">
            <a:extLst>
              <a:ext uri="{FF2B5EF4-FFF2-40B4-BE49-F238E27FC236}">
                <a16:creationId xmlns:a16="http://schemas.microsoft.com/office/drawing/2014/main" id="{F95B9863-BCED-23A4-D6B3-F2B28C6D2405}"/>
              </a:ext>
            </a:extLst>
          </p:cNvPr>
          <p:cNvCxnSpPr>
            <a:cxnSpLocks/>
            <a:stCxn id="240" idx="3"/>
            <a:endCxn id="242" idx="1"/>
          </p:cNvCxnSpPr>
          <p:nvPr/>
        </p:nvCxnSpPr>
        <p:spPr>
          <a:xfrm flipV="1">
            <a:off x="5704375" y="3718792"/>
            <a:ext cx="267808" cy="55758"/>
          </a:xfrm>
          <a:prstGeom prst="straightConnector1">
            <a:avLst/>
          </a:prstGeom>
          <a:noFill/>
          <a:ln w="9525" cap="flat" cmpd="sng">
            <a:solidFill>
              <a:srgbClr val="44546A"/>
            </a:solidFill>
            <a:prstDash val="solid"/>
            <a:round/>
            <a:headEnd type="none" w="sm" len="sm"/>
            <a:tailEnd type="triangle" w="med" len="med"/>
          </a:ln>
        </p:spPr>
      </p:cxnSp>
      <p:cxnSp>
        <p:nvCxnSpPr>
          <p:cNvPr id="255" name="Google Shape;83;p1">
            <a:extLst>
              <a:ext uri="{FF2B5EF4-FFF2-40B4-BE49-F238E27FC236}">
                <a16:creationId xmlns:a16="http://schemas.microsoft.com/office/drawing/2014/main" id="{DC117A35-B213-62E1-2F08-0A665A115C82}"/>
              </a:ext>
            </a:extLst>
          </p:cNvPr>
          <p:cNvCxnSpPr>
            <a:cxnSpLocks/>
            <a:stCxn id="240" idx="3"/>
            <a:endCxn id="245" idx="1"/>
          </p:cNvCxnSpPr>
          <p:nvPr/>
        </p:nvCxnSpPr>
        <p:spPr>
          <a:xfrm>
            <a:off x="5704375" y="3774550"/>
            <a:ext cx="258284" cy="424906"/>
          </a:xfrm>
          <a:prstGeom prst="straightConnector1">
            <a:avLst/>
          </a:prstGeom>
          <a:noFill/>
          <a:ln w="9525" cap="flat" cmpd="sng">
            <a:solidFill>
              <a:srgbClr val="44546A"/>
            </a:solidFill>
            <a:prstDash val="solid"/>
            <a:round/>
            <a:headEnd type="none" w="sm" len="sm"/>
            <a:tailEnd type="triangle" w="med" len="med"/>
          </a:ln>
        </p:spPr>
      </p:cxnSp>
      <p:cxnSp>
        <p:nvCxnSpPr>
          <p:cNvPr id="256" name="Google Shape;85;p1">
            <a:extLst>
              <a:ext uri="{FF2B5EF4-FFF2-40B4-BE49-F238E27FC236}">
                <a16:creationId xmlns:a16="http://schemas.microsoft.com/office/drawing/2014/main" id="{E3B1243C-0385-612D-EFCF-B32C1230E9BA}"/>
              </a:ext>
            </a:extLst>
          </p:cNvPr>
          <p:cNvCxnSpPr>
            <a:cxnSpLocks/>
            <a:stCxn id="282" idx="3"/>
            <a:endCxn id="246" idx="1"/>
          </p:cNvCxnSpPr>
          <p:nvPr/>
        </p:nvCxnSpPr>
        <p:spPr>
          <a:xfrm flipV="1">
            <a:off x="5703475" y="4610943"/>
            <a:ext cx="268708" cy="716608"/>
          </a:xfrm>
          <a:prstGeom prst="straightConnector1">
            <a:avLst/>
          </a:prstGeom>
          <a:noFill/>
          <a:ln w="9525" cap="flat" cmpd="sng">
            <a:solidFill>
              <a:srgbClr val="44546A"/>
            </a:solidFill>
            <a:prstDash val="solid"/>
            <a:round/>
            <a:headEnd type="none" w="sm" len="sm"/>
            <a:tailEnd type="triangle" w="med" len="med"/>
          </a:ln>
        </p:spPr>
      </p:cxnSp>
      <p:cxnSp>
        <p:nvCxnSpPr>
          <p:cNvPr id="257" name="Google Shape;86;p1">
            <a:extLst>
              <a:ext uri="{FF2B5EF4-FFF2-40B4-BE49-F238E27FC236}">
                <a16:creationId xmlns:a16="http://schemas.microsoft.com/office/drawing/2014/main" id="{27C180EA-72F6-CCA8-FC84-86839B749CB5}"/>
              </a:ext>
            </a:extLst>
          </p:cNvPr>
          <p:cNvCxnSpPr>
            <a:cxnSpLocks/>
            <a:stCxn id="282" idx="3"/>
            <a:endCxn id="333" idx="1"/>
          </p:cNvCxnSpPr>
          <p:nvPr/>
        </p:nvCxnSpPr>
        <p:spPr>
          <a:xfrm>
            <a:off x="5703475" y="5327551"/>
            <a:ext cx="259184" cy="184944"/>
          </a:xfrm>
          <a:prstGeom prst="straightConnector1">
            <a:avLst/>
          </a:prstGeom>
          <a:noFill/>
          <a:ln w="9525" cap="flat" cmpd="sng">
            <a:solidFill>
              <a:srgbClr val="44546A"/>
            </a:solidFill>
            <a:prstDash val="solid"/>
            <a:round/>
            <a:headEnd type="none" w="sm" len="sm"/>
            <a:tailEnd type="triangle" w="med" len="med"/>
          </a:ln>
        </p:spPr>
      </p:cxnSp>
      <p:cxnSp>
        <p:nvCxnSpPr>
          <p:cNvPr id="258" name="Google Shape;118;p1">
            <a:extLst>
              <a:ext uri="{FF2B5EF4-FFF2-40B4-BE49-F238E27FC236}">
                <a16:creationId xmlns:a16="http://schemas.microsoft.com/office/drawing/2014/main" id="{CC73B4B7-FD39-D672-CB43-589879A019CB}"/>
              </a:ext>
            </a:extLst>
          </p:cNvPr>
          <p:cNvCxnSpPr>
            <a:stCxn id="241" idx="3"/>
            <a:endCxn id="243" idx="1"/>
          </p:cNvCxnSpPr>
          <p:nvPr/>
        </p:nvCxnSpPr>
        <p:spPr>
          <a:xfrm>
            <a:off x="10536241" y="3294762"/>
            <a:ext cx="408859" cy="0"/>
          </a:xfrm>
          <a:prstGeom prst="straightConnector1">
            <a:avLst/>
          </a:prstGeom>
          <a:noFill/>
          <a:ln w="9525" cap="flat" cmpd="sng">
            <a:solidFill>
              <a:srgbClr val="595959"/>
            </a:solidFill>
            <a:prstDash val="solid"/>
            <a:round/>
            <a:headEnd type="none" w="sm" len="sm"/>
            <a:tailEnd type="triangle" w="med" len="med"/>
          </a:ln>
        </p:spPr>
      </p:cxnSp>
      <p:cxnSp>
        <p:nvCxnSpPr>
          <p:cNvPr id="259" name="Google Shape;119;p1">
            <a:extLst>
              <a:ext uri="{FF2B5EF4-FFF2-40B4-BE49-F238E27FC236}">
                <a16:creationId xmlns:a16="http://schemas.microsoft.com/office/drawing/2014/main" id="{34EBD97F-2D9D-2B89-FE4D-8F5A593B577B}"/>
              </a:ext>
            </a:extLst>
          </p:cNvPr>
          <p:cNvCxnSpPr>
            <a:cxnSpLocks/>
            <a:stCxn id="242" idx="3"/>
            <a:endCxn id="244" idx="1"/>
          </p:cNvCxnSpPr>
          <p:nvPr/>
        </p:nvCxnSpPr>
        <p:spPr>
          <a:xfrm>
            <a:off x="10544183" y="3718792"/>
            <a:ext cx="400917" cy="0"/>
          </a:xfrm>
          <a:prstGeom prst="straightConnector1">
            <a:avLst/>
          </a:prstGeom>
          <a:noFill/>
          <a:ln w="9525" cap="flat" cmpd="sng">
            <a:solidFill>
              <a:srgbClr val="595959"/>
            </a:solidFill>
            <a:prstDash val="solid"/>
            <a:round/>
            <a:headEnd type="none" w="sm" len="sm"/>
            <a:tailEnd type="triangle" w="med" len="med"/>
          </a:ln>
        </p:spPr>
      </p:cxnSp>
      <p:cxnSp>
        <p:nvCxnSpPr>
          <p:cNvPr id="260" name="Google Shape;120;p1">
            <a:extLst>
              <a:ext uri="{FF2B5EF4-FFF2-40B4-BE49-F238E27FC236}">
                <a16:creationId xmlns:a16="http://schemas.microsoft.com/office/drawing/2014/main" id="{8F92BD1E-7294-58A7-E1BD-56790F526C90}"/>
              </a:ext>
            </a:extLst>
          </p:cNvPr>
          <p:cNvCxnSpPr>
            <a:stCxn id="245" idx="3"/>
            <a:endCxn id="247" idx="1"/>
          </p:cNvCxnSpPr>
          <p:nvPr/>
        </p:nvCxnSpPr>
        <p:spPr>
          <a:xfrm>
            <a:off x="10534659" y="4199456"/>
            <a:ext cx="410441" cy="0"/>
          </a:xfrm>
          <a:prstGeom prst="straightConnector1">
            <a:avLst/>
          </a:prstGeom>
          <a:noFill/>
          <a:ln w="9525" cap="flat" cmpd="sng">
            <a:solidFill>
              <a:srgbClr val="595959"/>
            </a:solidFill>
            <a:prstDash val="solid"/>
            <a:round/>
            <a:headEnd type="none" w="sm" len="sm"/>
            <a:tailEnd type="triangle" w="med" len="med"/>
          </a:ln>
        </p:spPr>
      </p:cxnSp>
      <p:cxnSp>
        <p:nvCxnSpPr>
          <p:cNvPr id="261" name="Google Shape;121;p1">
            <a:extLst>
              <a:ext uri="{FF2B5EF4-FFF2-40B4-BE49-F238E27FC236}">
                <a16:creationId xmlns:a16="http://schemas.microsoft.com/office/drawing/2014/main" id="{7D07D2D2-014E-09A9-6641-952938268F04}"/>
              </a:ext>
            </a:extLst>
          </p:cNvPr>
          <p:cNvCxnSpPr>
            <a:cxnSpLocks/>
            <a:stCxn id="246" idx="3"/>
            <a:endCxn id="248" idx="1"/>
          </p:cNvCxnSpPr>
          <p:nvPr/>
        </p:nvCxnSpPr>
        <p:spPr>
          <a:xfrm flipV="1">
            <a:off x="10544183" y="4609835"/>
            <a:ext cx="400917" cy="1108"/>
          </a:xfrm>
          <a:prstGeom prst="straightConnector1">
            <a:avLst/>
          </a:prstGeom>
          <a:noFill/>
          <a:ln w="9525" cap="flat" cmpd="sng">
            <a:solidFill>
              <a:srgbClr val="595959"/>
            </a:solidFill>
            <a:prstDash val="solid"/>
            <a:round/>
            <a:headEnd type="none" w="sm" len="sm"/>
            <a:tailEnd type="triangle" w="med" len="med"/>
          </a:ln>
        </p:spPr>
      </p:cxnSp>
      <p:sp>
        <p:nvSpPr>
          <p:cNvPr id="266" name="Google Shape;61;p1">
            <a:extLst>
              <a:ext uri="{FF2B5EF4-FFF2-40B4-BE49-F238E27FC236}">
                <a16:creationId xmlns:a16="http://schemas.microsoft.com/office/drawing/2014/main" id="{ADEEED5C-E909-345F-E7DE-19EE1B9CB494}"/>
              </a:ext>
            </a:extLst>
          </p:cNvPr>
          <p:cNvSpPr/>
          <p:nvPr/>
        </p:nvSpPr>
        <p:spPr>
          <a:xfrm>
            <a:off x="4392226" y="6280335"/>
            <a:ext cx="1319713" cy="415351"/>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dirty="0">
                <a:solidFill>
                  <a:srgbClr val="000000"/>
                </a:solidFill>
                <a:latin typeface="Times New Roman"/>
                <a:ea typeface="Times New Roman"/>
                <a:cs typeface="Times New Roman"/>
                <a:sym typeface="Times New Roman"/>
              </a:rPr>
              <a:t>PVS1 not applicable</a:t>
            </a:r>
            <a:endParaRPr sz="1400" b="0" i="0" u="none" strike="noStrike" cap="none" dirty="0">
              <a:solidFill>
                <a:srgbClr val="FF0000"/>
              </a:solidFill>
              <a:latin typeface="Arial"/>
              <a:ea typeface="Arial"/>
              <a:cs typeface="Arial"/>
              <a:sym typeface="Arial"/>
            </a:endParaRPr>
          </a:p>
        </p:txBody>
      </p:sp>
      <p:sp>
        <p:nvSpPr>
          <p:cNvPr id="268" name="Google Shape;72;p1">
            <a:extLst>
              <a:ext uri="{FF2B5EF4-FFF2-40B4-BE49-F238E27FC236}">
                <a16:creationId xmlns:a16="http://schemas.microsoft.com/office/drawing/2014/main" id="{D272ACB7-20E2-B69A-DF7E-F4A81427816C}"/>
              </a:ext>
            </a:extLst>
          </p:cNvPr>
          <p:cNvSpPr/>
          <p:nvPr/>
        </p:nvSpPr>
        <p:spPr>
          <a:xfrm>
            <a:off x="10961127" y="6314544"/>
            <a:ext cx="1188720" cy="36576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dirty="0">
                <a:solidFill>
                  <a:srgbClr val="000000"/>
                </a:solidFill>
                <a:latin typeface="Times New Roman"/>
                <a:ea typeface="Times New Roman"/>
                <a:cs typeface="Times New Roman"/>
                <a:sym typeface="Times New Roman"/>
              </a:rPr>
              <a:t>Not applied</a:t>
            </a:r>
            <a:endParaRPr lang="en-US" sz="1400" b="0" i="0" u="none" strike="noStrike" cap="none" dirty="0">
              <a:solidFill>
                <a:srgbClr val="000000"/>
              </a:solidFill>
              <a:latin typeface="Arial"/>
              <a:ea typeface="Arial"/>
              <a:cs typeface="Arial"/>
              <a:sym typeface="Arial"/>
            </a:endParaRPr>
          </a:p>
        </p:txBody>
      </p:sp>
      <p:cxnSp>
        <p:nvCxnSpPr>
          <p:cNvPr id="270" name="Google Shape;122;p1">
            <a:extLst>
              <a:ext uri="{FF2B5EF4-FFF2-40B4-BE49-F238E27FC236}">
                <a16:creationId xmlns:a16="http://schemas.microsoft.com/office/drawing/2014/main" id="{63F5DBF9-4CAC-D657-F001-A229BBFE9DFC}"/>
              </a:ext>
            </a:extLst>
          </p:cNvPr>
          <p:cNvCxnSpPr>
            <a:cxnSpLocks/>
            <a:stCxn id="266" idx="3"/>
            <a:endCxn id="268" idx="1"/>
          </p:cNvCxnSpPr>
          <p:nvPr/>
        </p:nvCxnSpPr>
        <p:spPr>
          <a:xfrm>
            <a:off x="5711939" y="6488011"/>
            <a:ext cx="5249188" cy="9413"/>
          </a:xfrm>
          <a:prstGeom prst="straightConnector1">
            <a:avLst/>
          </a:prstGeom>
          <a:noFill/>
          <a:ln w="9525" cap="flat" cmpd="sng">
            <a:solidFill>
              <a:srgbClr val="595959"/>
            </a:solidFill>
            <a:prstDash val="solid"/>
            <a:round/>
            <a:headEnd type="none" w="sm" len="sm"/>
            <a:tailEnd type="triangle" w="med" len="med"/>
          </a:ln>
        </p:spPr>
      </p:cxnSp>
      <p:sp>
        <p:nvSpPr>
          <p:cNvPr id="273" name="Google Shape;60;p1">
            <a:extLst>
              <a:ext uri="{FF2B5EF4-FFF2-40B4-BE49-F238E27FC236}">
                <a16:creationId xmlns:a16="http://schemas.microsoft.com/office/drawing/2014/main" id="{20D01613-0FAA-DE53-0CD1-38DE3047E4EF}"/>
              </a:ext>
            </a:extLst>
          </p:cNvPr>
          <p:cNvSpPr txBox="1"/>
          <p:nvPr/>
        </p:nvSpPr>
        <p:spPr>
          <a:xfrm>
            <a:off x="2937566" y="3167358"/>
            <a:ext cx="1105800" cy="3528328"/>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 sz="1200" b="1" i="0" u="none" strike="noStrike" cap="none" dirty="0">
                <a:solidFill>
                  <a:srgbClr val="000000"/>
                </a:solidFill>
                <a:latin typeface="Times New Roman"/>
                <a:ea typeface="Times New Roman"/>
                <a:cs typeface="Times New Roman"/>
                <a:sym typeface="Times New Roman"/>
              </a:rPr>
              <a:t>Use PVS1 rule table for PREDICTED impact</a:t>
            </a:r>
            <a:endParaRPr sz="1400" b="1" i="0" u="none" strike="noStrike" cap="none" dirty="0">
              <a:solidFill>
                <a:srgbClr val="00B0F0"/>
              </a:solidFill>
              <a:latin typeface="Arial"/>
              <a:ea typeface="Arial"/>
              <a:cs typeface="Arial"/>
              <a:sym typeface="Arial"/>
            </a:endParaRPr>
          </a:p>
        </p:txBody>
      </p:sp>
      <p:cxnSp>
        <p:nvCxnSpPr>
          <p:cNvPr id="274" name="Google Shape;80;p1">
            <a:extLst>
              <a:ext uri="{FF2B5EF4-FFF2-40B4-BE49-F238E27FC236}">
                <a16:creationId xmlns:a16="http://schemas.microsoft.com/office/drawing/2014/main" id="{696EF050-25A9-06BF-0A12-B8DECF73F7CD}"/>
              </a:ext>
            </a:extLst>
          </p:cNvPr>
          <p:cNvCxnSpPr>
            <a:cxnSpLocks/>
            <a:stCxn id="273" idx="3"/>
            <a:endCxn id="266" idx="1"/>
          </p:cNvCxnSpPr>
          <p:nvPr/>
        </p:nvCxnSpPr>
        <p:spPr>
          <a:xfrm>
            <a:off x="4043366" y="4931522"/>
            <a:ext cx="348860" cy="1556489"/>
          </a:xfrm>
          <a:prstGeom prst="straightConnector1">
            <a:avLst/>
          </a:prstGeom>
          <a:noFill/>
          <a:ln w="9525" cap="flat" cmpd="sng">
            <a:solidFill>
              <a:srgbClr val="44546A"/>
            </a:solidFill>
            <a:prstDash val="solid"/>
            <a:round/>
            <a:headEnd type="none" w="sm" len="sm"/>
            <a:tailEnd type="triangle" w="med" len="med"/>
          </a:ln>
        </p:spPr>
      </p:cxnSp>
      <p:sp>
        <p:nvSpPr>
          <p:cNvPr id="332" name="Google Shape;64;p1">
            <a:extLst>
              <a:ext uri="{FF2B5EF4-FFF2-40B4-BE49-F238E27FC236}">
                <a16:creationId xmlns:a16="http://schemas.microsoft.com/office/drawing/2014/main" id="{A9317FD2-A252-225F-EE51-3522385E0AA3}"/>
              </a:ext>
            </a:extLst>
          </p:cNvPr>
          <p:cNvSpPr/>
          <p:nvPr/>
        </p:nvSpPr>
        <p:spPr>
          <a:xfrm>
            <a:off x="5972183" y="4839807"/>
            <a:ext cx="4572000" cy="384048"/>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dirty="0">
                <a:solidFill>
                  <a:srgbClr val="000000"/>
                </a:solidFill>
                <a:latin typeface="Times New Roman"/>
                <a:ea typeface="Times New Roman"/>
                <a:cs typeface="Times New Roman"/>
                <a:sym typeface="Times New Roman"/>
              </a:rPr>
              <a:t>P variant at this </a:t>
            </a:r>
            <a:r>
              <a:rPr lang="en-US" sz="1200" b="0" i="0" u="none" strike="noStrike" cap="none" dirty="0" err="1">
                <a:solidFill>
                  <a:srgbClr val="000000"/>
                </a:solidFill>
                <a:latin typeface="Times New Roman"/>
                <a:ea typeface="Times New Roman"/>
                <a:cs typeface="Times New Roman"/>
                <a:sym typeface="Times New Roman"/>
              </a:rPr>
              <a:t>nt</a:t>
            </a:r>
            <a:r>
              <a:rPr lang="en-US" sz="1200" b="0" i="0" u="none" strike="noStrike" cap="none" dirty="0">
                <a:solidFill>
                  <a:srgbClr val="000000"/>
                </a:solidFill>
                <a:latin typeface="Times New Roman"/>
                <a:ea typeface="Times New Roman"/>
                <a:cs typeface="Times New Roman"/>
                <a:sym typeface="Times New Roman"/>
              </a:rPr>
              <a:t> position or in same donor/acceptor +/-1,2 dinucleotide with same predicted impact</a:t>
            </a:r>
            <a:endParaRPr lang="en-US" sz="1400" b="0" i="0" u="none" strike="noStrike" cap="none" dirty="0">
              <a:solidFill>
                <a:srgbClr val="000000"/>
              </a:solidFill>
              <a:latin typeface="Arial"/>
              <a:ea typeface="Arial"/>
              <a:cs typeface="Arial"/>
              <a:sym typeface="Arial"/>
            </a:endParaRPr>
          </a:p>
        </p:txBody>
      </p:sp>
      <p:sp>
        <p:nvSpPr>
          <p:cNvPr id="333" name="Google Shape;67;p1">
            <a:extLst>
              <a:ext uri="{FF2B5EF4-FFF2-40B4-BE49-F238E27FC236}">
                <a16:creationId xmlns:a16="http://schemas.microsoft.com/office/drawing/2014/main" id="{F6AB45DD-161F-5CAF-CA05-9AA90CA2CF0C}"/>
              </a:ext>
            </a:extLst>
          </p:cNvPr>
          <p:cNvSpPr/>
          <p:nvPr/>
        </p:nvSpPr>
        <p:spPr>
          <a:xfrm>
            <a:off x="5962659" y="5320471"/>
            <a:ext cx="4572000" cy="384048"/>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dirty="0">
                <a:solidFill>
                  <a:srgbClr val="000000"/>
                </a:solidFill>
                <a:latin typeface="Times New Roman"/>
                <a:ea typeface="Times New Roman"/>
                <a:cs typeface="Times New Roman"/>
                <a:sym typeface="Times New Roman"/>
              </a:rPr>
              <a:t>P variant within the same splice region, but outside donor/acceptor +/-1,2 dinucleotide, with same predicted impact</a:t>
            </a:r>
            <a:endParaRPr lang="en-US" sz="1400" b="0" i="0" u="none" strike="noStrike" cap="none" dirty="0">
              <a:solidFill>
                <a:srgbClr val="000000"/>
              </a:solidFill>
              <a:latin typeface="Arial"/>
              <a:ea typeface="Arial"/>
              <a:cs typeface="Arial"/>
              <a:sym typeface="Arial"/>
            </a:endParaRPr>
          </a:p>
        </p:txBody>
      </p:sp>
      <p:cxnSp>
        <p:nvCxnSpPr>
          <p:cNvPr id="334" name="Google Shape;82;p1">
            <a:extLst>
              <a:ext uri="{FF2B5EF4-FFF2-40B4-BE49-F238E27FC236}">
                <a16:creationId xmlns:a16="http://schemas.microsoft.com/office/drawing/2014/main" id="{C71170DD-4C79-6FF7-6BE0-F8CA0A24905E}"/>
              </a:ext>
            </a:extLst>
          </p:cNvPr>
          <p:cNvCxnSpPr>
            <a:cxnSpLocks/>
            <a:stCxn id="282" idx="3"/>
            <a:endCxn id="332" idx="1"/>
          </p:cNvCxnSpPr>
          <p:nvPr/>
        </p:nvCxnSpPr>
        <p:spPr>
          <a:xfrm flipV="1">
            <a:off x="5703475" y="5031831"/>
            <a:ext cx="268708" cy="295720"/>
          </a:xfrm>
          <a:prstGeom prst="straightConnector1">
            <a:avLst/>
          </a:prstGeom>
          <a:noFill/>
          <a:ln w="9525" cap="flat" cmpd="sng">
            <a:solidFill>
              <a:srgbClr val="44546A"/>
            </a:solidFill>
            <a:prstDash val="solid"/>
            <a:round/>
            <a:headEnd type="none" w="sm" len="sm"/>
            <a:tailEnd type="triangle" w="med" len="med"/>
          </a:ln>
        </p:spPr>
      </p:cxnSp>
      <p:cxnSp>
        <p:nvCxnSpPr>
          <p:cNvPr id="335" name="Google Shape;83;p1">
            <a:extLst>
              <a:ext uri="{FF2B5EF4-FFF2-40B4-BE49-F238E27FC236}">
                <a16:creationId xmlns:a16="http://schemas.microsoft.com/office/drawing/2014/main" id="{5FFE4A49-1250-3A81-8ABE-B05BCADF386E}"/>
              </a:ext>
            </a:extLst>
          </p:cNvPr>
          <p:cNvCxnSpPr>
            <a:cxnSpLocks/>
          </p:cNvCxnSpPr>
          <p:nvPr/>
        </p:nvCxnSpPr>
        <p:spPr>
          <a:xfrm>
            <a:off x="5703475" y="5338630"/>
            <a:ext cx="268708" cy="678667"/>
          </a:xfrm>
          <a:prstGeom prst="straightConnector1">
            <a:avLst/>
          </a:prstGeom>
          <a:noFill/>
          <a:ln w="9525" cap="flat" cmpd="sng">
            <a:solidFill>
              <a:srgbClr val="44546A"/>
            </a:solidFill>
            <a:prstDash val="solid"/>
            <a:round/>
            <a:headEnd type="none" w="sm" len="sm"/>
            <a:tailEnd type="triangle" w="med" len="med"/>
          </a:ln>
        </p:spPr>
      </p:cxnSp>
      <p:sp>
        <p:nvSpPr>
          <p:cNvPr id="336" name="Google Shape;67;p1">
            <a:extLst>
              <a:ext uri="{FF2B5EF4-FFF2-40B4-BE49-F238E27FC236}">
                <a16:creationId xmlns:a16="http://schemas.microsoft.com/office/drawing/2014/main" id="{4039C9F7-96DD-E804-6223-FBBFCE48D9D4}"/>
              </a:ext>
            </a:extLst>
          </p:cNvPr>
          <p:cNvSpPr/>
          <p:nvPr/>
        </p:nvSpPr>
        <p:spPr>
          <a:xfrm>
            <a:off x="5972183" y="5814194"/>
            <a:ext cx="4572000" cy="384048"/>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dirty="0">
                <a:solidFill>
                  <a:srgbClr val="000000"/>
                </a:solidFill>
                <a:latin typeface="Times New Roman"/>
                <a:ea typeface="Times New Roman"/>
                <a:cs typeface="Times New Roman"/>
                <a:sym typeface="Times New Roman"/>
              </a:rPr>
              <a:t>LP variant within the same splice region, but outside donor/acceptor +/-1,2 dinucleotide, with same predicted impact</a:t>
            </a:r>
            <a:endParaRPr lang="en-US" sz="1400" b="0" i="0" u="none" strike="noStrike" cap="none" dirty="0">
              <a:solidFill>
                <a:srgbClr val="000000"/>
              </a:solidFill>
              <a:latin typeface="Arial"/>
              <a:ea typeface="Arial"/>
              <a:cs typeface="Arial"/>
              <a:sym typeface="Arial"/>
            </a:endParaRPr>
          </a:p>
        </p:txBody>
      </p:sp>
      <p:sp>
        <p:nvSpPr>
          <p:cNvPr id="341" name="Google Shape;66;p1">
            <a:extLst>
              <a:ext uri="{FF2B5EF4-FFF2-40B4-BE49-F238E27FC236}">
                <a16:creationId xmlns:a16="http://schemas.microsoft.com/office/drawing/2014/main" id="{955B63C8-148E-1012-B4B3-BE49AF5BB1FB}"/>
              </a:ext>
            </a:extLst>
          </p:cNvPr>
          <p:cNvSpPr/>
          <p:nvPr/>
        </p:nvSpPr>
        <p:spPr>
          <a:xfrm>
            <a:off x="10945100" y="4855879"/>
            <a:ext cx="1188720" cy="384048"/>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algn="ctr">
              <a:buSzPts val="1200"/>
            </a:pPr>
            <a:r>
              <a:rPr lang="en-US" sz="1200" b="0" i="0" u="none" strike="noStrike" cap="none" dirty="0">
                <a:solidFill>
                  <a:srgbClr val="000000"/>
                </a:solidFill>
                <a:latin typeface="Times New Roman"/>
                <a:ea typeface="Times New Roman"/>
                <a:cs typeface="Times New Roman"/>
                <a:sym typeface="Times New Roman"/>
              </a:rPr>
              <a:t>PVS1_Strength</a:t>
            </a:r>
            <a:endParaRPr lang="en-US" sz="1400" b="0" i="0" u="none" strike="noStrike" cap="none" dirty="0">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200"/>
              <a:buFont typeface="Arial"/>
              <a:buNone/>
            </a:pPr>
            <a:r>
              <a:rPr lang="en" sz="1200" b="0" i="0" u="none" strike="noStrike" cap="none" dirty="0">
                <a:solidFill>
                  <a:srgbClr val="000000"/>
                </a:solidFill>
                <a:latin typeface="Times New Roman"/>
                <a:ea typeface="Times New Roman"/>
                <a:cs typeface="Times New Roman"/>
                <a:sym typeface="Times New Roman"/>
              </a:rPr>
              <a:t> + PS1</a:t>
            </a:r>
            <a:endParaRPr sz="1400" b="0" i="0" u="none" strike="noStrike" cap="none" dirty="0">
              <a:solidFill>
                <a:srgbClr val="000000"/>
              </a:solidFill>
              <a:latin typeface="Arial"/>
              <a:ea typeface="Arial"/>
              <a:cs typeface="Arial"/>
              <a:sym typeface="Arial"/>
            </a:endParaRPr>
          </a:p>
        </p:txBody>
      </p:sp>
      <p:sp>
        <p:nvSpPr>
          <p:cNvPr id="342" name="Google Shape;70;p1">
            <a:extLst>
              <a:ext uri="{FF2B5EF4-FFF2-40B4-BE49-F238E27FC236}">
                <a16:creationId xmlns:a16="http://schemas.microsoft.com/office/drawing/2014/main" id="{EFF3142B-C89A-DC00-D520-EDD9EEB45BED}"/>
              </a:ext>
            </a:extLst>
          </p:cNvPr>
          <p:cNvSpPr/>
          <p:nvPr/>
        </p:nvSpPr>
        <p:spPr>
          <a:xfrm>
            <a:off x="10945100" y="5348723"/>
            <a:ext cx="1188720" cy="384048"/>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algn="ctr">
              <a:buSzPts val="1200"/>
            </a:pPr>
            <a:r>
              <a:rPr lang="en-US" sz="1200" b="0" i="0" u="none" strike="noStrike" cap="none" dirty="0">
                <a:solidFill>
                  <a:srgbClr val="000000"/>
                </a:solidFill>
                <a:latin typeface="Times New Roman"/>
                <a:ea typeface="Times New Roman"/>
                <a:cs typeface="Times New Roman"/>
                <a:sym typeface="Times New Roman"/>
              </a:rPr>
              <a:t>PVS1_Strength</a:t>
            </a:r>
            <a:endParaRPr lang="en-US" sz="1400" b="0" i="0" u="none" strike="noStrike" cap="none" dirty="0">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dirty="0">
                <a:solidFill>
                  <a:srgbClr val="000000"/>
                </a:solidFill>
                <a:latin typeface="Times New Roman"/>
                <a:ea typeface="Times New Roman"/>
                <a:cs typeface="Times New Roman"/>
                <a:sym typeface="Times New Roman"/>
              </a:rPr>
              <a:t> + PS1_M</a:t>
            </a:r>
            <a:endParaRPr lang="en-US" sz="1400" b="0" i="0" u="none" strike="noStrike" cap="none" dirty="0">
              <a:solidFill>
                <a:srgbClr val="000000"/>
              </a:solidFill>
              <a:latin typeface="Arial"/>
              <a:ea typeface="Arial"/>
              <a:cs typeface="Arial"/>
              <a:sym typeface="Arial"/>
            </a:endParaRPr>
          </a:p>
        </p:txBody>
      </p:sp>
      <p:sp>
        <p:nvSpPr>
          <p:cNvPr id="343" name="Google Shape;71;p1">
            <a:extLst>
              <a:ext uri="{FF2B5EF4-FFF2-40B4-BE49-F238E27FC236}">
                <a16:creationId xmlns:a16="http://schemas.microsoft.com/office/drawing/2014/main" id="{A66D4582-F675-5D4A-DBD2-DE85EF915122}"/>
              </a:ext>
            </a:extLst>
          </p:cNvPr>
          <p:cNvSpPr/>
          <p:nvPr/>
        </p:nvSpPr>
        <p:spPr>
          <a:xfrm>
            <a:off x="10945100" y="5819942"/>
            <a:ext cx="1188720" cy="384048"/>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algn="ctr">
              <a:buSzPts val="1200"/>
            </a:pPr>
            <a:r>
              <a:rPr lang="en-US" sz="1200" b="0" i="0" u="none" strike="noStrike" cap="none" dirty="0">
                <a:solidFill>
                  <a:srgbClr val="000000"/>
                </a:solidFill>
                <a:latin typeface="Times New Roman"/>
                <a:ea typeface="Times New Roman"/>
                <a:cs typeface="Times New Roman"/>
                <a:sym typeface="Times New Roman"/>
              </a:rPr>
              <a:t>PVS1_Strength</a:t>
            </a:r>
            <a:endParaRPr lang="en-US" sz="1400" b="0" i="0" u="none" strike="noStrike" cap="none" dirty="0">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dirty="0">
                <a:solidFill>
                  <a:srgbClr val="000000"/>
                </a:solidFill>
                <a:latin typeface="Times New Roman"/>
                <a:ea typeface="Times New Roman"/>
                <a:cs typeface="Times New Roman"/>
                <a:sym typeface="Times New Roman"/>
              </a:rPr>
              <a:t> + PS1_P</a:t>
            </a:r>
            <a:endParaRPr lang="en-US" sz="1400" b="0" i="0" u="none" strike="noStrike" cap="none" dirty="0">
              <a:solidFill>
                <a:srgbClr val="000000"/>
              </a:solidFill>
              <a:latin typeface="Arial"/>
              <a:ea typeface="Arial"/>
              <a:cs typeface="Arial"/>
              <a:sym typeface="Arial"/>
            </a:endParaRPr>
          </a:p>
        </p:txBody>
      </p:sp>
      <p:cxnSp>
        <p:nvCxnSpPr>
          <p:cNvPr id="344" name="Google Shape;119;p1">
            <a:extLst>
              <a:ext uri="{FF2B5EF4-FFF2-40B4-BE49-F238E27FC236}">
                <a16:creationId xmlns:a16="http://schemas.microsoft.com/office/drawing/2014/main" id="{414C3EBF-E7F4-9E34-FD8B-0836A836668E}"/>
              </a:ext>
            </a:extLst>
          </p:cNvPr>
          <p:cNvCxnSpPr>
            <a:cxnSpLocks/>
            <a:endCxn id="341" idx="1"/>
          </p:cNvCxnSpPr>
          <p:nvPr/>
        </p:nvCxnSpPr>
        <p:spPr>
          <a:xfrm>
            <a:off x="10544183" y="5041234"/>
            <a:ext cx="400917" cy="0"/>
          </a:xfrm>
          <a:prstGeom prst="straightConnector1">
            <a:avLst/>
          </a:prstGeom>
          <a:noFill/>
          <a:ln w="9525" cap="flat" cmpd="sng">
            <a:solidFill>
              <a:srgbClr val="595959"/>
            </a:solidFill>
            <a:prstDash val="solid"/>
            <a:round/>
            <a:headEnd type="none" w="sm" len="sm"/>
            <a:tailEnd type="triangle" w="med" len="med"/>
          </a:ln>
        </p:spPr>
      </p:cxnSp>
      <p:cxnSp>
        <p:nvCxnSpPr>
          <p:cNvPr id="345" name="Google Shape;120;p1">
            <a:extLst>
              <a:ext uri="{FF2B5EF4-FFF2-40B4-BE49-F238E27FC236}">
                <a16:creationId xmlns:a16="http://schemas.microsoft.com/office/drawing/2014/main" id="{6179A241-9687-02E7-E64F-07EA169CE835}"/>
              </a:ext>
            </a:extLst>
          </p:cNvPr>
          <p:cNvCxnSpPr>
            <a:endCxn id="342" idx="1"/>
          </p:cNvCxnSpPr>
          <p:nvPr/>
        </p:nvCxnSpPr>
        <p:spPr>
          <a:xfrm>
            <a:off x="10534659" y="5521898"/>
            <a:ext cx="410441" cy="0"/>
          </a:xfrm>
          <a:prstGeom prst="straightConnector1">
            <a:avLst/>
          </a:prstGeom>
          <a:noFill/>
          <a:ln w="9525" cap="flat" cmpd="sng">
            <a:solidFill>
              <a:srgbClr val="595959"/>
            </a:solidFill>
            <a:prstDash val="solid"/>
            <a:round/>
            <a:headEnd type="none" w="sm" len="sm"/>
            <a:tailEnd type="triangle" w="med" len="med"/>
          </a:ln>
        </p:spPr>
      </p:cxnSp>
      <p:cxnSp>
        <p:nvCxnSpPr>
          <p:cNvPr id="346" name="Google Shape;121;p1">
            <a:extLst>
              <a:ext uri="{FF2B5EF4-FFF2-40B4-BE49-F238E27FC236}">
                <a16:creationId xmlns:a16="http://schemas.microsoft.com/office/drawing/2014/main" id="{94797CD3-852A-EE33-7128-40C6741B2099}"/>
              </a:ext>
            </a:extLst>
          </p:cNvPr>
          <p:cNvCxnSpPr>
            <a:cxnSpLocks/>
            <a:endCxn id="343" idx="1"/>
          </p:cNvCxnSpPr>
          <p:nvPr/>
        </p:nvCxnSpPr>
        <p:spPr>
          <a:xfrm>
            <a:off x="10544183" y="5958210"/>
            <a:ext cx="400917" cy="0"/>
          </a:xfrm>
          <a:prstGeom prst="straightConnector1">
            <a:avLst/>
          </a:prstGeom>
          <a:noFill/>
          <a:ln w="9525" cap="flat" cmpd="sng">
            <a:solidFill>
              <a:srgbClr val="595959"/>
            </a:solidFill>
            <a:prstDash val="solid"/>
            <a:round/>
            <a:headEnd type="none" w="sm" len="sm"/>
            <a:tailEnd type="triangle" w="med" len="med"/>
          </a:ln>
        </p:spPr>
      </p:cxnSp>
      <p:cxnSp>
        <p:nvCxnSpPr>
          <p:cNvPr id="366" name="Google Shape;83;p1">
            <a:extLst>
              <a:ext uri="{FF2B5EF4-FFF2-40B4-BE49-F238E27FC236}">
                <a16:creationId xmlns:a16="http://schemas.microsoft.com/office/drawing/2014/main" id="{92C03B10-87EF-6F86-EEB4-5A70593C8BD7}"/>
              </a:ext>
            </a:extLst>
          </p:cNvPr>
          <p:cNvCxnSpPr>
            <a:cxnSpLocks/>
          </p:cNvCxnSpPr>
          <p:nvPr/>
        </p:nvCxnSpPr>
        <p:spPr>
          <a:xfrm flipV="1">
            <a:off x="2723653" y="4949168"/>
            <a:ext cx="213912" cy="0"/>
          </a:xfrm>
          <a:prstGeom prst="straightConnector1">
            <a:avLst/>
          </a:prstGeom>
          <a:noFill/>
          <a:ln w="9525" cap="flat" cmpd="sng">
            <a:solidFill>
              <a:srgbClr val="44546A"/>
            </a:solidFill>
            <a:prstDash val="solid"/>
            <a:round/>
            <a:headEnd type="none" w="sm" len="sm"/>
            <a:tailEnd type="triangle" w="med" len="med"/>
          </a:ln>
        </p:spPr>
      </p:cxnSp>
      <p:cxnSp>
        <p:nvCxnSpPr>
          <p:cNvPr id="368" name="Google Shape;83;p1">
            <a:extLst>
              <a:ext uri="{FF2B5EF4-FFF2-40B4-BE49-F238E27FC236}">
                <a16:creationId xmlns:a16="http://schemas.microsoft.com/office/drawing/2014/main" id="{2EC4B360-D404-6284-2EE2-0A7CCBB35548}"/>
              </a:ext>
            </a:extLst>
          </p:cNvPr>
          <p:cNvCxnSpPr>
            <a:cxnSpLocks/>
            <a:endCxn id="59" idx="1"/>
          </p:cNvCxnSpPr>
          <p:nvPr/>
        </p:nvCxnSpPr>
        <p:spPr>
          <a:xfrm>
            <a:off x="2698213" y="1612306"/>
            <a:ext cx="239353" cy="0"/>
          </a:xfrm>
          <a:prstGeom prst="straightConnector1">
            <a:avLst/>
          </a:prstGeom>
          <a:noFill/>
          <a:ln w="9525" cap="flat" cmpd="sng">
            <a:solidFill>
              <a:srgbClr val="44546A"/>
            </a:solidFill>
            <a:prstDash val="solid"/>
            <a:round/>
            <a:headEnd type="none" w="sm" len="sm"/>
            <a:tailEnd type="triangle" w="med" len="med"/>
          </a:ln>
        </p:spPr>
      </p:cxnSp>
      <p:cxnSp>
        <p:nvCxnSpPr>
          <p:cNvPr id="370" name="Google Shape;83;p1">
            <a:extLst>
              <a:ext uri="{FF2B5EF4-FFF2-40B4-BE49-F238E27FC236}">
                <a16:creationId xmlns:a16="http://schemas.microsoft.com/office/drawing/2014/main" id="{2F856DD1-8406-9B68-7DA3-7E335B55C19B}"/>
              </a:ext>
            </a:extLst>
          </p:cNvPr>
          <p:cNvCxnSpPr>
            <a:cxnSpLocks/>
          </p:cNvCxnSpPr>
          <p:nvPr/>
        </p:nvCxnSpPr>
        <p:spPr>
          <a:xfrm flipV="1">
            <a:off x="1340282" y="1612306"/>
            <a:ext cx="252131" cy="1545296"/>
          </a:xfrm>
          <a:prstGeom prst="straightConnector1">
            <a:avLst/>
          </a:prstGeom>
          <a:noFill/>
          <a:ln w="9525" cap="flat" cmpd="sng">
            <a:solidFill>
              <a:srgbClr val="44546A"/>
            </a:solidFill>
            <a:prstDash val="solid"/>
            <a:round/>
            <a:headEnd type="none" w="sm" len="sm"/>
            <a:tailEnd type="triangle" w="med" len="med"/>
          </a:ln>
        </p:spPr>
      </p:cxnSp>
      <p:cxnSp>
        <p:nvCxnSpPr>
          <p:cNvPr id="372" name="Google Shape;83;p1">
            <a:extLst>
              <a:ext uri="{FF2B5EF4-FFF2-40B4-BE49-F238E27FC236}">
                <a16:creationId xmlns:a16="http://schemas.microsoft.com/office/drawing/2014/main" id="{8EB46500-0C0C-497A-27BC-EAA4077D92C3}"/>
              </a:ext>
            </a:extLst>
          </p:cNvPr>
          <p:cNvCxnSpPr>
            <a:cxnSpLocks/>
            <a:endCxn id="239" idx="1"/>
          </p:cNvCxnSpPr>
          <p:nvPr/>
        </p:nvCxnSpPr>
        <p:spPr>
          <a:xfrm>
            <a:off x="1342840" y="3137506"/>
            <a:ext cx="249573" cy="1786325"/>
          </a:xfrm>
          <a:prstGeom prst="straightConnector1">
            <a:avLst/>
          </a:prstGeom>
          <a:noFill/>
          <a:ln w="9525" cap="flat" cmpd="sng">
            <a:solidFill>
              <a:srgbClr val="44546A"/>
            </a:solidFill>
            <a:prstDash val="solid"/>
            <a:round/>
            <a:headEnd type="none" w="sm" len="sm"/>
            <a:tailEnd type="triangle" w="med" len="med"/>
          </a:ln>
        </p:spPr>
      </p:cxnSp>
      <p:sp>
        <p:nvSpPr>
          <p:cNvPr id="390" name="Google Shape;71;p1">
            <a:extLst>
              <a:ext uri="{FF2B5EF4-FFF2-40B4-BE49-F238E27FC236}">
                <a16:creationId xmlns:a16="http://schemas.microsoft.com/office/drawing/2014/main" id="{BB4D8680-C19D-E3C8-96DD-5FFC9507A9CE}"/>
              </a:ext>
            </a:extLst>
          </p:cNvPr>
          <p:cNvSpPr/>
          <p:nvPr/>
        </p:nvSpPr>
        <p:spPr>
          <a:xfrm>
            <a:off x="4392226" y="6861561"/>
            <a:ext cx="1319713" cy="41352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dirty="0">
                <a:solidFill>
                  <a:srgbClr val="000000"/>
                </a:solidFill>
                <a:latin typeface="Times New Roman"/>
                <a:ea typeface="Times New Roman"/>
                <a:cs typeface="Times New Roman"/>
                <a:sym typeface="Times New Roman"/>
              </a:rPr>
              <a:t>BP7_S (RNA) applied</a:t>
            </a:r>
            <a:endParaRPr lang="en-US" sz="1400" b="0" i="0" u="none" strike="noStrike" cap="none" dirty="0">
              <a:solidFill>
                <a:srgbClr val="000000"/>
              </a:solidFill>
              <a:latin typeface="Arial"/>
              <a:ea typeface="Arial"/>
              <a:cs typeface="Arial"/>
              <a:sym typeface="Arial"/>
            </a:endParaRPr>
          </a:p>
        </p:txBody>
      </p:sp>
      <p:sp>
        <p:nvSpPr>
          <p:cNvPr id="391" name="Google Shape;72;p1">
            <a:extLst>
              <a:ext uri="{FF2B5EF4-FFF2-40B4-BE49-F238E27FC236}">
                <a16:creationId xmlns:a16="http://schemas.microsoft.com/office/drawing/2014/main" id="{DBE07DDF-4AAB-617A-67E8-D867E6E74566}"/>
              </a:ext>
            </a:extLst>
          </p:cNvPr>
          <p:cNvSpPr/>
          <p:nvPr/>
        </p:nvSpPr>
        <p:spPr>
          <a:xfrm>
            <a:off x="4392226" y="7423007"/>
            <a:ext cx="1319713" cy="1085846"/>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dirty="0">
                <a:solidFill>
                  <a:srgbClr val="000000"/>
                </a:solidFill>
                <a:latin typeface="Times New Roman"/>
                <a:ea typeface="Times New Roman"/>
                <a:cs typeface="Times New Roman"/>
                <a:sym typeface="Times New Roman"/>
              </a:rPr>
              <a:t>Assess pathogenicity using protein pathway</a:t>
            </a:r>
            <a:endParaRPr lang="en-US" sz="1400" b="0" i="0" u="none" strike="noStrike" cap="none" dirty="0">
              <a:solidFill>
                <a:srgbClr val="000000"/>
              </a:solidFill>
              <a:latin typeface="Arial"/>
              <a:ea typeface="Arial"/>
              <a:cs typeface="Arial"/>
              <a:sym typeface="Arial"/>
            </a:endParaRPr>
          </a:p>
        </p:txBody>
      </p:sp>
      <p:cxnSp>
        <p:nvCxnSpPr>
          <p:cNvPr id="392" name="Google Shape;121;p1">
            <a:extLst>
              <a:ext uri="{FF2B5EF4-FFF2-40B4-BE49-F238E27FC236}">
                <a16:creationId xmlns:a16="http://schemas.microsoft.com/office/drawing/2014/main" id="{28D8FBC0-4331-1661-456C-266633FBE44C}"/>
              </a:ext>
            </a:extLst>
          </p:cNvPr>
          <p:cNvCxnSpPr>
            <a:cxnSpLocks/>
            <a:stCxn id="394" idx="3"/>
            <a:endCxn id="390" idx="1"/>
          </p:cNvCxnSpPr>
          <p:nvPr/>
        </p:nvCxnSpPr>
        <p:spPr>
          <a:xfrm flipV="1">
            <a:off x="4043366" y="7068321"/>
            <a:ext cx="348860" cy="218311"/>
          </a:xfrm>
          <a:prstGeom prst="straightConnector1">
            <a:avLst/>
          </a:prstGeom>
          <a:noFill/>
          <a:ln w="9525" cap="flat" cmpd="sng">
            <a:solidFill>
              <a:srgbClr val="595959"/>
            </a:solidFill>
            <a:prstDash val="solid"/>
            <a:round/>
            <a:headEnd type="none" w="sm" len="sm"/>
            <a:tailEnd type="triangle" w="med" len="med"/>
          </a:ln>
        </p:spPr>
      </p:cxnSp>
      <p:cxnSp>
        <p:nvCxnSpPr>
          <p:cNvPr id="393" name="Google Shape;122;p1">
            <a:extLst>
              <a:ext uri="{FF2B5EF4-FFF2-40B4-BE49-F238E27FC236}">
                <a16:creationId xmlns:a16="http://schemas.microsoft.com/office/drawing/2014/main" id="{A89D4DB9-F258-FBE5-CEA0-6846292E91D4}"/>
              </a:ext>
            </a:extLst>
          </p:cNvPr>
          <p:cNvCxnSpPr>
            <a:cxnSpLocks/>
            <a:stCxn id="395" idx="3"/>
            <a:endCxn id="391" idx="1"/>
          </p:cNvCxnSpPr>
          <p:nvPr/>
        </p:nvCxnSpPr>
        <p:spPr>
          <a:xfrm flipV="1">
            <a:off x="4043366" y="7965930"/>
            <a:ext cx="348860" cy="246851"/>
          </a:xfrm>
          <a:prstGeom prst="straightConnector1">
            <a:avLst/>
          </a:prstGeom>
          <a:noFill/>
          <a:ln w="9525" cap="flat" cmpd="sng">
            <a:solidFill>
              <a:srgbClr val="595959"/>
            </a:solidFill>
            <a:prstDash val="solid"/>
            <a:round/>
            <a:headEnd type="none" w="sm" len="sm"/>
            <a:tailEnd type="triangle" w="med" len="med"/>
          </a:ln>
        </p:spPr>
      </p:cxnSp>
      <p:sp>
        <p:nvSpPr>
          <p:cNvPr id="394" name="Google Shape;69;p1">
            <a:extLst>
              <a:ext uri="{FF2B5EF4-FFF2-40B4-BE49-F238E27FC236}">
                <a16:creationId xmlns:a16="http://schemas.microsoft.com/office/drawing/2014/main" id="{B2D85106-31E9-FDD6-B043-2A30C8DE352C}"/>
              </a:ext>
            </a:extLst>
          </p:cNvPr>
          <p:cNvSpPr/>
          <p:nvPr/>
        </p:nvSpPr>
        <p:spPr>
          <a:xfrm>
            <a:off x="2961291" y="6861561"/>
            <a:ext cx="1082075" cy="850141"/>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dirty="0">
                <a:solidFill>
                  <a:srgbClr val="000000"/>
                </a:solidFill>
                <a:latin typeface="Times New Roman"/>
                <a:ea typeface="Times New Roman"/>
                <a:cs typeface="Times New Roman"/>
                <a:sym typeface="Times New Roman"/>
              </a:rPr>
              <a:t>Silent / Intronic</a:t>
            </a:r>
            <a:endParaRPr lang="en-US" sz="1400" b="0" i="0" u="none" strike="noStrike" cap="none" dirty="0">
              <a:solidFill>
                <a:srgbClr val="000000"/>
              </a:solidFill>
              <a:latin typeface="Arial"/>
              <a:ea typeface="Arial"/>
              <a:cs typeface="Arial"/>
              <a:sym typeface="Arial"/>
            </a:endParaRPr>
          </a:p>
        </p:txBody>
      </p:sp>
      <p:sp>
        <p:nvSpPr>
          <p:cNvPr id="395" name="Google Shape;69;p1">
            <a:extLst>
              <a:ext uri="{FF2B5EF4-FFF2-40B4-BE49-F238E27FC236}">
                <a16:creationId xmlns:a16="http://schemas.microsoft.com/office/drawing/2014/main" id="{9875157C-4C5B-6FC5-B7D5-4A3B6A6E0B43}"/>
              </a:ext>
            </a:extLst>
          </p:cNvPr>
          <p:cNvSpPr/>
          <p:nvPr/>
        </p:nvSpPr>
        <p:spPr>
          <a:xfrm>
            <a:off x="2945264" y="7809384"/>
            <a:ext cx="1098102" cy="806793"/>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dirty="0">
                <a:solidFill>
                  <a:srgbClr val="000000"/>
                </a:solidFill>
                <a:latin typeface="Times New Roman"/>
                <a:ea typeface="Times New Roman"/>
                <a:cs typeface="Times New Roman"/>
                <a:sym typeface="Times New Roman"/>
              </a:rPr>
              <a:t>Other variant types / positions</a:t>
            </a:r>
            <a:endParaRPr lang="en-US" sz="1400" b="0" i="0" u="none" strike="noStrike" cap="none" dirty="0">
              <a:solidFill>
                <a:srgbClr val="000000"/>
              </a:solidFill>
              <a:latin typeface="Arial"/>
              <a:ea typeface="Arial"/>
              <a:cs typeface="Arial"/>
              <a:sym typeface="Arial"/>
            </a:endParaRPr>
          </a:p>
        </p:txBody>
      </p:sp>
      <p:cxnSp>
        <p:nvCxnSpPr>
          <p:cNvPr id="396" name="Google Shape;80;p1">
            <a:extLst>
              <a:ext uri="{FF2B5EF4-FFF2-40B4-BE49-F238E27FC236}">
                <a16:creationId xmlns:a16="http://schemas.microsoft.com/office/drawing/2014/main" id="{D18B60DE-DE84-5C76-3C59-F07EB7939AEA}"/>
              </a:ext>
            </a:extLst>
          </p:cNvPr>
          <p:cNvCxnSpPr>
            <a:cxnSpLocks/>
            <a:endCxn id="394" idx="1"/>
          </p:cNvCxnSpPr>
          <p:nvPr/>
        </p:nvCxnSpPr>
        <p:spPr>
          <a:xfrm flipV="1">
            <a:off x="2692962" y="7286632"/>
            <a:ext cx="268329" cy="446895"/>
          </a:xfrm>
          <a:prstGeom prst="straightConnector1">
            <a:avLst/>
          </a:prstGeom>
          <a:noFill/>
          <a:ln w="9525" cap="flat" cmpd="sng">
            <a:solidFill>
              <a:srgbClr val="44546A"/>
            </a:solidFill>
            <a:prstDash val="solid"/>
            <a:round/>
            <a:headEnd type="none" w="sm" len="sm"/>
            <a:tailEnd type="triangle" w="med" len="med"/>
          </a:ln>
        </p:spPr>
      </p:cxnSp>
      <p:cxnSp>
        <p:nvCxnSpPr>
          <p:cNvPr id="397" name="Google Shape;80;p1">
            <a:extLst>
              <a:ext uri="{FF2B5EF4-FFF2-40B4-BE49-F238E27FC236}">
                <a16:creationId xmlns:a16="http://schemas.microsoft.com/office/drawing/2014/main" id="{4717C2CE-AC50-3CB1-66E3-C3D6340E87D2}"/>
              </a:ext>
            </a:extLst>
          </p:cNvPr>
          <p:cNvCxnSpPr>
            <a:cxnSpLocks/>
            <a:endCxn id="395" idx="1"/>
          </p:cNvCxnSpPr>
          <p:nvPr/>
        </p:nvCxnSpPr>
        <p:spPr>
          <a:xfrm>
            <a:off x="2685398" y="7741378"/>
            <a:ext cx="259866" cy="471403"/>
          </a:xfrm>
          <a:prstGeom prst="straightConnector1">
            <a:avLst/>
          </a:prstGeom>
          <a:noFill/>
          <a:ln w="9525" cap="flat" cmpd="sng">
            <a:solidFill>
              <a:srgbClr val="44546A"/>
            </a:solidFill>
            <a:prstDash val="solid"/>
            <a:round/>
            <a:headEnd type="none" w="sm" len="sm"/>
            <a:tailEnd type="triangle" w="med" len="med"/>
          </a:ln>
        </p:spPr>
      </p:cxnSp>
      <p:cxnSp>
        <p:nvCxnSpPr>
          <p:cNvPr id="404" name="Google Shape;86;p1">
            <a:extLst>
              <a:ext uri="{FF2B5EF4-FFF2-40B4-BE49-F238E27FC236}">
                <a16:creationId xmlns:a16="http://schemas.microsoft.com/office/drawing/2014/main" id="{54866A8B-E8B2-0746-A209-7977A128FA7C}"/>
              </a:ext>
            </a:extLst>
          </p:cNvPr>
          <p:cNvCxnSpPr>
            <a:cxnSpLocks/>
            <a:stCxn id="391" idx="3"/>
            <a:endCxn id="406" idx="1"/>
          </p:cNvCxnSpPr>
          <p:nvPr/>
        </p:nvCxnSpPr>
        <p:spPr>
          <a:xfrm flipV="1">
            <a:off x="5711939" y="7958725"/>
            <a:ext cx="279776" cy="7205"/>
          </a:xfrm>
          <a:prstGeom prst="straightConnector1">
            <a:avLst/>
          </a:prstGeom>
          <a:noFill/>
          <a:ln w="9525" cap="flat" cmpd="sng">
            <a:solidFill>
              <a:srgbClr val="44546A"/>
            </a:solidFill>
            <a:prstDash val="solid"/>
            <a:round/>
            <a:headEnd type="none" w="sm" len="sm"/>
            <a:tailEnd type="triangle" w="med" len="med"/>
          </a:ln>
        </p:spPr>
      </p:cxnSp>
      <p:sp>
        <p:nvSpPr>
          <p:cNvPr id="405" name="Google Shape;64;p1">
            <a:extLst>
              <a:ext uri="{FF2B5EF4-FFF2-40B4-BE49-F238E27FC236}">
                <a16:creationId xmlns:a16="http://schemas.microsoft.com/office/drawing/2014/main" id="{D1F5FAA7-BFD9-DDF2-B821-DB0354542A4F}"/>
              </a:ext>
            </a:extLst>
          </p:cNvPr>
          <p:cNvSpPr/>
          <p:nvPr/>
        </p:nvSpPr>
        <p:spPr>
          <a:xfrm>
            <a:off x="5991715" y="6861561"/>
            <a:ext cx="3228510" cy="41148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dirty="0">
                <a:solidFill>
                  <a:srgbClr val="000000"/>
                </a:solidFill>
                <a:latin typeface="Times New Roman"/>
                <a:ea typeface="Times New Roman"/>
                <a:cs typeface="Times New Roman"/>
                <a:sym typeface="Times New Roman"/>
              </a:rPr>
              <a:t>Consider splicing predictive data</a:t>
            </a:r>
            <a:endParaRPr lang="en-US" sz="1400" b="0" i="0" u="none" strike="noStrike" cap="none" dirty="0">
              <a:solidFill>
                <a:srgbClr val="000000"/>
              </a:solidFill>
              <a:latin typeface="Arial"/>
              <a:ea typeface="Arial"/>
              <a:cs typeface="Arial"/>
              <a:sym typeface="Arial"/>
            </a:endParaRPr>
          </a:p>
        </p:txBody>
      </p:sp>
      <p:sp>
        <p:nvSpPr>
          <p:cNvPr id="406" name="Google Shape;67;p1">
            <a:extLst>
              <a:ext uri="{FF2B5EF4-FFF2-40B4-BE49-F238E27FC236}">
                <a16:creationId xmlns:a16="http://schemas.microsoft.com/office/drawing/2014/main" id="{7AC58CCA-F6B4-92A9-B9C4-42F6021CD78C}"/>
              </a:ext>
            </a:extLst>
          </p:cNvPr>
          <p:cNvSpPr/>
          <p:nvPr/>
        </p:nvSpPr>
        <p:spPr>
          <a:xfrm>
            <a:off x="5991715" y="7408597"/>
            <a:ext cx="2843659" cy="1100256"/>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dirty="0">
                <a:solidFill>
                  <a:srgbClr val="000000"/>
                </a:solidFill>
                <a:latin typeface="Times New Roman"/>
                <a:ea typeface="Times New Roman"/>
                <a:cs typeface="Times New Roman"/>
                <a:sym typeface="Times New Roman"/>
              </a:rPr>
              <a:t>Can the protein impact be ruled out (based on functional and / or clinical data)?</a:t>
            </a:r>
            <a:endParaRPr lang="en-US" sz="1400" b="0" i="0" u="none" strike="noStrike" cap="none" dirty="0">
              <a:solidFill>
                <a:srgbClr val="000000"/>
              </a:solidFill>
              <a:latin typeface="Arial"/>
              <a:ea typeface="Arial"/>
              <a:cs typeface="Arial"/>
              <a:sym typeface="Arial"/>
            </a:endParaRPr>
          </a:p>
        </p:txBody>
      </p:sp>
      <p:cxnSp>
        <p:nvCxnSpPr>
          <p:cNvPr id="407" name="Google Shape;82;p1">
            <a:extLst>
              <a:ext uri="{FF2B5EF4-FFF2-40B4-BE49-F238E27FC236}">
                <a16:creationId xmlns:a16="http://schemas.microsoft.com/office/drawing/2014/main" id="{76368EEE-9D71-9F34-88D2-029E54F98223}"/>
              </a:ext>
            </a:extLst>
          </p:cNvPr>
          <p:cNvCxnSpPr>
            <a:cxnSpLocks/>
            <a:stCxn id="390" idx="3"/>
            <a:endCxn id="405" idx="1"/>
          </p:cNvCxnSpPr>
          <p:nvPr/>
        </p:nvCxnSpPr>
        <p:spPr>
          <a:xfrm flipV="1">
            <a:off x="5711939" y="7067301"/>
            <a:ext cx="279776" cy="1020"/>
          </a:xfrm>
          <a:prstGeom prst="straightConnector1">
            <a:avLst/>
          </a:prstGeom>
          <a:noFill/>
          <a:ln w="9525" cap="flat" cmpd="sng">
            <a:solidFill>
              <a:srgbClr val="44546A"/>
            </a:solidFill>
            <a:prstDash val="solid"/>
            <a:round/>
            <a:headEnd type="none" w="sm" len="sm"/>
            <a:tailEnd type="triangle" w="med" len="med"/>
          </a:ln>
        </p:spPr>
      </p:cxnSp>
      <p:cxnSp>
        <p:nvCxnSpPr>
          <p:cNvPr id="408" name="Google Shape;83;p1">
            <a:extLst>
              <a:ext uri="{FF2B5EF4-FFF2-40B4-BE49-F238E27FC236}">
                <a16:creationId xmlns:a16="http://schemas.microsoft.com/office/drawing/2014/main" id="{0E26A9B6-A932-8FEF-D225-DE67490789F4}"/>
              </a:ext>
            </a:extLst>
          </p:cNvPr>
          <p:cNvCxnSpPr>
            <a:cxnSpLocks/>
            <a:stCxn id="406" idx="3"/>
            <a:endCxn id="428" idx="1"/>
          </p:cNvCxnSpPr>
          <p:nvPr/>
        </p:nvCxnSpPr>
        <p:spPr>
          <a:xfrm>
            <a:off x="8835374" y="7958725"/>
            <a:ext cx="284790" cy="228889"/>
          </a:xfrm>
          <a:prstGeom prst="straightConnector1">
            <a:avLst/>
          </a:prstGeom>
          <a:noFill/>
          <a:ln w="9525" cap="flat" cmpd="sng">
            <a:solidFill>
              <a:srgbClr val="44546A"/>
            </a:solidFill>
            <a:prstDash val="solid"/>
            <a:round/>
            <a:headEnd type="none" w="sm" len="sm"/>
            <a:tailEnd type="triangle" w="med" len="med"/>
          </a:ln>
        </p:spPr>
      </p:cxnSp>
      <p:sp>
        <p:nvSpPr>
          <p:cNvPr id="411" name="Google Shape;70;p1">
            <a:extLst>
              <a:ext uri="{FF2B5EF4-FFF2-40B4-BE49-F238E27FC236}">
                <a16:creationId xmlns:a16="http://schemas.microsoft.com/office/drawing/2014/main" id="{741BE543-418F-CA56-076F-CE44AAD1101D}"/>
              </a:ext>
            </a:extLst>
          </p:cNvPr>
          <p:cNvSpPr/>
          <p:nvPr/>
        </p:nvSpPr>
        <p:spPr>
          <a:xfrm>
            <a:off x="10091279" y="7399949"/>
            <a:ext cx="2062073" cy="384048"/>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algn="ctr">
              <a:buSzPts val="1200"/>
            </a:pPr>
            <a:r>
              <a:rPr lang="en-US" sz="1200" b="0" i="0" u="none" strike="noStrike" cap="none" dirty="0">
                <a:solidFill>
                  <a:srgbClr val="000000"/>
                </a:solidFill>
                <a:latin typeface="Times New Roman"/>
                <a:ea typeface="Times New Roman"/>
                <a:cs typeface="Times New Roman"/>
                <a:sym typeface="Times New Roman"/>
              </a:rPr>
              <a:t>BP7_S (RNA) + prediction (PP3/BP4)</a:t>
            </a:r>
            <a:endParaRPr lang="en-US" sz="1400" b="0" i="0" u="none" strike="noStrike" cap="none" dirty="0">
              <a:solidFill>
                <a:srgbClr val="000000"/>
              </a:solidFill>
              <a:latin typeface="Arial"/>
              <a:ea typeface="Arial"/>
              <a:cs typeface="Arial"/>
              <a:sym typeface="Arial"/>
            </a:endParaRPr>
          </a:p>
        </p:txBody>
      </p:sp>
      <p:sp>
        <p:nvSpPr>
          <p:cNvPr id="412" name="Google Shape;71;p1">
            <a:extLst>
              <a:ext uri="{FF2B5EF4-FFF2-40B4-BE49-F238E27FC236}">
                <a16:creationId xmlns:a16="http://schemas.microsoft.com/office/drawing/2014/main" id="{8126D227-0360-CC21-FA3E-789B9293E9FD}"/>
              </a:ext>
            </a:extLst>
          </p:cNvPr>
          <p:cNvSpPr/>
          <p:nvPr/>
        </p:nvSpPr>
        <p:spPr>
          <a:xfrm>
            <a:off x="10091279" y="7871168"/>
            <a:ext cx="2062073" cy="640031"/>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algn="ctr">
              <a:buSzPts val="1200"/>
            </a:pPr>
            <a:r>
              <a:rPr lang="en-US" sz="1200" b="0" i="0" u="none" strike="noStrike" cap="none" dirty="0">
                <a:solidFill>
                  <a:srgbClr val="000000"/>
                </a:solidFill>
                <a:latin typeface="Times New Roman"/>
                <a:ea typeface="Times New Roman"/>
                <a:cs typeface="Times New Roman"/>
                <a:sym typeface="Times New Roman"/>
              </a:rPr>
              <a:t>Document as “BP7_S (RNA)” Not Met to indicate that data was present and reviewed</a:t>
            </a:r>
            <a:endParaRPr lang="en-US" sz="1400" b="0" i="0" u="none" strike="noStrike" cap="none" dirty="0">
              <a:solidFill>
                <a:srgbClr val="000000"/>
              </a:solidFill>
              <a:latin typeface="Arial"/>
              <a:ea typeface="Arial"/>
              <a:cs typeface="Arial"/>
              <a:sym typeface="Arial"/>
            </a:endParaRPr>
          </a:p>
        </p:txBody>
      </p:sp>
      <p:cxnSp>
        <p:nvCxnSpPr>
          <p:cNvPr id="413" name="Google Shape;119;p1">
            <a:extLst>
              <a:ext uri="{FF2B5EF4-FFF2-40B4-BE49-F238E27FC236}">
                <a16:creationId xmlns:a16="http://schemas.microsoft.com/office/drawing/2014/main" id="{60A155AF-F000-46EF-8FE9-9CBE96FD6D51}"/>
              </a:ext>
            </a:extLst>
          </p:cNvPr>
          <p:cNvCxnSpPr>
            <a:cxnSpLocks/>
            <a:stCxn id="405" idx="3"/>
            <a:endCxn id="410" idx="1"/>
          </p:cNvCxnSpPr>
          <p:nvPr/>
        </p:nvCxnSpPr>
        <p:spPr>
          <a:xfrm>
            <a:off x="9220225" y="7067301"/>
            <a:ext cx="1314434" cy="0"/>
          </a:xfrm>
          <a:prstGeom prst="straightConnector1">
            <a:avLst/>
          </a:prstGeom>
          <a:noFill/>
          <a:ln w="9525" cap="flat" cmpd="sng">
            <a:solidFill>
              <a:srgbClr val="595959"/>
            </a:solidFill>
            <a:prstDash val="solid"/>
            <a:round/>
            <a:headEnd type="none" w="sm" len="sm"/>
            <a:tailEnd type="triangle" w="med" len="med"/>
          </a:ln>
        </p:spPr>
      </p:cxnSp>
      <p:cxnSp>
        <p:nvCxnSpPr>
          <p:cNvPr id="414" name="Google Shape;120;p1">
            <a:extLst>
              <a:ext uri="{FF2B5EF4-FFF2-40B4-BE49-F238E27FC236}">
                <a16:creationId xmlns:a16="http://schemas.microsoft.com/office/drawing/2014/main" id="{9813E860-385E-B289-6DB8-E3F186C3F6F8}"/>
              </a:ext>
            </a:extLst>
          </p:cNvPr>
          <p:cNvCxnSpPr>
            <a:cxnSpLocks/>
          </p:cNvCxnSpPr>
          <p:nvPr/>
        </p:nvCxnSpPr>
        <p:spPr>
          <a:xfrm>
            <a:off x="9635516" y="7642229"/>
            <a:ext cx="455763" cy="0"/>
          </a:xfrm>
          <a:prstGeom prst="straightConnector1">
            <a:avLst/>
          </a:prstGeom>
          <a:noFill/>
          <a:ln w="9525" cap="flat" cmpd="sng">
            <a:solidFill>
              <a:srgbClr val="595959"/>
            </a:solidFill>
            <a:prstDash val="solid"/>
            <a:round/>
            <a:headEnd type="none" w="sm" len="sm"/>
            <a:tailEnd type="triangle" w="med" len="med"/>
          </a:ln>
        </p:spPr>
      </p:cxnSp>
      <p:cxnSp>
        <p:nvCxnSpPr>
          <p:cNvPr id="415" name="Google Shape;121;p1">
            <a:extLst>
              <a:ext uri="{FF2B5EF4-FFF2-40B4-BE49-F238E27FC236}">
                <a16:creationId xmlns:a16="http://schemas.microsoft.com/office/drawing/2014/main" id="{A32249D8-22E5-8ACA-8754-CAEE1BA8AE4D}"/>
              </a:ext>
            </a:extLst>
          </p:cNvPr>
          <p:cNvCxnSpPr>
            <a:cxnSpLocks/>
          </p:cNvCxnSpPr>
          <p:nvPr/>
        </p:nvCxnSpPr>
        <p:spPr>
          <a:xfrm>
            <a:off x="9635516" y="8187614"/>
            <a:ext cx="455763" cy="0"/>
          </a:xfrm>
          <a:prstGeom prst="straightConnector1">
            <a:avLst/>
          </a:prstGeom>
          <a:noFill/>
          <a:ln w="9525" cap="flat" cmpd="sng">
            <a:solidFill>
              <a:srgbClr val="595959"/>
            </a:solidFill>
            <a:prstDash val="solid"/>
            <a:round/>
            <a:headEnd type="none" w="sm" len="sm"/>
            <a:tailEnd type="triangle" w="med" len="med"/>
          </a:ln>
        </p:spPr>
      </p:cxnSp>
      <p:sp>
        <p:nvSpPr>
          <p:cNvPr id="427" name="Google Shape;67;p1">
            <a:extLst>
              <a:ext uri="{FF2B5EF4-FFF2-40B4-BE49-F238E27FC236}">
                <a16:creationId xmlns:a16="http://schemas.microsoft.com/office/drawing/2014/main" id="{8BBF24D4-1CE1-69F6-F938-2E0656E496B0}"/>
              </a:ext>
            </a:extLst>
          </p:cNvPr>
          <p:cNvSpPr/>
          <p:nvPr/>
        </p:nvSpPr>
        <p:spPr>
          <a:xfrm>
            <a:off x="9115150" y="7504717"/>
            <a:ext cx="518179" cy="27432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dirty="0">
                <a:solidFill>
                  <a:srgbClr val="000000"/>
                </a:solidFill>
                <a:latin typeface="Times New Roman"/>
                <a:ea typeface="Times New Roman"/>
                <a:cs typeface="Times New Roman"/>
                <a:sym typeface="Times New Roman"/>
              </a:rPr>
              <a:t>Yes</a:t>
            </a:r>
            <a:endParaRPr lang="en-US" sz="1400" b="0" i="0" u="none" strike="noStrike" cap="none" dirty="0">
              <a:solidFill>
                <a:srgbClr val="000000"/>
              </a:solidFill>
              <a:latin typeface="Arial"/>
              <a:ea typeface="Arial"/>
              <a:cs typeface="Arial"/>
              <a:sym typeface="Arial"/>
            </a:endParaRPr>
          </a:p>
        </p:txBody>
      </p:sp>
      <p:sp>
        <p:nvSpPr>
          <p:cNvPr id="428" name="Google Shape;67;p1">
            <a:extLst>
              <a:ext uri="{FF2B5EF4-FFF2-40B4-BE49-F238E27FC236}">
                <a16:creationId xmlns:a16="http://schemas.microsoft.com/office/drawing/2014/main" id="{1F4FD97D-C09D-44AC-771D-C54C257AA2C3}"/>
              </a:ext>
            </a:extLst>
          </p:cNvPr>
          <p:cNvSpPr/>
          <p:nvPr/>
        </p:nvSpPr>
        <p:spPr>
          <a:xfrm>
            <a:off x="9120164" y="8050454"/>
            <a:ext cx="518179" cy="27432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dirty="0">
                <a:solidFill>
                  <a:srgbClr val="000000"/>
                </a:solidFill>
                <a:latin typeface="Times New Roman"/>
                <a:ea typeface="Times New Roman"/>
                <a:cs typeface="Times New Roman"/>
                <a:sym typeface="Times New Roman"/>
              </a:rPr>
              <a:t>No</a:t>
            </a:r>
            <a:endParaRPr lang="en-US" sz="1400" b="0" i="0" u="none" strike="noStrike" cap="none" dirty="0">
              <a:solidFill>
                <a:srgbClr val="000000"/>
              </a:solidFill>
              <a:latin typeface="Arial"/>
              <a:ea typeface="Arial"/>
              <a:cs typeface="Arial"/>
              <a:sym typeface="Arial"/>
            </a:endParaRPr>
          </a:p>
        </p:txBody>
      </p:sp>
      <p:cxnSp>
        <p:nvCxnSpPr>
          <p:cNvPr id="431" name="Google Shape;83;p1">
            <a:extLst>
              <a:ext uri="{FF2B5EF4-FFF2-40B4-BE49-F238E27FC236}">
                <a16:creationId xmlns:a16="http://schemas.microsoft.com/office/drawing/2014/main" id="{533FF9B4-211F-6904-E89D-320CB092CE91}"/>
              </a:ext>
            </a:extLst>
          </p:cNvPr>
          <p:cNvCxnSpPr>
            <a:cxnSpLocks/>
            <a:stCxn id="406" idx="3"/>
            <a:endCxn id="427" idx="1"/>
          </p:cNvCxnSpPr>
          <p:nvPr/>
        </p:nvCxnSpPr>
        <p:spPr>
          <a:xfrm flipV="1">
            <a:off x="8835374" y="7641877"/>
            <a:ext cx="279776" cy="316848"/>
          </a:xfrm>
          <a:prstGeom prst="straightConnector1">
            <a:avLst/>
          </a:prstGeom>
          <a:noFill/>
          <a:ln w="9525" cap="flat" cmpd="sng">
            <a:solidFill>
              <a:srgbClr val="44546A"/>
            </a:solidFill>
            <a:prstDash val="solid"/>
            <a:round/>
            <a:headEnd type="none" w="sm" len="sm"/>
            <a:tailEnd type="triangle" w="med" len="med"/>
          </a:ln>
        </p:spPr>
      </p:cxnSp>
      <p:sp>
        <p:nvSpPr>
          <p:cNvPr id="462" name="Google Shape;203;p1">
            <a:extLst>
              <a:ext uri="{FF2B5EF4-FFF2-40B4-BE49-F238E27FC236}">
                <a16:creationId xmlns:a16="http://schemas.microsoft.com/office/drawing/2014/main" id="{02CE34A5-2A81-CA29-1E53-801012BD7E0C}"/>
              </a:ext>
            </a:extLst>
          </p:cNvPr>
          <p:cNvSpPr/>
          <p:nvPr/>
        </p:nvSpPr>
        <p:spPr>
          <a:xfrm>
            <a:off x="6158272" y="9993247"/>
            <a:ext cx="3500257" cy="348305"/>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dirty="0">
              <a:solidFill>
                <a:srgbClr val="000000"/>
              </a:solidFill>
              <a:latin typeface="Times New Roman" panose="02020603050405020304" pitchFamily="18" charset="0"/>
              <a:ea typeface="Times New Roman"/>
              <a:cs typeface="Times New Roman" panose="02020603050405020304" pitchFamily="18" charset="0"/>
              <a:sym typeface="Times New Roman"/>
            </a:endParaRPr>
          </a:p>
        </p:txBody>
      </p:sp>
      <p:sp>
        <p:nvSpPr>
          <p:cNvPr id="461" name="Google Shape;203;p1">
            <a:extLst>
              <a:ext uri="{FF2B5EF4-FFF2-40B4-BE49-F238E27FC236}">
                <a16:creationId xmlns:a16="http://schemas.microsoft.com/office/drawing/2014/main" id="{0C135CD1-43C2-6D9F-6EC3-51FF2786D5E8}"/>
              </a:ext>
            </a:extLst>
          </p:cNvPr>
          <p:cNvSpPr/>
          <p:nvPr/>
        </p:nvSpPr>
        <p:spPr>
          <a:xfrm>
            <a:off x="4630599" y="9990424"/>
            <a:ext cx="1528072" cy="344458"/>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dirty="0">
              <a:solidFill>
                <a:srgbClr val="000000"/>
              </a:solidFill>
              <a:latin typeface="Times New Roman" panose="02020603050405020304" pitchFamily="18" charset="0"/>
              <a:ea typeface="Times New Roman"/>
              <a:cs typeface="Times New Roman" panose="02020603050405020304" pitchFamily="18" charset="0"/>
              <a:sym typeface="Times New Roman"/>
            </a:endParaRPr>
          </a:p>
        </p:txBody>
      </p:sp>
      <p:sp>
        <p:nvSpPr>
          <p:cNvPr id="465" name="TextBox 464">
            <a:extLst>
              <a:ext uri="{FF2B5EF4-FFF2-40B4-BE49-F238E27FC236}">
                <a16:creationId xmlns:a16="http://schemas.microsoft.com/office/drawing/2014/main" id="{15161B10-33E0-38B3-E697-BFB2DED6E89C}"/>
              </a:ext>
            </a:extLst>
          </p:cNvPr>
          <p:cNvSpPr txBox="1"/>
          <p:nvPr/>
        </p:nvSpPr>
        <p:spPr>
          <a:xfrm>
            <a:off x="4987880" y="10002805"/>
            <a:ext cx="1220756" cy="307777"/>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Complete</a:t>
            </a:r>
          </a:p>
        </p:txBody>
      </p:sp>
      <p:sp>
        <p:nvSpPr>
          <p:cNvPr id="466" name="TextBox 465">
            <a:extLst>
              <a:ext uri="{FF2B5EF4-FFF2-40B4-BE49-F238E27FC236}">
                <a16:creationId xmlns:a16="http://schemas.microsoft.com/office/drawing/2014/main" id="{35C9F04F-963F-B4B5-A351-00D834265390}"/>
              </a:ext>
            </a:extLst>
          </p:cNvPr>
          <p:cNvSpPr txBox="1"/>
          <p:nvPr/>
        </p:nvSpPr>
        <p:spPr>
          <a:xfrm>
            <a:off x="4786675" y="10365337"/>
            <a:ext cx="1809990" cy="307777"/>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Near Complete</a:t>
            </a:r>
          </a:p>
        </p:txBody>
      </p:sp>
      <p:sp>
        <p:nvSpPr>
          <p:cNvPr id="467" name="Google Shape;203;p1">
            <a:extLst>
              <a:ext uri="{FF2B5EF4-FFF2-40B4-BE49-F238E27FC236}">
                <a16:creationId xmlns:a16="http://schemas.microsoft.com/office/drawing/2014/main" id="{D274FFFF-1BD6-FC2A-D34F-C4B2B3F20786}"/>
              </a:ext>
            </a:extLst>
          </p:cNvPr>
          <p:cNvSpPr/>
          <p:nvPr/>
        </p:nvSpPr>
        <p:spPr>
          <a:xfrm>
            <a:off x="4635992" y="10342545"/>
            <a:ext cx="1522280" cy="33190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dirty="0">
              <a:solidFill>
                <a:srgbClr val="000000"/>
              </a:solidFill>
              <a:latin typeface="Times New Roman" panose="02020603050405020304" pitchFamily="18" charset="0"/>
              <a:ea typeface="Times New Roman"/>
              <a:cs typeface="Times New Roman" panose="02020603050405020304" pitchFamily="18" charset="0"/>
              <a:sym typeface="Times New Roman"/>
            </a:endParaRPr>
          </a:p>
        </p:txBody>
      </p:sp>
      <p:sp>
        <p:nvSpPr>
          <p:cNvPr id="468" name="Google Shape;203;p1">
            <a:extLst>
              <a:ext uri="{FF2B5EF4-FFF2-40B4-BE49-F238E27FC236}">
                <a16:creationId xmlns:a16="http://schemas.microsoft.com/office/drawing/2014/main" id="{A8EAA5EB-CD76-C2ED-924D-42A2CFA563E7}"/>
              </a:ext>
            </a:extLst>
          </p:cNvPr>
          <p:cNvSpPr/>
          <p:nvPr/>
        </p:nvSpPr>
        <p:spPr>
          <a:xfrm>
            <a:off x="6158272" y="10341709"/>
            <a:ext cx="3500258" cy="334724"/>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dirty="0">
              <a:solidFill>
                <a:srgbClr val="000000"/>
              </a:solidFill>
              <a:latin typeface="Times New Roman" panose="02020603050405020304" pitchFamily="18" charset="0"/>
              <a:ea typeface="Times New Roman"/>
              <a:cs typeface="Times New Roman" panose="02020603050405020304" pitchFamily="18" charset="0"/>
              <a:sym typeface="Times New Roman"/>
            </a:endParaRPr>
          </a:p>
        </p:txBody>
      </p:sp>
      <p:sp>
        <p:nvSpPr>
          <p:cNvPr id="470" name="Google Shape;203;p1">
            <a:extLst>
              <a:ext uri="{FF2B5EF4-FFF2-40B4-BE49-F238E27FC236}">
                <a16:creationId xmlns:a16="http://schemas.microsoft.com/office/drawing/2014/main" id="{5971BC9F-573C-6535-51E9-27FC3AEBF0F8}"/>
              </a:ext>
            </a:extLst>
          </p:cNvPr>
          <p:cNvSpPr/>
          <p:nvPr/>
        </p:nvSpPr>
        <p:spPr>
          <a:xfrm>
            <a:off x="6158271" y="10684083"/>
            <a:ext cx="3500258" cy="33190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dirty="0">
              <a:solidFill>
                <a:srgbClr val="000000"/>
              </a:solidFill>
              <a:latin typeface="Times New Roman" panose="02020603050405020304" pitchFamily="18" charset="0"/>
              <a:ea typeface="Times New Roman"/>
              <a:cs typeface="Times New Roman" panose="02020603050405020304" pitchFamily="18" charset="0"/>
              <a:sym typeface="Times New Roman"/>
            </a:endParaRPr>
          </a:p>
        </p:txBody>
      </p:sp>
      <p:sp>
        <p:nvSpPr>
          <p:cNvPr id="469" name="Google Shape;203;p1">
            <a:extLst>
              <a:ext uri="{FF2B5EF4-FFF2-40B4-BE49-F238E27FC236}">
                <a16:creationId xmlns:a16="http://schemas.microsoft.com/office/drawing/2014/main" id="{C4FA7593-52B9-1C14-AD14-B1E7591F0FC0}"/>
              </a:ext>
            </a:extLst>
          </p:cNvPr>
          <p:cNvSpPr/>
          <p:nvPr/>
        </p:nvSpPr>
        <p:spPr>
          <a:xfrm>
            <a:off x="4630202" y="10682108"/>
            <a:ext cx="1528072" cy="33190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dirty="0">
              <a:solidFill>
                <a:srgbClr val="000000"/>
              </a:solidFill>
              <a:latin typeface="Times New Roman" panose="02020603050405020304" pitchFamily="18" charset="0"/>
              <a:ea typeface="Times New Roman"/>
              <a:cs typeface="Times New Roman" panose="02020603050405020304" pitchFamily="18" charset="0"/>
              <a:sym typeface="Times New Roman"/>
            </a:endParaRPr>
          </a:p>
        </p:txBody>
      </p:sp>
      <p:sp>
        <p:nvSpPr>
          <p:cNvPr id="471" name="TextBox 470">
            <a:extLst>
              <a:ext uri="{FF2B5EF4-FFF2-40B4-BE49-F238E27FC236}">
                <a16:creationId xmlns:a16="http://schemas.microsoft.com/office/drawing/2014/main" id="{97F9E4C3-3F9F-F32F-1DBA-A15368947DBB}"/>
              </a:ext>
            </a:extLst>
          </p:cNvPr>
          <p:cNvSpPr txBox="1"/>
          <p:nvPr/>
        </p:nvSpPr>
        <p:spPr>
          <a:xfrm>
            <a:off x="4938243" y="10706231"/>
            <a:ext cx="1505815" cy="307777"/>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Incomplete</a:t>
            </a:r>
          </a:p>
        </p:txBody>
      </p:sp>
      <p:sp>
        <p:nvSpPr>
          <p:cNvPr id="472" name="TextBox 471">
            <a:extLst>
              <a:ext uri="{FF2B5EF4-FFF2-40B4-BE49-F238E27FC236}">
                <a16:creationId xmlns:a16="http://schemas.microsoft.com/office/drawing/2014/main" id="{6AC07F6F-64B0-465F-1DB5-07C7EADA0DD4}"/>
              </a:ext>
            </a:extLst>
          </p:cNvPr>
          <p:cNvSpPr txBox="1"/>
          <p:nvPr/>
        </p:nvSpPr>
        <p:spPr>
          <a:xfrm>
            <a:off x="6892019" y="10005531"/>
            <a:ext cx="2044859" cy="307777"/>
          </a:xfrm>
          <a:prstGeom prst="rect">
            <a:avLst/>
          </a:prstGeom>
          <a:noFill/>
        </p:spPr>
        <p:txBody>
          <a:bodyPr wrap="square" rtlCol="0">
            <a:spAutoFit/>
          </a:bodyPr>
          <a:lstStyle/>
          <a:p>
            <a:pPr algn="ctr"/>
            <a:r>
              <a:rPr lang="en-US" dirty="0">
                <a:latin typeface="Times New Roman" panose="02020603050405020304" pitchFamily="18" charset="0"/>
                <a:cs typeface="Times New Roman" panose="02020603050405020304" pitchFamily="18" charset="0"/>
              </a:rPr>
              <a:t>Keep strength level</a:t>
            </a:r>
          </a:p>
        </p:txBody>
      </p:sp>
      <p:sp>
        <p:nvSpPr>
          <p:cNvPr id="473" name="TextBox 472">
            <a:extLst>
              <a:ext uri="{FF2B5EF4-FFF2-40B4-BE49-F238E27FC236}">
                <a16:creationId xmlns:a16="http://schemas.microsoft.com/office/drawing/2014/main" id="{ABB21FBF-4BAE-D059-80B0-9DC2B90FB662}"/>
              </a:ext>
            </a:extLst>
          </p:cNvPr>
          <p:cNvSpPr txBox="1"/>
          <p:nvPr/>
        </p:nvSpPr>
        <p:spPr>
          <a:xfrm>
            <a:off x="6726687" y="10344872"/>
            <a:ext cx="2375523" cy="307777"/>
          </a:xfrm>
          <a:prstGeom prst="rect">
            <a:avLst/>
          </a:prstGeom>
          <a:noFill/>
        </p:spPr>
        <p:txBody>
          <a:bodyPr wrap="square" rtlCol="0">
            <a:spAutoFit/>
          </a:bodyPr>
          <a:lstStyle/>
          <a:p>
            <a:pPr algn="ctr"/>
            <a:r>
              <a:rPr lang="en-US" dirty="0">
                <a:latin typeface="Times New Roman" panose="02020603050405020304" pitchFamily="18" charset="0"/>
                <a:cs typeface="Times New Roman" panose="02020603050405020304" pitchFamily="18" charset="0"/>
              </a:rPr>
              <a:t>Reduce strength by 1 level</a:t>
            </a:r>
          </a:p>
        </p:txBody>
      </p:sp>
      <p:sp>
        <p:nvSpPr>
          <p:cNvPr id="474" name="TextBox 473">
            <a:extLst>
              <a:ext uri="{FF2B5EF4-FFF2-40B4-BE49-F238E27FC236}">
                <a16:creationId xmlns:a16="http://schemas.microsoft.com/office/drawing/2014/main" id="{3159AEA8-E723-5E33-AEA3-48448555E758}"/>
              </a:ext>
            </a:extLst>
          </p:cNvPr>
          <p:cNvSpPr txBox="1"/>
          <p:nvPr/>
        </p:nvSpPr>
        <p:spPr>
          <a:xfrm>
            <a:off x="6831598" y="10674474"/>
            <a:ext cx="2165700" cy="307777"/>
          </a:xfrm>
          <a:prstGeom prst="rect">
            <a:avLst/>
          </a:prstGeom>
          <a:noFill/>
        </p:spPr>
        <p:txBody>
          <a:bodyPr wrap="square" rtlCol="0">
            <a:spAutoFit/>
          </a:bodyPr>
          <a:lstStyle/>
          <a:p>
            <a:pPr algn="ctr"/>
            <a:r>
              <a:rPr lang="en-US" dirty="0">
                <a:latin typeface="Times New Roman" panose="02020603050405020304" pitchFamily="18" charset="0"/>
                <a:cs typeface="Times New Roman" panose="02020603050405020304" pitchFamily="18" charset="0"/>
              </a:rPr>
              <a:t>Do not apply codes</a:t>
            </a:r>
          </a:p>
        </p:txBody>
      </p:sp>
      <p:cxnSp>
        <p:nvCxnSpPr>
          <p:cNvPr id="476" name="Google Shape;206;p1">
            <a:extLst>
              <a:ext uri="{FF2B5EF4-FFF2-40B4-BE49-F238E27FC236}">
                <a16:creationId xmlns:a16="http://schemas.microsoft.com/office/drawing/2014/main" id="{205B0DEC-AAC5-9B28-BAB7-4E9AD9473C65}"/>
              </a:ext>
            </a:extLst>
          </p:cNvPr>
          <p:cNvCxnSpPr>
            <a:cxnSpLocks/>
            <a:endCxn id="204" idx="1"/>
          </p:cNvCxnSpPr>
          <p:nvPr/>
        </p:nvCxnSpPr>
        <p:spPr>
          <a:xfrm flipV="1">
            <a:off x="9658240" y="9965982"/>
            <a:ext cx="286187" cy="574597"/>
          </a:xfrm>
          <a:prstGeom prst="straightConnector1">
            <a:avLst/>
          </a:prstGeom>
          <a:noFill/>
          <a:ln w="9525" cap="flat" cmpd="sng">
            <a:solidFill>
              <a:srgbClr val="44546A"/>
            </a:solidFill>
            <a:prstDash val="solid"/>
            <a:round/>
            <a:headEnd type="none" w="sm" len="sm"/>
            <a:tailEnd type="triangle" w="med" len="med"/>
          </a:ln>
        </p:spPr>
      </p:cxnSp>
      <p:sp>
        <p:nvSpPr>
          <p:cNvPr id="487" name="TextBox 486">
            <a:extLst>
              <a:ext uri="{FF2B5EF4-FFF2-40B4-BE49-F238E27FC236}">
                <a16:creationId xmlns:a16="http://schemas.microsoft.com/office/drawing/2014/main" id="{96152B2E-DF20-5B3A-DF2C-AE1DD38C1DFC}"/>
              </a:ext>
            </a:extLst>
          </p:cNvPr>
          <p:cNvSpPr txBox="1"/>
          <p:nvPr/>
        </p:nvSpPr>
        <p:spPr>
          <a:xfrm>
            <a:off x="4594589" y="12660923"/>
            <a:ext cx="2614818" cy="307777"/>
          </a:xfrm>
          <a:prstGeom prst="rect">
            <a:avLst/>
          </a:prstGeom>
          <a:noFill/>
        </p:spPr>
        <p:txBody>
          <a:bodyPr wrap="none" rtlCol="0">
            <a:spAutoFit/>
          </a:bodyPr>
          <a:lstStyle/>
          <a:p>
            <a:r>
              <a:rPr lang="en-US" dirty="0"/>
              <a:t>PVS1 decision tree for splicing</a:t>
            </a:r>
          </a:p>
        </p:txBody>
      </p:sp>
    </p:spTree>
    <p:extLst>
      <p:ext uri="{BB962C8B-B14F-4D97-AF65-F5344CB8AC3E}">
        <p14:creationId xmlns:p14="http://schemas.microsoft.com/office/powerpoint/2010/main" val="18099354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4806A8-6F95-2DFE-2853-BDC566DB6323}"/>
              </a:ext>
            </a:extLst>
          </p:cNvPr>
          <p:cNvSpPr>
            <a:spLocks noGrp="1"/>
          </p:cNvSpPr>
          <p:nvPr>
            <p:ph type="ctrTitle"/>
          </p:nvPr>
        </p:nvSpPr>
        <p:spPr/>
        <p:txBody>
          <a:bodyPr/>
          <a:lstStyle/>
          <a:p>
            <a:r>
              <a:rPr lang="en-US" dirty="0"/>
              <a:t>RPGR</a:t>
            </a:r>
          </a:p>
        </p:txBody>
      </p:sp>
      <p:sp>
        <p:nvSpPr>
          <p:cNvPr id="3" name="Subtitle 2">
            <a:extLst>
              <a:ext uri="{FF2B5EF4-FFF2-40B4-BE49-F238E27FC236}">
                <a16:creationId xmlns:a16="http://schemas.microsoft.com/office/drawing/2014/main" id="{95B785A7-BD90-E9DB-40AD-7B99FCFC8A07}"/>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24104975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 name="Google Shape;54;p13">
            <a:extLst>
              <a:ext uri="{FF2B5EF4-FFF2-40B4-BE49-F238E27FC236}">
                <a16:creationId xmlns:a16="http://schemas.microsoft.com/office/drawing/2014/main" id="{E35431AB-1923-6A41-3D62-551E6737C841}"/>
              </a:ext>
            </a:extLst>
          </p:cNvPr>
          <p:cNvSpPr txBox="1"/>
          <p:nvPr/>
        </p:nvSpPr>
        <p:spPr>
          <a:xfrm>
            <a:off x="90621" y="824794"/>
            <a:ext cx="1105800" cy="3209117"/>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 sz="1400" b="1" i="0" u="none" strike="noStrike" cap="none" dirty="0">
                <a:solidFill>
                  <a:srgbClr val="000000"/>
                </a:solidFill>
                <a:latin typeface="Times New Roman" panose="02020603050405020304" pitchFamily="18" charset="0"/>
                <a:ea typeface="Times New Roman"/>
                <a:cs typeface="Times New Roman" panose="02020603050405020304" pitchFamily="18" charset="0"/>
                <a:sym typeface="Times New Roman"/>
              </a:rPr>
              <a:t>Nonsense or Frameshift</a:t>
            </a:r>
            <a:endParaRPr sz="2000" b="1" dirty="0">
              <a:latin typeface="Times New Roman" panose="02020603050405020304" pitchFamily="18" charset="0"/>
              <a:cs typeface="Times New Roman" panose="02020603050405020304" pitchFamily="18" charset="0"/>
            </a:endParaRPr>
          </a:p>
        </p:txBody>
      </p:sp>
      <p:sp>
        <p:nvSpPr>
          <p:cNvPr id="174" name="Google Shape;56;p13">
            <a:extLst>
              <a:ext uri="{FF2B5EF4-FFF2-40B4-BE49-F238E27FC236}">
                <a16:creationId xmlns:a16="http://schemas.microsoft.com/office/drawing/2014/main" id="{4D8CD6F2-3438-C38C-4DAD-BB15EF9C72A3}"/>
              </a:ext>
            </a:extLst>
          </p:cNvPr>
          <p:cNvSpPr/>
          <p:nvPr/>
        </p:nvSpPr>
        <p:spPr>
          <a:xfrm>
            <a:off x="1683949" y="2004891"/>
            <a:ext cx="975324" cy="1106627"/>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 sz="1400" b="0" i="0" u="none" strike="noStrike" cap="none" dirty="0">
                <a:solidFill>
                  <a:srgbClr val="000000"/>
                </a:solidFill>
                <a:latin typeface="Times New Roman" panose="02020603050405020304" pitchFamily="18" charset="0"/>
                <a:ea typeface="Times New Roman"/>
                <a:cs typeface="Times New Roman" panose="02020603050405020304" pitchFamily="18" charset="0"/>
                <a:sym typeface="Times New Roman"/>
              </a:rPr>
              <a:t>Not predicted to undergo NMD</a:t>
            </a:r>
            <a:r>
              <a:rPr lang="en" sz="1400" dirty="0">
                <a:solidFill>
                  <a:schemeClr val="dk1"/>
                </a:solidFill>
                <a:latin typeface="Times New Roman" panose="02020603050405020304" pitchFamily="18" charset="0"/>
                <a:ea typeface="Times New Roman"/>
                <a:cs typeface="Times New Roman" panose="02020603050405020304" pitchFamily="18" charset="0"/>
                <a:sym typeface="Times New Roman"/>
              </a:rPr>
              <a:t> </a:t>
            </a:r>
            <a:r>
              <a:rPr lang="en" sz="1400" baseline="30000" dirty="0">
                <a:solidFill>
                  <a:schemeClr val="dk1"/>
                </a:solidFill>
                <a:latin typeface="Times New Roman" panose="02020603050405020304" pitchFamily="18" charset="0"/>
                <a:ea typeface="Times New Roman"/>
                <a:cs typeface="Times New Roman" panose="02020603050405020304" pitchFamily="18" charset="0"/>
                <a:sym typeface="Times New Roman"/>
              </a:rPr>
              <a:t>b</a:t>
            </a:r>
            <a:endParaRPr sz="2000" dirty="0">
              <a:latin typeface="Times New Roman" panose="02020603050405020304" pitchFamily="18" charset="0"/>
              <a:cs typeface="Times New Roman" panose="02020603050405020304" pitchFamily="18" charset="0"/>
            </a:endParaRPr>
          </a:p>
        </p:txBody>
      </p:sp>
      <p:sp>
        <p:nvSpPr>
          <p:cNvPr id="180" name="Google Shape;62;p13">
            <a:extLst>
              <a:ext uri="{FF2B5EF4-FFF2-40B4-BE49-F238E27FC236}">
                <a16:creationId xmlns:a16="http://schemas.microsoft.com/office/drawing/2014/main" id="{9394E790-90B0-82FB-553F-EE7C201BC496}"/>
              </a:ext>
            </a:extLst>
          </p:cNvPr>
          <p:cNvSpPr/>
          <p:nvPr/>
        </p:nvSpPr>
        <p:spPr>
          <a:xfrm>
            <a:off x="3059247" y="2469332"/>
            <a:ext cx="2904578" cy="1310402"/>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algn="ctr"/>
            <a:r>
              <a:rPr lang="en" sz="1400" dirty="0">
                <a:solidFill>
                  <a:srgbClr val="000000"/>
                </a:solidFill>
                <a:latin typeface="Times New Roman" panose="02020603050405020304" pitchFamily="18" charset="0"/>
                <a:ea typeface="Times New Roman"/>
                <a:cs typeface="Times New Roman" panose="02020603050405020304" pitchFamily="18" charset="0"/>
                <a:sym typeface="Times New Roman"/>
              </a:rPr>
              <a:t>Role of region in protein function is unknown. </a:t>
            </a:r>
          </a:p>
          <a:p>
            <a:pPr marL="0" marR="0" lvl="0" indent="0" algn="ctr" rtl="0">
              <a:spcBef>
                <a:spcPts val="0"/>
              </a:spcBef>
              <a:spcAft>
                <a:spcPts val="0"/>
              </a:spcAft>
              <a:buNone/>
            </a:pPr>
            <a:r>
              <a:rPr lang="en" sz="1400" dirty="0">
                <a:solidFill>
                  <a:srgbClr val="000000"/>
                </a:solidFill>
                <a:latin typeface="Times New Roman" panose="02020603050405020304" pitchFamily="18" charset="0"/>
                <a:ea typeface="Times New Roman"/>
                <a:cs typeface="Times New Roman" panose="02020603050405020304" pitchFamily="18" charset="0"/>
                <a:sym typeface="Times New Roman"/>
              </a:rPr>
              <a:t>Applies to </a:t>
            </a:r>
            <a:r>
              <a:rPr lang="en-US" sz="1400" dirty="0">
                <a:solidFill>
                  <a:srgbClr val="009ACC"/>
                </a:solidFill>
                <a:latin typeface="Times New Roman" panose="02020603050405020304" pitchFamily="18" charset="0"/>
                <a:cs typeface="Times New Roman" panose="02020603050405020304" pitchFamily="18" charset="0"/>
              </a:rPr>
              <a:t>NM_001034853.2:c.3399-3458</a:t>
            </a:r>
            <a:r>
              <a:rPr lang="en" sz="1400" dirty="0">
                <a:solidFill>
                  <a:srgbClr val="009ACC"/>
                </a:solidFill>
                <a:latin typeface="Times New Roman" panose="02020603050405020304" pitchFamily="18" charset="0"/>
                <a:ea typeface="Times New Roman"/>
                <a:cs typeface="Times New Roman" panose="02020603050405020304" pitchFamily="18" charset="0"/>
                <a:sym typeface="Times New Roman"/>
              </a:rPr>
              <a:t> (codons 1132-1152), or 3’ UTR,</a:t>
            </a:r>
          </a:p>
          <a:p>
            <a:pPr marL="0" marR="0" lvl="0" indent="0" algn="ctr" rtl="0">
              <a:spcBef>
                <a:spcPts val="0"/>
              </a:spcBef>
              <a:spcAft>
                <a:spcPts val="0"/>
              </a:spcAft>
              <a:buNone/>
            </a:pPr>
            <a:r>
              <a:rPr lang="en" sz="1400" dirty="0">
                <a:solidFill>
                  <a:srgbClr val="009ACC"/>
                </a:solidFill>
                <a:latin typeface="Times New Roman" panose="02020603050405020304" pitchFamily="18" charset="0"/>
                <a:ea typeface="Times New Roman"/>
                <a:cs typeface="Times New Roman" panose="02020603050405020304" pitchFamily="18" charset="0"/>
                <a:sym typeface="Times New Roman"/>
              </a:rPr>
              <a:t>NM_00328.3:c.2352-2909 (codons 784-969), or 3’ </a:t>
            </a:r>
            <a:r>
              <a:rPr lang="en" sz="1400" dirty="0" err="1">
                <a:solidFill>
                  <a:srgbClr val="009ACC"/>
                </a:solidFill>
                <a:latin typeface="Times New Roman" panose="02020603050405020304" pitchFamily="18" charset="0"/>
                <a:ea typeface="Times New Roman"/>
                <a:cs typeface="Times New Roman" panose="02020603050405020304" pitchFamily="18" charset="0"/>
                <a:sym typeface="Times New Roman"/>
              </a:rPr>
              <a:t>UTR</a:t>
            </a:r>
            <a:r>
              <a:rPr lang="en" sz="1400" baseline="30000" dirty="0" err="1">
                <a:solidFill>
                  <a:srgbClr val="009ACC"/>
                </a:solidFill>
                <a:latin typeface="Times New Roman" panose="02020603050405020304" pitchFamily="18" charset="0"/>
                <a:ea typeface="Times New Roman"/>
                <a:cs typeface="Times New Roman" panose="02020603050405020304" pitchFamily="18" charset="0"/>
                <a:sym typeface="Times New Roman"/>
              </a:rPr>
              <a:t>h</a:t>
            </a:r>
            <a:endParaRPr sz="1400" baseline="30000" dirty="0">
              <a:solidFill>
                <a:srgbClr val="009ACC"/>
              </a:solidFill>
              <a:latin typeface="Times New Roman" panose="02020603050405020304" pitchFamily="18" charset="0"/>
              <a:cs typeface="Times New Roman" panose="02020603050405020304" pitchFamily="18" charset="0"/>
            </a:endParaRPr>
          </a:p>
        </p:txBody>
      </p:sp>
      <p:sp>
        <p:nvSpPr>
          <p:cNvPr id="184" name="Google Shape;66;p13">
            <a:extLst>
              <a:ext uri="{FF2B5EF4-FFF2-40B4-BE49-F238E27FC236}">
                <a16:creationId xmlns:a16="http://schemas.microsoft.com/office/drawing/2014/main" id="{1D61E762-B413-3F64-38DA-CE0CEF488A48}"/>
              </a:ext>
            </a:extLst>
          </p:cNvPr>
          <p:cNvSpPr/>
          <p:nvPr/>
        </p:nvSpPr>
        <p:spPr>
          <a:xfrm>
            <a:off x="10955521" y="2919075"/>
            <a:ext cx="1281000" cy="27432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 sz="1400" b="0" i="0" u="none" strike="noStrike" cap="none" dirty="0">
                <a:solidFill>
                  <a:srgbClr val="000000"/>
                </a:solidFill>
                <a:latin typeface="Times New Roman" panose="02020603050405020304" pitchFamily="18" charset="0"/>
                <a:ea typeface="Times New Roman"/>
                <a:cs typeface="Times New Roman" panose="02020603050405020304" pitchFamily="18" charset="0"/>
                <a:sym typeface="Times New Roman"/>
              </a:rPr>
              <a:t>PVS1_Strong</a:t>
            </a:r>
            <a:endParaRPr sz="2000" dirty="0">
              <a:latin typeface="Times New Roman" panose="02020603050405020304" pitchFamily="18" charset="0"/>
              <a:cs typeface="Times New Roman" panose="02020603050405020304" pitchFamily="18" charset="0"/>
            </a:endParaRPr>
          </a:p>
        </p:txBody>
      </p:sp>
      <p:sp>
        <p:nvSpPr>
          <p:cNvPr id="185" name="Google Shape;67;p13">
            <a:extLst>
              <a:ext uri="{FF2B5EF4-FFF2-40B4-BE49-F238E27FC236}">
                <a16:creationId xmlns:a16="http://schemas.microsoft.com/office/drawing/2014/main" id="{EC56C352-C943-2CA3-5703-51220E5767A4}"/>
              </a:ext>
            </a:extLst>
          </p:cNvPr>
          <p:cNvSpPr/>
          <p:nvPr/>
        </p:nvSpPr>
        <p:spPr>
          <a:xfrm>
            <a:off x="10805685" y="3496717"/>
            <a:ext cx="1416393" cy="359071"/>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 sz="1400" dirty="0">
                <a:solidFill>
                  <a:srgbClr val="000000"/>
                </a:solidFill>
                <a:latin typeface="Times New Roman" panose="02020603050405020304" pitchFamily="18" charset="0"/>
                <a:ea typeface="Times New Roman"/>
                <a:cs typeface="Times New Roman" panose="02020603050405020304" pitchFamily="18" charset="0"/>
                <a:sym typeface="Times New Roman"/>
              </a:rPr>
              <a:t>PVS1_Moderate</a:t>
            </a:r>
            <a:endParaRPr sz="2000" dirty="0">
              <a:latin typeface="Times New Roman" panose="02020603050405020304" pitchFamily="18" charset="0"/>
              <a:cs typeface="Times New Roman" panose="02020603050405020304" pitchFamily="18" charset="0"/>
            </a:endParaRPr>
          </a:p>
        </p:txBody>
      </p:sp>
      <p:sp>
        <p:nvSpPr>
          <p:cNvPr id="186" name="Google Shape;68;p13">
            <a:extLst>
              <a:ext uri="{FF2B5EF4-FFF2-40B4-BE49-F238E27FC236}">
                <a16:creationId xmlns:a16="http://schemas.microsoft.com/office/drawing/2014/main" id="{E0969146-73BE-A27C-2A45-363576E4E8AF}"/>
              </a:ext>
            </a:extLst>
          </p:cNvPr>
          <p:cNvSpPr/>
          <p:nvPr/>
        </p:nvSpPr>
        <p:spPr>
          <a:xfrm>
            <a:off x="6295869" y="2681767"/>
            <a:ext cx="1884095" cy="1366015"/>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lvl="0" indent="0" algn="ctr" rtl="0">
              <a:spcBef>
                <a:spcPts val="0"/>
              </a:spcBef>
              <a:spcAft>
                <a:spcPts val="0"/>
              </a:spcAft>
              <a:buNone/>
            </a:pPr>
            <a:r>
              <a:rPr lang="en" sz="1400" dirty="0" err="1">
                <a:solidFill>
                  <a:srgbClr val="000000"/>
                </a:solidFill>
                <a:latin typeface="Times New Roman" panose="02020603050405020304" pitchFamily="18" charset="0"/>
                <a:ea typeface="Times New Roman"/>
                <a:cs typeface="Times New Roman" panose="02020603050405020304" pitchFamily="18" charset="0"/>
                <a:sym typeface="Times New Roman"/>
              </a:rPr>
              <a:t>L</a:t>
            </a:r>
            <a:r>
              <a:rPr lang="en" sz="1400" dirty="0" err="1">
                <a:latin typeface="Times New Roman" panose="02020603050405020304" pitchFamily="18" charset="0"/>
                <a:ea typeface="Times New Roman"/>
                <a:cs typeface="Times New Roman" panose="02020603050405020304" pitchFamily="18" charset="0"/>
                <a:sym typeface="Times New Roman"/>
              </a:rPr>
              <a:t>o</a:t>
            </a:r>
            <a:r>
              <a:rPr lang="en" sz="1400" dirty="0" err="1">
                <a:solidFill>
                  <a:srgbClr val="000000"/>
                </a:solidFill>
                <a:latin typeface="Times New Roman" panose="02020603050405020304" pitchFamily="18" charset="0"/>
                <a:ea typeface="Times New Roman"/>
                <a:cs typeface="Times New Roman" panose="02020603050405020304" pitchFamily="18" charset="0"/>
                <a:sym typeface="Times New Roman"/>
              </a:rPr>
              <a:t>F</a:t>
            </a:r>
            <a:r>
              <a:rPr lang="en" sz="1400" dirty="0">
                <a:solidFill>
                  <a:srgbClr val="000000"/>
                </a:solidFill>
                <a:latin typeface="Times New Roman" panose="02020603050405020304" pitchFamily="18" charset="0"/>
                <a:ea typeface="Times New Roman"/>
                <a:cs typeface="Times New Roman" panose="02020603050405020304" pitchFamily="18" charset="0"/>
                <a:sym typeface="Times New Roman"/>
              </a:rPr>
              <a:t> variants in this </a:t>
            </a:r>
            <a:r>
              <a:rPr lang="en" sz="1400" dirty="0">
                <a:latin typeface="Times New Roman" panose="02020603050405020304" pitchFamily="18" charset="0"/>
                <a:ea typeface="Times New Roman"/>
                <a:cs typeface="Times New Roman" panose="02020603050405020304" pitchFamily="18" charset="0"/>
                <a:sym typeface="Times New Roman"/>
              </a:rPr>
              <a:t>exon are not frequent in the general population </a:t>
            </a:r>
            <a:r>
              <a:rPr lang="en" sz="1400" dirty="0">
                <a:solidFill>
                  <a:srgbClr val="000000"/>
                </a:solidFill>
                <a:latin typeface="Times New Roman" panose="02020603050405020304" pitchFamily="18" charset="0"/>
                <a:ea typeface="Times New Roman"/>
                <a:cs typeface="Times New Roman" panose="02020603050405020304" pitchFamily="18" charset="0"/>
                <a:sym typeface="Times New Roman"/>
              </a:rPr>
              <a:t>and exon is present in biologically-relevant transcript(s)</a:t>
            </a:r>
            <a:endParaRPr sz="1400" dirty="0">
              <a:solidFill>
                <a:srgbClr val="000000"/>
              </a:solidFill>
              <a:latin typeface="Times New Roman" panose="02020603050405020304" pitchFamily="18" charset="0"/>
              <a:ea typeface="Times New Roman"/>
              <a:cs typeface="Times New Roman" panose="02020603050405020304" pitchFamily="18" charset="0"/>
              <a:sym typeface="Times New Roman"/>
            </a:endParaRPr>
          </a:p>
        </p:txBody>
      </p:sp>
      <p:sp>
        <p:nvSpPr>
          <p:cNvPr id="187" name="Google Shape;69;p13">
            <a:extLst>
              <a:ext uri="{FF2B5EF4-FFF2-40B4-BE49-F238E27FC236}">
                <a16:creationId xmlns:a16="http://schemas.microsoft.com/office/drawing/2014/main" id="{4FE8D5B7-106E-61B9-26CE-6E9E3D0174D7}"/>
              </a:ext>
            </a:extLst>
          </p:cNvPr>
          <p:cNvSpPr/>
          <p:nvPr/>
        </p:nvSpPr>
        <p:spPr>
          <a:xfrm>
            <a:off x="8632873" y="2798552"/>
            <a:ext cx="1991505" cy="505265"/>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 sz="1400" dirty="0">
                <a:solidFill>
                  <a:srgbClr val="000000"/>
                </a:solidFill>
                <a:latin typeface="Times New Roman" panose="02020603050405020304" pitchFamily="18" charset="0"/>
                <a:ea typeface="Times New Roman"/>
                <a:cs typeface="Times New Roman" panose="02020603050405020304" pitchFamily="18" charset="0"/>
                <a:sym typeface="Times New Roman"/>
              </a:rPr>
              <a:t>Variant removes </a:t>
            </a:r>
            <a:r>
              <a:rPr lang="en" sz="1400" b="0" i="0" u="none" strike="noStrike" cap="none" dirty="0">
                <a:solidFill>
                  <a:srgbClr val="000000"/>
                </a:solidFill>
                <a:latin typeface="Times New Roman" panose="02020603050405020304" pitchFamily="18" charset="0"/>
                <a:ea typeface="Times New Roman"/>
                <a:cs typeface="Times New Roman" panose="02020603050405020304" pitchFamily="18" charset="0"/>
                <a:sym typeface="Times New Roman"/>
              </a:rPr>
              <a:t>&gt;10% of protein</a:t>
            </a:r>
            <a:endParaRPr sz="2000" dirty="0">
              <a:latin typeface="Times New Roman" panose="02020603050405020304" pitchFamily="18" charset="0"/>
              <a:cs typeface="Times New Roman" panose="02020603050405020304" pitchFamily="18" charset="0"/>
            </a:endParaRPr>
          </a:p>
        </p:txBody>
      </p:sp>
      <p:sp>
        <p:nvSpPr>
          <p:cNvPr id="188" name="Google Shape;70;p13">
            <a:extLst>
              <a:ext uri="{FF2B5EF4-FFF2-40B4-BE49-F238E27FC236}">
                <a16:creationId xmlns:a16="http://schemas.microsoft.com/office/drawing/2014/main" id="{C79CD767-4DB6-524E-EFD0-28FE148D31AB}"/>
              </a:ext>
            </a:extLst>
          </p:cNvPr>
          <p:cNvSpPr/>
          <p:nvPr/>
        </p:nvSpPr>
        <p:spPr>
          <a:xfrm>
            <a:off x="8628067" y="3384632"/>
            <a:ext cx="1991505" cy="66315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 sz="1400" dirty="0">
                <a:solidFill>
                  <a:srgbClr val="009ACC"/>
                </a:solidFill>
                <a:latin typeface="Times New Roman" panose="02020603050405020304" pitchFamily="18" charset="0"/>
                <a:ea typeface="Times New Roman"/>
                <a:cs typeface="Times New Roman" panose="02020603050405020304" pitchFamily="18" charset="0"/>
                <a:sym typeface="Times New Roman"/>
              </a:rPr>
              <a:t>NM_00328.3 variants after codon 872 </a:t>
            </a:r>
            <a:r>
              <a:rPr lang="en" sz="1400" dirty="0">
                <a:solidFill>
                  <a:srgbClr val="000000"/>
                </a:solidFill>
                <a:latin typeface="Times New Roman" panose="02020603050405020304" pitchFamily="18" charset="0"/>
                <a:ea typeface="Times New Roman"/>
                <a:cs typeface="Times New Roman" panose="02020603050405020304" pitchFamily="18" charset="0"/>
                <a:sym typeface="Times New Roman"/>
              </a:rPr>
              <a:t>remove &lt;</a:t>
            </a:r>
            <a:r>
              <a:rPr lang="en" sz="1400" b="0" i="0" u="none" strike="noStrike" cap="none" dirty="0">
                <a:solidFill>
                  <a:srgbClr val="000000"/>
                </a:solidFill>
                <a:latin typeface="Times New Roman" panose="02020603050405020304" pitchFamily="18" charset="0"/>
                <a:ea typeface="Times New Roman"/>
                <a:cs typeface="Times New Roman" panose="02020603050405020304" pitchFamily="18" charset="0"/>
                <a:sym typeface="Times New Roman"/>
              </a:rPr>
              <a:t>10% of p</a:t>
            </a:r>
            <a:r>
              <a:rPr lang="en" sz="1400" dirty="0">
                <a:solidFill>
                  <a:srgbClr val="000000"/>
                </a:solidFill>
                <a:latin typeface="Times New Roman" panose="02020603050405020304" pitchFamily="18" charset="0"/>
                <a:ea typeface="Times New Roman"/>
                <a:cs typeface="Times New Roman" panose="02020603050405020304" pitchFamily="18" charset="0"/>
                <a:sym typeface="Times New Roman"/>
              </a:rPr>
              <a:t>rotein </a:t>
            </a:r>
            <a:endParaRPr sz="2000" dirty="0">
              <a:solidFill>
                <a:srgbClr val="009ACC"/>
              </a:solidFill>
              <a:latin typeface="Times New Roman" panose="02020603050405020304" pitchFamily="18" charset="0"/>
              <a:cs typeface="Times New Roman" panose="02020603050405020304" pitchFamily="18" charset="0"/>
            </a:endParaRPr>
          </a:p>
        </p:txBody>
      </p:sp>
      <p:cxnSp>
        <p:nvCxnSpPr>
          <p:cNvPr id="189" name="Google Shape;71;p13">
            <a:extLst>
              <a:ext uri="{FF2B5EF4-FFF2-40B4-BE49-F238E27FC236}">
                <a16:creationId xmlns:a16="http://schemas.microsoft.com/office/drawing/2014/main" id="{CFCFA64A-30F9-E919-D897-116AFA6F3D93}"/>
              </a:ext>
            </a:extLst>
          </p:cNvPr>
          <p:cNvCxnSpPr>
            <a:cxnSpLocks/>
            <a:stCxn id="186" idx="3"/>
            <a:endCxn id="187" idx="1"/>
          </p:cNvCxnSpPr>
          <p:nvPr/>
        </p:nvCxnSpPr>
        <p:spPr>
          <a:xfrm flipV="1">
            <a:off x="8179964" y="3051185"/>
            <a:ext cx="452909" cy="313590"/>
          </a:xfrm>
          <a:prstGeom prst="straightConnector1">
            <a:avLst/>
          </a:prstGeom>
          <a:noFill/>
          <a:ln w="9525" cap="flat" cmpd="sng">
            <a:solidFill>
              <a:srgbClr val="44546A"/>
            </a:solidFill>
            <a:prstDash val="solid"/>
            <a:round/>
            <a:headEnd type="none" w="med" len="med"/>
            <a:tailEnd type="triangle" w="med" len="med"/>
          </a:ln>
        </p:spPr>
      </p:cxnSp>
      <p:cxnSp>
        <p:nvCxnSpPr>
          <p:cNvPr id="190" name="Google Shape;72;p13">
            <a:extLst>
              <a:ext uri="{FF2B5EF4-FFF2-40B4-BE49-F238E27FC236}">
                <a16:creationId xmlns:a16="http://schemas.microsoft.com/office/drawing/2014/main" id="{E05E2FC3-A1B5-8029-7244-BED1F60C0A82}"/>
              </a:ext>
            </a:extLst>
          </p:cNvPr>
          <p:cNvCxnSpPr>
            <a:cxnSpLocks/>
            <a:stCxn id="186" idx="3"/>
            <a:endCxn id="188" idx="1"/>
          </p:cNvCxnSpPr>
          <p:nvPr/>
        </p:nvCxnSpPr>
        <p:spPr>
          <a:xfrm>
            <a:off x="8179964" y="3364775"/>
            <a:ext cx="448103" cy="351432"/>
          </a:xfrm>
          <a:prstGeom prst="straightConnector1">
            <a:avLst/>
          </a:prstGeom>
          <a:noFill/>
          <a:ln w="9525" cap="flat" cmpd="sng">
            <a:solidFill>
              <a:srgbClr val="44546A"/>
            </a:solidFill>
            <a:prstDash val="solid"/>
            <a:round/>
            <a:headEnd type="none" w="med" len="med"/>
            <a:tailEnd type="triangle" w="med" len="med"/>
          </a:ln>
        </p:spPr>
      </p:cxnSp>
      <p:cxnSp>
        <p:nvCxnSpPr>
          <p:cNvPr id="191" name="Google Shape;73;p13">
            <a:extLst>
              <a:ext uri="{FF2B5EF4-FFF2-40B4-BE49-F238E27FC236}">
                <a16:creationId xmlns:a16="http://schemas.microsoft.com/office/drawing/2014/main" id="{F6CA913F-7B03-CA28-C5FE-E5947F11A1A1}"/>
              </a:ext>
            </a:extLst>
          </p:cNvPr>
          <p:cNvCxnSpPr>
            <a:cxnSpLocks/>
            <a:stCxn id="172" idx="3"/>
            <a:endCxn id="173" idx="1"/>
          </p:cNvCxnSpPr>
          <p:nvPr/>
        </p:nvCxnSpPr>
        <p:spPr>
          <a:xfrm flipV="1">
            <a:off x="1196421" y="1241137"/>
            <a:ext cx="467100" cy="1188216"/>
          </a:xfrm>
          <a:prstGeom prst="straightConnector1">
            <a:avLst/>
          </a:prstGeom>
          <a:noFill/>
          <a:ln w="9525" cap="flat" cmpd="sng">
            <a:solidFill>
              <a:srgbClr val="44546A"/>
            </a:solidFill>
            <a:prstDash val="solid"/>
            <a:round/>
            <a:headEnd type="none" w="med" len="med"/>
            <a:tailEnd type="triangle" w="med" len="med"/>
          </a:ln>
        </p:spPr>
      </p:cxnSp>
      <p:cxnSp>
        <p:nvCxnSpPr>
          <p:cNvPr id="192" name="Google Shape;74;p13">
            <a:extLst>
              <a:ext uri="{FF2B5EF4-FFF2-40B4-BE49-F238E27FC236}">
                <a16:creationId xmlns:a16="http://schemas.microsoft.com/office/drawing/2014/main" id="{AF1BDC4A-1047-985D-B586-2F0ACBA6905D}"/>
              </a:ext>
            </a:extLst>
          </p:cNvPr>
          <p:cNvCxnSpPr>
            <a:cxnSpLocks/>
            <a:stCxn id="172" idx="3"/>
            <a:endCxn id="174" idx="1"/>
          </p:cNvCxnSpPr>
          <p:nvPr/>
        </p:nvCxnSpPr>
        <p:spPr>
          <a:xfrm>
            <a:off x="1196421" y="2429353"/>
            <a:ext cx="487528" cy="128852"/>
          </a:xfrm>
          <a:prstGeom prst="straightConnector1">
            <a:avLst/>
          </a:prstGeom>
          <a:noFill/>
          <a:ln w="9525" cap="flat" cmpd="sng">
            <a:solidFill>
              <a:srgbClr val="44546A"/>
            </a:solidFill>
            <a:prstDash val="solid"/>
            <a:round/>
            <a:headEnd type="none" w="med" len="med"/>
            <a:tailEnd type="triangle" w="med" len="med"/>
          </a:ln>
        </p:spPr>
      </p:cxnSp>
      <p:cxnSp>
        <p:nvCxnSpPr>
          <p:cNvPr id="196" name="Google Shape;78;p13">
            <a:extLst>
              <a:ext uri="{FF2B5EF4-FFF2-40B4-BE49-F238E27FC236}">
                <a16:creationId xmlns:a16="http://schemas.microsoft.com/office/drawing/2014/main" id="{FE18ADAC-1D59-26FE-2287-B425BC248ED4}"/>
              </a:ext>
            </a:extLst>
          </p:cNvPr>
          <p:cNvCxnSpPr>
            <a:cxnSpLocks/>
            <a:stCxn id="174" idx="3"/>
            <a:endCxn id="180" idx="1"/>
          </p:cNvCxnSpPr>
          <p:nvPr/>
        </p:nvCxnSpPr>
        <p:spPr>
          <a:xfrm>
            <a:off x="2659273" y="2558205"/>
            <a:ext cx="399974" cy="566328"/>
          </a:xfrm>
          <a:prstGeom prst="straightConnector1">
            <a:avLst/>
          </a:prstGeom>
          <a:noFill/>
          <a:ln w="9525" cap="flat" cmpd="sng">
            <a:solidFill>
              <a:srgbClr val="44546A"/>
            </a:solidFill>
            <a:prstDash val="solid"/>
            <a:round/>
            <a:headEnd type="none" w="med" len="med"/>
            <a:tailEnd type="triangle" w="med" len="med"/>
          </a:ln>
        </p:spPr>
      </p:cxnSp>
      <p:cxnSp>
        <p:nvCxnSpPr>
          <p:cNvPr id="198" name="Google Shape;80;p13">
            <a:extLst>
              <a:ext uri="{FF2B5EF4-FFF2-40B4-BE49-F238E27FC236}">
                <a16:creationId xmlns:a16="http://schemas.microsoft.com/office/drawing/2014/main" id="{149A09D6-F8F8-0DF4-258B-230588F40D3E}"/>
              </a:ext>
            </a:extLst>
          </p:cNvPr>
          <p:cNvCxnSpPr>
            <a:cxnSpLocks/>
            <a:stCxn id="180" idx="3"/>
            <a:endCxn id="186" idx="1"/>
          </p:cNvCxnSpPr>
          <p:nvPr/>
        </p:nvCxnSpPr>
        <p:spPr>
          <a:xfrm>
            <a:off x="5963825" y="3124533"/>
            <a:ext cx="332044" cy="240242"/>
          </a:xfrm>
          <a:prstGeom prst="straightConnector1">
            <a:avLst/>
          </a:prstGeom>
          <a:noFill/>
          <a:ln w="9525" cap="flat" cmpd="sng">
            <a:solidFill>
              <a:srgbClr val="44546A"/>
            </a:solidFill>
            <a:prstDash val="solid"/>
            <a:round/>
            <a:headEnd type="none" w="med" len="med"/>
            <a:tailEnd type="triangle" w="med" len="med"/>
          </a:ln>
        </p:spPr>
      </p:cxnSp>
      <p:sp>
        <p:nvSpPr>
          <p:cNvPr id="199" name="Google Shape;81;p13">
            <a:extLst>
              <a:ext uri="{FF2B5EF4-FFF2-40B4-BE49-F238E27FC236}">
                <a16:creationId xmlns:a16="http://schemas.microsoft.com/office/drawing/2014/main" id="{C5B10B71-9880-0065-A3A2-B290D4843C93}"/>
              </a:ext>
            </a:extLst>
          </p:cNvPr>
          <p:cNvSpPr txBox="1"/>
          <p:nvPr/>
        </p:nvSpPr>
        <p:spPr>
          <a:xfrm>
            <a:off x="90621" y="4129162"/>
            <a:ext cx="1105800" cy="3390316"/>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 sz="1400" b="1" dirty="0">
                <a:solidFill>
                  <a:srgbClr val="C00000"/>
                </a:solidFill>
                <a:latin typeface="Times New Roman" panose="02020603050405020304" pitchFamily="18" charset="0"/>
                <a:ea typeface="Times New Roman"/>
                <a:cs typeface="Times New Roman" panose="02020603050405020304" pitchFamily="18" charset="0"/>
                <a:sym typeface="Times New Roman"/>
              </a:rPr>
              <a:t>GT--AG</a:t>
            </a:r>
            <a:endParaRPr sz="1400" b="1" dirty="0">
              <a:solidFill>
                <a:srgbClr val="C00000"/>
              </a:solidFill>
              <a:latin typeface="Times New Roman" panose="02020603050405020304" pitchFamily="18" charset="0"/>
              <a:ea typeface="Times New Roman"/>
              <a:cs typeface="Times New Roman" panose="02020603050405020304" pitchFamily="18" charset="0"/>
              <a:sym typeface="Times New Roman"/>
            </a:endParaRPr>
          </a:p>
          <a:p>
            <a:pPr marL="0" marR="0" lvl="0" indent="0" algn="ctr" rtl="0">
              <a:spcBef>
                <a:spcPts val="0"/>
              </a:spcBef>
              <a:spcAft>
                <a:spcPts val="0"/>
              </a:spcAft>
              <a:buNone/>
            </a:pPr>
            <a:r>
              <a:rPr lang="en" sz="1400" b="1" dirty="0">
                <a:solidFill>
                  <a:srgbClr val="C00000"/>
                </a:solidFill>
                <a:latin typeface="Times New Roman" panose="02020603050405020304" pitchFamily="18" charset="0"/>
                <a:ea typeface="Times New Roman"/>
                <a:cs typeface="Times New Roman" panose="02020603050405020304" pitchFamily="18" charset="0"/>
                <a:sym typeface="Times New Roman"/>
              </a:rPr>
              <a:t>1,2 splice </a:t>
            </a:r>
            <a:endParaRPr sz="1400" b="1" dirty="0">
              <a:solidFill>
                <a:srgbClr val="C00000"/>
              </a:solidFill>
              <a:latin typeface="Times New Roman" panose="02020603050405020304" pitchFamily="18" charset="0"/>
              <a:ea typeface="Times New Roman"/>
              <a:cs typeface="Times New Roman" panose="02020603050405020304" pitchFamily="18" charset="0"/>
              <a:sym typeface="Times New Roman"/>
            </a:endParaRPr>
          </a:p>
          <a:p>
            <a:pPr marL="0" marR="0" lvl="0" indent="0" algn="ctr" rtl="0">
              <a:spcBef>
                <a:spcPts val="0"/>
              </a:spcBef>
              <a:spcAft>
                <a:spcPts val="0"/>
              </a:spcAft>
              <a:buNone/>
            </a:pPr>
            <a:r>
              <a:rPr lang="en" sz="1400" b="1" dirty="0" err="1">
                <a:solidFill>
                  <a:srgbClr val="C00000"/>
                </a:solidFill>
                <a:latin typeface="Times New Roman" panose="02020603050405020304" pitchFamily="18" charset="0"/>
                <a:ea typeface="Times New Roman"/>
                <a:cs typeface="Times New Roman" panose="02020603050405020304" pitchFamily="18" charset="0"/>
                <a:sym typeface="Times New Roman"/>
              </a:rPr>
              <a:t>sites</a:t>
            </a:r>
            <a:r>
              <a:rPr lang="en" sz="1400" b="1" baseline="30000" dirty="0" err="1">
                <a:solidFill>
                  <a:srgbClr val="C00000"/>
                </a:solidFill>
                <a:latin typeface="Times New Roman" panose="02020603050405020304" pitchFamily="18" charset="0"/>
                <a:ea typeface="Times New Roman"/>
                <a:cs typeface="Times New Roman" panose="02020603050405020304" pitchFamily="18" charset="0"/>
                <a:sym typeface="Times New Roman"/>
              </a:rPr>
              <a:t>a</a:t>
            </a:r>
            <a:r>
              <a:rPr lang="en" sz="1400" b="1" baseline="30000" dirty="0">
                <a:solidFill>
                  <a:srgbClr val="C00000"/>
                </a:solidFill>
                <a:latin typeface="Times New Roman" panose="02020603050405020304" pitchFamily="18" charset="0"/>
                <a:ea typeface="Times New Roman"/>
                <a:cs typeface="Times New Roman" panose="02020603050405020304" pitchFamily="18" charset="0"/>
                <a:sym typeface="Times New Roman"/>
              </a:rPr>
              <a:t> </a:t>
            </a:r>
            <a:r>
              <a:rPr lang="en" sz="1400" b="1" dirty="0">
                <a:solidFill>
                  <a:srgbClr val="C00000"/>
                </a:solidFill>
                <a:latin typeface="Times New Roman" panose="02020603050405020304" pitchFamily="18" charset="0"/>
                <a:ea typeface="Times New Roman"/>
                <a:cs typeface="Times New Roman" panose="02020603050405020304" pitchFamily="18" charset="0"/>
                <a:sym typeface="Times New Roman"/>
              </a:rPr>
              <a:t> that cause exon skipping or use of a cryptic splice site</a:t>
            </a:r>
            <a:endParaRPr sz="2000" b="1" dirty="0">
              <a:solidFill>
                <a:srgbClr val="C00000"/>
              </a:solidFill>
              <a:latin typeface="Times New Roman" panose="02020603050405020304" pitchFamily="18" charset="0"/>
              <a:cs typeface="Times New Roman" panose="02020603050405020304" pitchFamily="18" charset="0"/>
            </a:endParaRPr>
          </a:p>
        </p:txBody>
      </p:sp>
      <p:sp>
        <p:nvSpPr>
          <p:cNvPr id="200" name="Google Shape;82;p13">
            <a:extLst>
              <a:ext uri="{FF2B5EF4-FFF2-40B4-BE49-F238E27FC236}">
                <a16:creationId xmlns:a16="http://schemas.microsoft.com/office/drawing/2014/main" id="{A11156E0-AB70-6BD3-6703-00EDC8D5A0D4}"/>
              </a:ext>
            </a:extLst>
          </p:cNvPr>
          <p:cNvSpPr/>
          <p:nvPr/>
        </p:nvSpPr>
        <p:spPr>
          <a:xfrm>
            <a:off x="1667892" y="4112077"/>
            <a:ext cx="1127168" cy="1064566"/>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 sz="1400" b="0" i="0" u="none" strike="noStrike" cap="none" dirty="0">
                <a:solidFill>
                  <a:srgbClr val="C00000"/>
                </a:solidFill>
                <a:latin typeface="Times New Roman" panose="02020603050405020304" pitchFamily="18" charset="0"/>
                <a:ea typeface="Times New Roman"/>
                <a:cs typeface="Times New Roman" panose="02020603050405020304" pitchFamily="18" charset="0"/>
                <a:sym typeface="Times New Roman"/>
              </a:rPr>
              <a:t>Disrupts reading frame and  NMD</a:t>
            </a:r>
            <a:r>
              <a:rPr lang="en" sz="1400" baseline="30000" dirty="0">
                <a:solidFill>
                  <a:srgbClr val="C00000"/>
                </a:solidFill>
                <a:latin typeface="Times New Roman" panose="02020603050405020304" pitchFamily="18" charset="0"/>
                <a:ea typeface="Times New Roman"/>
                <a:cs typeface="Times New Roman" panose="02020603050405020304" pitchFamily="18" charset="0"/>
                <a:sym typeface="Times New Roman"/>
              </a:rPr>
              <a:t> b</a:t>
            </a:r>
            <a:r>
              <a:rPr lang="en" sz="1400" b="0" i="0" u="none" strike="noStrike" cap="none" dirty="0">
                <a:solidFill>
                  <a:srgbClr val="C00000"/>
                </a:solidFill>
                <a:latin typeface="Times New Roman" panose="02020603050405020304" pitchFamily="18" charset="0"/>
                <a:ea typeface="Times New Roman"/>
                <a:cs typeface="Times New Roman" panose="02020603050405020304" pitchFamily="18" charset="0"/>
                <a:sym typeface="Times New Roman"/>
              </a:rPr>
              <a:t> predicted</a:t>
            </a:r>
            <a:endParaRPr sz="2000" dirty="0">
              <a:solidFill>
                <a:srgbClr val="C00000"/>
              </a:solidFill>
              <a:latin typeface="Times New Roman" panose="02020603050405020304" pitchFamily="18" charset="0"/>
              <a:cs typeface="Times New Roman" panose="02020603050405020304" pitchFamily="18" charset="0"/>
            </a:endParaRPr>
          </a:p>
        </p:txBody>
      </p:sp>
      <p:sp>
        <p:nvSpPr>
          <p:cNvPr id="201" name="Google Shape;83;p13">
            <a:extLst>
              <a:ext uri="{FF2B5EF4-FFF2-40B4-BE49-F238E27FC236}">
                <a16:creationId xmlns:a16="http://schemas.microsoft.com/office/drawing/2014/main" id="{55D8C374-C7E3-56EE-1696-89A84E3BAEBE}"/>
              </a:ext>
            </a:extLst>
          </p:cNvPr>
          <p:cNvSpPr/>
          <p:nvPr/>
        </p:nvSpPr>
        <p:spPr>
          <a:xfrm>
            <a:off x="1665554" y="6639663"/>
            <a:ext cx="1129505" cy="883437"/>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 sz="1400" dirty="0">
                <a:solidFill>
                  <a:srgbClr val="C00000"/>
                </a:solidFill>
                <a:latin typeface="Times New Roman" panose="02020603050405020304" pitchFamily="18" charset="0"/>
                <a:ea typeface="Times New Roman"/>
                <a:cs typeface="Times New Roman" panose="02020603050405020304" pitchFamily="18" charset="0"/>
                <a:sym typeface="Times New Roman"/>
              </a:rPr>
              <a:t>Variant p</a:t>
            </a:r>
            <a:r>
              <a:rPr lang="en" sz="1400" b="0" i="0" u="none" strike="noStrike" cap="none" dirty="0">
                <a:solidFill>
                  <a:srgbClr val="C00000"/>
                </a:solidFill>
                <a:latin typeface="Times New Roman" panose="02020603050405020304" pitchFamily="18" charset="0"/>
                <a:ea typeface="Times New Roman"/>
                <a:cs typeface="Times New Roman" panose="02020603050405020304" pitchFamily="18" charset="0"/>
                <a:sym typeface="Times New Roman"/>
              </a:rPr>
              <a:t>reserves reading frame</a:t>
            </a:r>
            <a:endParaRPr sz="2000" dirty="0">
              <a:solidFill>
                <a:srgbClr val="C00000"/>
              </a:solidFill>
              <a:latin typeface="Times New Roman" panose="02020603050405020304" pitchFamily="18" charset="0"/>
              <a:cs typeface="Times New Roman" panose="02020603050405020304" pitchFamily="18" charset="0"/>
            </a:endParaRPr>
          </a:p>
        </p:txBody>
      </p:sp>
      <p:sp>
        <p:nvSpPr>
          <p:cNvPr id="202" name="Google Shape;84;p13">
            <a:extLst>
              <a:ext uri="{FF2B5EF4-FFF2-40B4-BE49-F238E27FC236}">
                <a16:creationId xmlns:a16="http://schemas.microsoft.com/office/drawing/2014/main" id="{03248448-2E77-AC66-D467-568488F36145}"/>
              </a:ext>
            </a:extLst>
          </p:cNvPr>
          <p:cNvSpPr/>
          <p:nvPr/>
        </p:nvSpPr>
        <p:spPr>
          <a:xfrm>
            <a:off x="3059188" y="4135117"/>
            <a:ext cx="7562644" cy="27690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400" dirty="0">
                <a:solidFill>
                  <a:srgbClr val="C00000"/>
                </a:solidFill>
                <a:latin typeface="Times New Roman" panose="02020603050405020304" pitchFamily="18" charset="0"/>
                <a:ea typeface="Times New Roman"/>
                <a:cs typeface="Times New Roman" panose="02020603050405020304" pitchFamily="18" charset="0"/>
                <a:sym typeface="Times New Roman"/>
              </a:rPr>
              <a:t>S</a:t>
            </a:r>
            <a:r>
              <a:rPr lang="en" sz="1400" dirty="0">
                <a:solidFill>
                  <a:srgbClr val="C00000"/>
                </a:solidFill>
                <a:latin typeface="Times New Roman" panose="02020603050405020304" pitchFamily="18" charset="0"/>
                <a:ea typeface="Times New Roman"/>
                <a:cs typeface="Times New Roman" panose="02020603050405020304" pitchFamily="18" charset="0"/>
                <a:sym typeface="Times New Roman"/>
              </a:rPr>
              <a:t>kipped e</a:t>
            </a:r>
            <a:r>
              <a:rPr lang="en" sz="1400" b="0" i="0" u="none" strike="noStrike" cap="none" dirty="0">
                <a:solidFill>
                  <a:srgbClr val="C00000"/>
                </a:solidFill>
                <a:latin typeface="Times New Roman" panose="02020603050405020304" pitchFamily="18" charset="0"/>
                <a:ea typeface="Times New Roman"/>
                <a:cs typeface="Times New Roman" panose="02020603050405020304" pitchFamily="18" charset="0"/>
                <a:sym typeface="Times New Roman"/>
              </a:rPr>
              <a:t>xons 1, 11, 12, or 14 in NM_</a:t>
            </a:r>
            <a:r>
              <a:rPr lang="en-US" sz="1400" dirty="0">
                <a:solidFill>
                  <a:srgbClr val="C00000"/>
                </a:solidFill>
                <a:latin typeface="Times New Roman" panose="02020603050405020304" pitchFamily="18" charset="0"/>
                <a:cs typeface="Times New Roman" panose="02020603050405020304" pitchFamily="18" charset="0"/>
              </a:rPr>
              <a:t> 001034853.2 </a:t>
            </a:r>
            <a:r>
              <a:rPr lang="en" sz="1400" b="0" i="0" u="none" strike="noStrike" cap="none" dirty="0">
                <a:solidFill>
                  <a:srgbClr val="C00000"/>
                </a:solidFill>
                <a:latin typeface="Times New Roman" panose="02020603050405020304" pitchFamily="18" charset="0"/>
                <a:ea typeface="Times New Roman"/>
                <a:cs typeface="Times New Roman" panose="02020603050405020304" pitchFamily="18" charset="0"/>
                <a:sym typeface="Times New Roman"/>
              </a:rPr>
              <a:t>or cryptic splice sites </a:t>
            </a:r>
            <a:r>
              <a:rPr lang="en-US" sz="1400" dirty="0">
                <a:solidFill>
                  <a:srgbClr val="C00000"/>
                </a:solidFill>
                <a:latin typeface="Times New Roman" panose="02020603050405020304" pitchFamily="18" charset="0"/>
                <a:cs typeface="Times New Roman" panose="02020603050405020304" pitchFamily="18" charset="0"/>
              </a:rPr>
              <a:t>which disrupt reading frame</a:t>
            </a:r>
            <a:endParaRPr sz="2000" dirty="0">
              <a:solidFill>
                <a:srgbClr val="C00000"/>
              </a:solidFill>
              <a:latin typeface="Times New Roman" panose="02020603050405020304" pitchFamily="18" charset="0"/>
              <a:cs typeface="Times New Roman" panose="02020603050405020304" pitchFamily="18" charset="0"/>
            </a:endParaRPr>
          </a:p>
        </p:txBody>
      </p:sp>
      <p:sp>
        <p:nvSpPr>
          <p:cNvPr id="203" name="Google Shape;85;p13">
            <a:extLst>
              <a:ext uri="{FF2B5EF4-FFF2-40B4-BE49-F238E27FC236}">
                <a16:creationId xmlns:a16="http://schemas.microsoft.com/office/drawing/2014/main" id="{D65860F9-006B-22A8-A0A6-716652B4B461}"/>
              </a:ext>
            </a:extLst>
          </p:cNvPr>
          <p:cNvSpPr/>
          <p:nvPr/>
        </p:nvSpPr>
        <p:spPr>
          <a:xfrm>
            <a:off x="3061730" y="5159004"/>
            <a:ext cx="7562648" cy="254799"/>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400" dirty="0">
                <a:solidFill>
                  <a:srgbClr val="C00000"/>
                </a:solidFill>
                <a:latin typeface="Times New Roman" panose="02020603050405020304" pitchFamily="18" charset="0"/>
                <a:cs typeface="Times New Roman" panose="02020603050405020304" pitchFamily="18" charset="0"/>
              </a:rPr>
              <a:t>NM_001034853.2</a:t>
            </a:r>
            <a:r>
              <a:rPr lang="en-US" sz="1400" dirty="0">
                <a:solidFill>
                  <a:srgbClr val="C00000"/>
                </a:solidFill>
                <a:latin typeface="Times New Roman" panose="02020603050405020304" pitchFamily="18" charset="0"/>
                <a:ea typeface="Times New Roman"/>
                <a:cs typeface="Times New Roman" panose="02020603050405020304" pitchFamily="18" charset="0"/>
                <a:sym typeface="Times New Roman"/>
              </a:rPr>
              <a:t> variants in codons 619-1132, disrupt ORF15 glutamylation, a  critical function </a:t>
            </a:r>
            <a:r>
              <a:rPr lang="en-US" sz="1400" baseline="30000" dirty="0">
                <a:solidFill>
                  <a:srgbClr val="C00000"/>
                </a:solidFill>
                <a:latin typeface="Times New Roman" panose="02020603050405020304" pitchFamily="18" charset="0"/>
                <a:ea typeface="Times New Roman"/>
                <a:cs typeface="Times New Roman" panose="02020603050405020304" pitchFamily="18" charset="0"/>
                <a:sym typeface="Times New Roman"/>
              </a:rPr>
              <a:t>c</a:t>
            </a:r>
            <a:r>
              <a:rPr lang="en" sz="1400" baseline="30000" dirty="0">
                <a:solidFill>
                  <a:srgbClr val="C00000"/>
                </a:solidFill>
                <a:latin typeface="Times New Roman" panose="02020603050405020304" pitchFamily="18" charset="0"/>
                <a:ea typeface="Times New Roman"/>
                <a:cs typeface="Times New Roman" panose="02020603050405020304" pitchFamily="18" charset="0"/>
                <a:sym typeface="Times New Roman"/>
              </a:rPr>
              <a:t> , g</a:t>
            </a:r>
            <a:endParaRPr lang="en-US" sz="1400" dirty="0">
              <a:solidFill>
                <a:srgbClr val="C00000"/>
              </a:solidFill>
              <a:latin typeface="Times New Roman" panose="02020603050405020304" pitchFamily="18" charset="0"/>
              <a:ea typeface="Times New Roman"/>
              <a:cs typeface="Times New Roman" panose="02020603050405020304" pitchFamily="18" charset="0"/>
              <a:sym typeface="Times New Roman"/>
            </a:endParaRPr>
          </a:p>
        </p:txBody>
      </p:sp>
      <p:sp>
        <p:nvSpPr>
          <p:cNvPr id="204" name="Google Shape;86;p13">
            <a:extLst>
              <a:ext uri="{FF2B5EF4-FFF2-40B4-BE49-F238E27FC236}">
                <a16:creationId xmlns:a16="http://schemas.microsoft.com/office/drawing/2014/main" id="{1E83E8A0-C428-50A3-8599-124ED24AA2C3}"/>
              </a:ext>
            </a:extLst>
          </p:cNvPr>
          <p:cNvSpPr/>
          <p:nvPr/>
        </p:nvSpPr>
        <p:spPr>
          <a:xfrm>
            <a:off x="3059188" y="4813626"/>
            <a:ext cx="7562648" cy="27690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 sz="1400" b="0" i="0" u="none" strike="noStrike" cap="none" dirty="0">
                <a:solidFill>
                  <a:srgbClr val="C00000"/>
                </a:solidFill>
                <a:latin typeface="Times New Roman" panose="02020603050405020304" pitchFamily="18" charset="0"/>
                <a:ea typeface="Times New Roman"/>
                <a:cs typeface="Times New Roman" panose="02020603050405020304" pitchFamily="18" charset="0"/>
                <a:sym typeface="Times New Roman"/>
              </a:rPr>
              <a:t>Exon is absent from </a:t>
            </a:r>
            <a:r>
              <a:rPr lang="en" sz="1400" dirty="0">
                <a:solidFill>
                  <a:srgbClr val="C00000"/>
                </a:solidFill>
                <a:latin typeface="Times New Roman" panose="02020603050405020304" pitchFamily="18" charset="0"/>
                <a:ea typeface="Times New Roman"/>
                <a:cs typeface="Times New Roman" panose="02020603050405020304" pitchFamily="18" charset="0"/>
                <a:sym typeface="Times New Roman"/>
              </a:rPr>
              <a:t>biologically-relevant transcript(s)</a:t>
            </a:r>
            <a:endParaRPr sz="1400" dirty="0">
              <a:solidFill>
                <a:srgbClr val="C00000"/>
              </a:solidFill>
              <a:latin typeface="Times New Roman" panose="02020603050405020304" pitchFamily="18" charset="0"/>
              <a:ea typeface="Times New Roman"/>
              <a:cs typeface="Times New Roman" panose="02020603050405020304" pitchFamily="18" charset="0"/>
              <a:sym typeface="Times New Roman"/>
            </a:endParaRPr>
          </a:p>
        </p:txBody>
      </p:sp>
      <p:sp>
        <p:nvSpPr>
          <p:cNvPr id="205" name="Google Shape;91;p13">
            <a:extLst>
              <a:ext uri="{FF2B5EF4-FFF2-40B4-BE49-F238E27FC236}">
                <a16:creationId xmlns:a16="http://schemas.microsoft.com/office/drawing/2014/main" id="{AA8271E5-59FD-BA3A-EEAD-ECA4056EFD97}"/>
              </a:ext>
            </a:extLst>
          </p:cNvPr>
          <p:cNvSpPr/>
          <p:nvPr/>
        </p:nvSpPr>
        <p:spPr>
          <a:xfrm>
            <a:off x="3054290" y="7202439"/>
            <a:ext cx="7565282" cy="27432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lvl="0" indent="0" algn="ctr" rtl="0">
              <a:spcBef>
                <a:spcPts val="0"/>
              </a:spcBef>
              <a:spcAft>
                <a:spcPts val="0"/>
              </a:spcAft>
              <a:buNone/>
            </a:pPr>
            <a:r>
              <a:rPr lang="en-US" sz="1400" dirty="0">
                <a:solidFill>
                  <a:srgbClr val="C00000"/>
                </a:solidFill>
                <a:latin typeface="Times New Roman" panose="02020603050405020304" pitchFamily="18" charset="0"/>
                <a:ea typeface="Times New Roman"/>
                <a:cs typeface="Times New Roman" panose="02020603050405020304" pitchFamily="18" charset="0"/>
                <a:sym typeface="Times New Roman"/>
              </a:rPr>
              <a:t>Variants that skip exons 2, 3, 4, 5, 6, 7, 8, or 10 affect regions critical to protein function</a:t>
            </a:r>
            <a:r>
              <a:rPr lang="en-US" sz="1400" baseline="30000" dirty="0">
                <a:solidFill>
                  <a:srgbClr val="C00000"/>
                </a:solidFill>
                <a:latin typeface="Times New Roman" panose="02020603050405020304" pitchFamily="18" charset="0"/>
                <a:ea typeface="Times New Roman"/>
                <a:cs typeface="Times New Roman" panose="02020603050405020304" pitchFamily="18" charset="0"/>
                <a:sym typeface="Times New Roman"/>
              </a:rPr>
              <a:t> c, </a:t>
            </a:r>
            <a:r>
              <a:rPr lang="en-US" sz="1400" baseline="30000" dirty="0" err="1">
                <a:solidFill>
                  <a:srgbClr val="C00000"/>
                </a:solidFill>
                <a:latin typeface="Times New Roman" panose="02020603050405020304" pitchFamily="18" charset="0"/>
                <a:ea typeface="Times New Roman"/>
                <a:cs typeface="Times New Roman" panose="02020603050405020304" pitchFamily="18" charset="0"/>
                <a:sym typeface="Times New Roman"/>
              </a:rPr>
              <a:t>i</a:t>
            </a:r>
            <a:endParaRPr lang="en-US" sz="1400" dirty="0">
              <a:solidFill>
                <a:srgbClr val="C00000"/>
              </a:solidFill>
              <a:latin typeface="Times New Roman" panose="02020603050405020304" pitchFamily="18" charset="0"/>
              <a:ea typeface="Times New Roman"/>
              <a:cs typeface="Times New Roman" panose="02020603050405020304" pitchFamily="18" charset="0"/>
              <a:sym typeface="Times New Roman"/>
            </a:endParaRPr>
          </a:p>
        </p:txBody>
      </p:sp>
      <p:sp>
        <p:nvSpPr>
          <p:cNvPr id="206" name="Google Shape;92;p13">
            <a:extLst>
              <a:ext uri="{FF2B5EF4-FFF2-40B4-BE49-F238E27FC236}">
                <a16:creationId xmlns:a16="http://schemas.microsoft.com/office/drawing/2014/main" id="{BA871A64-2E4D-CE3B-8DCE-AD341F71F2C9}"/>
              </a:ext>
            </a:extLst>
          </p:cNvPr>
          <p:cNvSpPr/>
          <p:nvPr/>
        </p:nvSpPr>
        <p:spPr>
          <a:xfrm>
            <a:off x="10955521" y="4135117"/>
            <a:ext cx="1281000" cy="27690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 sz="1400" b="0" i="0" u="none" strike="noStrike" cap="none" dirty="0">
                <a:solidFill>
                  <a:srgbClr val="C00000"/>
                </a:solidFill>
                <a:latin typeface="Times New Roman" panose="02020603050405020304" pitchFamily="18" charset="0"/>
                <a:ea typeface="Times New Roman"/>
                <a:cs typeface="Times New Roman" panose="02020603050405020304" pitchFamily="18" charset="0"/>
                <a:sym typeface="Times New Roman"/>
              </a:rPr>
              <a:t>PVS1</a:t>
            </a:r>
            <a:endParaRPr sz="2000" dirty="0">
              <a:solidFill>
                <a:srgbClr val="C00000"/>
              </a:solidFill>
              <a:latin typeface="Times New Roman" panose="02020603050405020304" pitchFamily="18" charset="0"/>
              <a:cs typeface="Times New Roman" panose="02020603050405020304" pitchFamily="18" charset="0"/>
            </a:endParaRPr>
          </a:p>
        </p:txBody>
      </p:sp>
      <p:sp>
        <p:nvSpPr>
          <p:cNvPr id="207" name="Google Shape;93;p13">
            <a:extLst>
              <a:ext uri="{FF2B5EF4-FFF2-40B4-BE49-F238E27FC236}">
                <a16:creationId xmlns:a16="http://schemas.microsoft.com/office/drawing/2014/main" id="{1059310C-EC05-EFAF-F709-A977DF248B54}"/>
              </a:ext>
            </a:extLst>
          </p:cNvPr>
          <p:cNvSpPr/>
          <p:nvPr/>
        </p:nvSpPr>
        <p:spPr>
          <a:xfrm>
            <a:off x="10955521" y="4820002"/>
            <a:ext cx="1281000" cy="27690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 sz="1400" b="0" i="0" u="none" strike="noStrike" cap="none" dirty="0">
                <a:solidFill>
                  <a:srgbClr val="C00000"/>
                </a:solidFill>
                <a:latin typeface="Times New Roman" panose="02020603050405020304" pitchFamily="18" charset="0"/>
                <a:ea typeface="Times New Roman"/>
                <a:cs typeface="Times New Roman" panose="02020603050405020304" pitchFamily="18" charset="0"/>
                <a:sym typeface="Times New Roman"/>
              </a:rPr>
              <a:t>N/A</a:t>
            </a:r>
            <a:endParaRPr sz="2000" dirty="0">
              <a:solidFill>
                <a:srgbClr val="C00000"/>
              </a:solidFill>
              <a:latin typeface="Times New Roman" panose="02020603050405020304" pitchFamily="18" charset="0"/>
              <a:cs typeface="Times New Roman" panose="02020603050405020304" pitchFamily="18" charset="0"/>
            </a:endParaRPr>
          </a:p>
        </p:txBody>
      </p:sp>
      <p:sp>
        <p:nvSpPr>
          <p:cNvPr id="208" name="Google Shape;94;p13">
            <a:extLst>
              <a:ext uri="{FF2B5EF4-FFF2-40B4-BE49-F238E27FC236}">
                <a16:creationId xmlns:a16="http://schemas.microsoft.com/office/drawing/2014/main" id="{DCE3C27C-E692-BB7E-898F-EE40CE963735}"/>
              </a:ext>
            </a:extLst>
          </p:cNvPr>
          <p:cNvSpPr/>
          <p:nvPr/>
        </p:nvSpPr>
        <p:spPr>
          <a:xfrm>
            <a:off x="10955521" y="5197554"/>
            <a:ext cx="1281000" cy="27690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 sz="1400" b="0" i="0" u="none" strike="noStrike" cap="none" dirty="0">
                <a:solidFill>
                  <a:srgbClr val="C00000"/>
                </a:solidFill>
                <a:latin typeface="Times New Roman" panose="02020603050405020304" pitchFamily="18" charset="0"/>
                <a:ea typeface="Times New Roman"/>
                <a:cs typeface="Times New Roman" panose="02020603050405020304" pitchFamily="18" charset="0"/>
                <a:sym typeface="Times New Roman"/>
              </a:rPr>
              <a:t>PVS1</a:t>
            </a:r>
            <a:endParaRPr sz="2000" dirty="0">
              <a:solidFill>
                <a:srgbClr val="C00000"/>
              </a:solidFill>
              <a:latin typeface="Times New Roman" panose="02020603050405020304" pitchFamily="18" charset="0"/>
              <a:cs typeface="Times New Roman" panose="02020603050405020304" pitchFamily="18" charset="0"/>
            </a:endParaRPr>
          </a:p>
        </p:txBody>
      </p:sp>
      <p:sp>
        <p:nvSpPr>
          <p:cNvPr id="209" name="Google Shape;98;p13">
            <a:extLst>
              <a:ext uri="{FF2B5EF4-FFF2-40B4-BE49-F238E27FC236}">
                <a16:creationId xmlns:a16="http://schemas.microsoft.com/office/drawing/2014/main" id="{E149723F-6018-765B-58DD-41C478B9C53B}"/>
              </a:ext>
            </a:extLst>
          </p:cNvPr>
          <p:cNvSpPr/>
          <p:nvPr/>
        </p:nvSpPr>
        <p:spPr>
          <a:xfrm>
            <a:off x="10950564" y="7206418"/>
            <a:ext cx="1281000" cy="27690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 sz="1400" b="0" i="0" u="none" strike="noStrike" cap="none" dirty="0">
                <a:solidFill>
                  <a:srgbClr val="C00000"/>
                </a:solidFill>
                <a:latin typeface="Times New Roman" panose="02020603050405020304" pitchFamily="18" charset="0"/>
                <a:ea typeface="Times New Roman"/>
                <a:cs typeface="Times New Roman" panose="02020603050405020304" pitchFamily="18" charset="0"/>
                <a:sym typeface="Times New Roman"/>
              </a:rPr>
              <a:t>PVS1</a:t>
            </a:r>
            <a:endParaRPr sz="2000" dirty="0">
              <a:solidFill>
                <a:srgbClr val="C00000"/>
              </a:solidFill>
              <a:latin typeface="Times New Roman" panose="02020603050405020304" pitchFamily="18" charset="0"/>
              <a:cs typeface="Times New Roman" panose="02020603050405020304" pitchFamily="18" charset="0"/>
            </a:endParaRPr>
          </a:p>
        </p:txBody>
      </p:sp>
      <p:sp>
        <p:nvSpPr>
          <p:cNvPr id="210" name="Google Shape;100;p13">
            <a:extLst>
              <a:ext uri="{FF2B5EF4-FFF2-40B4-BE49-F238E27FC236}">
                <a16:creationId xmlns:a16="http://schemas.microsoft.com/office/drawing/2014/main" id="{E6D86461-FD0D-FAD0-5FFD-E924C33F3AAE}"/>
              </a:ext>
            </a:extLst>
          </p:cNvPr>
          <p:cNvSpPr/>
          <p:nvPr/>
        </p:nvSpPr>
        <p:spPr>
          <a:xfrm>
            <a:off x="1667640" y="5254265"/>
            <a:ext cx="1129505" cy="1309172"/>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 sz="1400" b="0" i="0" u="none" strike="noStrike" cap="none" dirty="0">
                <a:solidFill>
                  <a:srgbClr val="C00000"/>
                </a:solidFill>
                <a:latin typeface="Times New Roman" panose="02020603050405020304" pitchFamily="18" charset="0"/>
                <a:ea typeface="Times New Roman"/>
                <a:cs typeface="Times New Roman" panose="02020603050405020304" pitchFamily="18" charset="0"/>
                <a:sym typeface="Times New Roman"/>
              </a:rPr>
              <a:t>Disrupts reading frame and NMD is </a:t>
            </a:r>
            <a:r>
              <a:rPr lang="en" sz="1400" b="1" dirty="0">
                <a:solidFill>
                  <a:srgbClr val="C00000"/>
                </a:solidFill>
                <a:latin typeface="Times New Roman" panose="02020603050405020304" pitchFamily="18" charset="0"/>
                <a:ea typeface="Times New Roman"/>
                <a:cs typeface="Times New Roman" panose="02020603050405020304" pitchFamily="18" charset="0"/>
                <a:sym typeface="Times New Roman"/>
              </a:rPr>
              <a:t>NOT</a:t>
            </a:r>
            <a:r>
              <a:rPr lang="en" sz="1400" b="0" i="0" u="none" strike="noStrike" cap="none" dirty="0">
                <a:solidFill>
                  <a:srgbClr val="C00000"/>
                </a:solidFill>
                <a:latin typeface="Times New Roman" panose="02020603050405020304" pitchFamily="18" charset="0"/>
                <a:ea typeface="Times New Roman"/>
                <a:cs typeface="Times New Roman" panose="02020603050405020304" pitchFamily="18" charset="0"/>
                <a:sym typeface="Times New Roman"/>
              </a:rPr>
              <a:t> predicted</a:t>
            </a:r>
            <a:endParaRPr sz="2000" dirty="0">
              <a:solidFill>
                <a:srgbClr val="C00000"/>
              </a:solidFill>
              <a:latin typeface="Times New Roman" panose="02020603050405020304" pitchFamily="18" charset="0"/>
              <a:cs typeface="Times New Roman" panose="02020603050405020304" pitchFamily="18" charset="0"/>
            </a:endParaRPr>
          </a:p>
        </p:txBody>
      </p:sp>
      <p:cxnSp>
        <p:nvCxnSpPr>
          <p:cNvPr id="211" name="Google Shape;101;p13">
            <a:extLst>
              <a:ext uri="{FF2B5EF4-FFF2-40B4-BE49-F238E27FC236}">
                <a16:creationId xmlns:a16="http://schemas.microsoft.com/office/drawing/2014/main" id="{00E21FB9-CC03-884E-70B6-5696FF755C84}"/>
              </a:ext>
            </a:extLst>
          </p:cNvPr>
          <p:cNvCxnSpPr>
            <a:cxnSpLocks/>
            <a:stCxn id="199" idx="3"/>
            <a:endCxn id="200" idx="1"/>
          </p:cNvCxnSpPr>
          <p:nvPr/>
        </p:nvCxnSpPr>
        <p:spPr>
          <a:xfrm flipV="1">
            <a:off x="1196421" y="4644360"/>
            <a:ext cx="471471" cy="1179960"/>
          </a:xfrm>
          <a:prstGeom prst="straightConnector1">
            <a:avLst/>
          </a:prstGeom>
          <a:noFill/>
          <a:ln w="9525" cap="flat" cmpd="sng">
            <a:solidFill>
              <a:srgbClr val="44546A"/>
            </a:solidFill>
            <a:prstDash val="solid"/>
            <a:round/>
            <a:headEnd type="none" w="med" len="med"/>
            <a:tailEnd type="triangle" w="med" len="med"/>
          </a:ln>
        </p:spPr>
      </p:cxnSp>
      <p:cxnSp>
        <p:nvCxnSpPr>
          <p:cNvPr id="212" name="Google Shape;102;p13">
            <a:extLst>
              <a:ext uri="{FF2B5EF4-FFF2-40B4-BE49-F238E27FC236}">
                <a16:creationId xmlns:a16="http://schemas.microsoft.com/office/drawing/2014/main" id="{A69BDC71-64C9-B791-8421-E7C64FB07D1F}"/>
              </a:ext>
            </a:extLst>
          </p:cNvPr>
          <p:cNvCxnSpPr>
            <a:cxnSpLocks/>
            <a:stCxn id="199" idx="3"/>
            <a:endCxn id="210" idx="1"/>
          </p:cNvCxnSpPr>
          <p:nvPr/>
        </p:nvCxnSpPr>
        <p:spPr>
          <a:xfrm>
            <a:off x="1196421" y="5824320"/>
            <a:ext cx="471219" cy="84531"/>
          </a:xfrm>
          <a:prstGeom prst="straightConnector1">
            <a:avLst/>
          </a:prstGeom>
          <a:noFill/>
          <a:ln w="9525" cap="flat" cmpd="sng">
            <a:solidFill>
              <a:srgbClr val="44546A"/>
            </a:solidFill>
            <a:prstDash val="solid"/>
            <a:round/>
            <a:headEnd type="none" w="med" len="med"/>
            <a:tailEnd type="triangle" w="med" len="med"/>
          </a:ln>
        </p:spPr>
      </p:cxnSp>
      <p:cxnSp>
        <p:nvCxnSpPr>
          <p:cNvPr id="213" name="Google Shape;103;p13">
            <a:extLst>
              <a:ext uri="{FF2B5EF4-FFF2-40B4-BE49-F238E27FC236}">
                <a16:creationId xmlns:a16="http://schemas.microsoft.com/office/drawing/2014/main" id="{AB6F86E7-2C3E-9B8C-EDC2-5F442105D46B}"/>
              </a:ext>
            </a:extLst>
          </p:cNvPr>
          <p:cNvCxnSpPr>
            <a:cxnSpLocks/>
            <a:stCxn id="199" idx="3"/>
            <a:endCxn id="201" idx="1"/>
          </p:cNvCxnSpPr>
          <p:nvPr/>
        </p:nvCxnSpPr>
        <p:spPr>
          <a:xfrm>
            <a:off x="1196421" y="5824320"/>
            <a:ext cx="469133" cy="1257062"/>
          </a:xfrm>
          <a:prstGeom prst="straightConnector1">
            <a:avLst/>
          </a:prstGeom>
          <a:noFill/>
          <a:ln w="9525" cap="flat" cmpd="sng">
            <a:solidFill>
              <a:srgbClr val="44546A"/>
            </a:solidFill>
            <a:prstDash val="solid"/>
            <a:round/>
            <a:headEnd type="none" w="med" len="med"/>
            <a:tailEnd type="triangle" w="med" len="med"/>
          </a:ln>
        </p:spPr>
      </p:cxnSp>
      <p:cxnSp>
        <p:nvCxnSpPr>
          <p:cNvPr id="214" name="Google Shape;104;p13">
            <a:extLst>
              <a:ext uri="{FF2B5EF4-FFF2-40B4-BE49-F238E27FC236}">
                <a16:creationId xmlns:a16="http://schemas.microsoft.com/office/drawing/2014/main" id="{552C4801-2EFF-1E5A-3701-0DE4C8697368}"/>
              </a:ext>
            </a:extLst>
          </p:cNvPr>
          <p:cNvCxnSpPr>
            <a:cxnSpLocks/>
            <a:endCxn id="202" idx="1"/>
          </p:cNvCxnSpPr>
          <p:nvPr/>
        </p:nvCxnSpPr>
        <p:spPr>
          <a:xfrm flipV="1">
            <a:off x="2795060" y="4273567"/>
            <a:ext cx="264128" cy="339318"/>
          </a:xfrm>
          <a:prstGeom prst="straightConnector1">
            <a:avLst/>
          </a:prstGeom>
          <a:noFill/>
          <a:ln w="9525" cap="flat" cmpd="sng">
            <a:solidFill>
              <a:srgbClr val="44546A"/>
            </a:solidFill>
            <a:prstDash val="solid"/>
            <a:round/>
            <a:headEnd type="none" w="med" len="med"/>
            <a:tailEnd type="triangle" w="med" len="med"/>
          </a:ln>
        </p:spPr>
      </p:cxnSp>
      <p:cxnSp>
        <p:nvCxnSpPr>
          <p:cNvPr id="215" name="Google Shape;105;p13">
            <a:extLst>
              <a:ext uri="{FF2B5EF4-FFF2-40B4-BE49-F238E27FC236}">
                <a16:creationId xmlns:a16="http://schemas.microsoft.com/office/drawing/2014/main" id="{64F1F03F-75C8-7FA8-E94C-0EB406438789}"/>
              </a:ext>
            </a:extLst>
          </p:cNvPr>
          <p:cNvCxnSpPr>
            <a:cxnSpLocks/>
            <a:endCxn id="204" idx="1"/>
          </p:cNvCxnSpPr>
          <p:nvPr/>
        </p:nvCxnSpPr>
        <p:spPr>
          <a:xfrm>
            <a:off x="2795060" y="4612885"/>
            <a:ext cx="264128" cy="339191"/>
          </a:xfrm>
          <a:prstGeom prst="straightConnector1">
            <a:avLst/>
          </a:prstGeom>
          <a:noFill/>
          <a:ln w="9525" cap="flat" cmpd="sng">
            <a:solidFill>
              <a:srgbClr val="44546A"/>
            </a:solidFill>
            <a:prstDash val="solid"/>
            <a:round/>
            <a:headEnd type="none" w="med" len="med"/>
            <a:tailEnd type="triangle" w="med" len="med"/>
          </a:ln>
        </p:spPr>
      </p:cxnSp>
      <p:cxnSp>
        <p:nvCxnSpPr>
          <p:cNvPr id="216" name="Google Shape;106;p13">
            <a:extLst>
              <a:ext uri="{FF2B5EF4-FFF2-40B4-BE49-F238E27FC236}">
                <a16:creationId xmlns:a16="http://schemas.microsoft.com/office/drawing/2014/main" id="{F7DA8E2A-C883-4DE0-D602-B68FBA86C58F}"/>
              </a:ext>
            </a:extLst>
          </p:cNvPr>
          <p:cNvCxnSpPr>
            <a:cxnSpLocks/>
            <a:endCxn id="203" idx="1"/>
          </p:cNvCxnSpPr>
          <p:nvPr/>
        </p:nvCxnSpPr>
        <p:spPr>
          <a:xfrm flipV="1">
            <a:off x="2788259" y="5286404"/>
            <a:ext cx="273471" cy="354467"/>
          </a:xfrm>
          <a:prstGeom prst="straightConnector1">
            <a:avLst/>
          </a:prstGeom>
          <a:noFill/>
          <a:ln w="9525" cap="flat" cmpd="sng">
            <a:solidFill>
              <a:srgbClr val="44546A"/>
            </a:solidFill>
            <a:prstDash val="solid"/>
            <a:round/>
            <a:headEnd type="none" w="med" len="med"/>
            <a:tailEnd type="triangle" w="med" len="med"/>
          </a:ln>
        </p:spPr>
      </p:cxnSp>
      <p:cxnSp>
        <p:nvCxnSpPr>
          <p:cNvPr id="217" name="Google Shape;107;p13">
            <a:extLst>
              <a:ext uri="{FF2B5EF4-FFF2-40B4-BE49-F238E27FC236}">
                <a16:creationId xmlns:a16="http://schemas.microsoft.com/office/drawing/2014/main" id="{FEAEC679-D117-8300-7466-0E8A758C297C}"/>
              </a:ext>
            </a:extLst>
          </p:cNvPr>
          <p:cNvCxnSpPr>
            <a:cxnSpLocks/>
          </p:cNvCxnSpPr>
          <p:nvPr/>
        </p:nvCxnSpPr>
        <p:spPr>
          <a:xfrm>
            <a:off x="2790345" y="5747551"/>
            <a:ext cx="268901" cy="581774"/>
          </a:xfrm>
          <a:prstGeom prst="straightConnector1">
            <a:avLst/>
          </a:prstGeom>
          <a:noFill/>
          <a:ln w="9525" cap="flat" cmpd="sng">
            <a:solidFill>
              <a:srgbClr val="44546A"/>
            </a:solidFill>
            <a:prstDash val="solid"/>
            <a:round/>
            <a:headEnd type="none" w="med" len="med"/>
            <a:tailEnd type="triangle" w="med" len="med"/>
          </a:ln>
        </p:spPr>
      </p:cxnSp>
      <p:sp>
        <p:nvSpPr>
          <p:cNvPr id="173" name="Google Shape;55;p13">
            <a:extLst>
              <a:ext uri="{FF2B5EF4-FFF2-40B4-BE49-F238E27FC236}">
                <a16:creationId xmlns:a16="http://schemas.microsoft.com/office/drawing/2014/main" id="{EBB5F680-53C2-4AA8-9668-D92E0C68CA1B}"/>
              </a:ext>
            </a:extLst>
          </p:cNvPr>
          <p:cNvSpPr/>
          <p:nvPr/>
        </p:nvSpPr>
        <p:spPr>
          <a:xfrm>
            <a:off x="1663521" y="830026"/>
            <a:ext cx="982225" cy="822222"/>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 sz="1400" b="0" i="0" u="none" strike="noStrike" cap="none" dirty="0">
                <a:solidFill>
                  <a:srgbClr val="000000"/>
                </a:solidFill>
                <a:latin typeface="Times New Roman" panose="02020603050405020304" pitchFamily="18" charset="0"/>
                <a:ea typeface="Times New Roman"/>
                <a:cs typeface="Times New Roman" panose="02020603050405020304" pitchFamily="18" charset="0"/>
                <a:sym typeface="Times New Roman"/>
              </a:rPr>
              <a:t>Predicted to undergo NMD </a:t>
            </a:r>
            <a:r>
              <a:rPr lang="en" sz="1400" b="0" i="0" u="none" strike="noStrike" cap="none" baseline="30000" dirty="0">
                <a:solidFill>
                  <a:srgbClr val="000000"/>
                </a:solidFill>
                <a:latin typeface="Times New Roman" panose="02020603050405020304" pitchFamily="18" charset="0"/>
                <a:ea typeface="Times New Roman"/>
                <a:cs typeface="Times New Roman" panose="02020603050405020304" pitchFamily="18" charset="0"/>
                <a:sym typeface="Times New Roman"/>
              </a:rPr>
              <a:t>b</a:t>
            </a:r>
          </a:p>
        </p:txBody>
      </p:sp>
      <p:sp>
        <p:nvSpPr>
          <p:cNvPr id="175" name="Google Shape;57;p13">
            <a:extLst>
              <a:ext uri="{FF2B5EF4-FFF2-40B4-BE49-F238E27FC236}">
                <a16:creationId xmlns:a16="http://schemas.microsoft.com/office/drawing/2014/main" id="{FAA59B78-7608-12D2-51E7-0190723F2E2E}"/>
              </a:ext>
            </a:extLst>
          </p:cNvPr>
          <p:cNvSpPr/>
          <p:nvPr/>
        </p:nvSpPr>
        <p:spPr>
          <a:xfrm>
            <a:off x="3059248" y="824794"/>
            <a:ext cx="7565130" cy="27432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 sz="1400" dirty="0">
                <a:latin typeface="Times New Roman" panose="02020603050405020304" pitchFamily="18" charset="0"/>
                <a:ea typeface="Times New Roman"/>
                <a:cs typeface="Times New Roman" panose="02020603050405020304" pitchFamily="18" charset="0"/>
                <a:sym typeface="Times New Roman"/>
              </a:rPr>
              <a:t>V</a:t>
            </a:r>
            <a:r>
              <a:rPr lang="en" sz="1400" b="0" i="0" u="none" strike="noStrike" cap="none" dirty="0">
                <a:solidFill>
                  <a:srgbClr val="000000"/>
                </a:solidFill>
                <a:latin typeface="Times New Roman" panose="02020603050405020304" pitchFamily="18" charset="0"/>
                <a:ea typeface="Times New Roman"/>
                <a:cs typeface="Times New Roman" panose="02020603050405020304" pitchFamily="18" charset="0"/>
                <a:sym typeface="Times New Roman"/>
              </a:rPr>
              <a:t>ariants that </a:t>
            </a:r>
            <a:r>
              <a:rPr lang="en" sz="1400" b="0" i="0" u="none" strike="noStrike" cap="none" dirty="0">
                <a:solidFill>
                  <a:srgbClr val="009ACC"/>
                </a:solidFill>
                <a:latin typeface="Times New Roman" panose="02020603050405020304" pitchFamily="18" charset="0"/>
                <a:ea typeface="Times New Roman"/>
                <a:cs typeface="Times New Roman" panose="02020603050405020304" pitchFamily="18" charset="0"/>
                <a:sym typeface="Times New Roman"/>
              </a:rPr>
              <a:t>terminate in codons 2-619 (</a:t>
            </a:r>
            <a:r>
              <a:rPr lang="en-US" sz="1400" dirty="0">
                <a:solidFill>
                  <a:srgbClr val="009ACC"/>
                </a:solidFill>
                <a:latin typeface="Times New Roman" panose="02020603050405020304" pitchFamily="18" charset="0"/>
                <a:cs typeface="Times New Roman" panose="02020603050405020304" pitchFamily="18" charset="0"/>
              </a:rPr>
              <a:t>NM_001034853.2:c.4-1704</a:t>
            </a:r>
            <a:r>
              <a:rPr lang="en" sz="1400" dirty="0">
                <a:solidFill>
                  <a:srgbClr val="009ACC"/>
                </a:solidFill>
                <a:latin typeface="Times New Roman" panose="02020603050405020304" pitchFamily="18" charset="0"/>
                <a:ea typeface="Times New Roman"/>
                <a:cs typeface="Times New Roman" panose="02020603050405020304" pitchFamily="18" charset="0"/>
                <a:sym typeface="Times New Roman"/>
              </a:rPr>
              <a:t> or </a:t>
            </a:r>
            <a:r>
              <a:rPr lang="en-US" sz="1400" dirty="0">
                <a:solidFill>
                  <a:srgbClr val="009ACC"/>
                </a:solidFill>
                <a:latin typeface="Times New Roman" panose="02020603050405020304" pitchFamily="18" charset="0"/>
                <a:cs typeface="Times New Roman" panose="02020603050405020304" pitchFamily="18" charset="0"/>
              </a:rPr>
              <a:t>NM_00328.3:c.4-1704</a:t>
            </a:r>
            <a:r>
              <a:rPr lang="en-US" sz="1400" baseline="30000" dirty="0">
                <a:solidFill>
                  <a:srgbClr val="009ACC"/>
                </a:solidFill>
                <a:latin typeface="Times New Roman" panose="02020603050405020304" pitchFamily="18" charset="0"/>
                <a:cs typeface="Times New Roman" panose="02020603050405020304" pitchFamily="18" charset="0"/>
              </a:rPr>
              <a:t>e</a:t>
            </a:r>
            <a:r>
              <a:rPr lang="en-US" sz="1400" dirty="0">
                <a:solidFill>
                  <a:srgbClr val="009ACC"/>
                </a:solidFill>
                <a:latin typeface="Times New Roman" panose="02020603050405020304" pitchFamily="18" charset="0"/>
                <a:cs typeface="Times New Roman" panose="02020603050405020304" pitchFamily="18" charset="0"/>
              </a:rPr>
              <a:t>)</a:t>
            </a:r>
            <a:endParaRPr sz="2000" dirty="0">
              <a:latin typeface="Times New Roman" panose="02020603050405020304" pitchFamily="18" charset="0"/>
              <a:cs typeface="Times New Roman" panose="02020603050405020304" pitchFamily="18" charset="0"/>
            </a:endParaRPr>
          </a:p>
        </p:txBody>
      </p:sp>
      <p:sp>
        <p:nvSpPr>
          <p:cNvPr id="176" name="Google Shape;58;p13">
            <a:extLst>
              <a:ext uri="{FF2B5EF4-FFF2-40B4-BE49-F238E27FC236}">
                <a16:creationId xmlns:a16="http://schemas.microsoft.com/office/drawing/2014/main" id="{1A03A41B-53EA-6BD7-C5F2-C25F81499791}"/>
              </a:ext>
            </a:extLst>
          </p:cNvPr>
          <p:cNvSpPr/>
          <p:nvPr/>
        </p:nvSpPr>
        <p:spPr>
          <a:xfrm>
            <a:off x="3059247" y="1176834"/>
            <a:ext cx="7562585" cy="27432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 sz="1400" dirty="0">
                <a:latin typeface="Times New Roman" panose="02020603050405020304" pitchFamily="18" charset="0"/>
                <a:ea typeface="Times New Roman"/>
                <a:cs typeface="Times New Roman" panose="02020603050405020304" pitchFamily="18" charset="0"/>
                <a:sym typeface="Times New Roman"/>
              </a:rPr>
              <a:t>V</a:t>
            </a:r>
            <a:r>
              <a:rPr lang="en" sz="1400" b="0" i="0" u="none" strike="noStrike" cap="none" dirty="0">
                <a:solidFill>
                  <a:srgbClr val="000000"/>
                </a:solidFill>
                <a:latin typeface="Times New Roman" panose="02020603050405020304" pitchFamily="18" charset="0"/>
                <a:ea typeface="Times New Roman"/>
                <a:cs typeface="Times New Roman" panose="02020603050405020304" pitchFamily="18" charset="0"/>
                <a:sym typeface="Times New Roman"/>
              </a:rPr>
              <a:t>ariants that </a:t>
            </a:r>
            <a:r>
              <a:rPr lang="en" sz="1400" b="0" i="0" u="none" strike="noStrike" cap="none" dirty="0">
                <a:solidFill>
                  <a:srgbClr val="009ACC"/>
                </a:solidFill>
                <a:latin typeface="Times New Roman" panose="02020603050405020304" pitchFamily="18" charset="0"/>
                <a:ea typeface="Times New Roman"/>
                <a:cs typeface="Times New Roman" panose="02020603050405020304" pitchFamily="18" charset="0"/>
                <a:sym typeface="Times New Roman"/>
              </a:rPr>
              <a:t>terminate in codons 620-783 </a:t>
            </a:r>
            <a:r>
              <a:rPr lang="en" sz="1400" dirty="0">
                <a:solidFill>
                  <a:srgbClr val="009ACC"/>
                </a:solidFill>
                <a:latin typeface="Times New Roman" panose="02020603050405020304" pitchFamily="18" charset="0"/>
                <a:ea typeface="Times New Roman"/>
                <a:cs typeface="Times New Roman" panose="02020603050405020304" pitchFamily="18" charset="0"/>
                <a:sym typeface="Times New Roman"/>
              </a:rPr>
              <a:t>in transcript </a:t>
            </a:r>
            <a:r>
              <a:rPr lang="en-US" sz="1400" dirty="0">
                <a:solidFill>
                  <a:srgbClr val="009ACC"/>
                </a:solidFill>
                <a:latin typeface="Times New Roman" panose="02020603050405020304" pitchFamily="18" charset="0"/>
                <a:cs typeface="Times New Roman" panose="02020603050405020304" pitchFamily="18" charset="0"/>
              </a:rPr>
              <a:t>NM_00328.3:c.1705-2106</a:t>
            </a:r>
            <a:r>
              <a:rPr lang="en-US" sz="1400" baseline="30000" dirty="0">
                <a:solidFill>
                  <a:srgbClr val="009ACC"/>
                </a:solidFill>
                <a:latin typeface="Times New Roman" panose="02020603050405020304" pitchFamily="18" charset="0"/>
                <a:cs typeface="Times New Roman" panose="02020603050405020304" pitchFamily="18" charset="0"/>
              </a:rPr>
              <a:t>f</a:t>
            </a:r>
            <a:r>
              <a:rPr lang="en-US" sz="1400" dirty="0">
                <a:solidFill>
                  <a:srgbClr val="009ACC"/>
                </a:solidFill>
                <a:latin typeface="Times New Roman" panose="02020603050405020304" pitchFamily="18" charset="0"/>
                <a:cs typeface="Times New Roman" panose="02020603050405020304" pitchFamily="18" charset="0"/>
              </a:rPr>
              <a:t>)</a:t>
            </a:r>
            <a:endParaRPr sz="1400" dirty="0">
              <a:solidFill>
                <a:srgbClr val="000000"/>
              </a:solidFill>
              <a:latin typeface="Times New Roman" panose="02020603050405020304" pitchFamily="18" charset="0"/>
              <a:ea typeface="Times New Roman"/>
              <a:cs typeface="Times New Roman" panose="02020603050405020304" pitchFamily="18" charset="0"/>
              <a:sym typeface="Times New Roman"/>
            </a:endParaRPr>
          </a:p>
        </p:txBody>
      </p:sp>
      <p:sp>
        <p:nvSpPr>
          <p:cNvPr id="177" name="Google Shape;59;p13">
            <a:extLst>
              <a:ext uri="{FF2B5EF4-FFF2-40B4-BE49-F238E27FC236}">
                <a16:creationId xmlns:a16="http://schemas.microsoft.com/office/drawing/2014/main" id="{E385903D-6349-8A4A-CD90-1662F18DE728}"/>
              </a:ext>
            </a:extLst>
          </p:cNvPr>
          <p:cNvSpPr/>
          <p:nvPr/>
        </p:nvSpPr>
        <p:spPr>
          <a:xfrm>
            <a:off x="10958086" y="828542"/>
            <a:ext cx="1281000" cy="27690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 sz="1400" b="0" i="0" u="none" strike="noStrike" cap="none" dirty="0">
                <a:solidFill>
                  <a:srgbClr val="000000"/>
                </a:solidFill>
                <a:latin typeface="Times New Roman" panose="02020603050405020304" pitchFamily="18" charset="0"/>
                <a:ea typeface="Times New Roman"/>
                <a:cs typeface="Times New Roman" panose="02020603050405020304" pitchFamily="18" charset="0"/>
                <a:sym typeface="Times New Roman"/>
              </a:rPr>
              <a:t>PVS1</a:t>
            </a:r>
            <a:endParaRPr sz="2000" dirty="0">
              <a:latin typeface="Times New Roman" panose="02020603050405020304" pitchFamily="18" charset="0"/>
              <a:cs typeface="Times New Roman" panose="02020603050405020304" pitchFamily="18" charset="0"/>
            </a:endParaRPr>
          </a:p>
        </p:txBody>
      </p:sp>
      <p:sp>
        <p:nvSpPr>
          <p:cNvPr id="178" name="Google Shape;60;p13">
            <a:extLst>
              <a:ext uri="{FF2B5EF4-FFF2-40B4-BE49-F238E27FC236}">
                <a16:creationId xmlns:a16="http://schemas.microsoft.com/office/drawing/2014/main" id="{24910BD6-3535-3764-DA63-DC743F83B7EF}"/>
              </a:ext>
            </a:extLst>
          </p:cNvPr>
          <p:cNvSpPr/>
          <p:nvPr/>
        </p:nvSpPr>
        <p:spPr>
          <a:xfrm>
            <a:off x="10955520" y="1182384"/>
            <a:ext cx="1298259" cy="264025"/>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ts val="1040"/>
              </a:lnSpc>
              <a:spcBef>
                <a:spcPts val="0"/>
              </a:spcBef>
              <a:spcAft>
                <a:spcPts val="0"/>
              </a:spcAft>
              <a:buNone/>
            </a:pPr>
            <a:r>
              <a:rPr lang="en-US" sz="1400" b="0" i="0" u="none" strike="noStrike" cap="none" dirty="0">
                <a:solidFill>
                  <a:schemeClr val="tx1"/>
                </a:solidFill>
                <a:latin typeface="Times New Roman" panose="02020603050405020304" pitchFamily="18" charset="0"/>
                <a:ea typeface="Times New Roman"/>
                <a:cs typeface="Times New Roman" panose="02020603050405020304" pitchFamily="18" charset="0"/>
                <a:sym typeface="Times New Roman"/>
              </a:rPr>
              <a:t>N/A</a:t>
            </a:r>
            <a:endParaRPr lang="en-US" sz="1400" dirty="0">
              <a:solidFill>
                <a:schemeClr val="tx1"/>
              </a:solidFill>
              <a:latin typeface="Times New Roman" panose="02020603050405020304" pitchFamily="18" charset="0"/>
              <a:cs typeface="Times New Roman" panose="02020603050405020304" pitchFamily="18" charset="0"/>
            </a:endParaRPr>
          </a:p>
        </p:txBody>
      </p:sp>
      <p:sp>
        <p:nvSpPr>
          <p:cNvPr id="179" name="Google Shape;61;p13">
            <a:extLst>
              <a:ext uri="{FF2B5EF4-FFF2-40B4-BE49-F238E27FC236}">
                <a16:creationId xmlns:a16="http://schemas.microsoft.com/office/drawing/2014/main" id="{A248B9A3-BF3A-B20A-19F3-7F8E6DC8BCAF}"/>
              </a:ext>
            </a:extLst>
          </p:cNvPr>
          <p:cNvSpPr/>
          <p:nvPr/>
        </p:nvSpPr>
        <p:spPr>
          <a:xfrm>
            <a:off x="3063072" y="1523501"/>
            <a:ext cx="7560884" cy="425282"/>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400" dirty="0">
                <a:solidFill>
                  <a:srgbClr val="009ACC"/>
                </a:solidFill>
                <a:latin typeface="Times New Roman" panose="02020603050405020304" pitchFamily="18" charset="0"/>
                <a:cs typeface="Times New Roman" panose="02020603050405020304" pitchFamily="18" charset="0"/>
              </a:rPr>
              <a:t>NM_001034853.2:c.1705-3398</a:t>
            </a:r>
            <a:r>
              <a:rPr lang="en" sz="1400" dirty="0">
                <a:solidFill>
                  <a:srgbClr val="009ACC"/>
                </a:solidFill>
                <a:latin typeface="Times New Roman" panose="02020603050405020304" pitchFamily="18" charset="0"/>
                <a:ea typeface="Times New Roman"/>
                <a:cs typeface="Times New Roman" panose="02020603050405020304" pitchFamily="18" charset="0"/>
                <a:sym typeface="Times New Roman"/>
              </a:rPr>
              <a:t> variants in codons 620-1132, disrupt ORF15 glutamylation, </a:t>
            </a:r>
            <a:r>
              <a:rPr lang="en" sz="1400" dirty="0">
                <a:latin typeface="Times New Roman" panose="02020603050405020304" pitchFamily="18" charset="0"/>
                <a:ea typeface="Times New Roman"/>
                <a:cs typeface="Times New Roman" panose="02020603050405020304" pitchFamily="18" charset="0"/>
                <a:sym typeface="Times New Roman"/>
              </a:rPr>
              <a:t>a </a:t>
            </a:r>
            <a:r>
              <a:rPr lang="en" sz="1400" dirty="0">
                <a:solidFill>
                  <a:srgbClr val="000000"/>
                </a:solidFill>
                <a:latin typeface="Times New Roman" panose="02020603050405020304" pitchFamily="18" charset="0"/>
                <a:ea typeface="Times New Roman"/>
                <a:cs typeface="Times New Roman" panose="02020603050405020304" pitchFamily="18" charset="0"/>
                <a:sym typeface="Times New Roman"/>
              </a:rPr>
              <a:t> critical function </a:t>
            </a:r>
            <a:r>
              <a:rPr lang="en" sz="1400" baseline="30000" dirty="0">
                <a:latin typeface="Times New Roman" panose="02020603050405020304" pitchFamily="18" charset="0"/>
                <a:ea typeface="Times New Roman"/>
                <a:cs typeface="Times New Roman" panose="02020603050405020304" pitchFamily="18" charset="0"/>
                <a:sym typeface="Times New Roman"/>
              </a:rPr>
              <a:t>c, </a:t>
            </a:r>
            <a:r>
              <a:rPr lang="en" sz="1400" baseline="30000" dirty="0">
                <a:solidFill>
                  <a:srgbClr val="009ACC"/>
                </a:solidFill>
                <a:latin typeface="Times New Roman" panose="02020603050405020304" pitchFamily="18" charset="0"/>
                <a:ea typeface="Times New Roman"/>
                <a:cs typeface="Times New Roman" panose="02020603050405020304" pitchFamily="18" charset="0"/>
                <a:sym typeface="Times New Roman"/>
              </a:rPr>
              <a:t>g</a:t>
            </a:r>
            <a:endParaRPr sz="1400" dirty="0">
              <a:solidFill>
                <a:srgbClr val="009ACC"/>
              </a:solidFill>
              <a:latin typeface="Times New Roman" panose="02020603050405020304" pitchFamily="18" charset="0"/>
              <a:ea typeface="Times New Roman"/>
              <a:cs typeface="Times New Roman" panose="02020603050405020304" pitchFamily="18" charset="0"/>
              <a:sym typeface="Times New Roman"/>
            </a:endParaRPr>
          </a:p>
        </p:txBody>
      </p:sp>
      <p:sp>
        <p:nvSpPr>
          <p:cNvPr id="181" name="Google Shape;63;p13">
            <a:extLst>
              <a:ext uri="{FF2B5EF4-FFF2-40B4-BE49-F238E27FC236}">
                <a16:creationId xmlns:a16="http://schemas.microsoft.com/office/drawing/2014/main" id="{C0FC4C0B-014C-0446-F397-6D5112FF2D30}"/>
              </a:ext>
            </a:extLst>
          </p:cNvPr>
          <p:cNvSpPr/>
          <p:nvPr/>
        </p:nvSpPr>
        <p:spPr>
          <a:xfrm>
            <a:off x="6295870" y="2006989"/>
            <a:ext cx="4327608" cy="616377"/>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 sz="1400" dirty="0" err="1">
                <a:latin typeface="Times New Roman" panose="02020603050405020304" pitchFamily="18" charset="0"/>
                <a:ea typeface="Times New Roman"/>
                <a:cs typeface="Times New Roman" panose="02020603050405020304" pitchFamily="18" charset="0"/>
                <a:sym typeface="Times New Roman"/>
              </a:rPr>
              <a:t>LoF</a:t>
            </a:r>
            <a:r>
              <a:rPr lang="en" sz="1400" dirty="0">
                <a:latin typeface="Times New Roman" panose="02020603050405020304" pitchFamily="18" charset="0"/>
                <a:ea typeface="Times New Roman"/>
                <a:cs typeface="Times New Roman" panose="02020603050405020304" pitchFamily="18" charset="0"/>
                <a:sym typeface="Times New Roman"/>
              </a:rPr>
              <a:t> variants in this exon are frequent in the general population and/or exon is absent from biologically-relevant transcript(s)</a:t>
            </a:r>
            <a:endParaRPr sz="2000" dirty="0">
              <a:latin typeface="Times New Roman" panose="02020603050405020304" pitchFamily="18" charset="0"/>
              <a:cs typeface="Times New Roman" panose="02020603050405020304" pitchFamily="18" charset="0"/>
            </a:endParaRPr>
          </a:p>
        </p:txBody>
      </p:sp>
      <p:sp>
        <p:nvSpPr>
          <p:cNvPr id="182" name="Google Shape;64;p13">
            <a:extLst>
              <a:ext uri="{FF2B5EF4-FFF2-40B4-BE49-F238E27FC236}">
                <a16:creationId xmlns:a16="http://schemas.microsoft.com/office/drawing/2014/main" id="{C6293EB9-C6E3-5A81-FD74-96986A962E62}"/>
              </a:ext>
            </a:extLst>
          </p:cNvPr>
          <p:cNvSpPr/>
          <p:nvPr/>
        </p:nvSpPr>
        <p:spPr>
          <a:xfrm>
            <a:off x="10955396" y="1597161"/>
            <a:ext cx="1281000" cy="27690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 sz="1400" b="0" i="0" u="none" strike="noStrike" cap="none" dirty="0">
                <a:solidFill>
                  <a:srgbClr val="000000"/>
                </a:solidFill>
                <a:latin typeface="Times New Roman" panose="02020603050405020304" pitchFamily="18" charset="0"/>
                <a:ea typeface="Times New Roman"/>
                <a:cs typeface="Times New Roman" panose="02020603050405020304" pitchFamily="18" charset="0"/>
                <a:sym typeface="Times New Roman"/>
              </a:rPr>
              <a:t>PVS1</a:t>
            </a:r>
            <a:endParaRPr sz="2000" dirty="0">
              <a:latin typeface="Times New Roman" panose="02020603050405020304" pitchFamily="18" charset="0"/>
              <a:cs typeface="Times New Roman" panose="02020603050405020304" pitchFamily="18" charset="0"/>
            </a:endParaRPr>
          </a:p>
        </p:txBody>
      </p:sp>
      <p:sp>
        <p:nvSpPr>
          <p:cNvPr id="183" name="Google Shape;65;p13">
            <a:extLst>
              <a:ext uri="{FF2B5EF4-FFF2-40B4-BE49-F238E27FC236}">
                <a16:creationId xmlns:a16="http://schemas.microsoft.com/office/drawing/2014/main" id="{AC19C93A-1093-9CD5-B3E1-59291419A7C6}"/>
              </a:ext>
            </a:extLst>
          </p:cNvPr>
          <p:cNvSpPr/>
          <p:nvPr/>
        </p:nvSpPr>
        <p:spPr>
          <a:xfrm>
            <a:off x="10955521" y="2156129"/>
            <a:ext cx="1281000" cy="27432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 sz="1400" b="0" i="0" u="none" strike="noStrike" cap="none" dirty="0">
                <a:solidFill>
                  <a:srgbClr val="000000"/>
                </a:solidFill>
                <a:latin typeface="Times New Roman" panose="02020603050405020304" pitchFamily="18" charset="0"/>
                <a:ea typeface="Times New Roman"/>
                <a:cs typeface="Times New Roman" panose="02020603050405020304" pitchFamily="18" charset="0"/>
                <a:sym typeface="Times New Roman"/>
              </a:rPr>
              <a:t>N/A</a:t>
            </a:r>
            <a:endParaRPr sz="2000" dirty="0">
              <a:latin typeface="Times New Roman" panose="02020603050405020304" pitchFamily="18" charset="0"/>
              <a:cs typeface="Times New Roman" panose="02020603050405020304" pitchFamily="18" charset="0"/>
            </a:endParaRPr>
          </a:p>
        </p:txBody>
      </p:sp>
      <p:cxnSp>
        <p:nvCxnSpPr>
          <p:cNvPr id="193" name="Google Shape;75;p13">
            <a:extLst>
              <a:ext uri="{FF2B5EF4-FFF2-40B4-BE49-F238E27FC236}">
                <a16:creationId xmlns:a16="http://schemas.microsoft.com/office/drawing/2014/main" id="{F1DAAC76-1DB2-6DBB-4448-83C5E6FEE5E6}"/>
              </a:ext>
            </a:extLst>
          </p:cNvPr>
          <p:cNvCxnSpPr>
            <a:cxnSpLocks/>
            <a:stCxn id="173" idx="3"/>
            <a:endCxn id="175" idx="1"/>
          </p:cNvCxnSpPr>
          <p:nvPr/>
        </p:nvCxnSpPr>
        <p:spPr>
          <a:xfrm flipV="1">
            <a:off x="2645746" y="961954"/>
            <a:ext cx="413502" cy="279183"/>
          </a:xfrm>
          <a:prstGeom prst="straightConnector1">
            <a:avLst/>
          </a:prstGeom>
          <a:noFill/>
          <a:ln w="9525" cap="flat" cmpd="sng">
            <a:solidFill>
              <a:srgbClr val="44546A"/>
            </a:solidFill>
            <a:prstDash val="solid"/>
            <a:round/>
            <a:headEnd type="none" w="med" len="med"/>
            <a:tailEnd type="triangle" w="med" len="med"/>
          </a:ln>
        </p:spPr>
      </p:cxnSp>
      <p:cxnSp>
        <p:nvCxnSpPr>
          <p:cNvPr id="194" name="Google Shape;76;p13">
            <a:extLst>
              <a:ext uri="{FF2B5EF4-FFF2-40B4-BE49-F238E27FC236}">
                <a16:creationId xmlns:a16="http://schemas.microsoft.com/office/drawing/2014/main" id="{E08A5823-A5D2-E947-C050-F1EB77F4B6BC}"/>
              </a:ext>
            </a:extLst>
          </p:cNvPr>
          <p:cNvCxnSpPr>
            <a:cxnSpLocks/>
            <a:stCxn id="173" idx="3"/>
            <a:endCxn id="176" idx="1"/>
          </p:cNvCxnSpPr>
          <p:nvPr/>
        </p:nvCxnSpPr>
        <p:spPr>
          <a:xfrm>
            <a:off x="2645746" y="1241137"/>
            <a:ext cx="413501" cy="72857"/>
          </a:xfrm>
          <a:prstGeom prst="straightConnector1">
            <a:avLst/>
          </a:prstGeom>
          <a:noFill/>
          <a:ln w="9525" cap="flat" cmpd="sng">
            <a:solidFill>
              <a:srgbClr val="44546A"/>
            </a:solidFill>
            <a:prstDash val="solid"/>
            <a:round/>
            <a:headEnd type="none" w="med" len="med"/>
            <a:tailEnd type="triangle" w="med" len="med"/>
          </a:ln>
        </p:spPr>
      </p:cxnSp>
      <p:cxnSp>
        <p:nvCxnSpPr>
          <p:cNvPr id="195" name="Google Shape;77;p13">
            <a:extLst>
              <a:ext uri="{FF2B5EF4-FFF2-40B4-BE49-F238E27FC236}">
                <a16:creationId xmlns:a16="http://schemas.microsoft.com/office/drawing/2014/main" id="{FA07231B-D29C-648B-A3E4-9B106703FF0E}"/>
              </a:ext>
            </a:extLst>
          </p:cNvPr>
          <p:cNvCxnSpPr>
            <a:cxnSpLocks/>
            <a:stCxn id="174" idx="3"/>
            <a:endCxn id="179" idx="1"/>
          </p:cNvCxnSpPr>
          <p:nvPr/>
        </p:nvCxnSpPr>
        <p:spPr>
          <a:xfrm flipV="1">
            <a:off x="2659273" y="1736142"/>
            <a:ext cx="403799" cy="822063"/>
          </a:xfrm>
          <a:prstGeom prst="straightConnector1">
            <a:avLst/>
          </a:prstGeom>
          <a:noFill/>
          <a:ln w="9525" cap="flat" cmpd="sng">
            <a:solidFill>
              <a:srgbClr val="44546A"/>
            </a:solidFill>
            <a:prstDash val="solid"/>
            <a:round/>
            <a:headEnd type="none" w="med" len="med"/>
            <a:tailEnd type="triangle" w="med" len="med"/>
          </a:ln>
        </p:spPr>
      </p:cxnSp>
      <p:cxnSp>
        <p:nvCxnSpPr>
          <p:cNvPr id="197" name="Google Shape;79;p13">
            <a:extLst>
              <a:ext uri="{FF2B5EF4-FFF2-40B4-BE49-F238E27FC236}">
                <a16:creationId xmlns:a16="http://schemas.microsoft.com/office/drawing/2014/main" id="{B4FACC48-4403-3DA7-0EB6-4815D36BBE7E}"/>
              </a:ext>
            </a:extLst>
          </p:cNvPr>
          <p:cNvCxnSpPr>
            <a:cxnSpLocks/>
            <a:stCxn id="180" idx="3"/>
            <a:endCxn id="181" idx="1"/>
          </p:cNvCxnSpPr>
          <p:nvPr/>
        </p:nvCxnSpPr>
        <p:spPr>
          <a:xfrm flipV="1">
            <a:off x="5963825" y="2315178"/>
            <a:ext cx="332045" cy="809355"/>
          </a:xfrm>
          <a:prstGeom prst="straightConnector1">
            <a:avLst/>
          </a:prstGeom>
          <a:noFill/>
          <a:ln w="9525" cap="flat" cmpd="sng">
            <a:solidFill>
              <a:srgbClr val="44546A"/>
            </a:solidFill>
            <a:prstDash val="solid"/>
            <a:round/>
            <a:headEnd type="none" w="med" len="med"/>
            <a:tailEnd type="triangle" w="med" len="med"/>
          </a:ln>
        </p:spPr>
      </p:cxnSp>
      <p:cxnSp>
        <p:nvCxnSpPr>
          <p:cNvPr id="218" name="Google Shape;112;p13">
            <a:extLst>
              <a:ext uri="{FF2B5EF4-FFF2-40B4-BE49-F238E27FC236}">
                <a16:creationId xmlns:a16="http://schemas.microsoft.com/office/drawing/2014/main" id="{2FF5121C-1A8B-1084-4898-E485200F0975}"/>
              </a:ext>
            </a:extLst>
          </p:cNvPr>
          <p:cNvCxnSpPr>
            <a:cxnSpLocks/>
            <a:endCxn id="177" idx="1"/>
          </p:cNvCxnSpPr>
          <p:nvPr/>
        </p:nvCxnSpPr>
        <p:spPr>
          <a:xfrm flipV="1">
            <a:off x="10626943" y="966992"/>
            <a:ext cx="331143" cy="0"/>
          </a:xfrm>
          <a:prstGeom prst="straightConnector1">
            <a:avLst/>
          </a:prstGeom>
          <a:noFill/>
          <a:ln w="9525" cap="flat" cmpd="sng">
            <a:solidFill>
              <a:srgbClr val="595959"/>
            </a:solidFill>
            <a:prstDash val="solid"/>
            <a:round/>
            <a:headEnd type="none" w="med" len="med"/>
            <a:tailEnd type="triangle" w="med" len="med"/>
          </a:ln>
        </p:spPr>
      </p:cxnSp>
      <p:cxnSp>
        <p:nvCxnSpPr>
          <p:cNvPr id="219" name="Google Shape;113;p13">
            <a:extLst>
              <a:ext uri="{FF2B5EF4-FFF2-40B4-BE49-F238E27FC236}">
                <a16:creationId xmlns:a16="http://schemas.microsoft.com/office/drawing/2014/main" id="{2A826635-B262-BC67-4313-D9CE31B4E3C0}"/>
              </a:ext>
            </a:extLst>
          </p:cNvPr>
          <p:cNvCxnSpPr>
            <a:cxnSpLocks/>
            <a:stCxn id="176" idx="3"/>
            <a:endCxn id="178" idx="1"/>
          </p:cNvCxnSpPr>
          <p:nvPr/>
        </p:nvCxnSpPr>
        <p:spPr>
          <a:xfrm>
            <a:off x="10621832" y="1313994"/>
            <a:ext cx="333688" cy="403"/>
          </a:xfrm>
          <a:prstGeom prst="straightConnector1">
            <a:avLst/>
          </a:prstGeom>
          <a:noFill/>
          <a:ln w="9525" cap="flat" cmpd="sng">
            <a:solidFill>
              <a:srgbClr val="595959"/>
            </a:solidFill>
            <a:prstDash val="solid"/>
            <a:round/>
            <a:headEnd type="none" w="med" len="med"/>
            <a:tailEnd type="triangle" w="med" len="med"/>
          </a:ln>
        </p:spPr>
      </p:cxnSp>
      <p:cxnSp>
        <p:nvCxnSpPr>
          <p:cNvPr id="220" name="Google Shape;114;p13">
            <a:extLst>
              <a:ext uri="{FF2B5EF4-FFF2-40B4-BE49-F238E27FC236}">
                <a16:creationId xmlns:a16="http://schemas.microsoft.com/office/drawing/2014/main" id="{4CC51A28-1112-67B5-75A6-69848989713D}"/>
              </a:ext>
            </a:extLst>
          </p:cNvPr>
          <p:cNvCxnSpPr>
            <a:cxnSpLocks/>
            <a:stCxn id="179" idx="3"/>
            <a:endCxn id="182" idx="1"/>
          </p:cNvCxnSpPr>
          <p:nvPr/>
        </p:nvCxnSpPr>
        <p:spPr>
          <a:xfrm flipV="1">
            <a:off x="10623956" y="1735611"/>
            <a:ext cx="331440" cy="531"/>
          </a:xfrm>
          <a:prstGeom prst="straightConnector1">
            <a:avLst/>
          </a:prstGeom>
          <a:noFill/>
          <a:ln w="9525" cap="flat" cmpd="sng">
            <a:solidFill>
              <a:srgbClr val="595959"/>
            </a:solidFill>
            <a:prstDash val="solid"/>
            <a:round/>
            <a:headEnd type="none" w="med" len="med"/>
            <a:tailEnd type="triangle" w="med" len="med"/>
          </a:ln>
        </p:spPr>
      </p:cxnSp>
      <p:cxnSp>
        <p:nvCxnSpPr>
          <p:cNvPr id="221" name="Google Shape;115;p13">
            <a:extLst>
              <a:ext uri="{FF2B5EF4-FFF2-40B4-BE49-F238E27FC236}">
                <a16:creationId xmlns:a16="http://schemas.microsoft.com/office/drawing/2014/main" id="{2569A7A2-A5D1-82C7-8291-21AECD3B48B2}"/>
              </a:ext>
            </a:extLst>
          </p:cNvPr>
          <p:cNvCxnSpPr>
            <a:cxnSpLocks/>
            <a:endCxn id="183" idx="1"/>
          </p:cNvCxnSpPr>
          <p:nvPr/>
        </p:nvCxnSpPr>
        <p:spPr>
          <a:xfrm flipV="1">
            <a:off x="10623477" y="2293289"/>
            <a:ext cx="332044" cy="0"/>
          </a:xfrm>
          <a:prstGeom prst="straightConnector1">
            <a:avLst/>
          </a:prstGeom>
          <a:noFill/>
          <a:ln w="9525" cap="flat" cmpd="sng">
            <a:solidFill>
              <a:srgbClr val="595959"/>
            </a:solidFill>
            <a:prstDash val="solid"/>
            <a:round/>
            <a:headEnd type="none" w="med" len="med"/>
            <a:tailEnd type="triangle" w="med" len="med"/>
          </a:ln>
        </p:spPr>
      </p:cxnSp>
      <p:cxnSp>
        <p:nvCxnSpPr>
          <p:cNvPr id="222" name="Google Shape;116;p13">
            <a:extLst>
              <a:ext uri="{FF2B5EF4-FFF2-40B4-BE49-F238E27FC236}">
                <a16:creationId xmlns:a16="http://schemas.microsoft.com/office/drawing/2014/main" id="{13DE4C48-D052-067E-1158-37396F7BE2C4}"/>
              </a:ext>
            </a:extLst>
          </p:cNvPr>
          <p:cNvCxnSpPr>
            <a:cxnSpLocks/>
            <a:endCxn id="184" idx="1"/>
          </p:cNvCxnSpPr>
          <p:nvPr/>
        </p:nvCxnSpPr>
        <p:spPr>
          <a:xfrm flipV="1">
            <a:off x="10624378" y="3056235"/>
            <a:ext cx="331143" cy="0"/>
          </a:xfrm>
          <a:prstGeom prst="straightConnector1">
            <a:avLst/>
          </a:prstGeom>
          <a:noFill/>
          <a:ln w="9525" cap="flat" cmpd="sng">
            <a:solidFill>
              <a:srgbClr val="595959"/>
            </a:solidFill>
            <a:prstDash val="solid"/>
            <a:round/>
            <a:headEnd type="none" w="med" len="med"/>
            <a:tailEnd type="triangle" w="med" len="med"/>
          </a:ln>
        </p:spPr>
      </p:cxnSp>
      <p:cxnSp>
        <p:nvCxnSpPr>
          <p:cNvPr id="223" name="Google Shape;117;p13">
            <a:extLst>
              <a:ext uri="{FF2B5EF4-FFF2-40B4-BE49-F238E27FC236}">
                <a16:creationId xmlns:a16="http://schemas.microsoft.com/office/drawing/2014/main" id="{9F1F51AB-88F7-91D7-F43D-56A16DF50B91}"/>
              </a:ext>
            </a:extLst>
          </p:cNvPr>
          <p:cNvCxnSpPr>
            <a:cxnSpLocks/>
            <a:endCxn id="185" idx="1"/>
          </p:cNvCxnSpPr>
          <p:nvPr/>
        </p:nvCxnSpPr>
        <p:spPr>
          <a:xfrm flipV="1">
            <a:off x="10467172" y="3676253"/>
            <a:ext cx="338513" cy="0"/>
          </a:xfrm>
          <a:prstGeom prst="straightConnector1">
            <a:avLst/>
          </a:prstGeom>
          <a:noFill/>
          <a:ln w="9525" cap="flat" cmpd="sng">
            <a:solidFill>
              <a:srgbClr val="595959"/>
            </a:solidFill>
            <a:prstDash val="solid"/>
            <a:round/>
            <a:headEnd type="none" w="med" len="med"/>
            <a:tailEnd type="triangle" w="med" len="med"/>
          </a:ln>
        </p:spPr>
      </p:cxnSp>
      <p:cxnSp>
        <p:nvCxnSpPr>
          <p:cNvPr id="224" name="Google Shape;118;p13">
            <a:extLst>
              <a:ext uri="{FF2B5EF4-FFF2-40B4-BE49-F238E27FC236}">
                <a16:creationId xmlns:a16="http://schemas.microsoft.com/office/drawing/2014/main" id="{F1AFA4D0-E59F-B37E-71FF-9031ACF5D947}"/>
              </a:ext>
            </a:extLst>
          </p:cNvPr>
          <p:cNvCxnSpPr>
            <a:cxnSpLocks/>
            <a:stCxn id="202" idx="3"/>
            <a:endCxn id="206" idx="1"/>
          </p:cNvCxnSpPr>
          <p:nvPr/>
        </p:nvCxnSpPr>
        <p:spPr>
          <a:xfrm>
            <a:off x="10621832" y="4273567"/>
            <a:ext cx="333689" cy="0"/>
          </a:xfrm>
          <a:prstGeom prst="straightConnector1">
            <a:avLst/>
          </a:prstGeom>
          <a:noFill/>
          <a:ln w="9525" cap="flat" cmpd="sng">
            <a:solidFill>
              <a:srgbClr val="595959"/>
            </a:solidFill>
            <a:prstDash val="solid"/>
            <a:round/>
            <a:headEnd type="none" w="med" len="med"/>
            <a:tailEnd type="triangle" w="med" len="med"/>
          </a:ln>
        </p:spPr>
      </p:cxnSp>
      <p:cxnSp>
        <p:nvCxnSpPr>
          <p:cNvPr id="225" name="Google Shape;119;p13">
            <a:extLst>
              <a:ext uri="{FF2B5EF4-FFF2-40B4-BE49-F238E27FC236}">
                <a16:creationId xmlns:a16="http://schemas.microsoft.com/office/drawing/2014/main" id="{02B0FC13-94F2-9638-E6AC-53F321870182}"/>
              </a:ext>
            </a:extLst>
          </p:cNvPr>
          <p:cNvCxnSpPr>
            <a:cxnSpLocks/>
            <a:stCxn id="204" idx="3"/>
            <a:endCxn id="207" idx="1"/>
          </p:cNvCxnSpPr>
          <p:nvPr/>
        </p:nvCxnSpPr>
        <p:spPr>
          <a:xfrm>
            <a:off x="10621836" y="4952076"/>
            <a:ext cx="333685" cy="6376"/>
          </a:xfrm>
          <a:prstGeom prst="straightConnector1">
            <a:avLst/>
          </a:prstGeom>
          <a:noFill/>
          <a:ln w="9525" cap="flat" cmpd="sng">
            <a:solidFill>
              <a:srgbClr val="595959"/>
            </a:solidFill>
            <a:prstDash val="solid"/>
            <a:round/>
            <a:headEnd type="none" w="med" len="med"/>
            <a:tailEnd type="triangle" w="med" len="med"/>
          </a:ln>
        </p:spPr>
      </p:cxnSp>
      <p:cxnSp>
        <p:nvCxnSpPr>
          <p:cNvPr id="226" name="Google Shape;120;p13">
            <a:extLst>
              <a:ext uri="{FF2B5EF4-FFF2-40B4-BE49-F238E27FC236}">
                <a16:creationId xmlns:a16="http://schemas.microsoft.com/office/drawing/2014/main" id="{3FC27DF5-A467-1266-E4D5-62F86AB50548}"/>
              </a:ext>
            </a:extLst>
          </p:cNvPr>
          <p:cNvCxnSpPr>
            <a:cxnSpLocks/>
            <a:stCxn id="203" idx="3"/>
            <a:endCxn id="208" idx="1"/>
          </p:cNvCxnSpPr>
          <p:nvPr/>
        </p:nvCxnSpPr>
        <p:spPr>
          <a:xfrm>
            <a:off x="10624378" y="5286404"/>
            <a:ext cx="331143" cy="0"/>
          </a:xfrm>
          <a:prstGeom prst="straightConnector1">
            <a:avLst/>
          </a:prstGeom>
          <a:noFill/>
          <a:ln w="9525" cap="flat" cmpd="sng">
            <a:solidFill>
              <a:srgbClr val="595959"/>
            </a:solidFill>
            <a:prstDash val="solid"/>
            <a:round/>
            <a:headEnd type="none" w="med" len="med"/>
            <a:tailEnd type="triangle" w="med" len="med"/>
          </a:ln>
        </p:spPr>
      </p:cxnSp>
      <p:cxnSp>
        <p:nvCxnSpPr>
          <p:cNvPr id="227" name="Google Shape;124;p13">
            <a:extLst>
              <a:ext uri="{FF2B5EF4-FFF2-40B4-BE49-F238E27FC236}">
                <a16:creationId xmlns:a16="http://schemas.microsoft.com/office/drawing/2014/main" id="{8A128543-EE0C-332A-A6E5-375B490D8963}"/>
              </a:ext>
            </a:extLst>
          </p:cNvPr>
          <p:cNvCxnSpPr>
            <a:cxnSpLocks/>
            <a:stCxn id="205" idx="3"/>
            <a:endCxn id="209" idx="1"/>
          </p:cNvCxnSpPr>
          <p:nvPr/>
        </p:nvCxnSpPr>
        <p:spPr>
          <a:xfrm>
            <a:off x="10619572" y="7339599"/>
            <a:ext cx="330992" cy="5269"/>
          </a:xfrm>
          <a:prstGeom prst="straightConnector1">
            <a:avLst/>
          </a:prstGeom>
          <a:noFill/>
          <a:ln w="9525" cap="flat" cmpd="sng">
            <a:solidFill>
              <a:srgbClr val="595959"/>
            </a:solidFill>
            <a:prstDash val="solid"/>
            <a:round/>
            <a:headEnd type="none" w="med" len="med"/>
            <a:tailEnd type="triangle" w="med" len="med"/>
          </a:ln>
        </p:spPr>
      </p:cxnSp>
      <p:sp>
        <p:nvSpPr>
          <p:cNvPr id="228" name="Google Shape;125;p13">
            <a:extLst>
              <a:ext uri="{FF2B5EF4-FFF2-40B4-BE49-F238E27FC236}">
                <a16:creationId xmlns:a16="http://schemas.microsoft.com/office/drawing/2014/main" id="{5C081C2D-111D-F260-E805-CF4721ED94F7}"/>
              </a:ext>
            </a:extLst>
          </p:cNvPr>
          <p:cNvSpPr txBox="1"/>
          <p:nvPr/>
        </p:nvSpPr>
        <p:spPr>
          <a:xfrm>
            <a:off x="90621" y="7630490"/>
            <a:ext cx="1105800" cy="3615003"/>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lvl="0" indent="0" algn="ctr" rtl="0">
              <a:spcBef>
                <a:spcPts val="0"/>
              </a:spcBef>
              <a:spcAft>
                <a:spcPts val="0"/>
              </a:spcAft>
              <a:buNone/>
            </a:pPr>
            <a:r>
              <a:rPr lang="en" sz="1400" b="1">
                <a:solidFill>
                  <a:srgbClr val="000000"/>
                </a:solidFill>
                <a:latin typeface="Times New Roman" panose="02020603050405020304" pitchFamily="18" charset="0"/>
                <a:ea typeface="Times New Roman"/>
                <a:cs typeface="Times New Roman" panose="02020603050405020304" pitchFamily="18" charset="0"/>
                <a:sym typeface="Times New Roman"/>
              </a:rPr>
              <a:t>Deletion</a:t>
            </a:r>
            <a:endParaRPr sz="1400" b="1">
              <a:solidFill>
                <a:srgbClr val="000000"/>
              </a:solidFill>
              <a:latin typeface="Times New Roman" panose="02020603050405020304" pitchFamily="18" charset="0"/>
              <a:ea typeface="Times New Roman"/>
              <a:cs typeface="Times New Roman" panose="02020603050405020304" pitchFamily="18" charset="0"/>
              <a:sym typeface="Times New Roman"/>
            </a:endParaRPr>
          </a:p>
          <a:p>
            <a:pPr marL="0" marR="0" lvl="0" indent="0" algn="ctr" rtl="0">
              <a:spcBef>
                <a:spcPts val="0"/>
              </a:spcBef>
              <a:spcAft>
                <a:spcPts val="0"/>
              </a:spcAft>
              <a:buNone/>
            </a:pPr>
            <a:r>
              <a:rPr lang="en" sz="1050">
                <a:solidFill>
                  <a:srgbClr val="000000"/>
                </a:solidFill>
                <a:latin typeface="Times New Roman" panose="02020603050405020304" pitchFamily="18" charset="0"/>
                <a:ea typeface="Times New Roman"/>
                <a:cs typeface="Times New Roman" panose="02020603050405020304" pitchFamily="18" charset="0"/>
                <a:sym typeface="Times New Roman"/>
              </a:rPr>
              <a:t>(Single exon to full gene)</a:t>
            </a:r>
            <a:endParaRPr sz="1050">
              <a:solidFill>
                <a:srgbClr val="000000"/>
              </a:solidFill>
              <a:latin typeface="Times New Roman" panose="02020603050405020304" pitchFamily="18" charset="0"/>
              <a:ea typeface="Times New Roman"/>
              <a:cs typeface="Times New Roman" panose="02020603050405020304" pitchFamily="18" charset="0"/>
              <a:sym typeface="Times New Roman"/>
            </a:endParaRPr>
          </a:p>
          <a:p>
            <a:pPr marL="0" marR="0" lvl="0" indent="0" algn="ctr" rtl="0">
              <a:spcBef>
                <a:spcPts val="0"/>
              </a:spcBef>
              <a:spcAft>
                <a:spcPts val="0"/>
              </a:spcAft>
              <a:buNone/>
            </a:pPr>
            <a:endParaRPr sz="2000">
              <a:latin typeface="Times New Roman" panose="02020603050405020304" pitchFamily="18" charset="0"/>
              <a:cs typeface="Times New Roman" panose="02020603050405020304" pitchFamily="18" charset="0"/>
            </a:endParaRPr>
          </a:p>
        </p:txBody>
      </p:sp>
      <p:sp>
        <p:nvSpPr>
          <p:cNvPr id="229" name="Google Shape;126;p13">
            <a:extLst>
              <a:ext uri="{FF2B5EF4-FFF2-40B4-BE49-F238E27FC236}">
                <a16:creationId xmlns:a16="http://schemas.microsoft.com/office/drawing/2014/main" id="{AC8806F0-9581-CA8F-2F9D-E92181E65EBF}"/>
              </a:ext>
            </a:extLst>
          </p:cNvPr>
          <p:cNvSpPr/>
          <p:nvPr/>
        </p:nvSpPr>
        <p:spPr>
          <a:xfrm>
            <a:off x="1659358" y="7952335"/>
            <a:ext cx="1128374" cy="1176375"/>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 sz="1400" dirty="0">
                <a:latin typeface="Times New Roman" panose="02020603050405020304" pitchFamily="18" charset="0"/>
                <a:ea typeface="Times New Roman"/>
                <a:cs typeface="Times New Roman" panose="02020603050405020304" pitchFamily="18" charset="0"/>
                <a:sym typeface="Times New Roman"/>
              </a:rPr>
              <a:t>D</a:t>
            </a:r>
            <a:r>
              <a:rPr lang="en" sz="1400" b="0" i="0" u="none" strike="noStrike" cap="none" dirty="0">
                <a:solidFill>
                  <a:srgbClr val="000000"/>
                </a:solidFill>
                <a:latin typeface="Times New Roman" panose="02020603050405020304" pitchFamily="18" charset="0"/>
                <a:ea typeface="Times New Roman"/>
                <a:cs typeface="Times New Roman" panose="02020603050405020304" pitchFamily="18" charset="0"/>
                <a:sym typeface="Times New Roman"/>
              </a:rPr>
              <a:t>isrupts reading frame and NMD is predicted</a:t>
            </a:r>
            <a:endParaRPr sz="2000" dirty="0">
              <a:latin typeface="Times New Roman" panose="02020603050405020304" pitchFamily="18" charset="0"/>
              <a:cs typeface="Times New Roman" panose="02020603050405020304" pitchFamily="18" charset="0"/>
            </a:endParaRPr>
          </a:p>
        </p:txBody>
      </p:sp>
      <p:sp>
        <p:nvSpPr>
          <p:cNvPr id="230" name="Google Shape;127;p13">
            <a:extLst>
              <a:ext uri="{FF2B5EF4-FFF2-40B4-BE49-F238E27FC236}">
                <a16:creationId xmlns:a16="http://schemas.microsoft.com/office/drawing/2014/main" id="{50F3160D-B3B5-4676-971F-67C37B8C1902}"/>
              </a:ext>
            </a:extLst>
          </p:cNvPr>
          <p:cNvSpPr/>
          <p:nvPr/>
        </p:nvSpPr>
        <p:spPr>
          <a:xfrm>
            <a:off x="1661179" y="10554291"/>
            <a:ext cx="1126004" cy="854958"/>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 sz="1400" dirty="0">
                <a:solidFill>
                  <a:srgbClr val="000000"/>
                </a:solidFill>
                <a:latin typeface="Times New Roman" panose="02020603050405020304" pitchFamily="18" charset="0"/>
                <a:ea typeface="Times New Roman"/>
                <a:cs typeface="Times New Roman" panose="02020603050405020304" pitchFamily="18" charset="0"/>
                <a:sym typeface="Times New Roman"/>
              </a:rPr>
              <a:t>D</a:t>
            </a:r>
            <a:r>
              <a:rPr lang="en" sz="1400" b="0" i="0" u="none" strike="noStrike" cap="none" dirty="0">
                <a:solidFill>
                  <a:srgbClr val="000000"/>
                </a:solidFill>
                <a:latin typeface="Times New Roman" panose="02020603050405020304" pitchFamily="18" charset="0"/>
                <a:ea typeface="Times New Roman"/>
                <a:cs typeface="Times New Roman" panose="02020603050405020304" pitchFamily="18" charset="0"/>
                <a:sym typeface="Times New Roman"/>
              </a:rPr>
              <a:t>eletion </a:t>
            </a:r>
            <a:endParaRPr sz="2000" dirty="0">
              <a:latin typeface="Times New Roman" panose="02020603050405020304" pitchFamily="18" charset="0"/>
              <a:cs typeface="Times New Roman" panose="02020603050405020304" pitchFamily="18" charset="0"/>
            </a:endParaRPr>
          </a:p>
          <a:p>
            <a:pPr marL="0" marR="0" lvl="0" indent="0" algn="ctr" rtl="0">
              <a:spcBef>
                <a:spcPts val="0"/>
              </a:spcBef>
              <a:spcAft>
                <a:spcPts val="0"/>
              </a:spcAft>
              <a:buNone/>
            </a:pPr>
            <a:r>
              <a:rPr lang="en" sz="1400" b="0" i="0" u="none" strike="noStrike" cap="none" dirty="0">
                <a:solidFill>
                  <a:srgbClr val="000000"/>
                </a:solidFill>
                <a:latin typeface="Times New Roman" panose="02020603050405020304" pitchFamily="18" charset="0"/>
                <a:ea typeface="Times New Roman"/>
                <a:cs typeface="Times New Roman" panose="02020603050405020304" pitchFamily="18" charset="0"/>
                <a:sym typeface="Times New Roman"/>
              </a:rPr>
              <a:t>Preserves reading frame</a:t>
            </a:r>
            <a:endParaRPr sz="2000" dirty="0">
              <a:latin typeface="Times New Roman" panose="02020603050405020304" pitchFamily="18" charset="0"/>
              <a:cs typeface="Times New Roman" panose="02020603050405020304" pitchFamily="18" charset="0"/>
            </a:endParaRPr>
          </a:p>
        </p:txBody>
      </p:sp>
      <p:sp>
        <p:nvSpPr>
          <p:cNvPr id="231" name="Google Shape;128;p13">
            <a:extLst>
              <a:ext uri="{FF2B5EF4-FFF2-40B4-BE49-F238E27FC236}">
                <a16:creationId xmlns:a16="http://schemas.microsoft.com/office/drawing/2014/main" id="{330ADD13-9366-CFE0-3BA2-8784C4C4084B}"/>
              </a:ext>
            </a:extLst>
          </p:cNvPr>
          <p:cNvSpPr/>
          <p:nvPr/>
        </p:nvSpPr>
        <p:spPr>
          <a:xfrm>
            <a:off x="1659357" y="7625100"/>
            <a:ext cx="8960769" cy="27690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 sz="1400" b="0" i="0" u="none" strike="noStrike" cap="none">
                <a:solidFill>
                  <a:srgbClr val="000000"/>
                </a:solidFill>
                <a:latin typeface="Times New Roman" panose="02020603050405020304" pitchFamily="18" charset="0"/>
                <a:ea typeface="Times New Roman"/>
                <a:cs typeface="Times New Roman" panose="02020603050405020304" pitchFamily="18" charset="0"/>
                <a:sym typeface="Times New Roman"/>
              </a:rPr>
              <a:t>Full gene deletion</a:t>
            </a:r>
            <a:endParaRPr sz="2000">
              <a:latin typeface="Times New Roman" panose="02020603050405020304" pitchFamily="18" charset="0"/>
              <a:cs typeface="Times New Roman" panose="02020603050405020304" pitchFamily="18" charset="0"/>
            </a:endParaRPr>
          </a:p>
        </p:txBody>
      </p:sp>
      <p:sp>
        <p:nvSpPr>
          <p:cNvPr id="232" name="Google Shape;134;p13">
            <a:extLst>
              <a:ext uri="{FF2B5EF4-FFF2-40B4-BE49-F238E27FC236}">
                <a16:creationId xmlns:a16="http://schemas.microsoft.com/office/drawing/2014/main" id="{9CDF75E9-8F39-7D21-1831-E679D220C12B}"/>
              </a:ext>
            </a:extLst>
          </p:cNvPr>
          <p:cNvSpPr/>
          <p:nvPr/>
        </p:nvSpPr>
        <p:spPr>
          <a:xfrm>
            <a:off x="10955521" y="7630490"/>
            <a:ext cx="1281000" cy="27690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 sz="1400" b="0" i="0" u="none" strike="noStrike" cap="none">
                <a:solidFill>
                  <a:srgbClr val="000000"/>
                </a:solidFill>
                <a:latin typeface="Times New Roman" panose="02020603050405020304" pitchFamily="18" charset="0"/>
                <a:ea typeface="Times New Roman"/>
                <a:cs typeface="Times New Roman" panose="02020603050405020304" pitchFamily="18" charset="0"/>
                <a:sym typeface="Times New Roman"/>
              </a:rPr>
              <a:t>PVS1 </a:t>
            </a:r>
            <a:r>
              <a:rPr lang="en" sz="1400" b="0" i="0" u="none" strike="noStrike" cap="none" baseline="30000">
                <a:solidFill>
                  <a:srgbClr val="000000"/>
                </a:solidFill>
                <a:latin typeface="Times New Roman" panose="02020603050405020304" pitchFamily="18" charset="0"/>
                <a:ea typeface="Times New Roman"/>
                <a:cs typeface="Times New Roman" panose="02020603050405020304" pitchFamily="18" charset="0"/>
                <a:sym typeface="Times New Roman"/>
              </a:rPr>
              <a:t>d</a:t>
            </a:r>
            <a:endParaRPr sz="2000" baseline="30000">
              <a:latin typeface="Times New Roman" panose="02020603050405020304" pitchFamily="18" charset="0"/>
              <a:cs typeface="Times New Roman" panose="02020603050405020304" pitchFamily="18" charset="0"/>
            </a:endParaRPr>
          </a:p>
        </p:txBody>
      </p:sp>
      <p:sp>
        <p:nvSpPr>
          <p:cNvPr id="254" name="Google Shape;162;p13">
            <a:extLst>
              <a:ext uri="{FF2B5EF4-FFF2-40B4-BE49-F238E27FC236}">
                <a16:creationId xmlns:a16="http://schemas.microsoft.com/office/drawing/2014/main" id="{7FCC0466-7224-D0E6-0389-7DC75CA5D4F0}"/>
              </a:ext>
            </a:extLst>
          </p:cNvPr>
          <p:cNvSpPr/>
          <p:nvPr/>
        </p:nvSpPr>
        <p:spPr>
          <a:xfrm>
            <a:off x="1659346" y="9195860"/>
            <a:ext cx="1128374" cy="1294579"/>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 sz="1400" dirty="0">
                <a:latin typeface="Times New Roman" panose="02020603050405020304" pitchFamily="18" charset="0"/>
                <a:ea typeface="Times New Roman"/>
                <a:cs typeface="Times New Roman" panose="02020603050405020304" pitchFamily="18" charset="0"/>
                <a:sym typeface="Times New Roman"/>
              </a:rPr>
              <a:t>D</a:t>
            </a:r>
            <a:r>
              <a:rPr lang="en" sz="1400" b="0" i="0" u="none" strike="noStrike" cap="none" dirty="0">
                <a:solidFill>
                  <a:srgbClr val="000000"/>
                </a:solidFill>
                <a:latin typeface="Times New Roman" panose="02020603050405020304" pitchFamily="18" charset="0"/>
                <a:ea typeface="Times New Roman"/>
                <a:cs typeface="Times New Roman" panose="02020603050405020304" pitchFamily="18" charset="0"/>
                <a:sym typeface="Times New Roman"/>
              </a:rPr>
              <a:t>isrupts reading frame and NMD is </a:t>
            </a:r>
            <a:r>
              <a:rPr lang="en" sz="1400" b="1" dirty="0">
                <a:solidFill>
                  <a:srgbClr val="000000"/>
                </a:solidFill>
                <a:latin typeface="Times New Roman" panose="02020603050405020304" pitchFamily="18" charset="0"/>
                <a:ea typeface="Times New Roman"/>
                <a:cs typeface="Times New Roman" panose="02020603050405020304" pitchFamily="18" charset="0"/>
                <a:sym typeface="Times New Roman"/>
              </a:rPr>
              <a:t>NOT</a:t>
            </a:r>
            <a:r>
              <a:rPr lang="en" sz="1400" b="0" i="0" u="none" strike="noStrike" cap="none" dirty="0">
                <a:solidFill>
                  <a:srgbClr val="000000"/>
                </a:solidFill>
                <a:latin typeface="Times New Roman" panose="02020603050405020304" pitchFamily="18" charset="0"/>
                <a:ea typeface="Times New Roman"/>
                <a:cs typeface="Times New Roman" panose="02020603050405020304" pitchFamily="18" charset="0"/>
                <a:sym typeface="Times New Roman"/>
              </a:rPr>
              <a:t> predicted</a:t>
            </a:r>
            <a:endParaRPr sz="2000" dirty="0">
              <a:latin typeface="Times New Roman" panose="02020603050405020304" pitchFamily="18" charset="0"/>
              <a:cs typeface="Times New Roman" panose="02020603050405020304" pitchFamily="18" charset="0"/>
            </a:endParaRPr>
          </a:p>
        </p:txBody>
      </p:sp>
      <p:cxnSp>
        <p:nvCxnSpPr>
          <p:cNvPr id="255" name="Google Shape;163;p13">
            <a:extLst>
              <a:ext uri="{FF2B5EF4-FFF2-40B4-BE49-F238E27FC236}">
                <a16:creationId xmlns:a16="http://schemas.microsoft.com/office/drawing/2014/main" id="{F32BBA2E-9F55-3184-63CA-0F7FE60AC84E}"/>
              </a:ext>
            </a:extLst>
          </p:cNvPr>
          <p:cNvCxnSpPr>
            <a:cxnSpLocks/>
            <a:stCxn id="228" idx="3"/>
            <a:endCxn id="231" idx="1"/>
          </p:cNvCxnSpPr>
          <p:nvPr/>
        </p:nvCxnSpPr>
        <p:spPr>
          <a:xfrm flipV="1">
            <a:off x="1196421" y="7763550"/>
            <a:ext cx="462936" cy="1674442"/>
          </a:xfrm>
          <a:prstGeom prst="straightConnector1">
            <a:avLst/>
          </a:prstGeom>
          <a:noFill/>
          <a:ln w="9525" cap="flat" cmpd="sng">
            <a:solidFill>
              <a:srgbClr val="44546A"/>
            </a:solidFill>
            <a:prstDash val="solid"/>
            <a:round/>
            <a:headEnd type="none" w="med" len="med"/>
            <a:tailEnd type="triangle" w="med" len="med"/>
          </a:ln>
        </p:spPr>
      </p:cxnSp>
      <p:cxnSp>
        <p:nvCxnSpPr>
          <p:cNvPr id="256" name="Google Shape;164;p13">
            <a:extLst>
              <a:ext uri="{FF2B5EF4-FFF2-40B4-BE49-F238E27FC236}">
                <a16:creationId xmlns:a16="http://schemas.microsoft.com/office/drawing/2014/main" id="{B681756A-21C7-FBD9-A802-7E57EFE1D123}"/>
              </a:ext>
            </a:extLst>
          </p:cNvPr>
          <p:cNvCxnSpPr>
            <a:cxnSpLocks/>
            <a:stCxn id="228" idx="3"/>
            <a:endCxn id="229" idx="1"/>
          </p:cNvCxnSpPr>
          <p:nvPr/>
        </p:nvCxnSpPr>
        <p:spPr>
          <a:xfrm flipV="1">
            <a:off x="1196421" y="8540523"/>
            <a:ext cx="462937" cy="897469"/>
          </a:xfrm>
          <a:prstGeom prst="straightConnector1">
            <a:avLst/>
          </a:prstGeom>
          <a:noFill/>
          <a:ln w="9525" cap="flat" cmpd="sng">
            <a:solidFill>
              <a:srgbClr val="44546A"/>
            </a:solidFill>
            <a:prstDash val="solid"/>
            <a:round/>
            <a:headEnd type="none" w="med" len="med"/>
            <a:tailEnd type="triangle" w="med" len="med"/>
          </a:ln>
        </p:spPr>
      </p:cxnSp>
      <p:cxnSp>
        <p:nvCxnSpPr>
          <p:cNvPr id="257" name="Google Shape;165;p13">
            <a:extLst>
              <a:ext uri="{FF2B5EF4-FFF2-40B4-BE49-F238E27FC236}">
                <a16:creationId xmlns:a16="http://schemas.microsoft.com/office/drawing/2014/main" id="{2565128D-C6BE-35E4-EF72-278FAFFAA87D}"/>
              </a:ext>
            </a:extLst>
          </p:cNvPr>
          <p:cNvCxnSpPr>
            <a:cxnSpLocks/>
            <a:stCxn id="228" idx="3"/>
            <a:endCxn id="254" idx="1"/>
          </p:cNvCxnSpPr>
          <p:nvPr/>
        </p:nvCxnSpPr>
        <p:spPr>
          <a:xfrm>
            <a:off x="1196421" y="9437992"/>
            <a:ext cx="462925" cy="405158"/>
          </a:xfrm>
          <a:prstGeom prst="straightConnector1">
            <a:avLst/>
          </a:prstGeom>
          <a:noFill/>
          <a:ln w="9525" cap="flat" cmpd="sng">
            <a:solidFill>
              <a:srgbClr val="44546A"/>
            </a:solidFill>
            <a:prstDash val="solid"/>
            <a:round/>
            <a:headEnd type="none" w="med" len="med"/>
            <a:tailEnd type="triangle" w="med" len="med"/>
          </a:ln>
        </p:spPr>
      </p:cxnSp>
      <p:cxnSp>
        <p:nvCxnSpPr>
          <p:cNvPr id="258" name="Google Shape;166;p13">
            <a:extLst>
              <a:ext uri="{FF2B5EF4-FFF2-40B4-BE49-F238E27FC236}">
                <a16:creationId xmlns:a16="http://schemas.microsoft.com/office/drawing/2014/main" id="{103C236B-F376-7972-1AD4-77765F974552}"/>
              </a:ext>
            </a:extLst>
          </p:cNvPr>
          <p:cNvCxnSpPr>
            <a:cxnSpLocks/>
            <a:stCxn id="228" idx="3"/>
            <a:endCxn id="230" idx="1"/>
          </p:cNvCxnSpPr>
          <p:nvPr/>
        </p:nvCxnSpPr>
        <p:spPr>
          <a:xfrm>
            <a:off x="1196421" y="9437992"/>
            <a:ext cx="464758" cy="1543778"/>
          </a:xfrm>
          <a:prstGeom prst="straightConnector1">
            <a:avLst/>
          </a:prstGeom>
          <a:noFill/>
          <a:ln w="9525" cap="flat" cmpd="sng">
            <a:solidFill>
              <a:srgbClr val="44546A"/>
            </a:solidFill>
            <a:prstDash val="solid"/>
            <a:round/>
            <a:headEnd type="none" w="med" len="med"/>
            <a:tailEnd type="triangle" w="med" len="med"/>
          </a:ln>
        </p:spPr>
      </p:cxnSp>
      <p:cxnSp>
        <p:nvCxnSpPr>
          <p:cNvPr id="259" name="Google Shape;167;p13">
            <a:extLst>
              <a:ext uri="{FF2B5EF4-FFF2-40B4-BE49-F238E27FC236}">
                <a16:creationId xmlns:a16="http://schemas.microsoft.com/office/drawing/2014/main" id="{54509435-3B96-F2A4-07F1-59D039D50054}"/>
              </a:ext>
            </a:extLst>
          </p:cNvPr>
          <p:cNvCxnSpPr>
            <a:cxnSpLocks/>
            <a:stCxn id="231" idx="3"/>
            <a:endCxn id="232" idx="1"/>
          </p:cNvCxnSpPr>
          <p:nvPr/>
        </p:nvCxnSpPr>
        <p:spPr>
          <a:xfrm>
            <a:off x="10620126" y="7763550"/>
            <a:ext cx="335395" cy="5390"/>
          </a:xfrm>
          <a:prstGeom prst="straightConnector1">
            <a:avLst/>
          </a:prstGeom>
          <a:noFill/>
          <a:ln w="9525" cap="flat" cmpd="sng">
            <a:solidFill>
              <a:srgbClr val="44546A"/>
            </a:solidFill>
            <a:prstDash val="solid"/>
            <a:round/>
            <a:headEnd type="none" w="med" len="med"/>
            <a:tailEnd type="triangle" w="med" len="med"/>
          </a:ln>
        </p:spPr>
      </p:cxnSp>
      <p:cxnSp>
        <p:nvCxnSpPr>
          <p:cNvPr id="260" name="Google Shape;170;p13">
            <a:extLst>
              <a:ext uri="{FF2B5EF4-FFF2-40B4-BE49-F238E27FC236}">
                <a16:creationId xmlns:a16="http://schemas.microsoft.com/office/drawing/2014/main" id="{01B1B5CC-19A9-A8BB-8810-B20DC6A43621}"/>
              </a:ext>
            </a:extLst>
          </p:cNvPr>
          <p:cNvCxnSpPr>
            <a:cxnSpLocks/>
            <a:stCxn id="254" idx="3"/>
            <a:endCxn id="296" idx="1"/>
          </p:cNvCxnSpPr>
          <p:nvPr/>
        </p:nvCxnSpPr>
        <p:spPr>
          <a:xfrm flipV="1">
            <a:off x="2787720" y="9183607"/>
            <a:ext cx="274009" cy="659543"/>
          </a:xfrm>
          <a:prstGeom prst="straightConnector1">
            <a:avLst/>
          </a:prstGeom>
          <a:noFill/>
          <a:ln w="9525" cap="flat" cmpd="sng">
            <a:solidFill>
              <a:srgbClr val="44546A"/>
            </a:solidFill>
            <a:prstDash val="solid"/>
            <a:round/>
            <a:headEnd type="none" w="med" len="med"/>
            <a:tailEnd type="triangle" w="med" len="med"/>
          </a:ln>
        </p:spPr>
      </p:cxnSp>
      <p:cxnSp>
        <p:nvCxnSpPr>
          <p:cNvPr id="261" name="Google Shape;171;p13">
            <a:extLst>
              <a:ext uri="{FF2B5EF4-FFF2-40B4-BE49-F238E27FC236}">
                <a16:creationId xmlns:a16="http://schemas.microsoft.com/office/drawing/2014/main" id="{6F44C008-1956-B987-0EA1-B4E8D971ACB1}"/>
              </a:ext>
            </a:extLst>
          </p:cNvPr>
          <p:cNvCxnSpPr>
            <a:cxnSpLocks/>
            <a:stCxn id="254" idx="3"/>
          </p:cNvCxnSpPr>
          <p:nvPr/>
        </p:nvCxnSpPr>
        <p:spPr>
          <a:xfrm>
            <a:off x="2787720" y="9843150"/>
            <a:ext cx="271525" cy="325278"/>
          </a:xfrm>
          <a:prstGeom prst="straightConnector1">
            <a:avLst/>
          </a:prstGeom>
          <a:noFill/>
          <a:ln w="9525" cap="flat" cmpd="sng">
            <a:solidFill>
              <a:srgbClr val="44546A"/>
            </a:solidFill>
            <a:prstDash val="solid"/>
            <a:round/>
            <a:headEnd type="none" w="med" len="med"/>
            <a:tailEnd type="triangle" w="med" len="med"/>
          </a:ln>
        </p:spPr>
      </p:cxnSp>
      <p:cxnSp>
        <p:nvCxnSpPr>
          <p:cNvPr id="262" name="Google Shape;172;p13">
            <a:extLst>
              <a:ext uri="{FF2B5EF4-FFF2-40B4-BE49-F238E27FC236}">
                <a16:creationId xmlns:a16="http://schemas.microsoft.com/office/drawing/2014/main" id="{86C0A15D-6461-39AD-38B0-416CB1C3CCC0}"/>
              </a:ext>
            </a:extLst>
          </p:cNvPr>
          <p:cNvCxnSpPr>
            <a:cxnSpLocks/>
            <a:stCxn id="230" idx="3"/>
          </p:cNvCxnSpPr>
          <p:nvPr/>
        </p:nvCxnSpPr>
        <p:spPr>
          <a:xfrm flipV="1">
            <a:off x="2787183" y="10168428"/>
            <a:ext cx="272062" cy="813342"/>
          </a:xfrm>
          <a:prstGeom prst="straightConnector1">
            <a:avLst/>
          </a:prstGeom>
          <a:noFill/>
          <a:ln w="9525" cap="flat" cmpd="sng">
            <a:solidFill>
              <a:srgbClr val="44546A"/>
            </a:solidFill>
            <a:prstDash val="solid"/>
            <a:round/>
            <a:headEnd type="none" w="med" len="med"/>
            <a:tailEnd type="triangle" w="med" len="med"/>
          </a:ln>
        </p:spPr>
      </p:cxnSp>
      <p:cxnSp>
        <p:nvCxnSpPr>
          <p:cNvPr id="263" name="Google Shape;173;p13">
            <a:extLst>
              <a:ext uri="{FF2B5EF4-FFF2-40B4-BE49-F238E27FC236}">
                <a16:creationId xmlns:a16="http://schemas.microsoft.com/office/drawing/2014/main" id="{14D97CBC-062A-A96D-2DEC-88820E2FE0B2}"/>
              </a:ext>
            </a:extLst>
          </p:cNvPr>
          <p:cNvCxnSpPr>
            <a:cxnSpLocks/>
            <a:stCxn id="230" idx="3"/>
            <a:endCxn id="233" idx="1"/>
          </p:cNvCxnSpPr>
          <p:nvPr/>
        </p:nvCxnSpPr>
        <p:spPr>
          <a:xfrm>
            <a:off x="2787183" y="10981770"/>
            <a:ext cx="272004" cy="705377"/>
          </a:xfrm>
          <a:prstGeom prst="straightConnector1">
            <a:avLst/>
          </a:prstGeom>
          <a:noFill/>
          <a:ln w="9525" cap="flat" cmpd="sng">
            <a:solidFill>
              <a:srgbClr val="44546A"/>
            </a:solidFill>
            <a:prstDash val="solid"/>
            <a:round/>
            <a:headEnd type="none" w="med" len="med"/>
            <a:tailEnd type="triangle" w="med" len="med"/>
          </a:ln>
        </p:spPr>
      </p:cxnSp>
      <p:grpSp>
        <p:nvGrpSpPr>
          <p:cNvPr id="26" name="Group 25">
            <a:extLst>
              <a:ext uri="{FF2B5EF4-FFF2-40B4-BE49-F238E27FC236}">
                <a16:creationId xmlns:a16="http://schemas.microsoft.com/office/drawing/2014/main" id="{E05157EE-4073-B440-DE16-847C4B31B029}"/>
              </a:ext>
            </a:extLst>
          </p:cNvPr>
          <p:cNvGrpSpPr/>
          <p:nvPr/>
        </p:nvGrpSpPr>
        <p:grpSpPr>
          <a:xfrm>
            <a:off x="3059187" y="11542971"/>
            <a:ext cx="9177334" cy="276900"/>
            <a:chOff x="3059187" y="10997541"/>
            <a:chExt cx="9177334" cy="276900"/>
          </a:xfrm>
        </p:grpSpPr>
        <p:sp>
          <p:nvSpPr>
            <p:cNvPr id="233" name="Google Shape;135;p13">
              <a:extLst>
                <a:ext uri="{FF2B5EF4-FFF2-40B4-BE49-F238E27FC236}">
                  <a16:creationId xmlns:a16="http://schemas.microsoft.com/office/drawing/2014/main" id="{BF18A355-D948-7B49-AC86-8A8977A87CF0}"/>
                </a:ext>
              </a:extLst>
            </p:cNvPr>
            <p:cNvSpPr/>
            <p:nvPr/>
          </p:nvSpPr>
          <p:spPr>
            <a:xfrm>
              <a:off x="3059187" y="11012433"/>
              <a:ext cx="7560387" cy="258568"/>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lvl="0" indent="0" algn="ctr" rtl="0">
                <a:spcBef>
                  <a:spcPts val="0"/>
                </a:spcBef>
                <a:spcAft>
                  <a:spcPts val="0"/>
                </a:spcAft>
                <a:buNone/>
              </a:pPr>
              <a:r>
                <a:rPr lang="en" sz="1400" dirty="0">
                  <a:solidFill>
                    <a:srgbClr val="009ACC"/>
                  </a:solidFill>
                  <a:latin typeface="Times New Roman" panose="02020603050405020304" pitchFamily="18" charset="0"/>
                  <a:ea typeface="Times New Roman"/>
                  <a:cs typeface="Times New Roman" panose="02020603050405020304" pitchFamily="18" charset="0"/>
                  <a:sym typeface="Times New Roman"/>
                </a:rPr>
                <a:t>Deletions that </a:t>
              </a:r>
              <a:r>
                <a:rPr lang="en" sz="1400" dirty="0">
                  <a:solidFill>
                    <a:srgbClr val="000000"/>
                  </a:solidFill>
                  <a:latin typeface="Times New Roman" panose="02020603050405020304" pitchFamily="18" charset="0"/>
                  <a:ea typeface="Times New Roman"/>
                  <a:cs typeface="Times New Roman" panose="02020603050405020304" pitchFamily="18" charset="0"/>
                  <a:sym typeface="Times New Roman"/>
                </a:rPr>
                <a:t>truncate/alter </a:t>
              </a:r>
              <a:r>
                <a:rPr lang="en-US" sz="1400" dirty="0">
                  <a:solidFill>
                    <a:srgbClr val="009ACC"/>
                  </a:solidFill>
                  <a:latin typeface="Times New Roman" panose="02020603050405020304" pitchFamily="18" charset="0"/>
                  <a:ea typeface="Times New Roman"/>
                  <a:cs typeface="Times New Roman" panose="02020603050405020304" pitchFamily="18" charset="0"/>
                  <a:sym typeface="Times New Roman"/>
                </a:rPr>
                <a:t>exons 2, 3, 4, 5, 6, 7, 8, or 10 affect</a:t>
              </a:r>
              <a:r>
                <a:rPr lang="en-US" sz="1400" dirty="0">
                  <a:solidFill>
                    <a:srgbClr val="000000"/>
                  </a:solidFill>
                  <a:latin typeface="Times New Roman" panose="02020603050405020304" pitchFamily="18" charset="0"/>
                  <a:ea typeface="Times New Roman"/>
                  <a:cs typeface="Times New Roman" panose="02020603050405020304" pitchFamily="18" charset="0"/>
                  <a:sym typeface="Times New Roman"/>
                </a:rPr>
                <a:t> region</a:t>
              </a:r>
              <a:r>
                <a:rPr lang="en-US" sz="1400" dirty="0">
                  <a:solidFill>
                    <a:srgbClr val="009ACC"/>
                  </a:solidFill>
                  <a:latin typeface="Times New Roman" panose="02020603050405020304" pitchFamily="18" charset="0"/>
                  <a:ea typeface="Times New Roman"/>
                  <a:cs typeface="Times New Roman" panose="02020603050405020304" pitchFamily="18" charset="0"/>
                  <a:sym typeface="Times New Roman"/>
                </a:rPr>
                <a:t>s</a:t>
              </a:r>
              <a:r>
                <a:rPr lang="en-US" sz="1400" dirty="0">
                  <a:solidFill>
                    <a:srgbClr val="000000"/>
                  </a:solidFill>
                  <a:latin typeface="Times New Roman" panose="02020603050405020304" pitchFamily="18" charset="0"/>
                  <a:ea typeface="Times New Roman"/>
                  <a:cs typeface="Times New Roman" panose="02020603050405020304" pitchFamily="18" charset="0"/>
                  <a:sym typeface="Times New Roman"/>
                </a:rPr>
                <a:t> critical to protein function</a:t>
              </a:r>
              <a:r>
                <a:rPr lang="en-US" sz="1400" baseline="30000" dirty="0">
                  <a:latin typeface="Times New Roman" panose="02020603050405020304" pitchFamily="18" charset="0"/>
                  <a:ea typeface="Times New Roman"/>
                  <a:cs typeface="Times New Roman" panose="02020603050405020304" pitchFamily="18" charset="0"/>
                  <a:sym typeface="Times New Roman"/>
                </a:rPr>
                <a:t> c</a:t>
              </a:r>
              <a:r>
                <a:rPr lang="en-US" sz="1400" baseline="30000" dirty="0">
                  <a:solidFill>
                    <a:srgbClr val="009ACC"/>
                  </a:solidFill>
                  <a:latin typeface="Times New Roman" panose="02020603050405020304" pitchFamily="18" charset="0"/>
                  <a:ea typeface="Times New Roman"/>
                  <a:cs typeface="Times New Roman" panose="02020603050405020304" pitchFamily="18" charset="0"/>
                  <a:sym typeface="Times New Roman"/>
                </a:rPr>
                <a:t> , </a:t>
              </a:r>
              <a:r>
                <a:rPr lang="en-US" sz="1400" baseline="30000" dirty="0" err="1">
                  <a:solidFill>
                    <a:srgbClr val="009ACC"/>
                  </a:solidFill>
                  <a:latin typeface="Times New Roman" panose="02020603050405020304" pitchFamily="18" charset="0"/>
                  <a:ea typeface="Times New Roman"/>
                  <a:cs typeface="Times New Roman" panose="02020603050405020304" pitchFamily="18" charset="0"/>
                  <a:sym typeface="Times New Roman"/>
                </a:rPr>
                <a:t>i</a:t>
              </a:r>
              <a:endParaRPr sz="1400" dirty="0">
                <a:solidFill>
                  <a:srgbClr val="000000"/>
                </a:solidFill>
                <a:latin typeface="Times New Roman" panose="02020603050405020304" pitchFamily="18" charset="0"/>
                <a:ea typeface="Times New Roman"/>
                <a:cs typeface="Times New Roman" panose="02020603050405020304" pitchFamily="18" charset="0"/>
                <a:sym typeface="Times New Roman"/>
              </a:endParaRPr>
            </a:p>
          </p:txBody>
        </p:sp>
        <p:sp>
          <p:nvSpPr>
            <p:cNvPr id="234" name="Google Shape;142;p13">
              <a:extLst>
                <a:ext uri="{FF2B5EF4-FFF2-40B4-BE49-F238E27FC236}">
                  <a16:creationId xmlns:a16="http://schemas.microsoft.com/office/drawing/2014/main" id="{01780E17-DA4F-C96D-456E-89D244FC7167}"/>
                </a:ext>
              </a:extLst>
            </p:cNvPr>
            <p:cNvSpPr/>
            <p:nvPr/>
          </p:nvSpPr>
          <p:spPr>
            <a:xfrm>
              <a:off x="10955521" y="10997541"/>
              <a:ext cx="1281000" cy="27690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 sz="1400" b="0" i="0" u="none" strike="noStrike" cap="none" dirty="0">
                  <a:solidFill>
                    <a:srgbClr val="000000"/>
                  </a:solidFill>
                  <a:latin typeface="Times New Roman" panose="02020603050405020304" pitchFamily="18" charset="0"/>
                  <a:ea typeface="Times New Roman"/>
                  <a:cs typeface="Times New Roman" panose="02020603050405020304" pitchFamily="18" charset="0"/>
                  <a:sym typeface="Times New Roman"/>
                </a:rPr>
                <a:t>PVS1</a:t>
              </a:r>
              <a:endParaRPr sz="2000" dirty="0">
                <a:latin typeface="Times New Roman" panose="02020603050405020304" pitchFamily="18" charset="0"/>
                <a:cs typeface="Times New Roman" panose="02020603050405020304" pitchFamily="18" charset="0"/>
              </a:endParaRPr>
            </a:p>
          </p:txBody>
        </p:sp>
        <p:cxnSp>
          <p:nvCxnSpPr>
            <p:cNvPr id="264" name="Google Shape;180;p13">
              <a:extLst>
                <a:ext uri="{FF2B5EF4-FFF2-40B4-BE49-F238E27FC236}">
                  <a16:creationId xmlns:a16="http://schemas.microsoft.com/office/drawing/2014/main" id="{D33B76BF-92A7-5088-967B-CD9CFF0D2568}"/>
                </a:ext>
              </a:extLst>
            </p:cNvPr>
            <p:cNvCxnSpPr>
              <a:cxnSpLocks/>
              <a:stCxn id="233" idx="3"/>
              <a:endCxn id="234" idx="1"/>
            </p:cNvCxnSpPr>
            <p:nvPr/>
          </p:nvCxnSpPr>
          <p:spPr>
            <a:xfrm flipV="1">
              <a:off x="10619574" y="11135991"/>
              <a:ext cx="335947" cy="5726"/>
            </a:xfrm>
            <a:prstGeom prst="straightConnector1">
              <a:avLst/>
            </a:prstGeom>
            <a:noFill/>
            <a:ln w="9525" cap="flat" cmpd="sng">
              <a:solidFill>
                <a:srgbClr val="44546A"/>
              </a:solidFill>
              <a:prstDash val="solid"/>
              <a:round/>
              <a:headEnd type="none" w="med" len="med"/>
              <a:tailEnd type="triangle" w="med" len="med"/>
            </a:ln>
          </p:spPr>
        </p:cxnSp>
      </p:grpSp>
      <p:cxnSp>
        <p:nvCxnSpPr>
          <p:cNvPr id="281" name="Google Shape;219;p13">
            <a:extLst>
              <a:ext uri="{FF2B5EF4-FFF2-40B4-BE49-F238E27FC236}">
                <a16:creationId xmlns:a16="http://schemas.microsoft.com/office/drawing/2014/main" id="{7EE2D8E3-1ED9-0613-1965-0E48BEE814D7}"/>
              </a:ext>
            </a:extLst>
          </p:cNvPr>
          <p:cNvCxnSpPr>
            <a:cxnSpLocks/>
            <a:stCxn id="201" idx="3"/>
          </p:cNvCxnSpPr>
          <p:nvPr/>
        </p:nvCxnSpPr>
        <p:spPr>
          <a:xfrm flipV="1">
            <a:off x="2795059" y="6329325"/>
            <a:ext cx="264187" cy="752057"/>
          </a:xfrm>
          <a:prstGeom prst="straightConnector1">
            <a:avLst/>
          </a:prstGeom>
          <a:noFill/>
          <a:ln w="9525" cap="flat" cmpd="sng">
            <a:solidFill>
              <a:schemeClr val="dk2"/>
            </a:solidFill>
            <a:prstDash val="solid"/>
            <a:round/>
            <a:headEnd type="none" w="med" len="med"/>
            <a:tailEnd type="triangle" w="med" len="med"/>
          </a:ln>
        </p:spPr>
      </p:cxnSp>
      <p:cxnSp>
        <p:nvCxnSpPr>
          <p:cNvPr id="282" name="Google Shape;220;p13">
            <a:extLst>
              <a:ext uri="{FF2B5EF4-FFF2-40B4-BE49-F238E27FC236}">
                <a16:creationId xmlns:a16="http://schemas.microsoft.com/office/drawing/2014/main" id="{BF94A56B-AE59-B562-BC2C-962F7485D75C}"/>
              </a:ext>
            </a:extLst>
          </p:cNvPr>
          <p:cNvCxnSpPr>
            <a:cxnSpLocks/>
            <a:stCxn id="201" idx="3"/>
            <a:endCxn id="205" idx="1"/>
          </p:cNvCxnSpPr>
          <p:nvPr/>
        </p:nvCxnSpPr>
        <p:spPr>
          <a:xfrm>
            <a:off x="2795059" y="7081382"/>
            <a:ext cx="259231" cy="258217"/>
          </a:xfrm>
          <a:prstGeom prst="straightConnector1">
            <a:avLst/>
          </a:prstGeom>
          <a:noFill/>
          <a:ln w="9525" cap="flat" cmpd="sng">
            <a:solidFill>
              <a:schemeClr val="dk2"/>
            </a:solidFill>
            <a:prstDash val="solid"/>
            <a:round/>
            <a:headEnd type="none" w="med" len="med"/>
            <a:tailEnd type="triangle" w="med" len="med"/>
          </a:ln>
        </p:spPr>
      </p:cxnSp>
      <p:sp>
        <p:nvSpPr>
          <p:cNvPr id="235" name="Google Shape;143;p13">
            <a:extLst>
              <a:ext uri="{FF2B5EF4-FFF2-40B4-BE49-F238E27FC236}">
                <a16:creationId xmlns:a16="http://schemas.microsoft.com/office/drawing/2014/main" id="{F24144F2-DA61-3A6D-904F-683AF046CF0F}"/>
              </a:ext>
            </a:extLst>
          </p:cNvPr>
          <p:cNvSpPr txBox="1"/>
          <p:nvPr/>
        </p:nvSpPr>
        <p:spPr>
          <a:xfrm>
            <a:off x="90621" y="12022593"/>
            <a:ext cx="1105800" cy="1262731"/>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 sz="1400" b="1" i="0" u="none" strike="noStrike" cap="none" dirty="0">
                <a:solidFill>
                  <a:srgbClr val="000000"/>
                </a:solidFill>
                <a:latin typeface="Times New Roman" panose="02020603050405020304" pitchFamily="18" charset="0"/>
                <a:ea typeface="Times New Roman"/>
                <a:cs typeface="Times New Roman" panose="02020603050405020304" pitchFamily="18" charset="0"/>
                <a:sym typeface="Times New Roman"/>
              </a:rPr>
              <a:t>Duplication</a:t>
            </a:r>
            <a:endParaRPr sz="1400" b="1" i="0" u="none" strike="noStrike" cap="none" dirty="0">
              <a:solidFill>
                <a:srgbClr val="000000"/>
              </a:solidFill>
              <a:latin typeface="Times New Roman" panose="02020603050405020304" pitchFamily="18" charset="0"/>
              <a:ea typeface="Times New Roman"/>
              <a:cs typeface="Times New Roman" panose="02020603050405020304" pitchFamily="18" charset="0"/>
              <a:sym typeface="Times New Roman"/>
            </a:endParaRPr>
          </a:p>
          <a:p>
            <a:pPr marL="0" marR="0" lvl="0" indent="0" algn="ctr" rtl="0">
              <a:spcBef>
                <a:spcPts val="0"/>
              </a:spcBef>
              <a:spcAft>
                <a:spcPts val="0"/>
              </a:spcAft>
              <a:buNone/>
            </a:pPr>
            <a:r>
              <a:rPr lang="en" sz="1050" dirty="0">
                <a:solidFill>
                  <a:srgbClr val="000000"/>
                </a:solidFill>
                <a:latin typeface="Times New Roman" panose="02020603050405020304" pitchFamily="18" charset="0"/>
                <a:ea typeface="Times New Roman"/>
                <a:cs typeface="Times New Roman" panose="02020603050405020304" pitchFamily="18" charset="0"/>
                <a:sym typeface="Times New Roman"/>
              </a:rPr>
              <a:t>(≥1 exon in size and must be completely contained within gene)</a:t>
            </a:r>
            <a:endParaRPr sz="1050" dirty="0">
              <a:solidFill>
                <a:srgbClr val="000000"/>
              </a:solidFill>
              <a:latin typeface="Times New Roman" panose="02020603050405020304" pitchFamily="18" charset="0"/>
              <a:ea typeface="Times New Roman"/>
              <a:cs typeface="Times New Roman" panose="02020603050405020304" pitchFamily="18" charset="0"/>
              <a:sym typeface="Times New Roman"/>
            </a:endParaRPr>
          </a:p>
        </p:txBody>
      </p:sp>
      <p:sp>
        <p:nvSpPr>
          <p:cNvPr id="236" name="Google Shape;144;p13">
            <a:extLst>
              <a:ext uri="{FF2B5EF4-FFF2-40B4-BE49-F238E27FC236}">
                <a16:creationId xmlns:a16="http://schemas.microsoft.com/office/drawing/2014/main" id="{EF3B0847-90FA-89A3-7D06-FE1936A6F466}"/>
              </a:ext>
            </a:extLst>
          </p:cNvPr>
          <p:cNvSpPr/>
          <p:nvPr/>
        </p:nvSpPr>
        <p:spPr>
          <a:xfrm>
            <a:off x="1656594" y="12175336"/>
            <a:ext cx="2078043" cy="272229"/>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 sz="1400" b="0" i="0" u="none" strike="noStrike" cap="none" dirty="0">
                <a:solidFill>
                  <a:srgbClr val="000000"/>
                </a:solidFill>
                <a:latin typeface="Times New Roman" panose="02020603050405020304" pitchFamily="18" charset="0"/>
                <a:ea typeface="Times New Roman"/>
                <a:cs typeface="Times New Roman" panose="02020603050405020304" pitchFamily="18" charset="0"/>
                <a:sym typeface="Times New Roman"/>
              </a:rPr>
              <a:t>Proven in tandem</a:t>
            </a:r>
            <a:endParaRPr sz="2000" dirty="0">
              <a:latin typeface="Times New Roman" panose="02020603050405020304" pitchFamily="18" charset="0"/>
              <a:cs typeface="Times New Roman" panose="02020603050405020304" pitchFamily="18" charset="0"/>
            </a:endParaRPr>
          </a:p>
        </p:txBody>
      </p:sp>
      <p:sp>
        <p:nvSpPr>
          <p:cNvPr id="237" name="Google Shape;145;p13">
            <a:extLst>
              <a:ext uri="{FF2B5EF4-FFF2-40B4-BE49-F238E27FC236}">
                <a16:creationId xmlns:a16="http://schemas.microsoft.com/office/drawing/2014/main" id="{31DEF64D-BCFD-2B6A-8AFF-8038FA1518D3}"/>
              </a:ext>
            </a:extLst>
          </p:cNvPr>
          <p:cNvSpPr/>
          <p:nvPr/>
        </p:nvSpPr>
        <p:spPr>
          <a:xfrm>
            <a:off x="1660964" y="12498381"/>
            <a:ext cx="2073673" cy="280389"/>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 sz="1400" b="0" i="0" u="none" strike="noStrike" cap="none" dirty="0">
                <a:solidFill>
                  <a:srgbClr val="000000"/>
                </a:solidFill>
                <a:latin typeface="Times New Roman" panose="02020603050405020304" pitchFamily="18" charset="0"/>
                <a:ea typeface="Times New Roman"/>
                <a:cs typeface="Times New Roman" panose="02020603050405020304" pitchFamily="18" charset="0"/>
                <a:sym typeface="Times New Roman"/>
              </a:rPr>
              <a:t>Presumed in tandem</a:t>
            </a:r>
            <a:endParaRPr sz="2000" dirty="0">
              <a:latin typeface="Times New Roman" panose="02020603050405020304" pitchFamily="18" charset="0"/>
              <a:cs typeface="Times New Roman" panose="02020603050405020304" pitchFamily="18" charset="0"/>
            </a:endParaRPr>
          </a:p>
        </p:txBody>
      </p:sp>
      <p:sp>
        <p:nvSpPr>
          <p:cNvPr id="238" name="Google Shape;146;p13">
            <a:extLst>
              <a:ext uri="{FF2B5EF4-FFF2-40B4-BE49-F238E27FC236}">
                <a16:creationId xmlns:a16="http://schemas.microsoft.com/office/drawing/2014/main" id="{FF585325-F6B6-345F-793E-683049A13420}"/>
              </a:ext>
            </a:extLst>
          </p:cNvPr>
          <p:cNvSpPr/>
          <p:nvPr/>
        </p:nvSpPr>
        <p:spPr>
          <a:xfrm>
            <a:off x="1660838" y="13006602"/>
            <a:ext cx="8962639" cy="27432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 sz="1400" b="0" i="0" u="none" strike="noStrike" cap="none">
                <a:solidFill>
                  <a:srgbClr val="000000"/>
                </a:solidFill>
                <a:latin typeface="Times New Roman" panose="02020603050405020304" pitchFamily="18" charset="0"/>
                <a:ea typeface="Times New Roman"/>
                <a:cs typeface="Times New Roman" panose="02020603050405020304" pitchFamily="18" charset="0"/>
                <a:sym typeface="Times New Roman"/>
              </a:rPr>
              <a:t>Proven not in tandem</a:t>
            </a:r>
            <a:endParaRPr sz="2000">
              <a:latin typeface="Times New Roman" panose="02020603050405020304" pitchFamily="18" charset="0"/>
              <a:cs typeface="Times New Roman" panose="02020603050405020304" pitchFamily="18" charset="0"/>
            </a:endParaRPr>
          </a:p>
        </p:txBody>
      </p:sp>
      <p:sp>
        <p:nvSpPr>
          <p:cNvPr id="239" name="Google Shape;147;p13">
            <a:extLst>
              <a:ext uri="{FF2B5EF4-FFF2-40B4-BE49-F238E27FC236}">
                <a16:creationId xmlns:a16="http://schemas.microsoft.com/office/drawing/2014/main" id="{862E8248-D165-79A0-770A-207AAA1309DD}"/>
              </a:ext>
            </a:extLst>
          </p:cNvPr>
          <p:cNvSpPr/>
          <p:nvPr/>
        </p:nvSpPr>
        <p:spPr>
          <a:xfrm>
            <a:off x="4539271" y="11878514"/>
            <a:ext cx="6084306" cy="389653"/>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 sz="1400" b="0" i="0" u="none" strike="noStrike" cap="none" dirty="0">
                <a:solidFill>
                  <a:srgbClr val="000000"/>
                </a:solidFill>
                <a:latin typeface="Times New Roman" panose="02020603050405020304" pitchFamily="18" charset="0"/>
                <a:ea typeface="Times New Roman"/>
                <a:cs typeface="Times New Roman" panose="02020603050405020304" pitchFamily="18" charset="0"/>
                <a:sym typeface="Times New Roman"/>
              </a:rPr>
              <a:t>Reading frame disrupted </a:t>
            </a:r>
            <a:r>
              <a:rPr lang="en" sz="1400" b="0" i="0" u="none" strike="noStrike" cap="none" dirty="0">
                <a:solidFill>
                  <a:srgbClr val="000000"/>
                </a:solidFill>
                <a:latin typeface="Times New Roman"/>
                <a:ea typeface="Times New Roman"/>
                <a:cs typeface="Times New Roman"/>
                <a:sym typeface="Times New Roman"/>
              </a:rPr>
              <a:t> </a:t>
            </a:r>
            <a:r>
              <a:rPr lang="en" sz="1400" b="0" i="0" u="none" strike="noStrike" cap="none" dirty="0">
                <a:solidFill>
                  <a:srgbClr val="009ACC"/>
                </a:solidFill>
                <a:latin typeface="Times New Roman"/>
                <a:ea typeface="Times New Roman"/>
                <a:cs typeface="Times New Roman"/>
                <a:sym typeface="Times New Roman"/>
              </a:rPr>
              <a:t>in either transcript or presumed disrupted in NM_</a:t>
            </a:r>
            <a:r>
              <a:rPr lang="en-US" sz="1400" dirty="0">
                <a:solidFill>
                  <a:srgbClr val="009ACC"/>
                </a:solidFill>
                <a:latin typeface="Times New Roman"/>
                <a:cs typeface="Times New Roman"/>
              </a:rPr>
              <a:t> 001034853.2 </a:t>
            </a:r>
            <a:r>
              <a:rPr lang="en" sz="1400" b="0" i="0" u="none" strike="noStrike" cap="none" dirty="0">
                <a:solidFill>
                  <a:srgbClr val="000000"/>
                </a:solidFill>
                <a:latin typeface="Times New Roman" panose="02020603050405020304" pitchFamily="18" charset="0"/>
                <a:ea typeface="Times New Roman"/>
                <a:cs typeface="Times New Roman" panose="02020603050405020304" pitchFamily="18" charset="0"/>
                <a:sym typeface="Times New Roman"/>
              </a:rPr>
              <a:t>and NMD predicted to occur</a:t>
            </a:r>
            <a:endParaRPr sz="2000" dirty="0">
              <a:latin typeface="Times New Roman" panose="02020603050405020304" pitchFamily="18" charset="0"/>
              <a:cs typeface="Times New Roman" panose="02020603050405020304" pitchFamily="18" charset="0"/>
            </a:endParaRPr>
          </a:p>
        </p:txBody>
      </p:sp>
      <p:sp>
        <p:nvSpPr>
          <p:cNvPr id="240" name="Google Shape;148;p13">
            <a:extLst>
              <a:ext uri="{FF2B5EF4-FFF2-40B4-BE49-F238E27FC236}">
                <a16:creationId xmlns:a16="http://schemas.microsoft.com/office/drawing/2014/main" id="{CA53095F-AC64-6DA7-E891-601770058130}"/>
              </a:ext>
            </a:extLst>
          </p:cNvPr>
          <p:cNvSpPr/>
          <p:nvPr/>
        </p:nvSpPr>
        <p:spPr>
          <a:xfrm>
            <a:off x="4539171" y="12326393"/>
            <a:ext cx="6084306" cy="27690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 sz="1400" dirty="0">
                <a:solidFill>
                  <a:schemeClr val="tx1"/>
                </a:solidFill>
                <a:latin typeface="Times New Roman" panose="02020603050405020304" pitchFamily="18" charset="0"/>
                <a:ea typeface="Times New Roman"/>
                <a:cs typeface="Times New Roman" panose="02020603050405020304" pitchFamily="18" charset="0"/>
                <a:sym typeface="Times New Roman"/>
              </a:rPr>
              <a:t>No or unknown i</a:t>
            </a:r>
            <a:r>
              <a:rPr lang="en" sz="1400" b="0" i="0" u="none" strike="noStrike" cap="none" dirty="0">
                <a:solidFill>
                  <a:schemeClr val="tx1"/>
                </a:solidFill>
                <a:latin typeface="Times New Roman" panose="02020603050405020304" pitchFamily="18" charset="0"/>
                <a:ea typeface="Times New Roman"/>
                <a:cs typeface="Times New Roman" panose="02020603050405020304" pitchFamily="18" charset="0"/>
                <a:sym typeface="Times New Roman"/>
              </a:rPr>
              <a:t>mpact on reading frame and NMD</a:t>
            </a:r>
            <a:endParaRPr sz="2000" dirty="0">
              <a:solidFill>
                <a:schemeClr val="tx1"/>
              </a:solidFill>
              <a:latin typeface="Times New Roman" panose="02020603050405020304" pitchFamily="18" charset="0"/>
              <a:cs typeface="Times New Roman" panose="02020603050405020304" pitchFamily="18" charset="0"/>
            </a:endParaRPr>
          </a:p>
        </p:txBody>
      </p:sp>
      <p:sp>
        <p:nvSpPr>
          <p:cNvPr id="241" name="Google Shape;149;p13">
            <a:extLst>
              <a:ext uri="{FF2B5EF4-FFF2-40B4-BE49-F238E27FC236}">
                <a16:creationId xmlns:a16="http://schemas.microsoft.com/office/drawing/2014/main" id="{D3366599-69B5-D7F3-B7CB-29779EDDD51B}"/>
              </a:ext>
            </a:extLst>
          </p:cNvPr>
          <p:cNvSpPr/>
          <p:nvPr/>
        </p:nvSpPr>
        <p:spPr>
          <a:xfrm>
            <a:off x="4539296" y="12663223"/>
            <a:ext cx="6084306" cy="27690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 sz="1400" b="0" i="0" u="none" strike="noStrike" cap="none" dirty="0">
                <a:solidFill>
                  <a:srgbClr val="000000"/>
                </a:solidFill>
                <a:latin typeface="Times New Roman" panose="02020603050405020304" pitchFamily="18" charset="0"/>
                <a:ea typeface="Times New Roman"/>
                <a:cs typeface="Times New Roman" panose="02020603050405020304" pitchFamily="18" charset="0"/>
                <a:sym typeface="Times New Roman"/>
              </a:rPr>
              <a:t>Reading frame presumed disrupted and NMD predicted to occur</a:t>
            </a:r>
            <a:endParaRPr sz="2000" dirty="0">
              <a:latin typeface="Times New Roman" panose="02020603050405020304" pitchFamily="18" charset="0"/>
              <a:cs typeface="Times New Roman" panose="02020603050405020304" pitchFamily="18" charset="0"/>
            </a:endParaRPr>
          </a:p>
        </p:txBody>
      </p:sp>
      <p:sp>
        <p:nvSpPr>
          <p:cNvPr id="242" name="Google Shape;150;p13">
            <a:extLst>
              <a:ext uri="{FF2B5EF4-FFF2-40B4-BE49-F238E27FC236}">
                <a16:creationId xmlns:a16="http://schemas.microsoft.com/office/drawing/2014/main" id="{F5D83354-65B9-BEA5-3422-E73D1A019693}"/>
              </a:ext>
            </a:extLst>
          </p:cNvPr>
          <p:cNvSpPr/>
          <p:nvPr/>
        </p:nvSpPr>
        <p:spPr>
          <a:xfrm>
            <a:off x="10950771" y="11940576"/>
            <a:ext cx="1281000" cy="27690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 sz="1400" b="0" i="0" u="none" strike="noStrike" cap="none" dirty="0">
                <a:solidFill>
                  <a:srgbClr val="000000"/>
                </a:solidFill>
                <a:latin typeface="Times New Roman" panose="02020603050405020304" pitchFamily="18" charset="0"/>
                <a:ea typeface="Times New Roman"/>
                <a:cs typeface="Times New Roman" panose="02020603050405020304" pitchFamily="18" charset="0"/>
                <a:sym typeface="Times New Roman"/>
              </a:rPr>
              <a:t>PVS1</a:t>
            </a:r>
            <a:endParaRPr sz="2000" dirty="0">
              <a:latin typeface="Times New Roman" panose="02020603050405020304" pitchFamily="18" charset="0"/>
              <a:cs typeface="Times New Roman" panose="02020603050405020304" pitchFamily="18" charset="0"/>
            </a:endParaRPr>
          </a:p>
        </p:txBody>
      </p:sp>
      <p:sp>
        <p:nvSpPr>
          <p:cNvPr id="243" name="Google Shape;151;p13">
            <a:extLst>
              <a:ext uri="{FF2B5EF4-FFF2-40B4-BE49-F238E27FC236}">
                <a16:creationId xmlns:a16="http://schemas.microsoft.com/office/drawing/2014/main" id="{9202C807-67D1-BFD6-727D-FCC013312128}"/>
              </a:ext>
            </a:extLst>
          </p:cNvPr>
          <p:cNvSpPr/>
          <p:nvPr/>
        </p:nvSpPr>
        <p:spPr>
          <a:xfrm>
            <a:off x="10959480" y="12326467"/>
            <a:ext cx="1278212" cy="27690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 sz="1400" b="0" i="0" u="none" strike="noStrike" cap="none" dirty="0">
                <a:solidFill>
                  <a:srgbClr val="000000"/>
                </a:solidFill>
                <a:latin typeface="Times New Roman" panose="02020603050405020304" pitchFamily="18" charset="0"/>
                <a:ea typeface="Times New Roman"/>
                <a:cs typeface="Times New Roman" panose="02020603050405020304" pitchFamily="18" charset="0"/>
                <a:sym typeface="Times New Roman"/>
              </a:rPr>
              <a:t>N/A</a:t>
            </a:r>
            <a:endParaRPr sz="2000" dirty="0">
              <a:latin typeface="Times New Roman" panose="02020603050405020304" pitchFamily="18" charset="0"/>
              <a:cs typeface="Times New Roman" panose="02020603050405020304" pitchFamily="18" charset="0"/>
            </a:endParaRPr>
          </a:p>
        </p:txBody>
      </p:sp>
      <p:sp>
        <p:nvSpPr>
          <p:cNvPr id="244" name="Google Shape;152;p13">
            <a:extLst>
              <a:ext uri="{FF2B5EF4-FFF2-40B4-BE49-F238E27FC236}">
                <a16:creationId xmlns:a16="http://schemas.microsoft.com/office/drawing/2014/main" id="{3C3D4C55-62DA-C14C-2AE9-D194B57C1148}"/>
              </a:ext>
            </a:extLst>
          </p:cNvPr>
          <p:cNvSpPr/>
          <p:nvPr/>
        </p:nvSpPr>
        <p:spPr>
          <a:xfrm>
            <a:off x="10959480" y="12657907"/>
            <a:ext cx="1273772" cy="27690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 sz="1400" b="0" i="0" u="none" strike="noStrike" cap="none" dirty="0">
                <a:solidFill>
                  <a:srgbClr val="000000"/>
                </a:solidFill>
                <a:latin typeface="Times New Roman" panose="02020603050405020304" pitchFamily="18" charset="0"/>
                <a:ea typeface="Times New Roman"/>
                <a:cs typeface="Times New Roman" panose="02020603050405020304" pitchFamily="18" charset="0"/>
                <a:sym typeface="Times New Roman"/>
              </a:rPr>
              <a:t>PVS1</a:t>
            </a:r>
            <a:endParaRPr sz="2000" dirty="0">
              <a:latin typeface="Times New Roman" panose="02020603050405020304" pitchFamily="18" charset="0"/>
              <a:cs typeface="Times New Roman" panose="02020603050405020304" pitchFamily="18" charset="0"/>
            </a:endParaRPr>
          </a:p>
        </p:txBody>
      </p:sp>
      <p:sp>
        <p:nvSpPr>
          <p:cNvPr id="245" name="Google Shape;153;p13">
            <a:extLst>
              <a:ext uri="{FF2B5EF4-FFF2-40B4-BE49-F238E27FC236}">
                <a16:creationId xmlns:a16="http://schemas.microsoft.com/office/drawing/2014/main" id="{92BE095B-AAA4-3E39-BAD0-957E613BF548}"/>
              </a:ext>
            </a:extLst>
          </p:cNvPr>
          <p:cNvSpPr/>
          <p:nvPr/>
        </p:nvSpPr>
        <p:spPr>
          <a:xfrm>
            <a:off x="10955396" y="12989250"/>
            <a:ext cx="1281000" cy="27690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 sz="1400" b="0" i="0" u="none" strike="noStrike" cap="none">
                <a:solidFill>
                  <a:srgbClr val="000000"/>
                </a:solidFill>
                <a:latin typeface="Times New Roman" panose="02020603050405020304" pitchFamily="18" charset="0"/>
                <a:ea typeface="Times New Roman"/>
                <a:cs typeface="Times New Roman" panose="02020603050405020304" pitchFamily="18" charset="0"/>
                <a:sym typeface="Times New Roman"/>
              </a:rPr>
              <a:t>N/A</a:t>
            </a:r>
            <a:endParaRPr sz="2000">
              <a:latin typeface="Times New Roman" panose="02020603050405020304" pitchFamily="18" charset="0"/>
              <a:cs typeface="Times New Roman" panose="02020603050405020304" pitchFamily="18" charset="0"/>
            </a:endParaRPr>
          </a:p>
        </p:txBody>
      </p:sp>
      <p:sp>
        <p:nvSpPr>
          <p:cNvPr id="246" name="Google Shape;154;p13">
            <a:extLst>
              <a:ext uri="{FF2B5EF4-FFF2-40B4-BE49-F238E27FC236}">
                <a16:creationId xmlns:a16="http://schemas.microsoft.com/office/drawing/2014/main" id="{AE5E759D-06DE-80EC-E755-43A22E0B0784}"/>
              </a:ext>
            </a:extLst>
          </p:cNvPr>
          <p:cNvSpPr txBox="1"/>
          <p:nvPr/>
        </p:nvSpPr>
        <p:spPr>
          <a:xfrm>
            <a:off x="90621" y="13439904"/>
            <a:ext cx="1105800" cy="837323"/>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 sz="1400" b="1" i="0" u="none" strike="noStrike" cap="none">
                <a:solidFill>
                  <a:srgbClr val="000000"/>
                </a:solidFill>
                <a:latin typeface="Times New Roman" panose="02020603050405020304" pitchFamily="18" charset="0"/>
                <a:ea typeface="Times New Roman"/>
                <a:cs typeface="Times New Roman" panose="02020603050405020304" pitchFamily="18" charset="0"/>
                <a:sym typeface="Times New Roman"/>
              </a:rPr>
              <a:t>Initiation Codon</a:t>
            </a:r>
            <a:endParaRPr sz="2000" b="1">
              <a:latin typeface="Times New Roman" panose="02020603050405020304" pitchFamily="18" charset="0"/>
              <a:cs typeface="Times New Roman" panose="02020603050405020304" pitchFamily="18" charset="0"/>
            </a:endParaRPr>
          </a:p>
        </p:txBody>
      </p:sp>
      <p:sp>
        <p:nvSpPr>
          <p:cNvPr id="247" name="Google Shape;155;p13">
            <a:extLst>
              <a:ext uri="{FF2B5EF4-FFF2-40B4-BE49-F238E27FC236}">
                <a16:creationId xmlns:a16="http://schemas.microsoft.com/office/drawing/2014/main" id="{C2326371-E1D3-327A-A35E-6FC272522D00}"/>
              </a:ext>
            </a:extLst>
          </p:cNvPr>
          <p:cNvSpPr/>
          <p:nvPr/>
        </p:nvSpPr>
        <p:spPr>
          <a:xfrm>
            <a:off x="1655787" y="13818623"/>
            <a:ext cx="2412705" cy="495111"/>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 sz="1400" b="0" i="0" u="none" strike="noStrike" cap="none" dirty="0">
                <a:solidFill>
                  <a:srgbClr val="000000"/>
                </a:solidFill>
                <a:latin typeface="Times New Roman" panose="02020603050405020304" pitchFamily="18" charset="0"/>
                <a:ea typeface="Times New Roman"/>
                <a:cs typeface="Times New Roman" panose="02020603050405020304" pitchFamily="18" charset="0"/>
                <a:sym typeface="Times New Roman"/>
              </a:rPr>
              <a:t>Different functional transcript uses alternative start codon</a:t>
            </a:r>
            <a:endParaRPr sz="2000" dirty="0">
              <a:latin typeface="Times New Roman" panose="02020603050405020304" pitchFamily="18" charset="0"/>
              <a:cs typeface="Times New Roman" panose="02020603050405020304" pitchFamily="18" charset="0"/>
            </a:endParaRPr>
          </a:p>
        </p:txBody>
      </p:sp>
      <p:sp>
        <p:nvSpPr>
          <p:cNvPr id="248" name="Google Shape;156;p13">
            <a:extLst>
              <a:ext uri="{FF2B5EF4-FFF2-40B4-BE49-F238E27FC236}">
                <a16:creationId xmlns:a16="http://schemas.microsoft.com/office/drawing/2014/main" id="{9D4B8DDC-A64C-8828-00D5-7842ACA8212A}"/>
              </a:ext>
            </a:extLst>
          </p:cNvPr>
          <p:cNvSpPr/>
          <p:nvPr/>
        </p:nvSpPr>
        <p:spPr>
          <a:xfrm>
            <a:off x="1661178" y="13342951"/>
            <a:ext cx="2407314" cy="434113"/>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 sz="1400" b="0" i="0" u="none" strike="noStrike" cap="none" dirty="0">
                <a:solidFill>
                  <a:srgbClr val="000000"/>
                </a:solidFill>
                <a:latin typeface="Times New Roman" panose="02020603050405020304" pitchFamily="18" charset="0"/>
                <a:ea typeface="Times New Roman"/>
                <a:cs typeface="Times New Roman" panose="02020603050405020304" pitchFamily="18" charset="0"/>
                <a:sym typeface="Times New Roman"/>
              </a:rPr>
              <a:t>No known alternative start codon in other transcripts</a:t>
            </a:r>
            <a:endParaRPr sz="2000" dirty="0">
              <a:latin typeface="Times New Roman" panose="02020603050405020304" pitchFamily="18" charset="0"/>
              <a:cs typeface="Times New Roman" panose="02020603050405020304" pitchFamily="18" charset="0"/>
            </a:endParaRPr>
          </a:p>
        </p:txBody>
      </p:sp>
      <p:sp>
        <p:nvSpPr>
          <p:cNvPr id="249" name="Google Shape;157;p13">
            <a:extLst>
              <a:ext uri="{FF2B5EF4-FFF2-40B4-BE49-F238E27FC236}">
                <a16:creationId xmlns:a16="http://schemas.microsoft.com/office/drawing/2014/main" id="{F403CEAE-0FC6-B84E-DA3A-EA4F6D5118FD}"/>
              </a:ext>
            </a:extLst>
          </p:cNvPr>
          <p:cNvSpPr/>
          <p:nvPr/>
        </p:nvSpPr>
        <p:spPr>
          <a:xfrm>
            <a:off x="4534646" y="13368133"/>
            <a:ext cx="6084928" cy="27420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 sz="1400" b="0" i="0" u="none" strike="noStrike" cap="none" dirty="0">
                <a:solidFill>
                  <a:srgbClr val="000000"/>
                </a:solidFill>
                <a:latin typeface="Times New Roman" panose="02020603050405020304" pitchFamily="18" charset="0"/>
                <a:ea typeface="Times New Roman"/>
                <a:cs typeface="Times New Roman" panose="02020603050405020304" pitchFamily="18" charset="0"/>
                <a:sym typeface="Times New Roman"/>
              </a:rPr>
              <a:t>≥1 pathogenic variant(s) upstream of closest potential in-frame start codon</a:t>
            </a:r>
            <a:endParaRPr sz="1050" b="0" i="0" u="none" strike="noStrike" cap="none" dirty="0">
              <a:solidFill>
                <a:srgbClr val="000000"/>
              </a:solidFill>
              <a:latin typeface="Times New Roman" panose="02020603050405020304" pitchFamily="18" charset="0"/>
              <a:ea typeface="Times New Roman"/>
              <a:cs typeface="Times New Roman" panose="02020603050405020304" pitchFamily="18" charset="0"/>
              <a:sym typeface="Times New Roman"/>
            </a:endParaRPr>
          </a:p>
        </p:txBody>
      </p:sp>
      <p:sp>
        <p:nvSpPr>
          <p:cNvPr id="250" name="Google Shape;158;p13">
            <a:extLst>
              <a:ext uri="{FF2B5EF4-FFF2-40B4-BE49-F238E27FC236}">
                <a16:creationId xmlns:a16="http://schemas.microsoft.com/office/drawing/2014/main" id="{08CD3E73-47FB-C5DD-A713-E12EDF2D814D}"/>
              </a:ext>
            </a:extLst>
          </p:cNvPr>
          <p:cNvSpPr/>
          <p:nvPr/>
        </p:nvSpPr>
        <p:spPr>
          <a:xfrm>
            <a:off x="4533250" y="13700539"/>
            <a:ext cx="6086322" cy="27420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 sz="1400" b="0" i="0" u="none" strike="noStrike" cap="none">
                <a:solidFill>
                  <a:srgbClr val="000000"/>
                </a:solidFill>
                <a:latin typeface="Times New Roman" panose="02020603050405020304" pitchFamily="18" charset="0"/>
                <a:ea typeface="Times New Roman"/>
                <a:cs typeface="Times New Roman" panose="02020603050405020304" pitchFamily="18" charset="0"/>
                <a:sym typeface="Times New Roman"/>
              </a:rPr>
              <a:t>No pathogenic variant(s) upstream of closest potential in-frame start codon</a:t>
            </a:r>
            <a:endParaRPr sz="1050" b="0" i="0" u="none" strike="noStrike" cap="none">
              <a:solidFill>
                <a:srgbClr val="000000"/>
              </a:solidFill>
              <a:latin typeface="Times New Roman" panose="02020603050405020304" pitchFamily="18" charset="0"/>
              <a:ea typeface="Times New Roman"/>
              <a:cs typeface="Times New Roman" panose="02020603050405020304" pitchFamily="18" charset="0"/>
              <a:sym typeface="Times New Roman"/>
            </a:endParaRPr>
          </a:p>
        </p:txBody>
      </p:sp>
      <p:sp>
        <p:nvSpPr>
          <p:cNvPr id="251" name="Google Shape;159;p13">
            <a:extLst>
              <a:ext uri="{FF2B5EF4-FFF2-40B4-BE49-F238E27FC236}">
                <a16:creationId xmlns:a16="http://schemas.microsoft.com/office/drawing/2014/main" id="{357E8157-6141-2E08-C4DA-B4CD83DD52A4}"/>
              </a:ext>
            </a:extLst>
          </p:cNvPr>
          <p:cNvSpPr/>
          <p:nvPr/>
        </p:nvSpPr>
        <p:spPr>
          <a:xfrm>
            <a:off x="10955521" y="13670418"/>
            <a:ext cx="1281000" cy="27690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 sz="1400" b="0" i="0" u="none" strike="noStrike" cap="none">
                <a:solidFill>
                  <a:srgbClr val="000000"/>
                </a:solidFill>
                <a:latin typeface="Times New Roman" panose="02020603050405020304" pitchFamily="18" charset="0"/>
                <a:ea typeface="Times New Roman"/>
                <a:cs typeface="Times New Roman" panose="02020603050405020304" pitchFamily="18" charset="0"/>
                <a:sym typeface="Times New Roman"/>
              </a:rPr>
              <a:t>PVS1_Supp</a:t>
            </a:r>
            <a:endParaRPr sz="2000">
              <a:latin typeface="Times New Roman" panose="02020603050405020304" pitchFamily="18" charset="0"/>
              <a:cs typeface="Times New Roman" panose="02020603050405020304" pitchFamily="18" charset="0"/>
            </a:endParaRPr>
          </a:p>
        </p:txBody>
      </p:sp>
      <p:sp>
        <p:nvSpPr>
          <p:cNvPr id="252" name="Google Shape;160;p13">
            <a:extLst>
              <a:ext uri="{FF2B5EF4-FFF2-40B4-BE49-F238E27FC236}">
                <a16:creationId xmlns:a16="http://schemas.microsoft.com/office/drawing/2014/main" id="{06D0734A-ACCD-6738-EADF-EA3E21487557}"/>
              </a:ext>
            </a:extLst>
          </p:cNvPr>
          <p:cNvSpPr/>
          <p:nvPr/>
        </p:nvSpPr>
        <p:spPr>
          <a:xfrm>
            <a:off x="10818361" y="13338978"/>
            <a:ext cx="1417320" cy="27690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 sz="1400" dirty="0">
                <a:solidFill>
                  <a:srgbClr val="000000"/>
                </a:solidFill>
                <a:latin typeface="Times New Roman" panose="02020603050405020304" pitchFamily="18" charset="0"/>
                <a:ea typeface="Times New Roman"/>
                <a:cs typeface="Times New Roman" panose="02020603050405020304" pitchFamily="18" charset="0"/>
                <a:sym typeface="Times New Roman"/>
              </a:rPr>
              <a:t>PVS1_Moderate </a:t>
            </a:r>
            <a:endParaRPr sz="2000" dirty="0">
              <a:latin typeface="Times New Roman" panose="02020603050405020304" pitchFamily="18" charset="0"/>
              <a:cs typeface="Times New Roman" panose="02020603050405020304" pitchFamily="18" charset="0"/>
            </a:endParaRPr>
          </a:p>
        </p:txBody>
      </p:sp>
      <p:sp>
        <p:nvSpPr>
          <p:cNvPr id="253" name="Google Shape;161;p13">
            <a:extLst>
              <a:ext uri="{FF2B5EF4-FFF2-40B4-BE49-F238E27FC236}">
                <a16:creationId xmlns:a16="http://schemas.microsoft.com/office/drawing/2014/main" id="{30972403-77F5-EC27-5CB2-CA1FC1D22A01}"/>
              </a:ext>
            </a:extLst>
          </p:cNvPr>
          <p:cNvSpPr/>
          <p:nvPr/>
        </p:nvSpPr>
        <p:spPr>
          <a:xfrm>
            <a:off x="10955521" y="14000428"/>
            <a:ext cx="1281000" cy="27690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 sz="1400" b="0" i="0" u="none" strike="noStrike" cap="none" dirty="0">
                <a:solidFill>
                  <a:srgbClr val="000000"/>
                </a:solidFill>
                <a:latin typeface="Times New Roman" panose="02020603050405020304" pitchFamily="18" charset="0"/>
                <a:ea typeface="Times New Roman"/>
                <a:cs typeface="Times New Roman" panose="02020603050405020304" pitchFamily="18" charset="0"/>
                <a:sym typeface="Times New Roman"/>
              </a:rPr>
              <a:t>N/A</a:t>
            </a:r>
            <a:endParaRPr sz="2000" dirty="0">
              <a:latin typeface="Times New Roman" panose="02020603050405020304" pitchFamily="18" charset="0"/>
              <a:cs typeface="Times New Roman" panose="02020603050405020304" pitchFamily="18" charset="0"/>
            </a:endParaRPr>
          </a:p>
        </p:txBody>
      </p:sp>
      <p:cxnSp>
        <p:nvCxnSpPr>
          <p:cNvPr id="265" name="Google Shape;181;p13">
            <a:extLst>
              <a:ext uri="{FF2B5EF4-FFF2-40B4-BE49-F238E27FC236}">
                <a16:creationId xmlns:a16="http://schemas.microsoft.com/office/drawing/2014/main" id="{22E0D2F8-6CDE-B280-03A9-295FAA02B429}"/>
              </a:ext>
            </a:extLst>
          </p:cNvPr>
          <p:cNvCxnSpPr>
            <a:cxnSpLocks/>
            <a:stCxn id="235" idx="3"/>
            <a:endCxn id="236" idx="1"/>
          </p:cNvCxnSpPr>
          <p:nvPr/>
        </p:nvCxnSpPr>
        <p:spPr>
          <a:xfrm flipV="1">
            <a:off x="1196421" y="12311451"/>
            <a:ext cx="460173" cy="342508"/>
          </a:xfrm>
          <a:prstGeom prst="straightConnector1">
            <a:avLst/>
          </a:prstGeom>
          <a:noFill/>
          <a:ln w="9525" cap="flat" cmpd="sng">
            <a:solidFill>
              <a:srgbClr val="44546A"/>
            </a:solidFill>
            <a:prstDash val="solid"/>
            <a:round/>
            <a:headEnd type="none" w="med" len="med"/>
            <a:tailEnd type="triangle" w="med" len="med"/>
          </a:ln>
        </p:spPr>
      </p:cxnSp>
      <p:cxnSp>
        <p:nvCxnSpPr>
          <p:cNvPr id="266" name="Google Shape;182;p13">
            <a:extLst>
              <a:ext uri="{FF2B5EF4-FFF2-40B4-BE49-F238E27FC236}">
                <a16:creationId xmlns:a16="http://schemas.microsoft.com/office/drawing/2014/main" id="{12DB3D62-FD09-B58E-F135-D542898316C1}"/>
              </a:ext>
            </a:extLst>
          </p:cNvPr>
          <p:cNvCxnSpPr>
            <a:cxnSpLocks/>
            <a:stCxn id="235" idx="3"/>
            <a:endCxn id="237" idx="1"/>
          </p:cNvCxnSpPr>
          <p:nvPr/>
        </p:nvCxnSpPr>
        <p:spPr>
          <a:xfrm flipV="1">
            <a:off x="1196421" y="12638576"/>
            <a:ext cx="464543" cy="15383"/>
          </a:xfrm>
          <a:prstGeom prst="straightConnector1">
            <a:avLst/>
          </a:prstGeom>
          <a:noFill/>
          <a:ln w="9525" cap="flat" cmpd="sng">
            <a:solidFill>
              <a:srgbClr val="44546A"/>
            </a:solidFill>
            <a:prstDash val="solid"/>
            <a:round/>
            <a:headEnd type="none" w="med" len="med"/>
            <a:tailEnd type="triangle" w="med" len="med"/>
          </a:ln>
        </p:spPr>
      </p:cxnSp>
      <p:cxnSp>
        <p:nvCxnSpPr>
          <p:cNvPr id="267" name="Google Shape;183;p13">
            <a:extLst>
              <a:ext uri="{FF2B5EF4-FFF2-40B4-BE49-F238E27FC236}">
                <a16:creationId xmlns:a16="http://schemas.microsoft.com/office/drawing/2014/main" id="{60697EDF-712D-C69C-7009-E1C8D4266A2C}"/>
              </a:ext>
            </a:extLst>
          </p:cNvPr>
          <p:cNvCxnSpPr>
            <a:cxnSpLocks/>
            <a:stCxn id="235" idx="3"/>
            <a:endCxn id="238" idx="1"/>
          </p:cNvCxnSpPr>
          <p:nvPr/>
        </p:nvCxnSpPr>
        <p:spPr>
          <a:xfrm>
            <a:off x="1196421" y="12653959"/>
            <a:ext cx="464417" cy="489803"/>
          </a:xfrm>
          <a:prstGeom prst="straightConnector1">
            <a:avLst/>
          </a:prstGeom>
          <a:noFill/>
          <a:ln w="9525" cap="flat" cmpd="sng">
            <a:solidFill>
              <a:srgbClr val="44546A"/>
            </a:solidFill>
            <a:prstDash val="solid"/>
            <a:round/>
            <a:headEnd type="none" w="med" len="med"/>
            <a:tailEnd type="triangle" w="med" len="med"/>
          </a:ln>
        </p:spPr>
      </p:cxnSp>
      <p:cxnSp>
        <p:nvCxnSpPr>
          <p:cNvPr id="268" name="Google Shape;184;p13">
            <a:extLst>
              <a:ext uri="{FF2B5EF4-FFF2-40B4-BE49-F238E27FC236}">
                <a16:creationId xmlns:a16="http://schemas.microsoft.com/office/drawing/2014/main" id="{E7897229-2235-DFDB-C633-E31DCCE54E84}"/>
              </a:ext>
            </a:extLst>
          </p:cNvPr>
          <p:cNvCxnSpPr>
            <a:cxnSpLocks/>
            <a:stCxn id="236" idx="3"/>
            <a:endCxn id="240" idx="1"/>
          </p:cNvCxnSpPr>
          <p:nvPr/>
        </p:nvCxnSpPr>
        <p:spPr>
          <a:xfrm>
            <a:off x="3734637" y="12311451"/>
            <a:ext cx="804534" cy="153392"/>
          </a:xfrm>
          <a:prstGeom prst="straightConnector1">
            <a:avLst/>
          </a:prstGeom>
          <a:noFill/>
          <a:ln w="9525" cap="flat" cmpd="sng">
            <a:solidFill>
              <a:srgbClr val="44546A"/>
            </a:solidFill>
            <a:prstDash val="solid"/>
            <a:round/>
            <a:headEnd type="none" w="med" len="med"/>
            <a:tailEnd type="triangle" w="med" len="med"/>
          </a:ln>
        </p:spPr>
      </p:cxnSp>
      <p:cxnSp>
        <p:nvCxnSpPr>
          <p:cNvPr id="269" name="Google Shape;185;p13">
            <a:extLst>
              <a:ext uri="{FF2B5EF4-FFF2-40B4-BE49-F238E27FC236}">
                <a16:creationId xmlns:a16="http://schemas.microsoft.com/office/drawing/2014/main" id="{38494A86-E0AE-9404-3A34-3FAFA369D75D}"/>
              </a:ext>
            </a:extLst>
          </p:cNvPr>
          <p:cNvCxnSpPr>
            <a:cxnSpLocks/>
            <a:stCxn id="237" idx="3"/>
            <a:endCxn id="240" idx="1"/>
          </p:cNvCxnSpPr>
          <p:nvPr/>
        </p:nvCxnSpPr>
        <p:spPr>
          <a:xfrm flipV="1">
            <a:off x="3734637" y="12464843"/>
            <a:ext cx="804534" cy="173733"/>
          </a:xfrm>
          <a:prstGeom prst="straightConnector1">
            <a:avLst/>
          </a:prstGeom>
          <a:noFill/>
          <a:ln w="9525" cap="flat" cmpd="sng">
            <a:solidFill>
              <a:srgbClr val="44546A"/>
            </a:solidFill>
            <a:prstDash val="solid"/>
            <a:round/>
            <a:headEnd type="none" w="med" len="med"/>
            <a:tailEnd type="triangle" w="med" len="med"/>
          </a:ln>
        </p:spPr>
      </p:cxnSp>
      <p:cxnSp>
        <p:nvCxnSpPr>
          <p:cNvPr id="270" name="Google Shape;186;p13">
            <a:extLst>
              <a:ext uri="{FF2B5EF4-FFF2-40B4-BE49-F238E27FC236}">
                <a16:creationId xmlns:a16="http://schemas.microsoft.com/office/drawing/2014/main" id="{95821125-E892-B9ED-70EA-7DD83D9D1D8F}"/>
              </a:ext>
            </a:extLst>
          </p:cNvPr>
          <p:cNvCxnSpPr>
            <a:cxnSpLocks/>
            <a:stCxn id="237" idx="3"/>
            <a:endCxn id="241" idx="1"/>
          </p:cNvCxnSpPr>
          <p:nvPr/>
        </p:nvCxnSpPr>
        <p:spPr>
          <a:xfrm>
            <a:off x="3734637" y="12638576"/>
            <a:ext cx="804659" cy="163097"/>
          </a:xfrm>
          <a:prstGeom prst="straightConnector1">
            <a:avLst/>
          </a:prstGeom>
          <a:noFill/>
          <a:ln w="9525" cap="flat" cmpd="sng">
            <a:solidFill>
              <a:srgbClr val="44546A"/>
            </a:solidFill>
            <a:prstDash val="solid"/>
            <a:round/>
            <a:headEnd type="none" w="med" len="med"/>
            <a:tailEnd type="triangle" w="med" len="med"/>
          </a:ln>
        </p:spPr>
      </p:cxnSp>
      <p:cxnSp>
        <p:nvCxnSpPr>
          <p:cNvPr id="271" name="Google Shape;187;p13">
            <a:extLst>
              <a:ext uri="{FF2B5EF4-FFF2-40B4-BE49-F238E27FC236}">
                <a16:creationId xmlns:a16="http://schemas.microsoft.com/office/drawing/2014/main" id="{85415118-A5D7-E9C9-372A-531270162A60}"/>
              </a:ext>
            </a:extLst>
          </p:cNvPr>
          <p:cNvCxnSpPr>
            <a:cxnSpLocks/>
            <a:stCxn id="239" idx="3"/>
            <a:endCxn id="242" idx="1"/>
          </p:cNvCxnSpPr>
          <p:nvPr/>
        </p:nvCxnSpPr>
        <p:spPr>
          <a:xfrm>
            <a:off x="10623577" y="12073341"/>
            <a:ext cx="327194" cy="5685"/>
          </a:xfrm>
          <a:prstGeom prst="straightConnector1">
            <a:avLst/>
          </a:prstGeom>
          <a:noFill/>
          <a:ln w="9525" cap="flat" cmpd="sng">
            <a:solidFill>
              <a:srgbClr val="44546A"/>
            </a:solidFill>
            <a:prstDash val="solid"/>
            <a:round/>
            <a:headEnd type="none" w="med" len="med"/>
            <a:tailEnd type="triangle" w="med" len="med"/>
          </a:ln>
        </p:spPr>
      </p:cxnSp>
      <p:cxnSp>
        <p:nvCxnSpPr>
          <p:cNvPr id="272" name="Google Shape;188;p13">
            <a:extLst>
              <a:ext uri="{FF2B5EF4-FFF2-40B4-BE49-F238E27FC236}">
                <a16:creationId xmlns:a16="http://schemas.microsoft.com/office/drawing/2014/main" id="{C918F44F-573C-136A-E83A-AB0F2DC222AC}"/>
              </a:ext>
            </a:extLst>
          </p:cNvPr>
          <p:cNvCxnSpPr>
            <a:cxnSpLocks/>
            <a:stCxn id="240" idx="3"/>
            <a:endCxn id="243" idx="1"/>
          </p:cNvCxnSpPr>
          <p:nvPr/>
        </p:nvCxnSpPr>
        <p:spPr>
          <a:xfrm>
            <a:off x="10623477" y="12464843"/>
            <a:ext cx="336003" cy="74"/>
          </a:xfrm>
          <a:prstGeom prst="straightConnector1">
            <a:avLst/>
          </a:prstGeom>
          <a:noFill/>
          <a:ln w="9525" cap="flat" cmpd="sng">
            <a:solidFill>
              <a:srgbClr val="44546A"/>
            </a:solidFill>
            <a:prstDash val="solid"/>
            <a:round/>
            <a:headEnd type="none" w="med" len="med"/>
            <a:tailEnd type="triangle" w="med" len="med"/>
          </a:ln>
        </p:spPr>
      </p:cxnSp>
      <p:cxnSp>
        <p:nvCxnSpPr>
          <p:cNvPr id="273" name="Google Shape;189;p13">
            <a:extLst>
              <a:ext uri="{FF2B5EF4-FFF2-40B4-BE49-F238E27FC236}">
                <a16:creationId xmlns:a16="http://schemas.microsoft.com/office/drawing/2014/main" id="{CE495336-4B17-7911-2EE9-A70D14C0972D}"/>
              </a:ext>
            </a:extLst>
          </p:cNvPr>
          <p:cNvCxnSpPr>
            <a:cxnSpLocks/>
            <a:stCxn id="241" idx="3"/>
            <a:endCxn id="244" idx="1"/>
          </p:cNvCxnSpPr>
          <p:nvPr/>
        </p:nvCxnSpPr>
        <p:spPr>
          <a:xfrm flipV="1">
            <a:off x="10623602" y="12796357"/>
            <a:ext cx="335878" cy="0"/>
          </a:xfrm>
          <a:prstGeom prst="straightConnector1">
            <a:avLst/>
          </a:prstGeom>
          <a:noFill/>
          <a:ln w="9525" cap="flat" cmpd="sng">
            <a:solidFill>
              <a:srgbClr val="44546A"/>
            </a:solidFill>
            <a:prstDash val="solid"/>
            <a:round/>
            <a:headEnd type="none" w="med" len="med"/>
            <a:tailEnd type="triangle" w="med" len="med"/>
          </a:ln>
        </p:spPr>
      </p:cxnSp>
      <p:cxnSp>
        <p:nvCxnSpPr>
          <p:cNvPr id="274" name="Google Shape;190;p13">
            <a:extLst>
              <a:ext uri="{FF2B5EF4-FFF2-40B4-BE49-F238E27FC236}">
                <a16:creationId xmlns:a16="http://schemas.microsoft.com/office/drawing/2014/main" id="{6CD3CB83-5446-6F30-3CD7-05D022603292}"/>
              </a:ext>
            </a:extLst>
          </p:cNvPr>
          <p:cNvCxnSpPr>
            <a:cxnSpLocks/>
            <a:stCxn id="248" idx="3"/>
            <a:endCxn id="249" idx="1"/>
          </p:cNvCxnSpPr>
          <p:nvPr/>
        </p:nvCxnSpPr>
        <p:spPr>
          <a:xfrm flipV="1">
            <a:off x="4068492" y="13505233"/>
            <a:ext cx="466154" cy="54775"/>
          </a:xfrm>
          <a:prstGeom prst="straightConnector1">
            <a:avLst/>
          </a:prstGeom>
          <a:noFill/>
          <a:ln w="9525" cap="flat" cmpd="sng">
            <a:solidFill>
              <a:srgbClr val="44546A"/>
            </a:solidFill>
            <a:prstDash val="solid"/>
            <a:round/>
            <a:headEnd type="none" w="med" len="med"/>
            <a:tailEnd type="triangle" w="med" len="med"/>
          </a:ln>
        </p:spPr>
      </p:cxnSp>
      <p:cxnSp>
        <p:nvCxnSpPr>
          <p:cNvPr id="275" name="Google Shape;191;p13">
            <a:extLst>
              <a:ext uri="{FF2B5EF4-FFF2-40B4-BE49-F238E27FC236}">
                <a16:creationId xmlns:a16="http://schemas.microsoft.com/office/drawing/2014/main" id="{C3763776-81AC-DA11-E824-5B95C0A9E30B}"/>
              </a:ext>
            </a:extLst>
          </p:cNvPr>
          <p:cNvCxnSpPr>
            <a:cxnSpLocks/>
            <a:stCxn id="248" idx="3"/>
            <a:endCxn id="250" idx="1"/>
          </p:cNvCxnSpPr>
          <p:nvPr/>
        </p:nvCxnSpPr>
        <p:spPr>
          <a:xfrm>
            <a:off x="4068492" y="13560008"/>
            <a:ext cx="464758" cy="277631"/>
          </a:xfrm>
          <a:prstGeom prst="straightConnector1">
            <a:avLst/>
          </a:prstGeom>
          <a:noFill/>
          <a:ln w="9525" cap="flat" cmpd="sng">
            <a:solidFill>
              <a:srgbClr val="44546A"/>
            </a:solidFill>
            <a:prstDash val="solid"/>
            <a:round/>
            <a:headEnd type="none" w="med" len="med"/>
            <a:tailEnd type="triangle" w="med" len="med"/>
          </a:ln>
        </p:spPr>
      </p:cxnSp>
      <p:cxnSp>
        <p:nvCxnSpPr>
          <p:cNvPr id="276" name="Google Shape;192;p13">
            <a:extLst>
              <a:ext uri="{FF2B5EF4-FFF2-40B4-BE49-F238E27FC236}">
                <a16:creationId xmlns:a16="http://schemas.microsoft.com/office/drawing/2014/main" id="{5F1BAADA-9DAE-3369-3DF9-B300B3E5EE6D}"/>
              </a:ext>
            </a:extLst>
          </p:cNvPr>
          <p:cNvCxnSpPr>
            <a:cxnSpLocks/>
          </p:cNvCxnSpPr>
          <p:nvPr/>
        </p:nvCxnSpPr>
        <p:spPr>
          <a:xfrm>
            <a:off x="4068492" y="14131898"/>
            <a:ext cx="6887029" cy="0"/>
          </a:xfrm>
          <a:prstGeom prst="straightConnector1">
            <a:avLst/>
          </a:prstGeom>
          <a:noFill/>
          <a:ln w="9525" cap="flat" cmpd="sng">
            <a:solidFill>
              <a:srgbClr val="44546A"/>
            </a:solidFill>
            <a:prstDash val="solid"/>
            <a:round/>
            <a:headEnd type="none" w="med" len="med"/>
            <a:tailEnd type="triangle" w="med" len="med"/>
          </a:ln>
        </p:spPr>
      </p:cxnSp>
      <p:cxnSp>
        <p:nvCxnSpPr>
          <p:cNvPr id="277" name="Google Shape;193;p13">
            <a:extLst>
              <a:ext uri="{FF2B5EF4-FFF2-40B4-BE49-F238E27FC236}">
                <a16:creationId xmlns:a16="http://schemas.microsoft.com/office/drawing/2014/main" id="{58BD5A70-D86C-3379-1B72-7FCCA5AD3C8C}"/>
              </a:ext>
            </a:extLst>
          </p:cNvPr>
          <p:cNvCxnSpPr>
            <a:cxnSpLocks/>
            <a:stCxn id="249" idx="3"/>
            <a:endCxn id="252" idx="1"/>
          </p:cNvCxnSpPr>
          <p:nvPr/>
        </p:nvCxnSpPr>
        <p:spPr>
          <a:xfrm flipV="1">
            <a:off x="10619574" y="13477428"/>
            <a:ext cx="198787" cy="0"/>
          </a:xfrm>
          <a:prstGeom prst="straightConnector1">
            <a:avLst/>
          </a:prstGeom>
          <a:noFill/>
          <a:ln w="9525" cap="flat" cmpd="sng">
            <a:solidFill>
              <a:srgbClr val="44546A"/>
            </a:solidFill>
            <a:prstDash val="solid"/>
            <a:round/>
            <a:headEnd type="none" w="med" len="med"/>
            <a:tailEnd type="triangle" w="med" len="med"/>
          </a:ln>
        </p:spPr>
      </p:cxnSp>
      <p:cxnSp>
        <p:nvCxnSpPr>
          <p:cNvPr id="278" name="Google Shape;194;p13">
            <a:extLst>
              <a:ext uri="{FF2B5EF4-FFF2-40B4-BE49-F238E27FC236}">
                <a16:creationId xmlns:a16="http://schemas.microsoft.com/office/drawing/2014/main" id="{E2277CBE-1FFE-DAF3-2AF2-5E2F5D2BDDA1}"/>
              </a:ext>
            </a:extLst>
          </p:cNvPr>
          <p:cNvCxnSpPr>
            <a:cxnSpLocks/>
            <a:stCxn id="250" idx="3"/>
          </p:cNvCxnSpPr>
          <p:nvPr/>
        </p:nvCxnSpPr>
        <p:spPr>
          <a:xfrm flipV="1">
            <a:off x="10619572" y="13836576"/>
            <a:ext cx="335949" cy="1063"/>
          </a:xfrm>
          <a:prstGeom prst="straightConnector1">
            <a:avLst/>
          </a:prstGeom>
          <a:noFill/>
          <a:ln w="9525" cap="flat" cmpd="sng">
            <a:solidFill>
              <a:srgbClr val="44546A"/>
            </a:solidFill>
            <a:prstDash val="solid"/>
            <a:round/>
            <a:headEnd type="none" w="med" len="med"/>
            <a:tailEnd type="triangle" w="med" len="med"/>
          </a:ln>
        </p:spPr>
      </p:cxnSp>
      <p:cxnSp>
        <p:nvCxnSpPr>
          <p:cNvPr id="279" name="Google Shape;195;p13">
            <a:extLst>
              <a:ext uri="{FF2B5EF4-FFF2-40B4-BE49-F238E27FC236}">
                <a16:creationId xmlns:a16="http://schemas.microsoft.com/office/drawing/2014/main" id="{1A1E6AED-A689-8467-D015-C73272A4A050}"/>
              </a:ext>
            </a:extLst>
          </p:cNvPr>
          <p:cNvCxnSpPr>
            <a:cxnSpLocks/>
            <a:stCxn id="246" idx="3"/>
            <a:endCxn id="248" idx="1"/>
          </p:cNvCxnSpPr>
          <p:nvPr/>
        </p:nvCxnSpPr>
        <p:spPr>
          <a:xfrm flipV="1">
            <a:off x="1196421" y="13560008"/>
            <a:ext cx="464757" cy="298558"/>
          </a:xfrm>
          <a:prstGeom prst="straightConnector1">
            <a:avLst/>
          </a:prstGeom>
          <a:noFill/>
          <a:ln w="9525" cap="flat" cmpd="sng">
            <a:solidFill>
              <a:srgbClr val="44546A"/>
            </a:solidFill>
            <a:prstDash val="solid"/>
            <a:round/>
            <a:headEnd type="none" w="med" len="med"/>
            <a:tailEnd type="triangle" w="med" len="med"/>
          </a:ln>
        </p:spPr>
      </p:cxnSp>
      <p:cxnSp>
        <p:nvCxnSpPr>
          <p:cNvPr id="280" name="Google Shape;196;p13">
            <a:extLst>
              <a:ext uri="{FF2B5EF4-FFF2-40B4-BE49-F238E27FC236}">
                <a16:creationId xmlns:a16="http://schemas.microsoft.com/office/drawing/2014/main" id="{DB9AE338-AEE3-AAD6-A3C2-D057C5D70EEE}"/>
              </a:ext>
            </a:extLst>
          </p:cNvPr>
          <p:cNvCxnSpPr>
            <a:cxnSpLocks/>
            <a:stCxn id="246" idx="3"/>
            <a:endCxn id="247" idx="1"/>
          </p:cNvCxnSpPr>
          <p:nvPr/>
        </p:nvCxnSpPr>
        <p:spPr>
          <a:xfrm>
            <a:off x="1196421" y="13858566"/>
            <a:ext cx="459366" cy="207613"/>
          </a:xfrm>
          <a:prstGeom prst="straightConnector1">
            <a:avLst/>
          </a:prstGeom>
          <a:noFill/>
          <a:ln w="9525" cap="flat" cmpd="sng">
            <a:solidFill>
              <a:srgbClr val="44546A"/>
            </a:solidFill>
            <a:prstDash val="solid"/>
            <a:round/>
            <a:headEnd type="none" w="med" len="med"/>
            <a:tailEnd type="triangle" w="med" len="med"/>
          </a:ln>
        </p:spPr>
      </p:cxnSp>
      <p:cxnSp>
        <p:nvCxnSpPr>
          <p:cNvPr id="283" name="Google Shape;221;p13">
            <a:extLst>
              <a:ext uri="{FF2B5EF4-FFF2-40B4-BE49-F238E27FC236}">
                <a16:creationId xmlns:a16="http://schemas.microsoft.com/office/drawing/2014/main" id="{FB1FA40B-24F0-D9EE-80C8-ED327E4069F2}"/>
              </a:ext>
            </a:extLst>
          </p:cNvPr>
          <p:cNvCxnSpPr>
            <a:cxnSpLocks/>
            <a:stCxn id="238" idx="3"/>
            <a:endCxn id="245" idx="1"/>
          </p:cNvCxnSpPr>
          <p:nvPr/>
        </p:nvCxnSpPr>
        <p:spPr>
          <a:xfrm flipV="1">
            <a:off x="10623477" y="13127700"/>
            <a:ext cx="331919" cy="0"/>
          </a:xfrm>
          <a:prstGeom prst="straightConnector1">
            <a:avLst/>
          </a:prstGeom>
          <a:noFill/>
          <a:ln w="9525" cap="flat" cmpd="sng">
            <a:solidFill>
              <a:schemeClr val="dk2"/>
            </a:solidFill>
            <a:prstDash val="solid"/>
            <a:round/>
            <a:headEnd type="none" w="med" len="med"/>
            <a:tailEnd type="triangle" w="med" len="med"/>
          </a:ln>
        </p:spPr>
      </p:cxnSp>
      <p:cxnSp>
        <p:nvCxnSpPr>
          <p:cNvPr id="284" name="Google Shape;222;p13">
            <a:extLst>
              <a:ext uri="{FF2B5EF4-FFF2-40B4-BE49-F238E27FC236}">
                <a16:creationId xmlns:a16="http://schemas.microsoft.com/office/drawing/2014/main" id="{F1B7AADA-5D39-0A42-2E64-4852B539C68B}"/>
              </a:ext>
            </a:extLst>
          </p:cNvPr>
          <p:cNvCxnSpPr>
            <a:cxnSpLocks/>
            <a:stCxn id="236" idx="3"/>
            <a:endCxn id="239" idx="1"/>
          </p:cNvCxnSpPr>
          <p:nvPr/>
        </p:nvCxnSpPr>
        <p:spPr>
          <a:xfrm flipV="1">
            <a:off x="3734637" y="12073341"/>
            <a:ext cx="804634" cy="238110"/>
          </a:xfrm>
          <a:prstGeom prst="straightConnector1">
            <a:avLst/>
          </a:prstGeom>
          <a:noFill/>
          <a:ln w="9525" cap="flat" cmpd="sng">
            <a:solidFill>
              <a:schemeClr val="dk2"/>
            </a:solidFill>
            <a:prstDash val="solid"/>
            <a:round/>
            <a:headEnd type="none" w="med" len="med"/>
            <a:tailEnd type="triangle" w="med" len="med"/>
          </a:ln>
        </p:spPr>
      </p:cxnSp>
      <p:sp>
        <p:nvSpPr>
          <p:cNvPr id="285" name="Google Shape;84;p13">
            <a:extLst>
              <a:ext uri="{FF2B5EF4-FFF2-40B4-BE49-F238E27FC236}">
                <a16:creationId xmlns:a16="http://schemas.microsoft.com/office/drawing/2014/main" id="{DF0CBBC0-3599-AC47-08DF-D6CC650E91D4}"/>
              </a:ext>
            </a:extLst>
          </p:cNvPr>
          <p:cNvSpPr/>
          <p:nvPr/>
        </p:nvSpPr>
        <p:spPr>
          <a:xfrm>
            <a:off x="3059188" y="4475575"/>
            <a:ext cx="7562648" cy="27690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400" dirty="0">
                <a:solidFill>
                  <a:srgbClr val="C00000"/>
                </a:solidFill>
                <a:latin typeface="Times New Roman" panose="02020603050405020304" pitchFamily="18" charset="0"/>
                <a:ea typeface="Times New Roman"/>
                <a:cs typeface="Times New Roman" panose="02020603050405020304" pitchFamily="18" charset="0"/>
                <a:sym typeface="Times New Roman"/>
              </a:rPr>
              <a:t>For s</a:t>
            </a:r>
            <a:r>
              <a:rPr lang="en" sz="1400" dirty="0">
                <a:solidFill>
                  <a:srgbClr val="C00000"/>
                </a:solidFill>
                <a:latin typeface="Times New Roman" panose="02020603050405020304" pitchFamily="18" charset="0"/>
                <a:ea typeface="Times New Roman"/>
                <a:cs typeface="Times New Roman" panose="02020603050405020304" pitchFamily="18" charset="0"/>
                <a:sym typeface="Times New Roman"/>
              </a:rPr>
              <a:t>kipped e</a:t>
            </a:r>
            <a:r>
              <a:rPr lang="en" sz="1400" b="0" i="0" u="none" strike="noStrike" cap="none" dirty="0">
                <a:solidFill>
                  <a:srgbClr val="C00000"/>
                </a:solidFill>
                <a:latin typeface="Times New Roman" panose="02020603050405020304" pitchFamily="18" charset="0"/>
                <a:ea typeface="Times New Roman"/>
                <a:cs typeface="Times New Roman" panose="02020603050405020304" pitchFamily="18" charset="0"/>
                <a:sym typeface="Times New Roman"/>
              </a:rPr>
              <a:t>xons </a:t>
            </a:r>
            <a:r>
              <a:rPr lang="en-US" sz="1400" dirty="0">
                <a:solidFill>
                  <a:srgbClr val="C00000"/>
                </a:solidFill>
                <a:latin typeface="Times New Roman" panose="02020603050405020304" pitchFamily="18" charset="0"/>
                <a:cs typeface="Times New Roman" panose="02020603050405020304" pitchFamily="18" charset="0"/>
              </a:rPr>
              <a:t>15, 17, 18, 19 in NM_00328.3 </a:t>
            </a:r>
            <a:r>
              <a:rPr lang="en" sz="1400" b="0" i="0" u="none" strike="noStrike" cap="none" dirty="0">
                <a:solidFill>
                  <a:srgbClr val="C00000"/>
                </a:solidFill>
                <a:latin typeface="Times New Roman" panose="02020603050405020304" pitchFamily="18" charset="0"/>
                <a:ea typeface="Times New Roman"/>
                <a:cs typeface="Times New Roman" panose="02020603050405020304" pitchFamily="18" charset="0"/>
                <a:sym typeface="Times New Roman"/>
              </a:rPr>
              <a:t>or cryptic splice sites </a:t>
            </a:r>
            <a:r>
              <a:rPr lang="en-US" sz="1400" dirty="0">
                <a:solidFill>
                  <a:srgbClr val="C00000"/>
                </a:solidFill>
                <a:latin typeface="Times New Roman" panose="02020603050405020304" pitchFamily="18" charset="0"/>
                <a:cs typeface="Times New Roman" panose="02020603050405020304" pitchFamily="18" charset="0"/>
              </a:rPr>
              <a:t>which disrupt reading frame</a:t>
            </a:r>
            <a:endParaRPr sz="2000" dirty="0">
              <a:solidFill>
                <a:srgbClr val="C00000"/>
              </a:solidFill>
              <a:latin typeface="Times New Roman" panose="02020603050405020304" pitchFamily="18" charset="0"/>
              <a:cs typeface="Times New Roman" panose="02020603050405020304" pitchFamily="18" charset="0"/>
            </a:endParaRPr>
          </a:p>
        </p:txBody>
      </p:sp>
      <p:sp>
        <p:nvSpPr>
          <p:cNvPr id="286" name="Google Shape;65;p13">
            <a:extLst>
              <a:ext uri="{FF2B5EF4-FFF2-40B4-BE49-F238E27FC236}">
                <a16:creationId xmlns:a16="http://schemas.microsoft.com/office/drawing/2014/main" id="{2111ED97-8EFC-5A8F-3799-D7932C60F42E}"/>
              </a:ext>
            </a:extLst>
          </p:cNvPr>
          <p:cNvSpPr/>
          <p:nvPr/>
        </p:nvSpPr>
        <p:spPr>
          <a:xfrm>
            <a:off x="10962447" y="5626311"/>
            <a:ext cx="1281000" cy="27432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 sz="1400" b="0" i="0" u="none" strike="noStrike" cap="none">
                <a:solidFill>
                  <a:srgbClr val="C00000"/>
                </a:solidFill>
                <a:latin typeface="Times New Roman" panose="02020603050405020304" pitchFamily="18" charset="0"/>
                <a:ea typeface="Times New Roman"/>
                <a:cs typeface="Times New Roman" panose="02020603050405020304" pitchFamily="18" charset="0"/>
                <a:sym typeface="Times New Roman"/>
              </a:rPr>
              <a:t>N/A</a:t>
            </a:r>
            <a:endParaRPr sz="2000">
              <a:solidFill>
                <a:srgbClr val="C00000"/>
              </a:solidFill>
              <a:latin typeface="Times New Roman" panose="02020603050405020304" pitchFamily="18" charset="0"/>
              <a:cs typeface="Times New Roman" panose="02020603050405020304" pitchFamily="18" charset="0"/>
            </a:endParaRPr>
          </a:p>
        </p:txBody>
      </p:sp>
      <p:sp>
        <p:nvSpPr>
          <p:cNvPr id="287" name="Google Shape;66;p13">
            <a:extLst>
              <a:ext uri="{FF2B5EF4-FFF2-40B4-BE49-F238E27FC236}">
                <a16:creationId xmlns:a16="http://schemas.microsoft.com/office/drawing/2014/main" id="{932AA3D3-8A5E-092E-450A-CF6BD6FEF66F}"/>
              </a:ext>
            </a:extLst>
          </p:cNvPr>
          <p:cNvSpPr/>
          <p:nvPr/>
        </p:nvSpPr>
        <p:spPr>
          <a:xfrm>
            <a:off x="10962447" y="6011805"/>
            <a:ext cx="1281000" cy="27432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 sz="1400" b="0" i="0" u="none" strike="noStrike" cap="none" dirty="0">
                <a:solidFill>
                  <a:srgbClr val="C00000"/>
                </a:solidFill>
                <a:latin typeface="Times New Roman" panose="02020603050405020304" pitchFamily="18" charset="0"/>
                <a:ea typeface="Times New Roman"/>
                <a:cs typeface="Times New Roman" panose="02020603050405020304" pitchFamily="18" charset="0"/>
                <a:sym typeface="Times New Roman"/>
              </a:rPr>
              <a:t>PVS1_Strong</a:t>
            </a:r>
            <a:endParaRPr sz="2000" dirty="0">
              <a:solidFill>
                <a:srgbClr val="C00000"/>
              </a:solidFill>
              <a:latin typeface="Times New Roman" panose="02020603050405020304" pitchFamily="18" charset="0"/>
              <a:cs typeface="Times New Roman" panose="02020603050405020304" pitchFamily="18" charset="0"/>
            </a:endParaRPr>
          </a:p>
        </p:txBody>
      </p:sp>
      <p:sp>
        <p:nvSpPr>
          <p:cNvPr id="288" name="Google Shape;67;p13">
            <a:extLst>
              <a:ext uri="{FF2B5EF4-FFF2-40B4-BE49-F238E27FC236}">
                <a16:creationId xmlns:a16="http://schemas.microsoft.com/office/drawing/2014/main" id="{FA46B962-76C1-F17D-00EC-E2789B3444C7}"/>
              </a:ext>
            </a:extLst>
          </p:cNvPr>
          <p:cNvSpPr/>
          <p:nvPr/>
        </p:nvSpPr>
        <p:spPr>
          <a:xfrm>
            <a:off x="10812612" y="6529488"/>
            <a:ext cx="1417320" cy="37140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 sz="1400" dirty="0">
                <a:solidFill>
                  <a:srgbClr val="C00000"/>
                </a:solidFill>
                <a:latin typeface="Times New Roman" panose="02020603050405020304" pitchFamily="18" charset="0"/>
                <a:ea typeface="Times New Roman"/>
                <a:cs typeface="Times New Roman" panose="02020603050405020304" pitchFamily="18" charset="0"/>
                <a:sym typeface="Times New Roman"/>
              </a:rPr>
              <a:t>PVS1_Moderate</a:t>
            </a:r>
            <a:endParaRPr sz="2000" dirty="0">
              <a:solidFill>
                <a:srgbClr val="C00000"/>
              </a:solidFill>
              <a:latin typeface="Times New Roman" panose="02020603050405020304" pitchFamily="18" charset="0"/>
              <a:cs typeface="Times New Roman" panose="02020603050405020304" pitchFamily="18" charset="0"/>
            </a:endParaRPr>
          </a:p>
        </p:txBody>
      </p:sp>
      <p:cxnSp>
        <p:nvCxnSpPr>
          <p:cNvPr id="289" name="Google Shape;115;p13">
            <a:extLst>
              <a:ext uri="{FF2B5EF4-FFF2-40B4-BE49-F238E27FC236}">
                <a16:creationId xmlns:a16="http://schemas.microsoft.com/office/drawing/2014/main" id="{1E0504E9-908A-7D65-09B1-F6DF99652CB0}"/>
              </a:ext>
            </a:extLst>
          </p:cNvPr>
          <p:cNvCxnSpPr>
            <a:cxnSpLocks/>
            <a:endCxn id="286" idx="1"/>
          </p:cNvCxnSpPr>
          <p:nvPr/>
        </p:nvCxnSpPr>
        <p:spPr>
          <a:xfrm flipV="1">
            <a:off x="10621842" y="5763471"/>
            <a:ext cx="340605" cy="0"/>
          </a:xfrm>
          <a:prstGeom prst="straightConnector1">
            <a:avLst/>
          </a:prstGeom>
          <a:noFill/>
          <a:ln w="9525" cap="flat" cmpd="sng">
            <a:solidFill>
              <a:srgbClr val="595959"/>
            </a:solidFill>
            <a:prstDash val="solid"/>
            <a:round/>
            <a:headEnd type="none" w="med" len="med"/>
            <a:tailEnd type="triangle" w="med" len="med"/>
          </a:ln>
        </p:spPr>
      </p:cxnSp>
      <p:cxnSp>
        <p:nvCxnSpPr>
          <p:cNvPr id="290" name="Google Shape;116;p13">
            <a:extLst>
              <a:ext uri="{FF2B5EF4-FFF2-40B4-BE49-F238E27FC236}">
                <a16:creationId xmlns:a16="http://schemas.microsoft.com/office/drawing/2014/main" id="{EEB4C4AA-1FBE-556B-CFC9-B1E0AD167E5E}"/>
              </a:ext>
            </a:extLst>
          </p:cNvPr>
          <p:cNvCxnSpPr>
            <a:cxnSpLocks/>
            <a:endCxn id="287" idx="1"/>
          </p:cNvCxnSpPr>
          <p:nvPr/>
        </p:nvCxnSpPr>
        <p:spPr>
          <a:xfrm>
            <a:off x="10621841" y="6147113"/>
            <a:ext cx="340606" cy="1852"/>
          </a:xfrm>
          <a:prstGeom prst="straightConnector1">
            <a:avLst/>
          </a:prstGeom>
          <a:noFill/>
          <a:ln w="9525" cap="flat" cmpd="sng">
            <a:solidFill>
              <a:srgbClr val="595959"/>
            </a:solidFill>
            <a:prstDash val="solid"/>
            <a:round/>
            <a:headEnd type="none" w="med" len="med"/>
            <a:tailEnd type="triangle" w="med" len="med"/>
          </a:ln>
        </p:spPr>
      </p:cxnSp>
      <p:cxnSp>
        <p:nvCxnSpPr>
          <p:cNvPr id="291" name="Google Shape;117;p13">
            <a:extLst>
              <a:ext uri="{FF2B5EF4-FFF2-40B4-BE49-F238E27FC236}">
                <a16:creationId xmlns:a16="http://schemas.microsoft.com/office/drawing/2014/main" id="{1FED1717-C736-335F-B8EF-9DEA7E992C81}"/>
              </a:ext>
            </a:extLst>
          </p:cNvPr>
          <p:cNvCxnSpPr>
            <a:cxnSpLocks/>
            <a:endCxn id="288" idx="1"/>
          </p:cNvCxnSpPr>
          <p:nvPr/>
        </p:nvCxnSpPr>
        <p:spPr>
          <a:xfrm flipV="1">
            <a:off x="10621841" y="6715188"/>
            <a:ext cx="190771" cy="2386"/>
          </a:xfrm>
          <a:prstGeom prst="straightConnector1">
            <a:avLst/>
          </a:prstGeom>
          <a:noFill/>
          <a:ln w="9525" cap="flat" cmpd="sng">
            <a:solidFill>
              <a:srgbClr val="595959"/>
            </a:solidFill>
            <a:prstDash val="solid"/>
            <a:round/>
            <a:headEnd type="none" w="med" len="med"/>
            <a:tailEnd type="triangle" w="med" len="med"/>
          </a:ln>
        </p:spPr>
      </p:cxnSp>
      <p:cxnSp>
        <p:nvCxnSpPr>
          <p:cNvPr id="292" name="Google Shape;105;p13">
            <a:extLst>
              <a:ext uri="{FF2B5EF4-FFF2-40B4-BE49-F238E27FC236}">
                <a16:creationId xmlns:a16="http://schemas.microsoft.com/office/drawing/2014/main" id="{B24358C8-AD5F-12C9-8482-8E0F53B52FF2}"/>
              </a:ext>
            </a:extLst>
          </p:cNvPr>
          <p:cNvCxnSpPr>
            <a:cxnSpLocks/>
            <a:endCxn id="285" idx="1"/>
          </p:cNvCxnSpPr>
          <p:nvPr/>
        </p:nvCxnSpPr>
        <p:spPr>
          <a:xfrm>
            <a:off x="2795060" y="4614025"/>
            <a:ext cx="264128" cy="0"/>
          </a:xfrm>
          <a:prstGeom prst="straightConnector1">
            <a:avLst/>
          </a:prstGeom>
          <a:noFill/>
          <a:ln w="9525" cap="flat" cmpd="sng">
            <a:solidFill>
              <a:srgbClr val="44546A"/>
            </a:solidFill>
            <a:prstDash val="solid"/>
            <a:round/>
            <a:headEnd type="none" w="med" len="med"/>
            <a:tailEnd type="triangle" w="med" len="med"/>
          </a:ln>
        </p:spPr>
      </p:cxnSp>
      <p:sp>
        <p:nvSpPr>
          <p:cNvPr id="293" name="Google Shape;92;p13">
            <a:extLst>
              <a:ext uri="{FF2B5EF4-FFF2-40B4-BE49-F238E27FC236}">
                <a16:creationId xmlns:a16="http://schemas.microsoft.com/office/drawing/2014/main" id="{A4A41BEC-468B-5AF2-0303-631628D6AE61}"/>
              </a:ext>
            </a:extLst>
          </p:cNvPr>
          <p:cNvSpPr/>
          <p:nvPr/>
        </p:nvSpPr>
        <p:spPr>
          <a:xfrm>
            <a:off x="10953564" y="4474435"/>
            <a:ext cx="1281000" cy="27690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 sz="1400" b="0" i="0" u="none" strike="noStrike" cap="none">
                <a:solidFill>
                  <a:srgbClr val="C00000"/>
                </a:solidFill>
                <a:latin typeface="Times New Roman" panose="02020603050405020304" pitchFamily="18" charset="0"/>
                <a:ea typeface="Times New Roman"/>
                <a:cs typeface="Times New Roman" panose="02020603050405020304" pitchFamily="18" charset="0"/>
                <a:sym typeface="Times New Roman"/>
              </a:rPr>
              <a:t>PVS1</a:t>
            </a:r>
            <a:endParaRPr sz="2000">
              <a:solidFill>
                <a:srgbClr val="C00000"/>
              </a:solidFill>
              <a:latin typeface="Times New Roman" panose="02020603050405020304" pitchFamily="18" charset="0"/>
              <a:cs typeface="Times New Roman" panose="02020603050405020304" pitchFamily="18" charset="0"/>
            </a:endParaRPr>
          </a:p>
        </p:txBody>
      </p:sp>
      <p:cxnSp>
        <p:nvCxnSpPr>
          <p:cNvPr id="294" name="Google Shape;118;p13">
            <a:extLst>
              <a:ext uri="{FF2B5EF4-FFF2-40B4-BE49-F238E27FC236}">
                <a16:creationId xmlns:a16="http://schemas.microsoft.com/office/drawing/2014/main" id="{896FE1D5-AA1B-1746-EEF7-C031C53F071E}"/>
              </a:ext>
            </a:extLst>
          </p:cNvPr>
          <p:cNvCxnSpPr>
            <a:cxnSpLocks/>
            <a:stCxn id="285" idx="3"/>
            <a:endCxn id="293" idx="1"/>
          </p:cNvCxnSpPr>
          <p:nvPr/>
        </p:nvCxnSpPr>
        <p:spPr>
          <a:xfrm flipV="1">
            <a:off x="10621836" y="4612885"/>
            <a:ext cx="331728" cy="1140"/>
          </a:xfrm>
          <a:prstGeom prst="straightConnector1">
            <a:avLst/>
          </a:prstGeom>
          <a:noFill/>
          <a:ln w="9525" cap="flat" cmpd="sng">
            <a:solidFill>
              <a:srgbClr val="595959"/>
            </a:solidFill>
            <a:prstDash val="solid"/>
            <a:round/>
            <a:headEnd type="none" w="med" len="med"/>
            <a:tailEnd type="triangle" w="med" len="med"/>
          </a:ln>
        </p:spPr>
      </p:cxnSp>
      <p:sp>
        <p:nvSpPr>
          <p:cNvPr id="295" name="Google Shape;84;p13">
            <a:extLst>
              <a:ext uri="{FF2B5EF4-FFF2-40B4-BE49-F238E27FC236}">
                <a16:creationId xmlns:a16="http://schemas.microsoft.com/office/drawing/2014/main" id="{FD1003FF-BB28-2ACE-DAC9-23452534DF0D}"/>
              </a:ext>
            </a:extLst>
          </p:cNvPr>
          <p:cNvSpPr/>
          <p:nvPr/>
        </p:nvSpPr>
        <p:spPr>
          <a:xfrm>
            <a:off x="3059187" y="7960368"/>
            <a:ext cx="7562644" cy="27690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400" dirty="0">
                <a:latin typeface="Times New Roman" panose="02020603050405020304" pitchFamily="18" charset="0"/>
                <a:ea typeface="Times New Roman"/>
                <a:cs typeface="Times New Roman" panose="02020603050405020304" pitchFamily="18" charset="0"/>
                <a:sym typeface="Times New Roman"/>
              </a:rPr>
              <a:t>Deletions of single </a:t>
            </a:r>
            <a:r>
              <a:rPr lang="en" sz="1400" dirty="0">
                <a:latin typeface="Times New Roman" panose="02020603050405020304" pitchFamily="18" charset="0"/>
                <a:ea typeface="Times New Roman"/>
                <a:cs typeface="Times New Roman" panose="02020603050405020304" pitchFamily="18" charset="0"/>
                <a:sym typeface="Times New Roman"/>
              </a:rPr>
              <a:t>e</a:t>
            </a:r>
            <a:r>
              <a:rPr lang="en" sz="1400" b="0" i="0" u="none" strike="noStrike" cap="none" dirty="0">
                <a:solidFill>
                  <a:srgbClr val="000000"/>
                </a:solidFill>
                <a:latin typeface="Times New Roman" panose="02020603050405020304" pitchFamily="18" charset="0"/>
                <a:ea typeface="Times New Roman"/>
                <a:cs typeface="Times New Roman" panose="02020603050405020304" pitchFamily="18" charset="0"/>
                <a:sym typeface="Times New Roman"/>
              </a:rPr>
              <a:t>xons 1, 9, 11, 12, or 14 in NM_</a:t>
            </a:r>
            <a:r>
              <a:rPr lang="en-US" sz="1400" dirty="0">
                <a:solidFill>
                  <a:srgbClr val="009ACC"/>
                </a:solidFill>
                <a:latin typeface="Times New Roman" panose="02020603050405020304" pitchFamily="18" charset="0"/>
                <a:cs typeface="Times New Roman" panose="02020603050405020304" pitchFamily="18" charset="0"/>
              </a:rPr>
              <a:t> 001034853.2</a:t>
            </a:r>
            <a:endParaRPr sz="2000" dirty="0">
              <a:latin typeface="Times New Roman" panose="02020603050405020304" pitchFamily="18" charset="0"/>
              <a:cs typeface="Times New Roman" panose="02020603050405020304" pitchFamily="18" charset="0"/>
            </a:endParaRPr>
          </a:p>
        </p:txBody>
      </p:sp>
      <p:sp>
        <p:nvSpPr>
          <p:cNvPr id="296" name="Google Shape;85;p13">
            <a:extLst>
              <a:ext uri="{FF2B5EF4-FFF2-40B4-BE49-F238E27FC236}">
                <a16:creationId xmlns:a16="http://schemas.microsoft.com/office/drawing/2014/main" id="{45F16225-E38B-B4F2-B7E6-D272D6A7EE1D}"/>
              </a:ext>
            </a:extLst>
          </p:cNvPr>
          <p:cNvSpPr/>
          <p:nvPr/>
        </p:nvSpPr>
        <p:spPr>
          <a:xfrm>
            <a:off x="3061729" y="8979974"/>
            <a:ext cx="7562648" cy="407265"/>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400" dirty="0">
                <a:solidFill>
                  <a:srgbClr val="009ACC"/>
                </a:solidFill>
                <a:latin typeface="Times New Roman" panose="02020603050405020304" pitchFamily="18" charset="0"/>
                <a:cs typeface="Times New Roman" panose="02020603050405020304" pitchFamily="18" charset="0"/>
              </a:rPr>
              <a:t>NM_001034853.2 :c.1705-3398</a:t>
            </a:r>
            <a:r>
              <a:rPr lang="en-US" sz="1400" dirty="0">
                <a:solidFill>
                  <a:srgbClr val="009ACC"/>
                </a:solidFill>
                <a:latin typeface="Times New Roman" panose="02020603050405020304" pitchFamily="18" charset="0"/>
                <a:ea typeface="Times New Roman"/>
                <a:cs typeface="Times New Roman" panose="02020603050405020304" pitchFamily="18" charset="0"/>
                <a:sym typeface="Times New Roman"/>
              </a:rPr>
              <a:t> variants in codons 619-1132, disrupt ORF15 glutamylation, </a:t>
            </a:r>
            <a:r>
              <a:rPr lang="en-US" sz="1400" dirty="0">
                <a:latin typeface="Times New Roman" panose="02020603050405020304" pitchFamily="18" charset="0"/>
                <a:ea typeface="Times New Roman"/>
                <a:cs typeface="Times New Roman" panose="02020603050405020304" pitchFamily="18" charset="0"/>
                <a:sym typeface="Times New Roman"/>
              </a:rPr>
              <a:t>a </a:t>
            </a:r>
            <a:r>
              <a:rPr lang="en-US" sz="1400" dirty="0">
                <a:solidFill>
                  <a:srgbClr val="000000"/>
                </a:solidFill>
                <a:latin typeface="Times New Roman" panose="02020603050405020304" pitchFamily="18" charset="0"/>
                <a:ea typeface="Times New Roman"/>
                <a:cs typeface="Times New Roman" panose="02020603050405020304" pitchFamily="18" charset="0"/>
                <a:sym typeface="Times New Roman"/>
              </a:rPr>
              <a:t> critical function </a:t>
            </a:r>
            <a:r>
              <a:rPr lang="en-US" sz="1400" baseline="30000" dirty="0">
                <a:latin typeface="Times New Roman" panose="02020603050405020304" pitchFamily="18" charset="0"/>
                <a:ea typeface="Times New Roman"/>
                <a:cs typeface="Times New Roman" panose="02020603050405020304" pitchFamily="18" charset="0"/>
                <a:sym typeface="Times New Roman"/>
              </a:rPr>
              <a:t>c</a:t>
            </a:r>
            <a:r>
              <a:rPr lang="en" sz="1400" baseline="30000" dirty="0">
                <a:latin typeface="Times New Roman" panose="02020603050405020304" pitchFamily="18" charset="0"/>
                <a:ea typeface="Times New Roman"/>
                <a:cs typeface="Times New Roman" panose="02020603050405020304" pitchFamily="18" charset="0"/>
                <a:sym typeface="Times New Roman"/>
              </a:rPr>
              <a:t> , </a:t>
            </a:r>
            <a:r>
              <a:rPr lang="en" sz="1400" baseline="30000" dirty="0">
                <a:solidFill>
                  <a:srgbClr val="009ACC"/>
                </a:solidFill>
                <a:latin typeface="Times New Roman" panose="02020603050405020304" pitchFamily="18" charset="0"/>
                <a:ea typeface="Times New Roman"/>
                <a:cs typeface="Times New Roman" panose="02020603050405020304" pitchFamily="18" charset="0"/>
                <a:sym typeface="Times New Roman"/>
              </a:rPr>
              <a:t>g</a:t>
            </a:r>
            <a:endParaRPr lang="en-US" sz="1400" dirty="0">
              <a:solidFill>
                <a:srgbClr val="000000"/>
              </a:solidFill>
              <a:latin typeface="Times New Roman" panose="02020603050405020304" pitchFamily="18" charset="0"/>
              <a:ea typeface="Times New Roman"/>
              <a:cs typeface="Times New Roman" panose="02020603050405020304" pitchFamily="18" charset="0"/>
              <a:sym typeface="Times New Roman"/>
            </a:endParaRPr>
          </a:p>
        </p:txBody>
      </p:sp>
      <p:sp>
        <p:nvSpPr>
          <p:cNvPr id="297" name="Google Shape;86;p13">
            <a:extLst>
              <a:ext uri="{FF2B5EF4-FFF2-40B4-BE49-F238E27FC236}">
                <a16:creationId xmlns:a16="http://schemas.microsoft.com/office/drawing/2014/main" id="{E6CCE50D-898C-BE5A-2E4E-448279F8CC5A}"/>
              </a:ext>
            </a:extLst>
          </p:cNvPr>
          <p:cNvSpPr/>
          <p:nvPr/>
        </p:nvSpPr>
        <p:spPr>
          <a:xfrm>
            <a:off x="3059187" y="8638877"/>
            <a:ext cx="7562648" cy="27690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 sz="1400" b="0" i="0" u="none" strike="noStrike" cap="none">
                <a:solidFill>
                  <a:srgbClr val="000000"/>
                </a:solidFill>
                <a:latin typeface="Times New Roman" panose="02020603050405020304" pitchFamily="18" charset="0"/>
                <a:ea typeface="Times New Roman"/>
                <a:cs typeface="Times New Roman" panose="02020603050405020304" pitchFamily="18" charset="0"/>
                <a:sym typeface="Times New Roman"/>
              </a:rPr>
              <a:t>Exon is absent from </a:t>
            </a:r>
            <a:r>
              <a:rPr lang="en" sz="1400">
                <a:solidFill>
                  <a:srgbClr val="000000"/>
                </a:solidFill>
                <a:latin typeface="Times New Roman" panose="02020603050405020304" pitchFamily="18" charset="0"/>
                <a:ea typeface="Times New Roman"/>
                <a:cs typeface="Times New Roman" panose="02020603050405020304" pitchFamily="18" charset="0"/>
                <a:sym typeface="Times New Roman"/>
              </a:rPr>
              <a:t>biologically-relevant transcript(s)</a:t>
            </a:r>
            <a:endParaRPr sz="1400">
              <a:solidFill>
                <a:srgbClr val="000000"/>
              </a:solidFill>
              <a:latin typeface="Times New Roman" panose="02020603050405020304" pitchFamily="18" charset="0"/>
              <a:ea typeface="Times New Roman"/>
              <a:cs typeface="Times New Roman" panose="02020603050405020304" pitchFamily="18" charset="0"/>
              <a:sym typeface="Times New Roman"/>
            </a:endParaRPr>
          </a:p>
        </p:txBody>
      </p:sp>
      <p:sp>
        <p:nvSpPr>
          <p:cNvPr id="298" name="Google Shape;92;p13">
            <a:extLst>
              <a:ext uri="{FF2B5EF4-FFF2-40B4-BE49-F238E27FC236}">
                <a16:creationId xmlns:a16="http://schemas.microsoft.com/office/drawing/2014/main" id="{034B7C2E-6627-492B-DC1C-89B95B3E2C50}"/>
              </a:ext>
            </a:extLst>
          </p:cNvPr>
          <p:cNvSpPr/>
          <p:nvPr/>
        </p:nvSpPr>
        <p:spPr>
          <a:xfrm>
            <a:off x="10955520" y="7960368"/>
            <a:ext cx="1281000" cy="27690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 sz="1400" b="0" i="0" u="none" strike="noStrike" cap="none" dirty="0">
                <a:solidFill>
                  <a:srgbClr val="000000"/>
                </a:solidFill>
                <a:latin typeface="Times New Roman" panose="02020603050405020304" pitchFamily="18" charset="0"/>
                <a:ea typeface="Times New Roman"/>
                <a:cs typeface="Times New Roman" panose="02020603050405020304" pitchFamily="18" charset="0"/>
                <a:sym typeface="Times New Roman"/>
              </a:rPr>
              <a:t>PVS1</a:t>
            </a:r>
            <a:endParaRPr sz="2000" dirty="0">
              <a:latin typeface="Times New Roman" panose="02020603050405020304" pitchFamily="18" charset="0"/>
              <a:cs typeface="Times New Roman" panose="02020603050405020304" pitchFamily="18" charset="0"/>
            </a:endParaRPr>
          </a:p>
        </p:txBody>
      </p:sp>
      <p:sp>
        <p:nvSpPr>
          <p:cNvPr id="299" name="Google Shape;93;p13">
            <a:extLst>
              <a:ext uri="{FF2B5EF4-FFF2-40B4-BE49-F238E27FC236}">
                <a16:creationId xmlns:a16="http://schemas.microsoft.com/office/drawing/2014/main" id="{A58A14DE-ED39-3030-88DB-DDB73F400F81}"/>
              </a:ext>
            </a:extLst>
          </p:cNvPr>
          <p:cNvSpPr/>
          <p:nvPr/>
        </p:nvSpPr>
        <p:spPr>
          <a:xfrm>
            <a:off x="10955520" y="8645253"/>
            <a:ext cx="1281000" cy="27690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 sz="1400" b="0" i="0" u="none" strike="noStrike" cap="none">
                <a:solidFill>
                  <a:srgbClr val="000000"/>
                </a:solidFill>
                <a:latin typeface="Times New Roman" panose="02020603050405020304" pitchFamily="18" charset="0"/>
                <a:ea typeface="Times New Roman"/>
                <a:cs typeface="Times New Roman" panose="02020603050405020304" pitchFamily="18" charset="0"/>
                <a:sym typeface="Times New Roman"/>
              </a:rPr>
              <a:t>N/A</a:t>
            </a:r>
            <a:endParaRPr sz="2000">
              <a:latin typeface="Times New Roman" panose="02020603050405020304" pitchFamily="18" charset="0"/>
              <a:cs typeface="Times New Roman" panose="02020603050405020304" pitchFamily="18" charset="0"/>
            </a:endParaRPr>
          </a:p>
        </p:txBody>
      </p:sp>
      <p:sp>
        <p:nvSpPr>
          <p:cNvPr id="300" name="Google Shape;94;p13">
            <a:extLst>
              <a:ext uri="{FF2B5EF4-FFF2-40B4-BE49-F238E27FC236}">
                <a16:creationId xmlns:a16="http://schemas.microsoft.com/office/drawing/2014/main" id="{AB23F6C2-01B4-065C-E758-4596E0FF478B}"/>
              </a:ext>
            </a:extLst>
          </p:cNvPr>
          <p:cNvSpPr/>
          <p:nvPr/>
        </p:nvSpPr>
        <p:spPr>
          <a:xfrm>
            <a:off x="10955520" y="9038847"/>
            <a:ext cx="1281000" cy="27690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 sz="1400" b="0" i="0" u="none" strike="noStrike" cap="none" dirty="0">
                <a:solidFill>
                  <a:srgbClr val="000000"/>
                </a:solidFill>
                <a:latin typeface="Times New Roman" panose="02020603050405020304" pitchFamily="18" charset="0"/>
                <a:ea typeface="Times New Roman"/>
                <a:cs typeface="Times New Roman" panose="02020603050405020304" pitchFamily="18" charset="0"/>
                <a:sym typeface="Times New Roman"/>
              </a:rPr>
              <a:t>PVS1</a:t>
            </a:r>
            <a:endParaRPr sz="2000" dirty="0">
              <a:latin typeface="Times New Roman" panose="02020603050405020304" pitchFamily="18" charset="0"/>
              <a:cs typeface="Times New Roman" panose="02020603050405020304" pitchFamily="18" charset="0"/>
            </a:endParaRPr>
          </a:p>
        </p:txBody>
      </p:sp>
      <p:cxnSp>
        <p:nvCxnSpPr>
          <p:cNvPr id="301" name="Google Shape;104;p13">
            <a:extLst>
              <a:ext uri="{FF2B5EF4-FFF2-40B4-BE49-F238E27FC236}">
                <a16:creationId xmlns:a16="http://schemas.microsoft.com/office/drawing/2014/main" id="{A4F8DA99-CD02-B6FD-6AE2-B9F445FD8625}"/>
              </a:ext>
            </a:extLst>
          </p:cNvPr>
          <p:cNvCxnSpPr>
            <a:cxnSpLocks/>
            <a:endCxn id="295" idx="1"/>
          </p:cNvCxnSpPr>
          <p:nvPr/>
        </p:nvCxnSpPr>
        <p:spPr>
          <a:xfrm flipV="1">
            <a:off x="2795059" y="8098818"/>
            <a:ext cx="264128" cy="339318"/>
          </a:xfrm>
          <a:prstGeom prst="straightConnector1">
            <a:avLst/>
          </a:prstGeom>
          <a:noFill/>
          <a:ln w="9525" cap="flat" cmpd="sng">
            <a:solidFill>
              <a:srgbClr val="44546A"/>
            </a:solidFill>
            <a:prstDash val="solid"/>
            <a:round/>
            <a:headEnd type="none" w="med" len="med"/>
            <a:tailEnd type="triangle" w="med" len="med"/>
          </a:ln>
        </p:spPr>
      </p:cxnSp>
      <p:cxnSp>
        <p:nvCxnSpPr>
          <p:cNvPr id="302" name="Google Shape;105;p13">
            <a:extLst>
              <a:ext uri="{FF2B5EF4-FFF2-40B4-BE49-F238E27FC236}">
                <a16:creationId xmlns:a16="http://schemas.microsoft.com/office/drawing/2014/main" id="{83835A74-2ADC-CD8A-59F0-4DF52C484BE2}"/>
              </a:ext>
            </a:extLst>
          </p:cNvPr>
          <p:cNvCxnSpPr>
            <a:cxnSpLocks/>
            <a:endCxn id="297" idx="1"/>
          </p:cNvCxnSpPr>
          <p:nvPr/>
        </p:nvCxnSpPr>
        <p:spPr>
          <a:xfrm>
            <a:off x="2795059" y="8438136"/>
            <a:ext cx="264128" cy="339191"/>
          </a:xfrm>
          <a:prstGeom prst="straightConnector1">
            <a:avLst/>
          </a:prstGeom>
          <a:noFill/>
          <a:ln w="9525" cap="flat" cmpd="sng">
            <a:solidFill>
              <a:srgbClr val="44546A"/>
            </a:solidFill>
            <a:prstDash val="solid"/>
            <a:round/>
            <a:headEnd type="none" w="med" len="med"/>
            <a:tailEnd type="triangle" w="med" len="med"/>
          </a:ln>
        </p:spPr>
      </p:cxnSp>
      <p:cxnSp>
        <p:nvCxnSpPr>
          <p:cNvPr id="303" name="Google Shape;118;p13">
            <a:extLst>
              <a:ext uri="{FF2B5EF4-FFF2-40B4-BE49-F238E27FC236}">
                <a16:creationId xmlns:a16="http://schemas.microsoft.com/office/drawing/2014/main" id="{41613370-2C69-E887-24F8-EDE2E2B7A167}"/>
              </a:ext>
            </a:extLst>
          </p:cNvPr>
          <p:cNvCxnSpPr>
            <a:cxnSpLocks/>
            <a:stCxn id="295" idx="3"/>
            <a:endCxn id="298" idx="1"/>
          </p:cNvCxnSpPr>
          <p:nvPr/>
        </p:nvCxnSpPr>
        <p:spPr>
          <a:xfrm>
            <a:off x="10621831" y="8098818"/>
            <a:ext cx="333689" cy="0"/>
          </a:xfrm>
          <a:prstGeom prst="straightConnector1">
            <a:avLst/>
          </a:prstGeom>
          <a:noFill/>
          <a:ln w="9525" cap="flat" cmpd="sng">
            <a:solidFill>
              <a:srgbClr val="595959"/>
            </a:solidFill>
            <a:prstDash val="solid"/>
            <a:round/>
            <a:headEnd type="none" w="med" len="med"/>
            <a:tailEnd type="triangle" w="med" len="med"/>
          </a:ln>
        </p:spPr>
      </p:cxnSp>
      <p:cxnSp>
        <p:nvCxnSpPr>
          <p:cNvPr id="304" name="Google Shape;119;p13">
            <a:extLst>
              <a:ext uri="{FF2B5EF4-FFF2-40B4-BE49-F238E27FC236}">
                <a16:creationId xmlns:a16="http://schemas.microsoft.com/office/drawing/2014/main" id="{A9972E53-C373-E267-45FE-1FAD7B968332}"/>
              </a:ext>
            </a:extLst>
          </p:cNvPr>
          <p:cNvCxnSpPr>
            <a:cxnSpLocks/>
            <a:stCxn id="297" idx="3"/>
            <a:endCxn id="299" idx="1"/>
          </p:cNvCxnSpPr>
          <p:nvPr/>
        </p:nvCxnSpPr>
        <p:spPr>
          <a:xfrm>
            <a:off x="10621835" y="8777327"/>
            <a:ext cx="333685" cy="6376"/>
          </a:xfrm>
          <a:prstGeom prst="straightConnector1">
            <a:avLst/>
          </a:prstGeom>
          <a:noFill/>
          <a:ln w="9525" cap="flat" cmpd="sng">
            <a:solidFill>
              <a:srgbClr val="595959"/>
            </a:solidFill>
            <a:prstDash val="solid"/>
            <a:round/>
            <a:headEnd type="none" w="med" len="med"/>
            <a:tailEnd type="triangle" w="med" len="med"/>
          </a:ln>
        </p:spPr>
      </p:cxnSp>
      <p:cxnSp>
        <p:nvCxnSpPr>
          <p:cNvPr id="305" name="Google Shape;120;p13">
            <a:extLst>
              <a:ext uri="{FF2B5EF4-FFF2-40B4-BE49-F238E27FC236}">
                <a16:creationId xmlns:a16="http://schemas.microsoft.com/office/drawing/2014/main" id="{A093D3E6-1351-E737-13A6-61963B513C14}"/>
              </a:ext>
            </a:extLst>
          </p:cNvPr>
          <p:cNvCxnSpPr>
            <a:cxnSpLocks/>
            <a:stCxn id="296" idx="3"/>
            <a:endCxn id="300" idx="1"/>
          </p:cNvCxnSpPr>
          <p:nvPr/>
        </p:nvCxnSpPr>
        <p:spPr>
          <a:xfrm flipV="1">
            <a:off x="10624377" y="9177297"/>
            <a:ext cx="331143" cy="6310"/>
          </a:xfrm>
          <a:prstGeom prst="straightConnector1">
            <a:avLst/>
          </a:prstGeom>
          <a:noFill/>
          <a:ln w="9525" cap="flat" cmpd="sng">
            <a:solidFill>
              <a:srgbClr val="595959"/>
            </a:solidFill>
            <a:prstDash val="solid"/>
            <a:round/>
            <a:headEnd type="none" w="med" len="med"/>
            <a:tailEnd type="triangle" w="med" len="med"/>
          </a:ln>
        </p:spPr>
      </p:cxnSp>
      <p:sp>
        <p:nvSpPr>
          <p:cNvPr id="306" name="Google Shape;84;p13">
            <a:extLst>
              <a:ext uri="{FF2B5EF4-FFF2-40B4-BE49-F238E27FC236}">
                <a16:creationId xmlns:a16="http://schemas.microsoft.com/office/drawing/2014/main" id="{842D94EA-27FC-6745-D33C-612DCD137DB0}"/>
              </a:ext>
            </a:extLst>
          </p:cNvPr>
          <p:cNvSpPr/>
          <p:nvPr/>
        </p:nvSpPr>
        <p:spPr>
          <a:xfrm>
            <a:off x="3059187" y="8300826"/>
            <a:ext cx="7562648" cy="27690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400" dirty="0">
                <a:latin typeface="Times New Roman" panose="02020603050405020304" pitchFamily="18" charset="0"/>
                <a:ea typeface="Times New Roman"/>
                <a:cs typeface="Times New Roman" panose="02020603050405020304" pitchFamily="18" charset="0"/>
                <a:sym typeface="Times New Roman"/>
              </a:rPr>
              <a:t>Deletions of single </a:t>
            </a:r>
            <a:r>
              <a:rPr lang="en" sz="1400" dirty="0">
                <a:latin typeface="Times New Roman" panose="02020603050405020304" pitchFamily="18" charset="0"/>
                <a:ea typeface="Times New Roman"/>
                <a:cs typeface="Times New Roman" panose="02020603050405020304" pitchFamily="18" charset="0"/>
                <a:sym typeface="Times New Roman"/>
              </a:rPr>
              <a:t>e</a:t>
            </a:r>
            <a:r>
              <a:rPr lang="en" sz="1400" b="0" i="0" u="none" strike="noStrike" cap="none" dirty="0">
                <a:solidFill>
                  <a:srgbClr val="000000"/>
                </a:solidFill>
                <a:latin typeface="Times New Roman" panose="02020603050405020304" pitchFamily="18" charset="0"/>
                <a:ea typeface="Times New Roman"/>
                <a:cs typeface="Times New Roman" panose="02020603050405020304" pitchFamily="18" charset="0"/>
                <a:sym typeface="Times New Roman"/>
              </a:rPr>
              <a:t>xons </a:t>
            </a:r>
            <a:r>
              <a:rPr lang="en-US" sz="1400" dirty="0">
                <a:solidFill>
                  <a:srgbClr val="009ACC"/>
                </a:solidFill>
                <a:latin typeface="Times New Roman" panose="02020603050405020304" pitchFamily="18" charset="0"/>
                <a:cs typeface="Times New Roman" panose="02020603050405020304" pitchFamily="18" charset="0"/>
              </a:rPr>
              <a:t>15, 17, 18 in NM_00328.3</a:t>
            </a:r>
            <a:endParaRPr sz="2000" dirty="0">
              <a:latin typeface="Times New Roman" panose="02020603050405020304" pitchFamily="18" charset="0"/>
              <a:cs typeface="Times New Roman" panose="02020603050405020304" pitchFamily="18" charset="0"/>
            </a:endParaRPr>
          </a:p>
        </p:txBody>
      </p:sp>
      <p:cxnSp>
        <p:nvCxnSpPr>
          <p:cNvPr id="307" name="Google Shape;105;p13">
            <a:extLst>
              <a:ext uri="{FF2B5EF4-FFF2-40B4-BE49-F238E27FC236}">
                <a16:creationId xmlns:a16="http://schemas.microsoft.com/office/drawing/2014/main" id="{8676290A-E0CE-621E-363A-D30EF9BE584C}"/>
              </a:ext>
            </a:extLst>
          </p:cNvPr>
          <p:cNvCxnSpPr>
            <a:cxnSpLocks/>
            <a:endCxn id="306" idx="1"/>
          </p:cNvCxnSpPr>
          <p:nvPr/>
        </p:nvCxnSpPr>
        <p:spPr>
          <a:xfrm>
            <a:off x="2795059" y="8439276"/>
            <a:ext cx="264128" cy="0"/>
          </a:xfrm>
          <a:prstGeom prst="straightConnector1">
            <a:avLst/>
          </a:prstGeom>
          <a:noFill/>
          <a:ln w="9525" cap="flat" cmpd="sng">
            <a:solidFill>
              <a:srgbClr val="44546A"/>
            </a:solidFill>
            <a:prstDash val="solid"/>
            <a:round/>
            <a:headEnd type="none" w="med" len="med"/>
            <a:tailEnd type="triangle" w="med" len="med"/>
          </a:ln>
        </p:spPr>
      </p:cxnSp>
      <p:sp>
        <p:nvSpPr>
          <p:cNvPr id="308" name="Google Shape;92;p13">
            <a:extLst>
              <a:ext uri="{FF2B5EF4-FFF2-40B4-BE49-F238E27FC236}">
                <a16:creationId xmlns:a16="http://schemas.microsoft.com/office/drawing/2014/main" id="{E7A126C5-BDF3-C15C-1132-D617FF45F748}"/>
              </a:ext>
            </a:extLst>
          </p:cNvPr>
          <p:cNvSpPr/>
          <p:nvPr/>
        </p:nvSpPr>
        <p:spPr>
          <a:xfrm>
            <a:off x="10953563" y="8299686"/>
            <a:ext cx="1281000" cy="27690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 sz="1400" b="0" i="0" u="none" strike="noStrike" cap="none" dirty="0">
                <a:solidFill>
                  <a:srgbClr val="000000"/>
                </a:solidFill>
                <a:latin typeface="Times New Roman" panose="02020603050405020304" pitchFamily="18" charset="0"/>
                <a:ea typeface="Times New Roman"/>
                <a:cs typeface="Times New Roman" panose="02020603050405020304" pitchFamily="18" charset="0"/>
                <a:sym typeface="Times New Roman"/>
              </a:rPr>
              <a:t>PVS1</a:t>
            </a:r>
            <a:endParaRPr sz="2000" dirty="0">
              <a:latin typeface="Times New Roman" panose="02020603050405020304" pitchFamily="18" charset="0"/>
              <a:cs typeface="Times New Roman" panose="02020603050405020304" pitchFamily="18" charset="0"/>
            </a:endParaRPr>
          </a:p>
        </p:txBody>
      </p:sp>
      <p:cxnSp>
        <p:nvCxnSpPr>
          <p:cNvPr id="309" name="Google Shape;118;p13">
            <a:extLst>
              <a:ext uri="{FF2B5EF4-FFF2-40B4-BE49-F238E27FC236}">
                <a16:creationId xmlns:a16="http://schemas.microsoft.com/office/drawing/2014/main" id="{B42B685E-BC2D-3490-4719-5BAE3C566F8C}"/>
              </a:ext>
            </a:extLst>
          </p:cNvPr>
          <p:cNvCxnSpPr>
            <a:cxnSpLocks/>
            <a:stCxn id="306" idx="3"/>
            <a:endCxn id="308" idx="1"/>
          </p:cNvCxnSpPr>
          <p:nvPr/>
        </p:nvCxnSpPr>
        <p:spPr>
          <a:xfrm flipV="1">
            <a:off x="10621835" y="8438136"/>
            <a:ext cx="331728" cy="1140"/>
          </a:xfrm>
          <a:prstGeom prst="straightConnector1">
            <a:avLst/>
          </a:prstGeom>
          <a:noFill/>
          <a:ln w="9525" cap="flat" cmpd="sng">
            <a:solidFill>
              <a:srgbClr val="595959"/>
            </a:solidFill>
            <a:prstDash val="solid"/>
            <a:round/>
            <a:headEnd type="none" w="med" len="med"/>
            <a:tailEnd type="triangle" w="med" len="med"/>
          </a:ln>
        </p:spPr>
      </p:cxnSp>
      <p:sp>
        <p:nvSpPr>
          <p:cNvPr id="316" name="Google Shape;62;p13">
            <a:extLst>
              <a:ext uri="{FF2B5EF4-FFF2-40B4-BE49-F238E27FC236}">
                <a16:creationId xmlns:a16="http://schemas.microsoft.com/office/drawing/2014/main" id="{724DA935-6F04-5839-3B1B-94B62A42C6DD}"/>
              </a:ext>
            </a:extLst>
          </p:cNvPr>
          <p:cNvSpPr/>
          <p:nvPr/>
        </p:nvSpPr>
        <p:spPr>
          <a:xfrm>
            <a:off x="3059247" y="5518844"/>
            <a:ext cx="2414779" cy="1310402"/>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algn="ctr"/>
            <a:r>
              <a:rPr lang="en" sz="1400" dirty="0">
                <a:solidFill>
                  <a:srgbClr val="C00000"/>
                </a:solidFill>
                <a:latin typeface="Times New Roman" panose="02020603050405020304" pitchFamily="18" charset="0"/>
                <a:ea typeface="Times New Roman"/>
                <a:cs typeface="Times New Roman" panose="02020603050405020304" pitchFamily="18" charset="0"/>
                <a:sym typeface="Times New Roman"/>
              </a:rPr>
              <a:t>Role of region in protein function is unknown. </a:t>
            </a:r>
          </a:p>
          <a:p>
            <a:pPr marL="0" marR="0" lvl="0" indent="0" algn="ctr" rtl="0">
              <a:spcBef>
                <a:spcPts val="0"/>
              </a:spcBef>
              <a:spcAft>
                <a:spcPts val="0"/>
              </a:spcAft>
              <a:buNone/>
            </a:pPr>
            <a:r>
              <a:rPr lang="en" sz="1400" dirty="0">
                <a:solidFill>
                  <a:srgbClr val="C00000"/>
                </a:solidFill>
                <a:latin typeface="Times New Roman" panose="02020603050405020304" pitchFamily="18" charset="0"/>
                <a:ea typeface="Times New Roman"/>
                <a:cs typeface="Times New Roman" panose="02020603050405020304" pitchFamily="18" charset="0"/>
                <a:sym typeface="Times New Roman"/>
              </a:rPr>
              <a:t>Applies to </a:t>
            </a:r>
            <a:r>
              <a:rPr lang="en-US" sz="1400" dirty="0">
                <a:solidFill>
                  <a:srgbClr val="C00000"/>
                </a:solidFill>
                <a:latin typeface="Times New Roman" panose="02020603050405020304" pitchFamily="18" charset="0"/>
                <a:cs typeface="Times New Roman" panose="02020603050405020304" pitchFamily="18" charset="0"/>
              </a:rPr>
              <a:t>NM_001034853.2</a:t>
            </a:r>
            <a:r>
              <a:rPr lang="en" sz="1400" dirty="0">
                <a:solidFill>
                  <a:srgbClr val="C00000"/>
                </a:solidFill>
                <a:latin typeface="Times New Roman" panose="02020603050405020304" pitchFamily="18" charset="0"/>
                <a:ea typeface="Times New Roman"/>
                <a:cs typeface="Times New Roman" panose="02020603050405020304" pitchFamily="18" charset="0"/>
                <a:sym typeface="Times New Roman"/>
              </a:rPr>
              <a:t> codons 1132-1152, or 3’ UTR,</a:t>
            </a:r>
          </a:p>
          <a:p>
            <a:pPr marL="0" marR="0" lvl="0" indent="0" algn="ctr" rtl="0">
              <a:spcBef>
                <a:spcPts val="0"/>
              </a:spcBef>
              <a:spcAft>
                <a:spcPts val="0"/>
              </a:spcAft>
              <a:buNone/>
            </a:pPr>
            <a:r>
              <a:rPr lang="en" sz="1400" dirty="0">
                <a:solidFill>
                  <a:srgbClr val="C00000"/>
                </a:solidFill>
                <a:latin typeface="Times New Roman" panose="02020603050405020304" pitchFamily="18" charset="0"/>
                <a:ea typeface="Times New Roman"/>
                <a:cs typeface="Times New Roman" panose="02020603050405020304" pitchFamily="18" charset="0"/>
                <a:sym typeface="Times New Roman"/>
              </a:rPr>
              <a:t>NM_00328.3 codons 584-969, or 3’ </a:t>
            </a:r>
            <a:r>
              <a:rPr lang="en" sz="1400" dirty="0" err="1">
                <a:solidFill>
                  <a:srgbClr val="C00000"/>
                </a:solidFill>
                <a:latin typeface="Times New Roman" panose="02020603050405020304" pitchFamily="18" charset="0"/>
                <a:ea typeface="Times New Roman"/>
                <a:cs typeface="Times New Roman" panose="02020603050405020304" pitchFamily="18" charset="0"/>
                <a:sym typeface="Times New Roman"/>
              </a:rPr>
              <a:t>UTR</a:t>
            </a:r>
            <a:r>
              <a:rPr lang="en" sz="1400" baseline="30000" dirty="0" err="1">
                <a:solidFill>
                  <a:srgbClr val="C00000"/>
                </a:solidFill>
                <a:latin typeface="Times New Roman" panose="02020603050405020304" pitchFamily="18" charset="0"/>
                <a:ea typeface="Times New Roman"/>
                <a:cs typeface="Times New Roman" panose="02020603050405020304" pitchFamily="18" charset="0"/>
                <a:sym typeface="Times New Roman"/>
              </a:rPr>
              <a:t>h</a:t>
            </a:r>
            <a:r>
              <a:rPr lang="en" sz="1400" dirty="0">
                <a:solidFill>
                  <a:srgbClr val="C00000"/>
                </a:solidFill>
                <a:latin typeface="Times New Roman" panose="02020603050405020304" pitchFamily="18" charset="0"/>
                <a:ea typeface="Times New Roman"/>
                <a:cs typeface="Times New Roman" panose="02020603050405020304" pitchFamily="18" charset="0"/>
                <a:sym typeface="Times New Roman"/>
              </a:rPr>
              <a:t>.</a:t>
            </a:r>
            <a:endParaRPr sz="1400" dirty="0">
              <a:solidFill>
                <a:srgbClr val="C00000"/>
              </a:solidFill>
              <a:latin typeface="Times New Roman" panose="02020603050405020304" pitchFamily="18" charset="0"/>
              <a:cs typeface="Times New Roman" panose="02020603050405020304" pitchFamily="18" charset="0"/>
            </a:endParaRPr>
          </a:p>
        </p:txBody>
      </p:sp>
      <p:sp>
        <p:nvSpPr>
          <p:cNvPr id="317" name="Google Shape;63;p13">
            <a:extLst>
              <a:ext uri="{FF2B5EF4-FFF2-40B4-BE49-F238E27FC236}">
                <a16:creationId xmlns:a16="http://schemas.microsoft.com/office/drawing/2014/main" id="{2BE71C63-44F4-BDEA-ACB8-E9472A924D0A}"/>
              </a:ext>
            </a:extLst>
          </p:cNvPr>
          <p:cNvSpPr/>
          <p:nvPr/>
        </p:nvSpPr>
        <p:spPr>
          <a:xfrm>
            <a:off x="5926936" y="5520444"/>
            <a:ext cx="4696541" cy="377284"/>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 sz="1400" dirty="0" err="1">
                <a:solidFill>
                  <a:srgbClr val="C00000"/>
                </a:solidFill>
                <a:latin typeface="Times New Roman" panose="02020603050405020304" pitchFamily="18" charset="0"/>
                <a:ea typeface="Times New Roman"/>
                <a:cs typeface="Times New Roman" panose="02020603050405020304" pitchFamily="18" charset="0"/>
                <a:sym typeface="Times New Roman"/>
              </a:rPr>
              <a:t>LoF</a:t>
            </a:r>
            <a:r>
              <a:rPr lang="en" sz="1400" dirty="0">
                <a:solidFill>
                  <a:srgbClr val="C00000"/>
                </a:solidFill>
                <a:latin typeface="Times New Roman" panose="02020603050405020304" pitchFamily="18" charset="0"/>
                <a:ea typeface="Times New Roman"/>
                <a:cs typeface="Times New Roman" panose="02020603050405020304" pitchFamily="18" charset="0"/>
                <a:sym typeface="Times New Roman"/>
              </a:rPr>
              <a:t> variants in this exon are frequent in the general population and/or exon is absent from biologically-relevant transcript(s)</a:t>
            </a:r>
            <a:endParaRPr sz="2000" dirty="0">
              <a:solidFill>
                <a:srgbClr val="C00000"/>
              </a:solidFill>
              <a:latin typeface="Times New Roman" panose="02020603050405020304" pitchFamily="18" charset="0"/>
              <a:cs typeface="Times New Roman" panose="02020603050405020304" pitchFamily="18" charset="0"/>
            </a:endParaRPr>
          </a:p>
        </p:txBody>
      </p:sp>
      <p:sp>
        <p:nvSpPr>
          <p:cNvPr id="318" name="Google Shape;68;p13">
            <a:extLst>
              <a:ext uri="{FF2B5EF4-FFF2-40B4-BE49-F238E27FC236}">
                <a16:creationId xmlns:a16="http://schemas.microsoft.com/office/drawing/2014/main" id="{7AC647F2-5316-5562-57CA-ECF634B98D67}"/>
              </a:ext>
            </a:extLst>
          </p:cNvPr>
          <p:cNvSpPr/>
          <p:nvPr/>
        </p:nvSpPr>
        <p:spPr>
          <a:xfrm>
            <a:off x="5926935" y="5966041"/>
            <a:ext cx="2253029" cy="1131253"/>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lvl="0" indent="0" algn="ctr" rtl="0">
              <a:spcBef>
                <a:spcPts val="0"/>
              </a:spcBef>
              <a:spcAft>
                <a:spcPts val="0"/>
              </a:spcAft>
              <a:buNone/>
            </a:pPr>
            <a:r>
              <a:rPr lang="en" sz="1400" dirty="0" err="1">
                <a:solidFill>
                  <a:srgbClr val="C00000"/>
                </a:solidFill>
                <a:latin typeface="Times New Roman" panose="02020603050405020304" pitchFamily="18" charset="0"/>
                <a:ea typeface="Times New Roman"/>
                <a:cs typeface="Times New Roman" panose="02020603050405020304" pitchFamily="18" charset="0"/>
                <a:sym typeface="Times New Roman"/>
              </a:rPr>
              <a:t>LoF</a:t>
            </a:r>
            <a:r>
              <a:rPr lang="en" sz="1400" dirty="0">
                <a:solidFill>
                  <a:srgbClr val="C00000"/>
                </a:solidFill>
                <a:latin typeface="Times New Roman" panose="02020603050405020304" pitchFamily="18" charset="0"/>
                <a:ea typeface="Times New Roman"/>
                <a:cs typeface="Times New Roman" panose="02020603050405020304" pitchFamily="18" charset="0"/>
                <a:sym typeface="Times New Roman"/>
              </a:rPr>
              <a:t> variants in this exon are not frequent in the general population and exon is present in biologically-relevant transcript(s)</a:t>
            </a:r>
            <a:endParaRPr sz="1400" dirty="0">
              <a:solidFill>
                <a:srgbClr val="C00000"/>
              </a:solidFill>
              <a:latin typeface="Times New Roman" panose="02020603050405020304" pitchFamily="18" charset="0"/>
              <a:ea typeface="Times New Roman"/>
              <a:cs typeface="Times New Roman" panose="02020603050405020304" pitchFamily="18" charset="0"/>
              <a:sym typeface="Times New Roman"/>
            </a:endParaRPr>
          </a:p>
        </p:txBody>
      </p:sp>
      <p:sp>
        <p:nvSpPr>
          <p:cNvPr id="319" name="Google Shape;69;p13">
            <a:extLst>
              <a:ext uri="{FF2B5EF4-FFF2-40B4-BE49-F238E27FC236}">
                <a16:creationId xmlns:a16="http://schemas.microsoft.com/office/drawing/2014/main" id="{8A99A362-A743-4406-BAF3-BC9DFB3D350D}"/>
              </a:ext>
            </a:extLst>
          </p:cNvPr>
          <p:cNvSpPr/>
          <p:nvPr/>
        </p:nvSpPr>
        <p:spPr>
          <a:xfrm>
            <a:off x="8632873" y="5965735"/>
            <a:ext cx="1991505" cy="387594"/>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 sz="1400" dirty="0">
                <a:solidFill>
                  <a:srgbClr val="C00000"/>
                </a:solidFill>
                <a:latin typeface="Times New Roman" panose="02020603050405020304" pitchFamily="18" charset="0"/>
                <a:ea typeface="Times New Roman"/>
                <a:cs typeface="Times New Roman" panose="02020603050405020304" pitchFamily="18" charset="0"/>
                <a:sym typeface="Times New Roman"/>
              </a:rPr>
              <a:t>Variant removes </a:t>
            </a:r>
            <a:r>
              <a:rPr lang="en" sz="1400" b="0" i="0" u="none" strike="noStrike" cap="none" dirty="0">
                <a:solidFill>
                  <a:srgbClr val="C00000"/>
                </a:solidFill>
                <a:latin typeface="Times New Roman" panose="02020603050405020304" pitchFamily="18" charset="0"/>
                <a:ea typeface="Times New Roman"/>
                <a:cs typeface="Times New Roman" panose="02020603050405020304" pitchFamily="18" charset="0"/>
                <a:sym typeface="Times New Roman"/>
              </a:rPr>
              <a:t>&gt;10% of protein</a:t>
            </a:r>
            <a:endParaRPr sz="2000" dirty="0">
              <a:solidFill>
                <a:srgbClr val="C00000"/>
              </a:solidFill>
              <a:latin typeface="Times New Roman" panose="02020603050405020304" pitchFamily="18" charset="0"/>
              <a:cs typeface="Times New Roman" panose="02020603050405020304" pitchFamily="18" charset="0"/>
            </a:endParaRPr>
          </a:p>
        </p:txBody>
      </p:sp>
      <p:sp>
        <p:nvSpPr>
          <p:cNvPr id="320" name="Google Shape;70;p13">
            <a:extLst>
              <a:ext uri="{FF2B5EF4-FFF2-40B4-BE49-F238E27FC236}">
                <a16:creationId xmlns:a16="http://schemas.microsoft.com/office/drawing/2014/main" id="{01D10AC8-8F6A-36E4-3F81-86A1629C59B7}"/>
              </a:ext>
            </a:extLst>
          </p:cNvPr>
          <p:cNvSpPr/>
          <p:nvPr/>
        </p:nvSpPr>
        <p:spPr>
          <a:xfrm>
            <a:off x="8628067" y="6434144"/>
            <a:ext cx="1991505" cy="66315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 sz="1400" dirty="0">
                <a:solidFill>
                  <a:srgbClr val="C00000"/>
                </a:solidFill>
                <a:latin typeface="Times New Roman" panose="02020603050405020304" pitchFamily="18" charset="0"/>
                <a:ea typeface="Times New Roman"/>
                <a:cs typeface="Times New Roman" panose="02020603050405020304" pitchFamily="18" charset="0"/>
                <a:sym typeface="Times New Roman"/>
              </a:rPr>
              <a:t>NM_00328.3 variants after codon 872 remove &lt;</a:t>
            </a:r>
            <a:r>
              <a:rPr lang="en" sz="1400" b="0" i="0" u="none" strike="noStrike" cap="none" dirty="0">
                <a:solidFill>
                  <a:srgbClr val="C00000"/>
                </a:solidFill>
                <a:latin typeface="Times New Roman" panose="02020603050405020304" pitchFamily="18" charset="0"/>
                <a:ea typeface="Times New Roman"/>
                <a:cs typeface="Times New Roman" panose="02020603050405020304" pitchFamily="18" charset="0"/>
                <a:sym typeface="Times New Roman"/>
              </a:rPr>
              <a:t>10% of p</a:t>
            </a:r>
            <a:r>
              <a:rPr lang="en" sz="1400" dirty="0">
                <a:solidFill>
                  <a:srgbClr val="C00000"/>
                </a:solidFill>
                <a:latin typeface="Times New Roman" panose="02020603050405020304" pitchFamily="18" charset="0"/>
                <a:ea typeface="Times New Roman"/>
                <a:cs typeface="Times New Roman" panose="02020603050405020304" pitchFamily="18" charset="0"/>
                <a:sym typeface="Times New Roman"/>
              </a:rPr>
              <a:t>rotein </a:t>
            </a:r>
            <a:endParaRPr sz="2000" dirty="0">
              <a:solidFill>
                <a:srgbClr val="C00000"/>
              </a:solidFill>
              <a:latin typeface="Times New Roman" panose="02020603050405020304" pitchFamily="18" charset="0"/>
              <a:cs typeface="Times New Roman" panose="02020603050405020304" pitchFamily="18" charset="0"/>
            </a:endParaRPr>
          </a:p>
        </p:txBody>
      </p:sp>
      <p:cxnSp>
        <p:nvCxnSpPr>
          <p:cNvPr id="321" name="Google Shape;71;p13">
            <a:extLst>
              <a:ext uri="{FF2B5EF4-FFF2-40B4-BE49-F238E27FC236}">
                <a16:creationId xmlns:a16="http://schemas.microsoft.com/office/drawing/2014/main" id="{D2275D6A-67F3-1FF4-85A2-E480C071CCC5}"/>
              </a:ext>
            </a:extLst>
          </p:cNvPr>
          <p:cNvCxnSpPr>
            <a:cxnSpLocks/>
            <a:stCxn id="318" idx="3"/>
            <a:endCxn id="319" idx="1"/>
          </p:cNvCxnSpPr>
          <p:nvPr/>
        </p:nvCxnSpPr>
        <p:spPr>
          <a:xfrm flipV="1">
            <a:off x="8179964" y="6159532"/>
            <a:ext cx="452909" cy="372136"/>
          </a:xfrm>
          <a:prstGeom prst="straightConnector1">
            <a:avLst/>
          </a:prstGeom>
          <a:noFill/>
          <a:ln w="9525" cap="flat" cmpd="sng">
            <a:solidFill>
              <a:srgbClr val="44546A"/>
            </a:solidFill>
            <a:prstDash val="solid"/>
            <a:round/>
            <a:headEnd type="none" w="med" len="med"/>
            <a:tailEnd type="triangle" w="med" len="med"/>
          </a:ln>
        </p:spPr>
      </p:cxnSp>
      <p:cxnSp>
        <p:nvCxnSpPr>
          <p:cNvPr id="322" name="Google Shape;72;p13">
            <a:extLst>
              <a:ext uri="{FF2B5EF4-FFF2-40B4-BE49-F238E27FC236}">
                <a16:creationId xmlns:a16="http://schemas.microsoft.com/office/drawing/2014/main" id="{933D33A3-C75E-4AD5-F210-805AE7DDCC64}"/>
              </a:ext>
            </a:extLst>
          </p:cNvPr>
          <p:cNvCxnSpPr>
            <a:cxnSpLocks/>
            <a:stCxn id="318" idx="3"/>
            <a:endCxn id="320" idx="1"/>
          </p:cNvCxnSpPr>
          <p:nvPr/>
        </p:nvCxnSpPr>
        <p:spPr>
          <a:xfrm>
            <a:off x="8179964" y="6531668"/>
            <a:ext cx="448103" cy="234051"/>
          </a:xfrm>
          <a:prstGeom prst="straightConnector1">
            <a:avLst/>
          </a:prstGeom>
          <a:noFill/>
          <a:ln w="9525" cap="flat" cmpd="sng">
            <a:solidFill>
              <a:srgbClr val="44546A"/>
            </a:solidFill>
            <a:prstDash val="solid"/>
            <a:round/>
            <a:headEnd type="none" w="med" len="med"/>
            <a:tailEnd type="triangle" w="med" len="med"/>
          </a:ln>
        </p:spPr>
      </p:cxnSp>
      <p:cxnSp>
        <p:nvCxnSpPr>
          <p:cNvPr id="323" name="Google Shape;79;p13">
            <a:extLst>
              <a:ext uri="{FF2B5EF4-FFF2-40B4-BE49-F238E27FC236}">
                <a16:creationId xmlns:a16="http://schemas.microsoft.com/office/drawing/2014/main" id="{7982AA53-B329-D778-1F3A-9EE5BE21603A}"/>
              </a:ext>
            </a:extLst>
          </p:cNvPr>
          <p:cNvCxnSpPr>
            <a:cxnSpLocks/>
            <a:stCxn id="316" idx="3"/>
            <a:endCxn id="317" idx="1"/>
          </p:cNvCxnSpPr>
          <p:nvPr/>
        </p:nvCxnSpPr>
        <p:spPr>
          <a:xfrm flipV="1">
            <a:off x="5474026" y="5709086"/>
            <a:ext cx="452910" cy="464959"/>
          </a:xfrm>
          <a:prstGeom prst="straightConnector1">
            <a:avLst/>
          </a:prstGeom>
          <a:noFill/>
          <a:ln w="9525" cap="flat" cmpd="sng">
            <a:solidFill>
              <a:srgbClr val="44546A"/>
            </a:solidFill>
            <a:prstDash val="solid"/>
            <a:round/>
            <a:headEnd type="none" w="med" len="med"/>
            <a:tailEnd type="triangle" w="med" len="med"/>
          </a:ln>
        </p:spPr>
      </p:cxnSp>
      <p:cxnSp>
        <p:nvCxnSpPr>
          <p:cNvPr id="324" name="Google Shape;80;p13">
            <a:extLst>
              <a:ext uri="{FF2B5EF4-FFF2-40B4-BE49-F238E27FC236}">
                <a16:creationId xmlns:a16="http://schemas.microsoft.com/office/drawing/2014/main" id="{AE4753C8-DE86-52DD-810F-671C436EBE46}"/>
              </a:ext>
            </a:extLst>
          </p:cNvPr>
          <p:cNvCxnSpPr>
            <a:cxnSpLocks/>
            <a:stCxn id="316" idx="3"/>
            <a:endCxn id="318" idx="1"/>
          </p:cNvCxnSpPr>
          <p:nvPr/>
        </p:nvCxnSpPr>
        <p:spPr>
          <a:xfrm>
            <a:off x="5474026" y="6174045"/>
            <a:ext cx="452909" cy="357623"/>
          </a:xfrm>
          <a:prstGeom prst="straightConnector1">
            <a:avLst/>
          </a:prstGeom>
          <a:noFill/>
          <a:ln w="9525" cap="flat" cmpd="sng">
            <a:solidFill>
              <a:srgbClr val="44546A"/>
            </a:solidFill>
            <a:prstDash val="solid"/>
            <a:round/>
            <a:headEnd type="none" w="med" len="med"/>
            <a:tailEnd type="triangle" w="med" len="med"/>
          </a:ln>
        </p:spPr>
      </p:cxnSp>
      <p:grpSp>
        <p:nvGrpSpPr>
          <p:cNvPr id="42" name="Group 41">
            <a:extLst>
              <a:ext uri="{FF2B5EF4-FFF2-40B4-BE49-F238E27FC236}">
                <a16:creationId xmlns:a16="http://schemas.microsoft.com/office/drawing/2014/main" id="{156E68C8-3AC3-64A7-9045-57CECC8AA654}"/>
              </a:ext>
            </a:extLst>
          </p:cNvPr>
          <p:cNvGrpSpPr/>
          <p:nvPr/>
        </p:nvGrpSpPr>
        <p:grpSpPr>
          <a:xfrm>
            <a:off x="3060463" y="9455146"/>
            <a:ext cx="9177274" cy="2040793"/>
            <a:chOff x="12801324" y="10258464"/>
            <a:chExt cx="9177274" cy="2040793"/>
          </a:xfrm>
        </p:grpSpPr>
        <p:sp>
          <p:nvSpPr>
            <p:cNvPr id="27" name="Google Shape;62;p13">
              <a:extLst>
                <a:ext uri="{FF2B5EF4-FFF2-40B4-BE49-F238E27FC236}">
                  <a16:creationId xmlns:a16="http://schemas.microsoft.com/office/drawing/2014/main" id="{B2B01F3B-FA7E-0302-B33F-1338F915E5BE}"/>
                </a:ext>
              </a:extLst>
            </p:cNvPr>
            <p:cNvSpPr/>
            <p:nvPr/>
          </p:nvSpPr>
          <p:spPr>
            <a:xfrm>
              <a:off x="12801324" y="10720807"/>
              <a:ext cx="2904578" cy="1310402"/>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algn="ctr"/>
              <a:r>
                <a:rPr lang="en" sz="1400" dirty="0">
                  <a:solidFill>
                    <a:srgbClr val="000000"/>
                  </a:solidFill>
                  <a:latin typeface="Times New Roman" panose="02020603050405020304" pitchFamily="18" charset="0"/>
                  <a:ea typeface="Times New Roman"/>
                  <a:cs typeface="Times New Roman" panose="02020603050405020304" pitchFamily="18" charset="0"/>
                  <a:sym typeface="Times New Roman"/>
                </a:rPr>
                <a:t>Role of region in protein function is unknown. </a:t>
              </a:r>
            </a:p>
            <a:p>
              <a:pPr marL="0" marR="0" lvl="0" indent="0" algn="ctr" rtl="0">
                <a:spcBef>
                  <a:spcPts val="0"/>
                </a:spcBef>
                <a:spcAft>
                  <a:spcPts val="0"/>
                </a:spcAft>
                <a:buNone/>
              </a:pPr>
              <a:r>
                <a:rPr lang="en" sz="1400" dirty="0">
                  <a:solidFill>
                    <a:srgbClr val="000000"/>
                  </a:solidFill>
                  <a:latin typeface="Times New Roman" panose="02020603050405020304" pitchFamily="18" charset="0"/>
                  <a:ea typeface="Times New Roman"/>
                  <a:cs typeface="Times New Roman" panose="02020603050405020304" pitchFamily="18" charset="0"/>
                  <a:sym typeface="Times New Roman"/>
                </a:rPr>
                <a:t>Applies to </a:t>
              </a:r>
              <a:r>
                <a:rPr lang="en-US" sz="1400" dirty="0">
                  <a:solidFill>
                    <a:srgbClr val="009ACC"/>
                  </a:solidFill>
                  <a:latin typeface="Times New Roman" panose="02020603050405020304" pitchFamily="18" charset="0"/>
                  <a:cs typeface="Times New Roman" panose="02020603050405020304" pitchFamily="18" charset="0"/>
                </a:rPr>
                <a:t>NM_001034853.2:c.3399-3458</a:t>
              </a:r>
              <a:r>
                <a:rPr lang="en" sz="1400" dirty="0">
                  <a:solidFill>
                    <a:srgbClr val="009ACC"/>
                  </a:solidFill>
                  <a:latin typeface="Times New Roman" panose="02020603050405020304" pitchFamily="18" charset="0"/>
                  <a:ea typeface="Times New Roman"/>
                  <a:cs typeface="Times New Roman" panose="02020603050405020304" pitchFamily="18" charset="0"/>
                  <a:sym typeface="Times New Roman"/>
                </a:rPr>
                <a:t> (codons 1132-1152), or 3’ UTR,</a:t>
              </a:r>
            </a:p>
            <a:p>
              <a:pPr marL="0" marR="0" lvl="0" indent="0" algn="ctr" rtl="0">
                <a:spcBef>
                  <a:spcPts val="0"/>
                </a:spcBef>
                <a:spcAft>
                  <a:spcPts val="0"/>
                </a:spcAft>
                <a:buNone/>
              </a:pPr>
              <a:r>
                <a:rPr lang="en" sz="1400" dirty="0">
                  <a:solidFill>
                    <a:srgbClr val="009ACC"/>
                  </a:solidFill>
                  <a:latin typeface="Times New Roman" panose="02020603050405020304" pitchFamily="18" charset="0"/>
                  <a:ea typeface="Times New Roman"/>
                  <a:cs typeface="Times New Roman" panose="02020603050405020304" pitchFamily="18" charset="0"/>
                  <a:sym typeface="Times New Roman"/>
                </a:rPr>
                <a:t>NM_00328.3:c.2352-2909 (codons 784-969), or 3’ </a:t>
              </a:r>
              <a:r>
                <a:rPr lang="en" sz="1400" dirty="0" err="1">
                  <a:solidFill>
                    <a:srgbClr val="009ACC"/>
                  </a:solidFill>
                  <a:latin typeface="Times New Roman" panose="02020603050405020304" pitchFamily="18" charset="0"/>
                  <a:ea typeface="Times New Roman"/>
                  <a:cs typeface="Times New Roman" panose="02020603050405020304" pitchFamily="18" charset="0"/>
                  <a:sym typeface="Times New Roman"/>
                </a:rPr>
                <a:t>UTR</a:t>
              </a:r>
              <a:r>
                <a:rPr lang="en" sz="1400" baseline="30000" dirty="0" err="1">
                  <a:solidFill>
                    <a:srgbClr val="009ACC"/>
                  </a:solidFill>
                  <a:latin typeface="Times New Roman" panose="02020603050405020304" pitchFamily="18" charset="0"/>
                  <a:ea typeface="Times New Roman"/>
                  <a:cs typeface="Times New Roman" panose="02020603050405020304" pitchFamily="18" charset="0"/>
                  <a:sym typeface="Times New Roman"/>
                </a:rPr>
                <a:t>h</a:t>
              </a:r>
              <a:endParaRPr sz="1400" baseline="30000" dirty="0">
                <a:solidFill>
                  <a:srgbClr val="009ACC"/>
                </a:solidFill>
                <a:latin typeface="Times New Roman" panose="02020603050405020304" pitchFamily="18" charset="0"/>
                <a:cs typeface="Times New Roman" panose="02020603050405020304" pitchFamily="18" charset="0"/>
              </a:endParaRPr>
            </a:p>
          </p:txBody>
        </p:sp>
        <p:sp>
          <p:nvSpPr>
            <p:cNvPr id="28" name="Google Shape;66;p13">
              <a:extLst>
                <a:ext uri="{FF2B5EF4-FFF2-40B4-BE49-F238E27FC236}">
                  <a16:creationId xmlns:a16="http://schemas.microsoft.com/office/drawing/2014/main" id="{34B5C9CB-E238-E234-1B3E-5E162818E984}"/>
                </a:ext>
              </a:extLst>
            </p:cNvPr>
            <p:cNvSpPr/>
            <p:nvPr/>
          </p:nvSpPr>
          <p:spPr>
            <a:xfrm>
              <a:off x="20697598" y="11170550"/>
              <a:ext cx="1281000" cy="27432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 sz="1400" b="0" i="0" u="none" strike="noStrike" cap="none" dirty="0">
                  <a:solidFill>
                    <a:srgbClr val="000000"/>
                  </a:solidFill>
                  <a:latin typeface="Times New Roman" panose="02020603050405020304" pitchFamily="18" charset="0"/>
                  <a:ea typeface="Times New Roman"/>
                  <a:cs typeface="Times New Roman" panose="02020603050405020304" pitchFamily="18" charset="0"/>
                  <a:sym typeface="Times New Roman"/>
                </a:rPr>
                <a:t>PVS1_Strong</a:t>
              </a:r>
              <a:endParaRPr sz="2000" dirty="0">
                <a:latin typeface="Times New Roman" panose="02020603050405020304" pitchFamily="18" charset="0"/>
                <a:cs typeface="Times New Roman" panose="02020603050405020304" pitchFamily="18" charset="0"/>
              </a:endParaRPr>
            </a:p>
          </p:txBody>
        </p:sp>
        <p:sp>
          <p:nvSpPr>
            <p:cNvPr id="29" name="Google Shape;67;p13">
              <a:extLst>
                <a:ext uri="{FF2B5EF4-FFF2-40B4-BE49-F238E27FC236}">
                  <a16:creationId xmlns:a16="http://schemas.microsoft.com/office/drawing/2014/main" id="{B29296B0-C5E9-0FF2-E385-4DF2206441D9}"/>
                </a:ext>
              </a:extLst>
            </p:cNvPr>
            <p:cNvSpPr/>
            <p:nvPr/>
          </p:nvSpPr>
          <p:spPr>
            <a:xfrm>
              <a:off x="20547762" y="11748192"/>
              <a:ext cx="1416393" cy="359071"/>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 sz="1400" dirty="0">
                  <a:solidFill>
                    <a:srgbClr val="000000"/>
                  </a:solidFill>
                  <a:latin typeface="Times New Roman" panose="02020603050405020304" pitchFamily="18" charset="0"/>
                  <a:ea typeface="Times New Roman"/>
                  <a:cs typeface="Times New Roman" panose="02020603050405020304" pitchFamily="18" charset="0"/>
                  <a:sym typeface="Times New Roman"/>
                </a:rPr>
                <a:t>PVS1_Moderate</a:t>
              </a:r>
              <a:endParaRPr sz="2000" dirty="0">
                <a:latin typeface="Times New Roman" panose="02020603050405020304" pitchFamily="18" charset="0"/>
                <a:cs typeface="Times New Roman" panose="02020603050405020304" pitchFamily="18" charset="0"/>
              </a:endParaRPr>
            </a:p>
          </p:txBody>
        </p:sp>
        <p:sp>
          <p:nvSpPr>
            <p:cNvPr id="30" name="Google Shape;68;p13">
              <a:extLst>
                <a:ext uri="{FF2B5EF4-FFF2-40B4-BE49-F238E27FC236}">
                  <a16:creationId xmlns:a16="http://schemas.microsoft.com/office/drawing/2014/main" id="{8B45FB64-6C25-E819-052A-95575214A635}"/>
                </a:ext>
              </a:extLst>
            </p:cNvPr>
            <p:cNvSpPr/>
            <p:nvPr/>
          </p:nvSpPr>
          <p:spPr>
            <a:xfrm>
              <a:off x="16037946" y="10933242"/>
              <a:ext cx="1884095" cy="1366015"/>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lvl="0" indent="0" algn="ctr" rtl="0">
                <a:spcBef>
                  <a:spcPts val="0"/>
                </a:spcBef>
                <a:spcAft>
                  <a:spcPts val="0"/>
                </a:spcAft>
                <a:buNone/>
              </a:pPr>
              <a:r>
                <a:rPr lang="en" sz="1400" dirty="0" err="1">
                  <a:solidFill>
                    <a:srgbClr val="000000"/>
                  </a:solidFill>
                  <a:latin typeface="Times New Roman" panose="02020603050405020304" pitchFamily="18" charset="0"/>
                  <a:ea typeface="Times New Roman"/>
                  <a:cs typeface="Times New Roman" panose="02020603050405020304" pitchFamily="18" charset="0"/>
                  <a:sym typeface="Times New Roman"/>
                </a:rPr>
                <a:t>L</a:t>
              </a:r>
              <a:r>
                <a:rPr lang="en" sz="1400" dirty="0" err="1">
                  <a:latin typeface="Times New Roman" panose="02020603050405020304" pitchFamily="18" charset="0"/>
                  <a:ea typeface="Times New Roman"/>
                  <a:cs typeface="Times New Roman" panose="02020603050405020304" pitchFamily="18" charset="0"/>
                  <a:sym typeface="Times New Roman"/>
                </a:rPr>
                <a:t>o</a:t>
              </a:r>
              <a:r>
                <a:rPr lang="en" sz="1400" dirty="0" err="1">
                  <a:solidFill>
                    <a:srgbClr val="000000"/>
                  </a:solidFill>
                  <a:latin typeface="Times New Roman" panose="02020603050405020304" pitchFamily="18" charset="0"/>
                  <a:ea typeface="Times New Roman"/>
                  <a:cs typeface="Times New Roman" panose="02020603050405020304" pitchFamily="18" charset="0"/>
                  <a:sym typeface="Times New Roman"/>
                </a:rPr>
                <a:t>F</a:t>
              </a:r>
              <a:r>
                <a:rPr lang="en" sz="1400" dirty="0">
                  <a:solidFill>
                    <a:srgbClr val="000000"/>
                  </a:solidFill>
                  <a:latin typeface="Times New Roman" panose="02020603050405020304" pitchFamily="18" charset="0"/>
                  <a:ea typeface="Times New Roman"/>
                  <a:cs typeface="Times New Roman" panose="02020603050405020304" pitchFamily="18" charset="0"/>
                  <a:sym typeface="Times New Roman"/>
                </a:rPr>
                <a:t> variants in this </a:t>
              </a:r>
              <a:r>
                <a:rPr lang="en" sz="1400" dirty="0">
                  <a:latin typeface="Times New Roman" panose="02020603050405020304" pitchFamily="18" charset="0"/>
                  <a:ea typeface="Times New Roman"/>
                  <a:cs typeface="Times New Roman" panose="02020603050405020304" pitchFamily="18" charset="0"/>
                  <a:sym typeface="Times New Roman"/>
                </a:rPr>
                <a:t>exon are not frequent in the general population </a:t>
              </a:r>
              <a:r>
                <a:rPr lang="en" sz="1400" dirty="0">
                  <a:solidFill>
                    <a:srgbClr val="000000"/>
                  </a:solidFill>
                  <a:latin typeface="Times New Roman" panose="02020603050405020304" pitchFamily="18" charset="0"/>
                  <a:ea typeface="Times New Roman"/>
                  <a:cs typeface="Times New Roman" panose="02020603050405020304" pitchFamily="18" charset="0"/>
                  <a:sym typeface="Times New Roman"/>
                </a:rPr>
                <a:t>and exon is present in biologically-relevant transcript(s)</a:t>
              </a:r>
              <a:endParaRPr sz="1400" dirty="0">
                <a:solidFill>
                  <a:srgbClr val="000000"/>
                </a:solidFill>
                <a:latin typeface="Times New Roman" panose="02020603050405020304" pitchFamily="18" charset="0"/>
                <a:ea typeface="Times New Roman"/>
                <a:cs typeface="Times New Roman" panose="02020603050405020304" pitchFamily="18" charset="0"/>
                <a:sym typeface="Times New Roman"/>
              </a:endParaRPr>
            </a:p>
          </p:txBody>
        </p:sp>
        <p:sp>
          <p:nvSpPr>
            <p:cNvPr id="31" name="Google Shape;69;p13">
              <a:extLst>
                <a:ext uri="{FF2B5EF4-FFF2-40B4-BE49-F238E27FC236}">
                  <a16:creationId xmlns:a16="http://schemas.microsoft.com/office/drawing/2014/main" id="{FA8B0EE1-4767-B4CD-8A74-680A51B450C5}"/>
                </a:ext>
              </a:extLst>
            </p:cNvPr>
            <p:cNvSpPr/>
            <p:nvPr/>
          </p:nvSpPr>
          <p:spPr>
            <a:xfrm>
              <a:off x="18374950" y="11050027"/>
              <a:ext cx="1991505" cy="505265"/>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 sz="1400" dirty="0">
                  <a:solidFill>
                    <a:srgbClr val="000000"/>
                  </a:solidFill>
                  <a:latin typeface="Times New Roman" panose="02020603050405020304" pitchFamily="18" charset="0"/>
                  <a:ea typeface="Times New Roman"/>
                  <a:cs typeface="Times New Roman" panose="02020603050405020304" pitchFamily="18" charset="0"/>
                  <a:sym typeface="Times New Roman"/>
                </a:rPr>
                <a:t>Variant removes </a:t>
              </a:r>
              <a:r>
                <a:rPr lang="en" sz="1400" b="0" i="0" u="none" strike="noStrike" cap="none" dirty="0">
                  <a:solidFill>
                    <a:srgbClr val="000000"/>
                  </a:solidFill>
                  <a:latin typeface="Times New Roman" panose="02020603050405020304" pitchFamily="18" charset="0"/>
                  <a:ea typeface="Times New Roman"/>
                  <a:cs typeface="Times New Roman" panose="02020603050405020304" pitchFamily="18" charset="0"/>
                  <a:sym typeface="Times New Roman"/>
                </a:rPr>
                <a:t>&gt;10% of protein</a:t>
              </a:r>
              <a:endParaRPr sz="2000" dirty="0">
                <a:latin typeface="Times New Roman" panose="02020603050405020304" pitchFamily="18" charset="0"/>
                <a:cs typeface="Times New Roman" panose="02020603050405020304" pitchFamily="18" charset="0"/>
              </a:endParaRPr>
            </a:p>
          </p:txBody>
        </p:sp>
        <p:sp>
          <p:nvSpPr>
            <p:cNvPr id="32" name="Google Shape;70;p13">
              <a:extLst>
                <a:ext uri="{FF2B5EF4-FFF2-40B4-BE49-F238E27FC236}">
                  <a16:creationId xmlns:a16="http://schemas.microsoft.com/office/drawing/2014/main" id="{F20BAE74-8108-EC94-82CF-475690698044}"/>
                </a:ext>
              </a:extLst>
            </p:cNvPr>
            <p:cNvSpPr/>
            <p:nvPr/>
          </p:nvSpPr>
          <p:spPr>
            <a:xfrm>
              <a:off x="18370144" y="11636107"/>
              <a:ext cx="1991505" cy="66315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 sz="1400" dirty="0">
                  <a:solidFill>
                    <a:srgbClr val="009ACC"/>
                  </a:solidFill>
                  <a:latin typeface="Times New Roman" panose="02020603050405020304" pitchFamily="18" charset="0"/>
                  <a:ea typeface="Times New Roman"/>
                  <a:cs typeface="Times New Roman" panose="02020603050405020304" pitchFamily="18" charset="0"/>
                  <a:sym typeface="Times New Roman"/>
                </a:rPr>
                <a:t>NM_00328.3 variants after codon 872 </a:t>
              </a:r>
              <a:r>
                <a:rPr lang="en" sz="1400" dirty="0">
                  <a:solidFill>
                    <a:srgbClr val="000000"/>
                  </a:solidFill>
                  <a:latin typeface="Times New Roman" panose="02020603050405020304" pitchFamily="18" charset="0"/>
                  <a:ea typeface="Times New Roman"/>
                  <a:cs typeface="Times New Roman" panose="02020603050405020304" pitchFamily="18" charset="0"/>
                  <a:sym typeface="Times New Roman"/>
                </a:rPr>
                <a:t>remove &lt;</a:t>
              </a:r>
              <a:r>
                <a:rPr lang="en" sz="1400" b="0" i="0" u="none" strike="noStrike" cap="none" dirty="0">
                  <a:solidFill>
                    <a:srgbClr val="000000"/>
                  </a:solidFill>
                  <a:latin typeface="Times New Roman" panose="02020603050405020304" pitchFamily="18" charset="0"/>
                  <a:ea typeface="Times New Roman"/>
                  <a:cs typeface="Times New Roman" panose="02020603050405020304" pitchFamily="18" charset="0"/>
                  <a:sym typeface="Times New Roman"/>
                </a:rPr>
                <a:t>10% of p</a:t>
              </a:r>
              <a:r>
                <a:rPr lang="en" sz="1400" dirty="0">
                  <a:solidFill>
                    <a:srgbClr val="000000"/>
                  </a:solidFill>
                  <a:latin typeface="Times New Roman" panose="02020603050405020304" pitchFamily="18" charset="0"/>
                  <a:ea typeface="Times New Roman"/>
                  <a:cs typeface="Times New Roman" panose="02020603050405020304" pitchFamily="18" charset="0"/>
                  <a:sym typeface="Times New Roman"/>
                </a:rPr>
                <a:t>rotein </a:t>
              </a:r>
              <a:endParaRPr sz="2000" dirty="0">
                <a:solidFill>
                  <a:srgbClr val="009ACC"/>
                </a:solidFill>
                <a:latin typeface="Times New Roman" panose="02020603050405020304" pitchFamily="18" charset="0"/>
                <a:cs typeface="Times New Roman" panose="02020603050405020304" pitchFamily="18" charset="0"/>
              </a:endParaRPr>
            </a:p>
          </p:txBody>
        </p:sp>
        <p:cxnSp>
          <p:nvCxnSpPr>
            <p:cNvPr id="33" name="Google Shape;71;p13">
              <a:extLst>
                <a:ext uri="{FF2B5EF4-FFF2-40B4-BE49-F238E27FC236}">
                  <a16:creationId xmlns:a16="http://schemas.microsoft.com/office/drawing/2014/main" id="{9B66117C-BD50-31D8-C376-F1351DC51007}"/>
                </a:ext>
              </a:extLst>
            </p:cNvPr>
            <p:cNvCxnSpPr>
              <a:cxnSpLocks/>
              <a:stCxn id="30" idx="3"/>
              <a:endCxn id="31" idx="1"/>
            </p:cNvCxnSpPr>
            <p:nvPr/>
          </p:nvCxnSpPr>
          <p:spPr>
            <a:xfrm flipV="1">
              <a:off x="17922041" y="11302660"/>
              <a:ext cx="452909" cy="313590"/>
            </a:xfrm>
            <a:prstGeom prst="straightConnector1">
              <a:avLst/>
            </a:prstGeom>
            <a:noFill/>
            <a:ln w="9525" cap="flat" cmpd="sng">
              <a:solidFill>
                <a:srgbClr val="44546A"/>
              </a:solidFill>
              <a:prstDash val="solid"/>
              <a:round/>
              <a:headEnd type="none" w="med" len="med"/>
              <a:tailEnd type="triangle" w="med" len="med"/>
            </a:ln>
          </p:spPr>
        </p:cxnSp>
        <p:cxnSp>
          <p:nvCxnSpPr>
            <p:cNvPr id="34" name="Google Shape;72;p13">
              <a:extLst>
                <a:ext uri="{FF2B5EF4-FFF2-40B4-BE49-F238E27FC236}">
                  <a16:creationId xmlns:a16="http://schemas.microsoft.com/office/drawing/2014/main" id="{22A2C4C6-88DE-7609-EFD6-54675E61EBC3}"/>
                </a:ext>
              </a:extLst>
            </p:cNvPr>
            <p:cNvCxnSpPr>
              <a:cxnSpLocks/>
              <a:stCxn id="30" idx="3"/>
              <a:endCxn id="32" idx="1"/>
            </p:cNvCxnSpPr>
            <p:nvPr/>
          </p:nvCxnSpPr>
          <p:spPr>
            <a:xfrm>
              <a:off x="17922041" y="11616250"/>
              <a:ext cx="448103" cy="351432"/>
            </a:xfrm>
            <a:prstGeom prst="straightConnector1">
              <a:avLst/>
            </a:prstGeom>
            <a:noFill/>
            <a:ln w="9525" cap="flat" cmpd="sng">
              <a:solidFill>
                <a:srgbClr val="44546A"/>
              </a:solidFill>
              <a:prstDash val="solid"/>
              <a:round/>
              <a:headEnd type="none" w="med" len="med"/>
              <a:tailEnd type="triangle" w="med" len="med"/>
            </a:ln>
          </p:spPr>
        </p:cxnSp>
        <p:cxnSp>
          <p:nvCxnSpPr>
            <p:cNvPr id="35" name="Google Shape;80;p13">
              <a:extLst>
                <a:ext uri="{FF2B5EF4-FFF2-40B4-BE49-F238E27FC236}">
                  <a16:creationId xmlns:a16="http://schemas.microsoft.com/office/drawing/2014/main" id="{43CC5070-EE21-3730-0C17-D9FDF073A002}"/>
                </a:ext>
              </a:extLst>
            </p:cNvPr>
            <p:cNvCxnSpPr>
              <a:cxnSpLocks/>
              <a:stCxn id="27" idx="3"/>
              <a:endCxn id="30" idx="1"/>
            </p:cNvCxnSpPr>
            <p:nvPr/>
          </p:nvCxnSpPr>
          <p:spPr>
            <a:xfrm>
              <a:off x="15705902" y="11376008"/>
              <a:ext cx="332044" cy="240242"/>
            </a:xfrm>
            <a:prstGeom prst="straightConnector1">
              <a:avLst/>
            </a:prstGeom>
            <a:noFill/>
            <a:ln w="9525" cap="flat" cmpd="sng">
              <a:solidFill>
                <a:srgbClr val="44546A"/>
              </a:solidFill>
              <a:prstDash val="solid"/>
              <a:round/>
              <a:headEnd type="none" w="med" len="med"/>
              <a:tailEnd type="triangle" w="med" len="med"/>
            </a:ln>
          </p:spPr>
        </p:cxnSp>
        <p:sp>
          <p:nvSpPr>
            <p:cNvPr id="36" name="Google Shape;63;p13">
              <a:extLst>
                <a:ext uri="{FF2B5EF4-FFF2-40B4-BE49-F238E27FC236}">
                  <a16:creationId xmlns:a16="http://schemas.microsoft.com/office/drawing/2014/main" id="{AC703677-4FF4-5B89-7736-DE3CF433659A}"/>
                </a:ext>
              </a:extLst>
            </p:cNvPr>
            <p:cNvSpPr/>
            <p:nvPr/>
          </p:nvSpPr>
          <p:spPr>
            <a:xfrm>
              <a:off x="16037947" y="10258464"/>
              <a:ext cx="4327608" cy="616377"/>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 sz="1400" dirty="0" err="1">
                  <a:latin typeface="Times New Roman" panose="02020603050405020304" pitchFamily="18" charset="0"/>
                  <a:ea typeface="Times New Roman"/>
                  <a:cs typeface="Times New Roman" panose="02020603050405020304" pitchFamily="18" charset="0"/>
                  <a:sym typeface="Times New Roman"/>
                </a:rPr>
                <a:t>LoF</a:t>
              </a:r>
              <a:r>
                <a:rPr lang="en" sz="1400" dirty="0">
                  <a:latin typeface="Times New Roman" panose="02020603050405020304" pitchFamily="18" charset="0"/>
                  <a:ea typeface="Times New Roman"/>
                  <a:cs typeface="Times New Roman" panose="02020603050405020304" pitchFamily="18" charset="0"/>
                  <a:sym typeface="Times New Roman"/>
                </a:rPr>
                <a:t> variants in this exon are frequent in the general population and/or exon is absent from biologically-relevant transcript(s)</a:t>
              </a:r>
              <a:endParaRPr sz="2000" dirty="0">
                <a:latin typeface="Times New Roman" panose="02020603050405020304" pitchFamily="18" charset="0"/>
                <a:cs typeface="Times New Roman" panose="02020603050405020304" pitchFamily="18" charset="0"/>
              </a:endParaRPr>
            </a:p>
          </p:txBody>
        </p:sp>
        <p:sp>
          <p:nvSpPr>
            <p:cNvPr id="37" name="Google Shape;65;p13">
              <a:extLst>
                <a:ext uri="{FF2B5EF4-FFF2-40B4-BE49-F238E27FC236}">
                  <a16:creationId xmlns:a16="http://schemas.microsoft.com/office/drawing/2014/main" id="{7F815F4F-89EC-1F01-1A9E-765D15DD79CC}"/>
                </a:ext>
              </a:extLst>
            </p:cNvPr>
            <p:cNvSpPr/>
            <p:nvPr/>
          </p:nvSpPr>
          <p:spPr>
            <a:xfrm>
              <a:off x="20697598" y="10407604"/>
              <a:ext cx="1281000" cy="27432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 sz="1400" b="0" i="0" u="none" strike="noStrike" cap="none" dirty="0">
                  <a:solidFill>
                    <a:srgbClr val="000000"/>
                  </a:solidFill>
                  <a:latin typeface="Times New Roman" panose="02020603050405020304" pitchFamily="18" charset="0"/>
                  <a:ea typeface="Times New Roman"/>
                  <a:cs typeface="Times New Roman" panose="02020603050405020304" pitchFamily="18" charset="0"/>
                  <a:sym typeface="Times New Roman"/>
                </a:rPr>
                <a:t>N/A</a:t>
              </a:r>
              <a:endParaRPr sz="2000" dirty="0">
                <a:latin typeface="Times New Roman" panose="02020603050405020304" pitchFamily="18" charset="0"/>
                <a:cs typeface="Times New Roman" panose="02020603050405020304" pitchFamily="18" charset="0"/>
              </a:endParaRPr>
            </a:p>
          </p:txBody>
        </p:sp>
        <p:cxnSp>
          <p:nvCxnSpPr>
            <p:cNvPr id="38" name="Google Shape;79;p13">
              <a:extLst>
                <a:ext uri="{FF2B5EF4-FFF2-40B4-BE49-F238E27FC236}">
                  <a16:creationId xmlns:a16="http://schemas.microsoft.com/office/drawing/2014/main" id="{A985995C-D4EC-1B0A-4FD0-125569CB4CDB}"/>
                </a:ext>
              </a:extLst>
            </p:cNvPr>
            <p:cNvCxnSpPr>
              <a:cxnSpLocks/>
              <a:stCxn id="27" idx="3"/>
              <a:endCxn id="36" idx="1"/>
            </p:cNvCxnSpPr>
            <p:nvPr/>
          </p:nvCxnSpPr>
          <p:spPr>
            <a:xfrm flipV="1">
              <a:off x="15705902" y="10566653"/>
              <a:ext cx="332045" cy="809355"/>
            </a:xfrm>
            <a:prstGeom prst="straightConnector1">
              <a:avLst/>
            </a:prstGeom>
            <a:noFill/>
            <a:ln w="9525" cap="flat" cmpd="sng">
              <a:solidFill>
                <a:srgbClr val="44546A"/>
              </a:solidFill>
              <a:prstDash val="solid"/>
              <a:round/>
              <a:headEnd type="none" w="med" len="med"/>
              <a:tailEnd type="triangle" w="med" len="med"/>
            </a:ln>
          </p:spPr>
        </p:cxnSp>
        <p:cxnSp>
          <p:nvCxnSpPr>
            <p:cNvPr id="39" name="Google Shape;115;p13">
              <a:extLst>
                <a:ext uri="{FF2B5EF4-FFF2-40B4-BE49-F238E27FC236}">
                  <a16:creationId xmlns:a16="http://schemas.microsoft.com/office/drawing/2014/main" id="{76DF510E-C27C-230E-6303-B572055530F1}"/>
                </a:ext>
              </a:extLst>
            </p:cNvPr>
            <p:cNvCxnSpPr>
              <a:cxnSpLocks/>
              <a:endCxn id="37" idx="1"/>
            </p:cNvCxnSpPr>
            <p:nvPr/>
          </p:nvCxnSpPr>
          <p:spPr>
            <a:xfrm flipV="1">
              <a:off x="20365554" y="10544764"/>
              <a:ext cx="332044" cy="0"/>
            </a:xfrm>
            <a:prstGeom prst="straightConnector1">
              <a:avLst/>
            </a:prstGeom>
            <a:noFill/>
            <a:ln w="9525" cap="flat" cmpd="sng">
              <a:solidFill>
                <a:srgbClr val="595959"/>
              </a:solidFill>
              <a:prstDash val="solid"/>
              <a:round/>
              <a:headEnd type="none" w="med" len="med"/>
              <a:tailEnd type="triangle" w="med" len="med"/>
            </a:ln>
          </p:spPr>
        </p:cxnSp>
        <p:cxnSp>
          <p:nvCxnSpPr>
            <p:cNvPr id="40" name="Google Shape;116;p13">
              <a:extLst>
                <a:ext uri="{FF2B5EF4-FFF2-40B4-BE49-F238E27FC236}">
                  <a16:creationId xmlns:a16="http://schemas.microsoft.com/office/drawing/2014/main" id="{BA0FB7ED-F8D3-5A75-6879-9FF87F439D82}"/>
                </a:ext>
              </a:extLst>
            </p:cNvPr>
            <p:cNvCxnSpPr>
              <a:cxnSpLocks/>
              <a:endCxn id="28" idx="1"/>
            </p:cNvCxnSpPr>
            <p:nvPr/>
          </p:nvCxnSpPr>
          <p:spPr>
            <a:xfrm flipV="1">
              <a:off x="20366455" y="11307710"/>
              <a:ext cx="331143" cy="0"/>
            </a:xfrm>
            <a:prstGeom prst="straightConnector1">
              <a:avLst/>
            </a:prstGeom>
            <a:noFill/>
            <a:ln w="9525" cap="flat" cmpd="sng">
              <a:solidFill>
                <a:srgbClr val="595959"/>
              </a:solidFill>
              <a:prstDash val="solid"/>
              <a:round/>
              <a:headEnd type="none" w="med" len="med"/>
              <a:tailEnd type="triangle" w="med" len="med"/>
            </a:ln>
          </p:spPr>
        </p:cxnSp>
        <p:cxnSp>
          <p:nvCxnSpPr>
            <p:cNvPr id="41" name="Google Shape;117;p13">
              <a:extLst>
                <a:ext uri="{FF2B5EF4-FFF2-40B4-BE49-F238E27FC236}">
                  <a16:creationId xmlns:a16="http://schemas.microsoft.com/office/drawing/2014/main" id="{2B838AF8-98DA-6F0D-E011-C186C3708114}"/>
                </a:ext>
              </a:extLst>
            </p:cNvPr>
            <p:cNvCxnSpPr>
              <a:cxnSpLocks/>
              <a:endCxn id="29" idx="1"/>
            </p:cNvCxnSpPr>
            <p:nvPr/>
          </p:nvCxnSpPr>
          <p:spPr>
            <a:xfrm flipV="1">
              <a:off x="20209249" y="11927728"/>
              <a:ext cx="338513" cy="0"/>
            </a:xfrm>
            <a:prstGeom prst="straightConnector1">
              <a:avLst/>
            </a:prstGeom>
            <a:noFill/>
            <a:ln w="9525" cap="flat" cmpd="sng">
              <a:solidFill>
                <a:srgbClr val="595959"/>
              </a:solidFill>
              <a:prstDash val="solid"/>
              <a:round/>
              <a:headEnd type="none" w="med" len="med"/>
              <a:tailEnd type="triangle" w="med" len="med"/>
            </a:ln>
          </p:spPr>
        </p:cxnSp>
      </p:grpSp>
    </p:spTree>
    <p:extLst>
      <p:ext uri="{BB962C8B-B14F-4D97-AF65-F5344CB8AC3E}">
        <p14:creationId xmlns:p14="http://schemas.microsoft.com/office/powerpoint/2010/main" val="10050373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59">
          <a:extLst>
            <a:ext uri="{FF2B5EF4-FFF2-40B4-BE49-F238E27FC236}">
              <a16:creationId xmlns:a16="http://schemas.microsoft.com/office/drawing/2014/main" id="{0DEFCD7F-572C-A786-4A02-55DA728D885C}"/>
            </a:ext>
          </a:extLst>
        </p:cNvPr>
        <p:cNvGrpSpPr/>
        <p:nvPr/>
      </p:nvGrpSpPr>
      <p:grpSpPr>
        <a:xfrm>
          <a:off x="0" y="0"/>
          <a:ext cx="0" cy="0"/>
          <a:chOff x="0" y="0"/>
          <a:chExt cx="0" cy="0"/>
        </a:xfrm>
      </p:grpSpPr>
      <p:sp>
        <p:nvSpPr>
          <p:cNvPr id="410" name="Google Shape;66;p1">
            <a:extLst>
              <a:ext uri="{FF2B5EF4-FFF2-40B4-BE49-F238E27FC236}">
                <a16:creationId xmlns:a16="http://schemas.microsoft.com/office/drawing/2014/main" id="{8A32F4AC-510D-7839-3C00-AD5D42DFEAB7}"/>
              </a:ext>
            </a:extLst>
          </p:cNvPr>
          <p:cNvSpPr/>
          <p:nvPr/>
        </p:nvSpPr>
        <p:spPr>
          <a:xfrm>
            <a:off x="10534659" y="6861561"/>
            <a:ext cx="1618693" cy="41148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algn="ctr">
              <a:buSzPts val="1200"/>
            </a:pPr>
            <a:r>
              <a:rPr lang="en-US" sz="1200" b="0" i="0" u="none" strike="noStrike" cap="none" dirty="0">
                <a:solidFill>
                  <a:srgbClr val="000000"/>
                </a:solidFill>
                <a:latin typeface="Times New Roman"/>
                <a:ea typeface="Times New Roman"/>
                <a:cs typeface="Times New Roman"/>
                <a:sym typeface="Times New Roman"/>
              </a:rPr>
              <a:t>BP7_S (RNA) + prediction (PP3/BP4)</a:t>
            </a:r>
            <a:endParaRPr sz="1400" b="0" i="0" u="none" strike="noStrike" cap="none" dirty="0">
              <a:solidFill>
                <a:srgbClr val="000000"/>
              </a:solidFill>
              <a:latin typeface="Arial"/>
              <a:ea typeface="Arial"/>
              <a:cs typeface="Arial"/>
              <a:sym typeface="Arial"/>
            </a:endParaRPr>
          </a:p>
        </p:txBody>
      </p:sp>
      <p:sp>
        <p:nvSpPr>
          <p:cNvPr id="282" name="Google Shape;61;p1">
            <a:extLst>
              <a:ext uri="{FF2B5EF4-FFF2-40B4-BE49-F238E27FC236}">
                <a16:creationId xmlns:a16="http://schemas.microsoft.com/office/drawing/2014/main" id="{059D6711-A254-8C98-211A-99C0183C89AF}"/>
              </a:ext>
            </a:extLst>
          </p:cNvPr>
          <p:cNvSpPr/>
          <p:nvPr/>
        </p:nvSpPr>
        <p:spPr>
          <a:xfrm>
            <a:off x="4392227" y="4451111"/>
            <a:ext cx="1311248" cy="1752879"/>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dirty="0">
                <a:solidFill>
                  <a:srgbClr val="000000"/>
                </a:solidFill>
                <a:latin typeface="Times New Roman"/>
                <a:ea typeface="Times New Roman"/>
                <a:cs typeface="Times New Roman"/>
                <a:sym typeface="Times New Roman"/>
              </a:rPr>
              <a:t>PVS1_S, PVS1_M, or PVS1_P (PVS1_Strength) applied</a:t>
            </a:r>
            <a:endParaRPr sz="1400" b="0" i="0" u="none" strike="noStrike" cap="none" dirty="0">
              <a:solidFill>
                <a:srgbClr val="FF0000"/>
              </a:solidFill>
              <a:latin typeface="Arial"/>
              <a:ea typeface="Arial"/>
              <a:cs typeface="Arial"/>
              <a:sym typeface="Arial"/>
            </a:endParaRPr>
          </a:p>
        </p:txBody>
      </p:sp>
      <p:sp>
        <p:nvSpPr>
          <p:cNvPr id="60" name="Google Shape;60;p1">
            <a:extLst>
              <a:ext uri="{FF2B5EF4-FFF2-40B4-BE49-F238E27FC236}">
                <a16:creationId xmlns:a16="http://schemas.microsoft.com/office/drawing/2014/main" id="{CC750A95-42A4-D13D-F598-7A2A8B78C1D5}"/>
              </a:ext>
            </a:extLst>
          </p:cNvPr>
          <p:cNvSpPr txBox="1"/>
          <p:nvPr/>
        </p:nvSpPr>
        <p:spPr>
          <a:xfrm>
            <a:off x="1592413" y="202456"/>
            <a:ext cx="1105800" cy="281970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 sz="1200" b="1" i="0" u="none" strike="noStrike" cap="none" dirty="0">
                <a:solidFill>
                  <a:srgbClr val="000000"/>
                </a:solidFill>
                <a:latin typeface="Times New Roman"/>
                <a:ea typeface="Times New Roman"/>
                <a:cs typeface="Times New Roman"/>
                <a:sym typeface="Times New Roman"/>
              </a:rPr>
              <a:t>Outside donor/acceptor +/- 1,2 dinucleotide positions (</a:t>
            </a:r>
            <a:r>
              <a:rPr lang="en" sz="1200" b="1" i="0" u="none" strike="noStrike" cap="none" dirty="0" err="1">
                <a:solidFill>
                  <a:srgbClr val="000000"/>
                </a:solidFill>
                <a:latin typeface="Times New Roman"/>
                <a:ea typeface="Times New Roman"/>
                <a:cs typeface="Times New Roman"/>
                <a:sym typeface="Times New Roman"/>
              </a:rPr>
              <a:t>exonic</a:t>
            </a:r>
            <a:r>
              <a:rPr lang="en" sz="1200" b="1" i="0" u="none" strike="noStrike" cap="none" dirty="0">
                <a:solidFill>
                  <a:srgbClr val="000000"/>
                </a:solidFill>
                <a:latin typeface="Times New Roman"/>
                <a:ea typeface="Times New Roman"/>
                <a:cs typeface="Times New Roman"/>
                <a:sym typeface="Times New Roman"/>
              </a:rPr>
              <a:t> or intronic)</a:t>
            </a:r>
            <a:endParaRPr sz="1400" b="1" i="0" u="none" strike="noStrike" cap="none" dirty="0">
              <a:solidFill>
                <a:srgbClr val="000000"/>
              </a:solidFill>
              <a:latin typeface="Arial"/>
              <a:ea typeface="Arial"/>
              <a:cs typeface="Arial"/>
              <a:sym typeface="Arial"/>
            </a:endParaRPr>
          </a:p>
        </p:txBody>
      </p:sp>
      <p:sp>
        <p:nvSpPr>
          <p:cNvPr id="61" name="Google Shape;61;p1">
            <a:extLst>
              <a:ext uri="{FF2B5EF4-FFF2-40B4-BE49-F238E27FC236}">
                <a16:creationId xmlns:a16="http://schemas.microsoft.com/office/drawing/2014/main" id="{66D65AF3-788F-16E0-A119-EDCC58C24923}"/>
              </a:ext>
            </a:extLst>
          </p:cNvPr>
          <p:cNvSpPr/>
          <p:nvPr/>
        </p:nvSpPr>
        <p:spPr>
          <a:xfrm>
            <a:off x="4392226" y="192717"/>
            <a:ext cx="1312149" cy="1793807"/>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dirty="0">
                <a:solidFill>
                  <a:srgbClr val="000000"/>
                </a:solidFill>
                <a:latin typeface="Times New Roman"/>
                <a:ea typeface="Times New Roman"/>
                <a:cs typeface="Times New Roman"/>
                <a:sym typeface="Times New Roman"/>
              </a:rPr>
              <a:t>PP3 applied</a:t>
            </a:r>
            <a:endParaRPr sz="1400" b="0" i="0" u="none" strike="noStrike" cap="none" dirty="0">
              <a:solidFill>
                <a:srgbClr val="FF0000"/>
              </a:solidFill>
              <a:latin typeface="Arial"/>
              <a:ea typeface="Arial"/>
              <a:cs typeface="Arial"/>
              <a:sym typeface="Arial"/>
            </a:endParaRPr>
          </a:p>
        </p:txBody>
      </p:sp>
      <p:sp>
        <p:nvSpPr>
          <p:cNvPr id="63" name="Google Shape;63;p1">
            <a:extLst>
              <a:ext uri="{FF2B5EF4-FFF2-40B4-BE49-F238E27FC236}">
                <a16:creationId xmlns:a16="http://schemas.microsoft.com/office/drawing/2014/main" id="{AF79B709-4C66-5007-AE56-9A33898A64D4}"/>
              </a:ext>
            </a:extLst>
          </p:cNvPr>
          <p:cNvSpPr/>
          <p:nvPr/>
        </p:nvSpPr>
        <p:spPr>
          <a:xfrm>
            <a:off x="5964241" y="192700"/>
            <a:ext cx="4572000" cy="274320"/>
          </a:xfrm>
          <a:prstGeom prst="rect">
            <a:avLst/>
          </a:prstGeom>
          <a:solidFill>
            <a:schemeClr val="lt1"/>
          </a:solid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 sz="1200" b="0" i="0" u="none" strike="noStrike" cap="none" dirty="0">
                <a:solidFill>
                  <a:srgbClr val="000000"/>
                </a:solidFill>
                <a:latin typeface="Times New Roman"/>
                <a:ea typeface="Times New Roman"/>
                <a:cs typeface="Times New Roman"/>
                <a:sym typeface="Times New Roman"/>
              </a:rPr>
              <a:t>No appropriate comparison P/LP variant in this splice region</a:t>
            </a:r>
            <a:endParaRPr sz="1400" b="0" i="0" u="none" strike="noStrike" cap="none" dirty="0">
              <a:solidFill>
                <a:srgbClr val="000000"/>
              </a:solidFill>
              <a:latin typeface="Arial"/>
              <a:ea typeface="Arial"/>
              <a:cs typeface="Arial"/>
              <a:sym typeface="Arial"/>
            </a:endParaRPr>
          </a:p>
        </p:txBody>
      </p:sp>
      <p:sp>
        <p:nvSpPr>
          <p:cNvPr id="64" name="Google Shape;64;p1">
            <a:extLst>
              <a:ext uri="{FF2B5EF4-FFF2-40B4-BE49-F238E27FC236}">
                <a16:creationId xmlns:a16="http://schemas.microsoft.com/office/drawing/2014/main" id="{664278A6-84B3-81E7-7465-0845C7A28F67}"/>
              </a:ext>
            </a:extLst>
          </p:cNvPr>
          <p:cNvSpPr/>
          <p:nvPr/>
        </p:nvSpPr>
        <p:spPr>
          <a:xfrm>
            <a:off x="5964241" y="539652"/>
            <a:ext cx="4572000" cy="27432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dirty="0">
                <a:solidFill>
                  <a:srgbClr val="000000"/>
                </a:solidFill>
                <a:latin typeface="Times New Roman"/>
                <a:ea typeface="Times New Roman"/>
                <a:cs typeface="Times New Roman"/>
                <a:sym typeface="Times New Roman"/>
              </a:rPr>
              <a:t>P variant at this </a:t>
            </a:r>
            <a:r>
              <a:rPr lang="en-US" sz="1200" b="0" i="0" u="none" strike="noStrike" cap="none" dirty="0" err="1">
                <a:solidFill>
                  <a:srgbClr val="000000"/>
                </a:solidFill>
                <a:latin typeface="Times New Roman"/>
                <a:ea typeface="Times New Roman"/>
                <a:cs typeface="Times New Roman"/>
                <a:sym typeface="Times New Roman"/>
              </a:rPr>
              <a:t>nt</a:t>
            </a:r>
            <a:r>
              <a:rPr lang="en-US" sz="1200" b="0" i="0" u="none" strike="noStrike" cap="none" dirty="0">
                <a:solidFill>
                  <a:srgbClr val="000000"/>
                </a:solidFill>
                <a:latin typeface="Times New Roman"/>
                <a:ea typeface="Times New Roman"/>
                <a:cs typeface="Times New Roman"/>
                <a:sym typeface="Times New Roman"/>
              </a:rPr>
              <a:t> position with same predicted impact</a:t>
            </a:r>
            <a:endParaRPr lang="en-US" sz="1400" b="0" i="0" u="none" strike="noStrike" cap="none" dirty="0">
              <a:solidFill>
                <a:srgbClr val="000000"/>
              </a:solidFill>
              <a:latin typeface="Arial"/>
              <a:ea typeface="Arial"/>
              <a:cs typeface="Arial"/>
              <a:sym typeface="Arial"/>
            </a:endParaRPr>
          </a:p>
        </p:txBody>
      </p:sp>
      <p:sp>
        <p:nvSpPr>
          <p:cNvPr id="65" name="Google Shape;65;p1">
            <a:extLst>
              <a:ext uri="{FF2B5EF4-FFF2-40B4-BE49-F238E27FC236}">
                <a16:creationId xmlns:a16="http://schemas.microsoft.com/office/drawing/2014/main" id="{B39906C6-F8D7-5774-AABF-C3E1CD475791}"/>
              </a:ext>
            </a:extLst>
          </p:cNvPr>
          <p:cNvSpPr/>
          <p:nvPr/>
        </p:nvSpPr>
        <p:spPr>
          <a:xfrm>
            <a:off x="10945100" y="192700"/>
            <a:ext cx="1188720" cy="27432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 sz="1200" b="0" i="0" u="none" strike="noStrike" cap="none" dirty="0">
                <a:solidFill>
                  <a:srgbClr val="000000"/>
                </a:solidFill>
                <a:latin typeface="Times New Roman"/>
                <a:ea typeface="Times New Roman"/>
                <a:cs typeface="Times New Roman"/>
                <a:sym typeface="Times New Roman"/>
              </a:rPr>
              <a:t>PP3</a:t>
            </a:r>
            <a:endParaRPr sz="1400" b="0" i="0" u="none" strike="noStrike" cap="none" dirty="0">
              <a:solidFill>
                <a:srgbClr val="000000"/>
              </a:solidFill>
              <a:latin typeface="Arial"/>
              <a:ea typeface="Arial"/>
              <a:cs typeface="Arial"/>
              <a:sym typeface="Arial"/>
            </a:endParaRPr>
          </a:p>
        </p:txBody>
      </p:sp>
      <p:sp>
        <p:nvSpPr>
          <p:cNvPr id="66" name="Google Shape;66;p1">
            <a:extLst>
              <a:ext uri="{FF2B5EF4-FFF2-40B4-BE49-F238E27FC236}">
                <a16:creationId xmlns:a16="http://schemas.microsoft.com/office/drawing/2014/main" id="{7197C144-6DCB-70B8-01C6-841AA88DF9A6}"/>
              </a:ext>
            </a:extLst>
          </p:cNvPr>
          <p:cNvSpPr/>
          <p:nvPr/>
        </p:nvSpPr>
        <p:spPr>
          <a:xfrm>
            <a:off x="10945100" y="568535"/>
            <a:ext cx="1188720" cy="27432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 sz="1200" b="0" i="0" u="none" strike="noStrike" cap="none" dirty="0">
                <a:solidFill>
                  <a:srgbClr val="000000"/>
                </a:solidFill>
                <a:latin typeface="Times New Roman"/>
                <a:ea typeface="Times New Roman"/>
                <a:cs typeface="Times New Roman"/>
                <a:sym typeface="Times New Roman"/>
              </a:rPr>
              <a:t>PP3 + PS1</a:t>
            </a:r>
            <a:endParaRPr sz="1400" b="0" i="0" u="none" strike="noStrike" cap="none" dirty="0">
              <a:solidFill>
                <a:srgbClr val="000000"/>
              </a:solidFill>
              <a:latin typeface="Arial"/>
              <a:ea typeface="Arial"/>
              <a:cs typeface="Arial"/>
              <a:sym typeface="Arial"/>
            </a:endParaRPr>
          </a:p>
        </p:txBody>
      </p:sp>
      <p:sp>
        <p:nvSpPr>
          <p:cNvPr id="67" name="Google Shape;67;p1">
            <a:extLst>
              <a:ext uri="{FF2B5EF4-FFF2-40B4-BE49-F238E27FC236}">
                <a16:creationId xmlns:a16="http://schemas.microsoft.com/office/drawing/2014/main" id="{A241DF37-ABB2-87DD-A7A6-94FDC75E73A6}"/>
              </a:ext>
            </a:extLst>
          </p:cNvPr>
          <p:cNvSpPr/>
          <p:nvPr/>
        </p:nvSpPr>
        <p:spPr>
          <a:xfrm>
            <a:off x="5964241" y="914102"/>
            <a:ext cx="4572000" cy="27432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dirty="0">
                <a:solidFill>
                  <a:srgbClr val="000000"/>
                </a:solidFill>
                <a:latin typeface="Times New Roman"/>
                <a:ea typeface="Times New Roman"/>
                <a:cs typeface="Times New Roman"/>
                <a:sym typeface="Times New Roman"/>
              </a:rPr>
              <a:t>LP variant at this </a:t>
            </a:r>
            <a:r>
              <a:rPr lang="en-US" sz="1200" b="0" i="0" u="none" strike="noStrike" cap="none" dirty="0" err="1">
                <a:solidFill>
                  <a:srgbClr val="000000"/>
                </a:solidFill>
                <a:latin typeface="Times New Roman"/>
                <a:ea typeface="Times New Roman"/>
                <a:cs typeface="Times New Roman"/>
                <a:sym typeface="Times New Roman"/>
              </a:rPr>
              <a:t>nt</a:t>
            </a:r>
            <a:r>
              <a:rPr lang="en-US" sz="1200" b="0" i="0" u="none" strike="noStrike" cap="none" dirty="0">
                <a:solidFill>
                  <a:srgbClr val="000000"/>
                </a:solidFill>
                <a:latin typeface="Times New Roman"/>
                <a:ea typeface="Times New Roman"/>
                <a:cs typeface="Times New Roman"/>
                <a:sym typeface="Times New Roman"/>
              </a:rPr>
              <a:t> position with same predicted impact</a:t>
            </a:r>
            <a:endParaRPr lang="en-US" sz="1400" b="0" i="0" u="none" strike="noStrike" cap="none" dirty="0">
              <a:solidFill>
                <a:srgbClr val="000000"/>
              </a:solidFill>
              <a:latin typeface="Arial"/>
              <a:ea typeface="Arial"/>
              <a:cs typeface="Arial"/>
              <a:sym typeface="Arial"/>
            </a:endParaRPr>
          </a:p>
        </p:txBody>
      </p:sp>
      <p:sp>
        <p:nvSpPr>
          <p:cNvPr id="69" name="Google Shape;69;p1">
            <a:extLst>
              <a:ext uri="{FF2B5EF4-FFF2-40B4-BE49-F238E27FC236}">
                <a16:creationId xmlns:a16="http://schemas.microsoft.com/office/drawing/2014/main" id="{334422F8-422D-236F-67F6-BBB94305C67B}"/>
              </a:ext>
            </a:extLst>
          </p:cNvPr>
          <p:cNvSpPr/>
          <p:nvPr/>
        </p:nvSpPr>
        <p:spPr>
          <a:xfrm>
            <a:off x="5964241" y="1286262"/>
            <a:ext cx="4572000" cy="27432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dirty="0">
                <a:solidFill>
                  <a:srgbClr val="000000"/>
                </a:solidFill>
                <a:latin typeface="Times New Roman"/>
                <a:ea typeface="Times New Roman"/>
                <a:cs typeface="Times New Roman"/>
                <a:sym typeface="Times New Roman"/>
              </a:rPr>
              <a:t>P variant within the same splice region with same predicted impact</a:t>
            </a:r>
            <a:endParaRPr lang="en-US" sz="1400" b="0" i="0" u="none" strike="noStrike" cap="none" dirty="0">
              <a:solidFill>
                <a:srgbClr val="000000"/>
              </a:solidFill>
              <a:latin typeface="Arial"/>
              <a:ea typeface="Arial"/>
              <a:cs typeface="Arial"/>
              <a:sym typeface="Arial"/>
            </a:endParaRPr>
          </a:p>
        </p:txBody>
      </p:sp>
      <p:sp>
        <p:nvSpPr>
          <p:cNvPr id="70" name="Google Shape;70;p1">
            <a:extLst>
              <a:ext uri="{FF2B5EF4-FFF2-40B4-BE49-F238E27FC236}">
                <a16:creationId xmlns:a16="http://schemas.microsoft.com/office/drawing/2014/main" id="{38EA5A89-07DD-1831-4850-5BC600832D74}"/>
              </a:ext>
            </a:extLst>
          </p:cNvPr>
          <p:cNvSpPr/>
          <p:nvPr/>
        </p:nvSpPr>
        <p:spPr>
          <a:xfrm>
            <a:off x="10945100" y="944370"/>
            <a:ext cx="1188720" cy="27432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dirty="0">
                <a:solidFill>
                  <a:srgbClr val="000000"/>
                </a:solidFill>
                <a:latin typeface="Times New Roman"/>
                <a:ea typeface="Times New Roman"/>
                <a:cs typeface="Times New Roman"/>
                <a:sym typeface="Times New Roman"/>
              </a:rPr>
              <a:t>PP3 + PS1_M</a:t>
            </a:r>
            <a:endParaRPr lang="en-US" sz="1400" b="0" i="0" u="none" strike="noStrike" cap="none" dirty="0">
              <a:solidFill>
                <a:srgbClr val="000000"/>
              </a:solidFill>
              <a:latin typeface="Arial"/>
              <a:ea typeface="Arial"/>
              <a:cs typeface="Arial"/>
              <a:sym typeface="Arial"/>
            </a:endParaRPr>
          </a:p>
        </p:txBody>
      </p:sp>
      <p:sp>
        <p:nvSpPr>
          <p:cNvPr id="71" name="Google Shape;71;p1">
            <a:extLst>
              <a:ext uri="{FF2B5EF4-FFF2-40B4-BE49-F238E27FC236}">
                <a16:creationId xmlns:a16="http://schemas.microsoft.com/office/drawing/2014/main" id="{736AD2C6-CCC9-92DB-7B4F-874A523ABD7F}"/>
              </a:ext>
            </a:extLst>
          </p:cNvPr>
          <p:cNvSpPr/>
          <p:nvPr/>
        </p:nvSpPr>
        <p:spPr>
          <a:xfrm>
            <a:off x="10945100" y="1320205"/>
            <a:ext cx="1188720" cy="27432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dirty="0">
                <a:solidFill>
                  <a:srgbClr val="000000"/>
                </a:solidFill>
                <a:latin typeface="Times New Roman"/>
                <a:ea typeface="Times New Roman"/>
                <a:cs typeface="Times New Roman"/>
                <a:sym typeface="Times New Roman"/>
              </a:rPr>
              <a:t>PP3 + PS1_M</a:t>
            </a:r>
            <a:endParaRPr lang="en-US" sz="1400" b="0" i="0" u="none" strike="noStrike" cap="none" dirty="0">
              <a:solidFill>
                <a:srgbClr val="000000"/>
              </a:solidFill>
              <a:latin typeface="Arial"/>
              <a:ea typeface="Arial"/>
              <a:cs typeface="Arial"/>
              <a:sym typeface="Arial"/>
            </a:endParaRPr>
          </a:p>
        </p:txBody>
      </p:sp>
      <p:sp>
        <p:nvSpPr>
          <p:cNvPr id="72" name="Google Shape;72;p1">
            <a:extLst>
              <a:ext uri="{FF2B5EF4-FFF2-40B4-BE49-F238E27FC236}">
                <a16:creationId xmlns:a16="http://schemas.microsoft.com/office/drawing/2014/main" id="{F9FE4059-C05A-8047-3239-83A12F60C98B}"/>
              </a:ext>
            </a:extLst>
          </p:cNvPr>
          <p:cNvSpPr/>
          <p:nvPr/>
        </p:nvSpPr>
        <p:spPr>
          <a:xfrm>
            <a:off x="10945100" y="1696039"/>
            <a:ext cx="1188720" cy="27432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dirty="0">
                <a:solidFill>
                  <a:srgbClr val="000000"/>
                </a:solidFill>
                <a:latin typeface="Times New Roman"/>
                <a:ea typeface="Times New Roman"/>
                <a:cs typeface="Times New Roman"/>
                <a:sym typeface="Times New Roman"/>
              </a:rPr>
              <a:t>PP3 + PS1_P</a:t>
            </a:r>
            <a:endParaRPr lang="en-US" sz="1400" b="0" i="0" u="none" strike="noStrike" cap="none" dirty="0">
              <a:solidFill>
                <a:srgbClr val="000000"/>
              </a:solidFill>
              <a:latin typeface="Arial"/>
              <a:ea typeface="Arial"/>
              <a:cs typeface="Arial"/>
              <a:sym typeface="Arial"/>
            </a:endParaRPr>
          </a:p>
        </p:txBody>
      </p:sp>
      <p:sp>
        <p:nvSpPr>
          <p:cNvPr id="73" name="Google Shape;73;p1">
            <a:extLst>
              <a:ext uri="{FF2B5EF4-FFF2-40B4-BE49-F238E27FC236}">
                <a16:creationId xmlns:a16="http://schemas.microsoft.com/office/drawing/2014/main" id="{7966D079-61A6-E0EE-DF9A-C5E1A1663D73}"/>
              </a:ext>
            </a:extLst>
          </p:cNvPr>
          <p:cNvSpPr/>
          <p:nvPr/>
        </p:nvSpPr>
        <p:spPr>
          <a:xfrm>
            <a:off x="9236252" y="2045688"/>
            <a:ext cx="2913595" cy="27432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 sz="1200" b="0" i="0" u="none" strike="noStrike" cap="none" dirty="0">
                <a:solidFill>
                  <a:srgbClr val="000000"/>
                </a:solidFill>
                <a:latin typeface="Times New Roman"/>
                <a:ea typeface="Times New Roman"/>
                <a:cs typeface="Times New Roman"/>
                <a:sym typeface="Times New Roman"/>
              </a:rPr>
              <a:t>N/A (consider protein impact if relevant)</a:t>
            </a:r>
            <a:endParaRPr sz="1400" b="0" i="0" u="none" strike="noStrike" cap="none" dirty="0">
              <a:solidFill>
                <a:srgbClr val="000000"/>
              </a:solidFill>
              <a:latin typeface="Arial"/>
              <a:ea typeface="Arial"/>
              <a:cs typeface="Arial"/>
              <a:sym typeface="Arial"/>
            </a:endParaRPr>
          </a:p>
        </p:txBody>
      </p:sp>
      <p:cxnSp>
        <p:nvCxnSpPr>
          <p:cNvPr id="79" name="Google Shape;79;p1">
            <a:extLst>
              <a:ext uri="{FF2B5EF4-FFF2-40B4-BE49-F238E27FC236}">
                <a16:creationId xmlns:a16="http://schemas.microsoft.com/office/drawing/2014/main" id="{19690275-B329-1887-68FE-76FD034AA4AA}"/>
              </a:ext>
            </a:extLst>
          </p:cNvPr>
          <p:cNvCxnSpPr>
            <a:cxnSpLocks/>
            <a:stCxn id="59" idx="3"/>
            <a:endCxn id="61" idx="1"/>
          </p:cNvCxnSpPr>
          <p:nvPr/>
        </p:nvCxnSpPr>
        <p:spPr>
          <a:xfrm flipV="1">
            <a:off x="4043366" y="1089621"/>
            <a:ext cx="348860" cy="522685"/>
          </a:xfrm>
          <a:prstGeom prst="straightConnector1">
            <a:avLst/>
          </a:prstGeom>
          <a:noFill/>
          <a:ln w="9525" cap="flat" cmpd="sng">
            <a:solidFill>
              <a:srgbClr val="44546A"/>
            </a:solidFill>
            <a:prstDash val="solid"/>
            <a:round/>
            <a:headEnd type="none" w="sm" len="sm"/>
            <a:tailEnd type="triangle" w="med" len="med"/>
          </a:ln>
        </p:spPr>
      </p:cxnSp>
      <p:cxnSp>
        <p:nvCxnSpPr>
          <p:cNvPr id="80" name="Google Shape;80;p1">
            <a:extLst>
              <a:ext uri="{FF2B5EF4-FFF2-40B4-BE49-F238E27FC236}">
                <a16:creationId xmlns:a16="http://schemas.microsoft.com/office/drawing/2014/main" id="{CB9F7551-0D55-FE59-A010-A62E2F1E3828}"/>
              </a:ext>
            </a:extLst>
          </p:cNvPr>
          <p:cNvCxnSpPr>
            <a:cxnSpLocks/>
            <a:stCxn id="59" idx="3"/>
            <a:endCxn id="45" idx="1"/>
          </p:cNvCxnSpPr>
          <p:nvPr/>
        </p:nvCxnSpPr>
        <p:spPr>
          <a:xfrm>
            <a:off x="4043366" y="1612306"/>
            <a:ext cx="348860" cy="570013"/>
          </a:xfrm>
          <a:prstGeom prst="straightConnector1">
            <a:avLst/>
          </a:prstGeom>
          <a:noFill/>
          <a:ln w="9525" cap="flat" cmpd="sng">
            <a:solidFill>
              <a:srgbClr val="44546A"/>
            </a:solidFill>
            <a:prstDash val="solid"/>
            <a:round/>
            <a:headEnd type="none" w="sm" len="sm"/>
            <a:tailEnd type="triangle" w="med" len="med"/>
          </a:ln>
        </p:spPr>
      </p:cxnSp>
      <p:cxnSp>
        <p:nvCxnSpPr>
          <p:cNvPr id="81" name="Google Shape;81;p1">
            <a:extLst>
              <a:ext uri="{FF2B5EF4-FFF2-40B4-BE49-F238E27FC236}">
                <a16:creationId xmlns:a16="http://schemas.microsoft.com/office/drawing/2014/main" id="{90220B47-2924-BE4B-E5F1-A97487153626}"/>
              </a:ext>
            </a:extLst>
          </p:cNvPr>
          <p:cNvCxnSpPr>
            <a:cxnSpLocks/>
            <a:stCxn id="61" idx="3"/>
            <a:endCxn id="63" idx="1"/>
          </p:cNvCxnSpPr>
          <p:nvPr/>
        </p:nvCxnSpPr>
        <p:spPr>
          <a:xfrm flipV="1">
            <a:off x="5704375" y="329860"/>
            <a:ext cx="259866" cy="759761"/>
          </a:xfrm>
          <a:prstGeom prst="straightConnector1">
            <a:avLst/>
          </a:prstGeom>
          <a:noFill/>
          <a:ln w="9525" cap="flat" cmpd="sng">
            <a:solidFill>
              <a:srgbClr val="44546A"/>
            </a:solidFill>
            <a:prstDash val="solid"/>
            <a:round/>
            <a:headEnd type="none" w="sm" len="sm"/>
            <a:tailEnd type="triangle" w="med" len="med"/>
          </a:ln>
        </p:spPr>
      </p:cxnSp>
      <p:cxnSp>
        <p:nvCxnSpPr>
          <p:cNvPr id="82" name="Google Shape;82;p1">
            <a:extLst>
              <a:ext uri="{FF2B5EF4-FFF2-40B4-BE49-F238E27FC236}">
                <a16:creationId xmlns:a16="http://schemas.microsoft.com/office/drawing/2014/main" id="{E77C769D-934F-8004-7B54-5D308C474EED}"/>
              </a:ext>
            </a:extLst>
          </p:cNvPr>
          <p:cNvCxnSpPr>
            <a:cxnSpLocks/>
            <a:stCxn id="61" idx="3"/>
            <a:endCxn id="64" idx="1"/>
          </p:cNvCxnSpPr>
          <p:nvPr/>
        </p:nvCxnSpPr>
        <p:spPr>
          <a:xfrm flipV="1">
            <a:off x="5704375" y="676812"/>
            <a:ext cx="259866" cy="412809"/>
          </a:xfrm>
          <a:prstGeom prst="straightConnector1">
            <a:avLst/>
          </a:prstGeom>
          <a:noFill/>
          <a:ln w="9525" cap="flat" cmpd="sng">
            <a:solidFill>
              <a:srgbClr val="44546A"/>
            </a:solidFill>
            <a:prstDash val="solid"/>
            <a:round/>
            <a:headEnd type="none" w="sm" len="sm"/>
            <a:tailEnd type="triangle" w="med" len="med"/>
          </a:ln>
        </p:spPr>
      </p:cxnSp>
      <p:cxnSp>
        <p:nvCxnSpPr>
          <p:cNvPr id="83" name="Google Shape;83;p1">
            <a:extLst>
              <a:ext uri="{FF2B5EF4-FFF2-40B4-BE49-F238E27FC236}">
                <a16:creationId xmlns:a16="http://schemas.microsoft.com/office/drawing/2014/main" id="{3ADB04D8-6F56-3790-2CE1-7A8CA6A6A5F4}"/>
              </a:ext>
            </a:extLst>
          </p:cNvPr>
          <p:cNvCxnSpPr>
            <a:cxnSpLocks/>
            <a:stCxn id="61" idx="3"/>
            <a:endCxn id="67" idx="1"/>
          </p:cNvCxnSpPr>
          <p:nvPr/>
        </p:nvCxnSpPr>
        <p:spPr>
          <a:xfrm flipV="1">
            <a:off x="5704375" y="1051262"/>
            <a:ext cx="259866" cy="38359"/>
          </a:xfrm>
          <a:prstGeom prst="straightConnector1">
            <a:avLst/>
          </a:prstGeom>
          <a:noFill/>
          <a:ln w="9525" cap="flat" cmpd="sng">
            <a:solidFill>
              <a:srgbClr val="44546A"/>
            </a:solidFill>
            <a:prstDash val="solid"/>
            <a:round/>
            <a:headEnd type="none" w="sm" len="sm"/>
            <a:tailEnd type="triangle" w="med" len="med"/>
          </a:ln>
        </p:spPr>
      </p:cxnSp>
      <p:cxnSp>
        <p:nvCxnSpPr>
          <p:cNvPr id="85" name="Google Shape;85;p1">
            <a:extLst>
              <a:ext uri="{FF2B5EF4-FFF2-40B4-BE49-F238E27FC236}">
                <a16:creationId xmlns:a16="http://schemas.microsoft.com/office/drawing/2014/main" id="{40C773D5-A0C8-37F2-AD68-529F1DCC7CC3}"/>
              </a:ext>
            </a:extLst>
          </p:cNvPr>
          <p:cNvCxnSpPr>
            <a:cxnSpLocks/>
            <a:stCxn id="61" idx="3"/>
            <a:endCxn id="69" idx="1"/>
          </p:cNvCxnSpPr>
          <p:nvPr/>
        </p:nvCxnSpPr>
        <p:spPr>
          <a:xfrm>
            <a:off x="5704375" y="1089621"/>
            <a:ext cx="259866" cy="333801"/>
          </a:xfrm>
          <a:prstGeom prst="straightConnector1">
            <a:avLst/>
          </a:prstGeom>
          <a:noFill/>
          <a:ln w="9525" cap="flat" cmpd="sng">
            <a:solidFill>
              <a:srgbClr val="44546A"/>
            </a:solidFill>
            <a:prstDash val="solid"/>
            <a:round/>
            <a:headEnd type="none" w="sm" len="sm"/>
            <a:tailEnd type="triangle" w="med" len="med"/>
          </a:ln>
        </p:spPr>
      </p:cxnSp>
      <p:cxnSp>
        <p:nvCxnSpPr>
          <p:cNvPr id="86" name="Google Shape;86;p1">
            <a:extLst>
              <a:ext uri="{FF2B5EF4-FFF2-40B4-BE49-F238E27FC236}">
                <a16:creationId xmlns:a16="http://schemas.microsoft.com/office/drawing/2014/main" id="{0E7F9DD3-66F7-D45A-888D-48CC4ABC9FC1}"/>
              </a:ext>
            </a:extLst>
          </p:cNvPr>
          <p:cNvCxnSpPr>
            <a:cxnSpLocks/>
            <a:stCxn id="61" idx="3"/>
          </p:cNvCxnSpPr>
          <p:nvPr/>
        </p:nvCxnSpPr>
        <p:spPr>
          <a:xfrm>
            <a:off x="5704375" y="1089621"/>
            <a:ext cx="259866" cy="735122"/>
          </a:xfrm>
          <a:prstGeom prst="straightConnector1">
            <a:avLst/>
          </a:prstGeom>
          <a:noFill/>
          <a:ln w="9525" cap="flat" cmpd="sng">
            <a:solidFill>
              <a:srgbClr val="44546A"/>
            </a:solidFill>
            <a:prstDash val="solid"/>
            <a:round/>
            <a:headEnd type="none" w="sm" len="sm"/>
            <a:tailEnd type="triangle" w="med" len="med"/>
          </a:ln>
        </p:spPr>
      </p:cxnSp>
      <p:cxnSp>
        <p:nvCxnSpPr>
          <p:cNvPr id="118" name="Google Shape;118;p1">
            <a:extLst>
              <a:ext uri="{FF2B5EF4-FFF2-40B4-BE49-F238E27FC236}">
                <a16:creationId xmlns:a16="http://schemas.microsoft.com/office/drawing/2014/main" id="{89B20734-E9C2-7449-BF3D-570CF0D76FA7}"/>
              </a:ext>
            </a:extLst>
          </p:cNvPr>
          <p:cNvCxnSpPr>
            <a:stCxn id="63" idx="3"/>
            <a:endCxn id="65" idx="1"/>
          </p:cNvCxnSpPr>
          <p:nvPr/>
        </p:nvCxnSpPr>
        <p:spPr>
          <a:xfrm>
            <a:off x="10536241" y="329860"/>
            <a:ext cx="408859" cy="0"/>
          </a:xfrm>
          <a:prstGeom prst="straightConnector1">
            <a:avLst/>
          </a:prstGeom>
          <a:noFill/>
          <a:ln w="9525" cap="flat" cmpd="sng">
            <a:solidFill>
              <a:srgbClr val="595959"/>
            </a:solidFill>
            <a:prstDash val="solid"/>
            <a:round/>
            <a:headEnd type="none" w="sm" len="sm"/>
            <a:tailEnd type="triangle" w="med" len="med"/>
          </a:ln>
        </p:spPr>
      </p:cxnSp>
      <p:cxnSp>
        <p:nvCxnSpPr>
          <p:cNvPr id="119" name="Google Shape;119;p1">
            <a:extLst>
              <a:ext uri="{FF2B5EF4-FFF2-40B4-BE49-F238E27FC236}">
                <a16:creationId xmlns:a16="http://schemas.microsoft.com/office/drawing/2014/main" id="{76A80E33-227C-40F6-7352-B76CF34067A4}"/>
              </a:ext>
            </a:extLst>
          </p:cNvPr>
          <p:cNvCxnSpPr>
            <a:cxnSpLocks/>
            <a:stCxn id="64" idx="3"/>
            <a:endCxn id="66" idx="1"/>
          </p:cNvCxnSpPr>
          <p:nvPr/>
        </p:nvCxnSpPr>
        <p:spPr>
          <a:xfrm>
            <a:off x="10536241" y="676812"/>
            <a:ext cx="408859" cy="0"/>
          </a:xfrm>
          <a:prstGeom prst="straightConnector1">
            <a:avLst/>
          </a:prstGeom>
          <a:noFill/>
          <a:ln w="9525" cap="flat" cmpd="sng">
            <a:solidFill>
              <a:srgbClr val="595959"/>
            </a:solidFill>
            <a:prstDash val="solid"/>
            <a:round/>
            <a:headEnd type="none" w="sm" len="sm"/>
            <a:tailEnd type="triangle" w="med" len="med"/>
          </a:ln>
        </p:spPr>
      </p:cxnSp>
      <p:cxnSp>
        <p:nvCxnSpPr>
          <p:cNvPr id="120" name="Google Shape;120;p1">
            <a:extLst>
              <a:ext uri="{FF2B5EF4-FFF2-40B4-BE49-F238E27FC236}">
                <a16:creationId xmlns:a16="http://schemas.microsoft.com/office/drawing/2014/main" id="{422C0BFC-D1CC-3D1F-0B77-F12AB93D8C91}"/>
              </a:ext>
            </a:extLst>
          </p:cNvPr>
          <p:cNvCxnSpPr>
            <a:stCxn id="67" idx="3"/>
            <a:endCxn id="70" idx="1"/>
          </p:cNvCxnSpPr>
          <p:nvPr/>
        </p:nvCxnSpPr>
        <p:spPr>
          <a:xfrm>
            <a:off x="10536241" y="1051262"/>
            <a:ext cx="408859" cy="0"/>
          </a:xfrm>
          <a:prstGeom prst="straightConnector1">
            <a:avLst/>
          </a:prstGeom>
          <a:noFill/>
          <a:ln w="9525" cap="flat" cmpd="sng">
            <a:solidFill>
              <a:srgbClr val="595959"/>
            </a:solidFill>
            <a:prstDash val="solid"/>
            <a:round/>
            <a:headEnd type="none" w="sm" len="sm"/>
            <a:tailEnd type="triangle" w="med" len="med"/>
          </a:ln>
        </p:spPr>
      </p:cxnSp>
      <p:cxnSp>
        <p:nvCxnSpPr>
          <p:cNvPr id="121" name="Google Shape;121;p1">
            <a:extLst>
              <a:ext uri="{FF2B5EF4-FFF2-40B4-BE49-F238E27FC236}">
                <a16:creationId xmlns:a16="http://schemas.microsoft.com/office/drawing/2014/main" id="{CB4CAFDE-5515-2110-DEF8-CD01EE2A284F}"/>
              </a:ext>
            </a:extLst>
          </p:cNvPr>
          <p:cNvCxnSpPr>
            <a:cxnSpLocks/>
            <a:stCxn id="69" idx="3"/>
            <a:endCxn id="71" idx="1"/>
          </p:cNvCxnSpPr>
          <p:nvPr/>
        </p:nvCxnSpPr>
        <p:spPr>
          <a:xfrm>
            <a:off x="10536241" y="1423422"/>
            <a:ext cx="408859" cy="0"/>
          </a:xfrm>
          <a:prstGeom prst="straightConnector1">
            <a:avLst/>
          </a:prstGeom>
          <a:noFill/>
          <a:ln w="9525" cap="flat" cmpd="sng">
            <a:solidFill>
              <a:srgbClr val="595959"/>
            </a:solidFill>
            <a:prstDash val="solid"/>
            <a:round/>
            <a:headEnd type="none" w="sm" len="sm"/>
            <a:tailEnd type="triangle" w="med" len="med"/>
          </a:ln>
        </p:spPr>
      </p:cxnSp>
      <p:cxnSp>
        <p:nvCxnSpPr>
          <p:cNvPr id="122" name="Google Shape;122;p1">
            <a:extLst>
              <a:ext uri="{FF2B5EF4-FFF2-40B4-BE49-F238E27FC236}">
                <a16:creationId xmlns:a16="http://schemas.microsoft.com/office/drawing/2014/main" id="{4D4D1235-2B74-F9A4-5272-9A7A007E4611}"/>
              </a:ext>
            </a:extLst>
          </p:cNvPr>
          <p:cNvCxnSpPr>
            <a:cxnSpLocks/>
            <a:stCxn id="8" idx="3"/>
            <a:endCxn id="72" idx="1"/>
          </p:cNvCxnSpPr>
          <p:nvPr/>
        </p:nvCxnSpPr>
        <p:spPr>
          <a:xfrm flipV="1">
            <a:off x="10536241" y="1833199"/>
            <a:ext cx="408859" cy="3273"/>
          </a:xfrm>
          <a:prstGeom prst="straightConnector1">
            <a:avLst/>
          </a:prstGeom>
          <a:noFill/>
          <a:ln w="9525" cap="flat" cmpd="sng">
            <a:solidFill>
              <a:srgbClr val="595959"/>
            </a:solidFill>
            <a:prstDash val="solid"/>
            <a:round/>
            <a:headEnd type="none" w="sm" len="sm"/>
            <a:tailEnd type="triangle" w="med" len="med"/>
          </a:ln>
        </p:spPr>
      </p:cxnSp>
      <p:cxnSp>
        <p:nvCxnSpPr>
          <p:cNvPr id="123" name="Google Shape;123;p1">
            <a:extLst>
              <a:ext uri="{FF2B5EF4-FFF2-40B4-BE49-F238E27FC236}">
                <a16:creationId xmlns:a16="http://schemas.microsoft.com/office/drawing/2014/main" id="{F7D67984-FAD3-2BBD-B419-2C621DCE6BB0}"/>
              </a:ext>
            </a:extLst>
          </p:cNvPr>
          <p:cNvCxnSpPr>
            <a:cxnSpLocks/>
            <a:stCxn id="45" idx="3"/>
            <a:endCxn id="73" idx="1"/>
          </p:cNvCxnSpPr>
          <p:nvPr/>
        </p:nvCxnSpPr>
        <p:spPr>
          <a:xfrm>
            <a:off x="8364915" y="2182319"/>
            <a:ext cx="871337" cy="529"/>
          </a:xfrm>
          <a:prstGeom prst="straightConnector1">
            <a:avLst/>
          </a:prstGeom>
          <a:noFill/>
          <a:ln w="9525" cap="flat" cmpd="sng">
            <a:solidFill>
              <a:srgbClr val="595959"/>
            </a:solidFill>
            <a:prstDash val="solid"/>
            <a:round/>
            <a:headEnd type="none" w="sm" len="sm"/>
            <a:tailEnd type="triangle" w="med" len="med"/>
          </a:ln>
        </p:spPr>
      </p:cxnSp>
      <p:sp>
        <p:nvSpPr>
          <p:cNvPr id="131" name="Google Shape;131;p1">
            <a:extLst>
              <a:ext uri="{FF2B5EF4-FFF2-40B4-BE49-F238E27FC236}">
                <a16:creationId xmlns:a16="http://schemas.microsoft.com/office/drawing/2014/main" id="{DC084B7B-EBE5-F934-C941-B22CBC36940E}"/>
              </a:ext>
            </a:extLst>
          </p:cNvPr>
          <p:cNvSpPr txBox="1"/>
          <p:nvPr/>
        </p:nvSpPr>
        <p:spPr>
          <a:xfrm>
            <a:off x="234482" y="6861561"/>
            <a:ext cx="1105800" cy="4158296"/>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1" i="0" u="none" strike="noStrike" cap="none" dirty="0">
                <a:solidFill>
                  <a:srgbClr val="000000"/>
                </a:solidFill>
                <a:latin typeface="Times New Roman"/>
                <a:ea typeface="Times New Roman"/>
                <a:cs typeface="Times New Roman"/>
                <a:sym typeface="Times New Roman"/>
              </a:rPr>
              <a:t>RNA/Splicing Data</a:t>
            </a:r>
          </a:p>
          <a:p>
            <a:pPr marL="0" marR="0" lvl="0" indent="0" algn="ctr" rtl="0">
              <a:lnSpc>
                <a:spcPct val="100000"/>
              </a:lnSpc>
              <a:spcBef>
                <a:spcPts val="0"/>
              </a:spcBef>
              <a:spcAft>
                <a:spcPts val="0"/>
              </a:spcAft>
              <a:buClr>
                <a:srgbClr val="000000"/>
              </a:buClr>
              <a:buSzPts val="1200"/>
              <a:buFont typeface="Arial"/>
              <a:buNone/>
            </a:pPr>
            <a:endParaRPr lang="en-US" sz="1200" b="1" dirty="0">
              <a:latin typeface="Times New Roman"/>
              <a:ea typeface="Times New Roman"/>
              <a:cs typeface="Times New Roman"/>
              <a:sym typeface="Times New Roman"/>
            </a:endParaRPr>
          </a:p>
          <a:p>
            <a:pPr marL="0" marR="0" lvl="0" indent="0" algn="ctr" rtl="0">
              <a:lnSpc>
                <a:spcPct val="100000"/>
              </a:lnSpc>
              <a:spcBef>
                <a:spcPts val="0"/>
              </a:spcBef>
              <a:spcAft>
                <a:spcPts val="0"/>
              </a:spcAft>
              <a:buClr>
                <a:srgbClr val="000000"/>
              </a:buClr>
              <a:buSzPts val="1200"/>
              <a:buFont typeface="Arial"/>
              <a:buNone/>
            </a:pPr>
            <a:r>
              <a:rPr lang="en-US" sz="1200" b="1" i="0" u="none" strike="noStrike" cap="none" dirty="0">
                <a:solidFill>
                  <a:srgbClr val="000000"/>
                </a:solidFill>
                <a:latin typeface="Times New Roman"/>
                <a:ea typeface="Times New Roman"/>
                <a:cs typeface="Times New Roman"/>
                <a:sym typeface="Times New Roman"/>
              </a:rPr>
              <a:t>Categorization of splicing data need to consider multiple factors including assay / technique, RNA source, and gene-specific knowledge.</a:t>
            </a:r>
          </a:p>
          <a:p>
            <a:pPr marL="0" marR="0" lvl="0" indent="0" algn="ctr" rtl="0">
              <a:lnSpc>
                <a:spcPct val="100000"/>
              </a:lnSpc>
              <a:spcBef>
                <a:spcPts val="0"/>
              </a:spcBef>
              <a:spcAft>
                <a:spcPts val="0"/>
              </a:spcAft>
              <a:buClr>
                <a:srgbClr val="000000"/>
              </a:buClr>
              <a:buSzPts val="1200"/>
              <a:buFont typeface="Arial"/>
              <a:buNone/>
            </a:pPr>
            <a:endParaRPr lang="en-US" sz="1200" b="1" dirty="0">
              <a:latin typeface="Times New Roman"/>
              <a:ea typeface="Times New Roman"/>
              <a:cs typeface="Times New Roman"/>
              <a:sym typeface="Times New Roman"/>
            </a:endParaRPr>
          </a:p>
          <a:p>
            <a:pPr marL="0" marR="0" lvl="0" indent="0" algn="ctr" rtl="0">
              <a:lnSpc>
                <a:spcPct val="100000"/>
              </a:lnSpc>
              <a:spcBef>
                <a:spcPts val="0"/>
              </a:spcBef>
              <a:spcAft>
                <a:spcPts val="0"/>
              </a:spcAft>
              <a:buClr>
                <a:srgbClr val="000000"/>
              </a:buClr>
              <a:buSzPts val="1200"/>
              <a:buFont typeface="Arial"/>
              <a:buNone/>
            </a:pPr>
            <a:r>
              <a:rPr lang="en-US" sz="1200" b="1" dirty="0">
                <a:latin typeface="Times New Roman"/>
                <a:ea typeface="Times New Roman"/>
                <a:cs typeface="Times New Roman"/>
                <a:sym typeface="Times New Roman"/>
              </a:rPr>
              <a:t>See (c): RPGR Rule Table for PVS1</a:t>
            </a:r>
            <a:endParaRPr sz="1000" b="0" i="0" u="none" strike="noStrike" cap="none" dirty="0">
              <a:solidFill>
                <a:srgbClr val="000000"/>
              </a:solidFill>
              <a:latin typeface="Times New Roman"/>
              <a:ea typeface="Times New Roman"/>
              <a:cs typeface="Times New Roman"/>
              <a:sym typeface="Times New Roman"/>
            </a:endParaRPr>
          </a:p>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sp>
        <p:nvSpPr>
          <p:cNvPr id="133" name="Google Shape;133;p1">
            <a:extLst>
              <a:ext uri="{FF2B5EF4-FFF2-40B4-BE49-F238E27FC236}">
                <a16:creationId xmlns:a16="http://schemas.microsoft.com/office/drawing/2014/main" id="{5B2016A5-054C-136A-A8BD-B7281FCFA9AB}"/>
              </a:ext>
            </a:extLst>
          </p:cNvPr>
          <p:cNvSpPr/>
          <p:nvPr/>
        </p:nvSpPr>
        <p:spPr>
          <a:xfrm>
            <a:off x="1592413" y="8798940"/>
            <a:ext cx="1105775" cy="222546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dirty="0">
                <a:solidFill>
                  <a:srgbClr val="000000"/>
                </a:solidFill>
                <a:latin typeface="Times New Roman"/>
                <a:ea typeface="Times New Roman"/>
                <a:cs typeface="Times New Roman"/>
                <a:sym typeface="Times New Roman"/>
              </a:rPr>
              <a:t>Variant-specific impact (compared to controls)</a:t>
            </a:r>
          </a:p>
          <a:p>
            <a:pPr marL="0" marR="0" lvl="0" indent="0" algn="ctr" rtl="0">
              <a:lnSpc>
                <a:spcPct val="100000"/>
              </a:lnSpc>
              <a:spcBef>
                <a:spcPts val="0"/>
              </a:spcBef>
              <a:spcAft>
                <a:spcPts val="0"/>
              </a:spcAft>
              <a:buClr>
                <a:srgbClr val="000000"/>
              </a:buClr>
              <a:buSzPts val="1200"/>
              <a:buFont typeface="Arial"/>
              <a:buNone/>
            </a:pPr>
            <a:endParaRPr lang="en-US" sz="1200" dirty="0">
              <a:latin typeface="Times New Roman"/>
              <a:cs typeface="Times New Roman"/>
              <a:sym typeface="Times New Roman"/>
            </a:endParaRPr>
          </a:p>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dirty="0">
                <a:solidFill>
                  <a:srgbClr val="000000"/>
                </a:solidFill>
                <a:latin typeface="Times New Roman"/>
                <a:ea typeface="Arial"/>
                <a:cs typeface="Times New Roman"/>
                <a:sym typeface="Times New Roman"/>
              </a:rPr>
              <a:t>Use PVS1 rule table OBSERVED RNA impact</a:t>
            </a:r>
            <a:endParaRPr sz="1400" b="0" i="0" u="none" strike="noStrike" cap="none" dirty="0">
              <a:solidFill>
                <a:srgbClr val="000000"/>
              </a:solidFill>
              <a:latin typeface="Arial"/>
              <a:ea typeface="Arial"/>
              <a:cs typeface="Arial"/>
              <a:sym typeface="Arial"/>
            </a:endParaRPr>
          </a:p>
        </p:txBody>
      </p:sp>
      <p:sp>
        <p:nvSpPr>
          <p:cNvPr id="138" name="Google Shape;138;p1">
            <a:extLst>
              <a:ext uri="{FF2B5EF4-FFF2-40B4-BE49-F238E27FC236}">
                <a16:creationId xmlns:a16="http://schemas.microsoft.com/office/drawing/2014/main" id="{319C30AC-2158-420D-C554-7619C94CFF63}"/>
              </a:ext>
            </a:extLst>
          </p:cNvPr>
          <p:cNvSpPr/>
          <p:nvPr/>
        </p:nvSpPr>
        <p:spPr>
          <a:xfrm>
            <a:off x="2950288" y="8816353"/>
            <a:ext cx="1319713" cy="2203503"/>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 sz="1200" b="0" i="0" u="none" strike="noStrike" cap="none" dirty="0">
                <a:solidFill>
                  <a:srgbClr val="000000"/>
                </a:solidFill>
                <a:latin typeface="Times New Roman"/>
                <a:ea typeface="Times New Roman"/>
                <a:cs typeface="Times New Roman"/>
                <a:sym typeface="Times New Roman"/>
              </a:rPr>
              <a:t>PVS1_Strength assigned to at least 1 transcript</a:t>
            </a:r>
            <a:endParaRPr sz="1400" b="0" i="0" u="none" strike="noStrike" cap="none" dirty="0">
              <a:solidFill>
                <a:srgbClr val="000000"/>
              </a:solidFill>
              <a:latin typeface="Arial"/>
              <a:ea typeface="Arial"/>
              <a:cs typeface="Arial"/>
              <a:sym typeface="Arial"/>
            </a:endParaRPr>
          </a:p>
        </p:txBody>
      </p:sp>
      <p:sp>
        <p:nvSpPr>
          <p:cNvPr id="168" name="Google Shape;168;p1">
            <a:extLst>
              <a:ext uri="{FF2B5EF4-FFF2-40B4-BE49-F238E27FC236}">
                <a16:creationId xmlns:a16="http://schemas.microsoft.com/office/drawing/2014/main" id="{BDA0B471-B1E3-27B8-B592-E2175B72F98E}"/>
              </a:ext>
            </a:extLst>
          </p:cNvPr>
          <p:cNvSpPr/>
          <p:nvPr/>
        </p:nvSpPr>
        <p:spPr>
          <a:xfrm>
            <a:off x="1592413" y="6861561"/>
            <a:ext cx="1105800" cy="175311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dirty="0">
                <a:solidFill>
                  <a:srgbClr val="000000"/>
                </a:solidFill>
                <a:latin typeface="Times New Roman"/>
                <a:ea typeface="Times New Roman"/>
                <a:cs typeface="Times New Roman"/>
                <a:sym typeface="Times New Roman"/>
              </a:rPr>
              <a:t>No variant-specific observed impact</a:t>
            </a:r>
            <a:endParaRPr sz="1400" b="0" i="0" u="none" strike="noStrike" cap="none" dirty="0">
              <a:solidFill>
                <a:srgbClr val="000000"/>
              </a:solidFill>
              <a:latin typeface="Arial"/>
              <a:ea typeface="Arial"/>
              <a:cs typeface="Arial"/>
              <a:sym typeface="Arial"/>
            </a:endParaRPr>
          </a:p>
        </p:txBody>
      </p:sp>
      <p:cxnSp>
        <p:nvCxnSpPr>
          <p:cNvPr id="172" name="Google Shape;172;p1">
            <a:extLst>
              <a:ext uri="{FF2B5EF4-FFF2-40B4-BE49-F238E27FC236}">
                <a16:creationId xmlns:a16="http://schemas.microsoft.com/office/drawing/2014/main" id="{4FE8C6B0-6274-D576-8B57-660521554BAC}"/>
              </a:ext>
            </a:extLst>
          </p:cNvPr>
          <p:cNvCxnSpPr>
            <a:cxnSpLocks/>
            <a:stCxn id="131" idx="3"/>
            <a:endCxn id="133" idx="1"/>
          </p:cNvCxnSpPr>
          <p:nvPr/>
        </p:nvCxnSpPr>
        <p:spPr>
          <a:xfrm>
            <a:off x="1340282" y="8940709"/>
            <a:ext cx="252131" cy="970961"/>
          </a:xfrm>
          <a:prstGeom prst="straightConnector1">
            <a:avLst/>
          </a:prstGeom>
          <a:noFill/>
          <a:ln w="9525" cap="flat" cmpd="sng">
            <a:solidFill>
              <a:srgbClr val="44546A"/>
            </a:solidFill>
            <a:prstDash val="solid"/>
            <a:round/>
            <a:headEnd type="none" w="sm" len="sm"/>
            <a:tailEnd type="triangle" w="med" len="med"/>
          </a:ln>
        </p:spPr>
      </p:cxnSp>
      <p:cxnSp>
        <p:nvCxnSpPr>
          <p:cNvPr id="178" name="Google Shape;178;p1">
            <a:extLst>
              <a:ext uri="{FF2B5EF4-FFF2-40B4-BE49-F238E27FC236}">
                <a16:creationId xmlns:a16="http://schemas.microsoft.com/office/drawing/2014/main" id="{DA3A5244-714F-8581-C7D8-8AFE9B1E4946}"/>
              </a:ext>
            </a:extLst>
          </p:cNvPr>
          <p:cNvCxnSpPr>
            <a:cxnSpLocks/>
            <a:stCxn id="133" idx="3"/>
            <a:endCxn id="138" idx="1"/>
          </p:cNvCxnSpPr>
          <p:nvPr/>
        </p:nvCxnSpPr>
        <p:spPr>
          <a:xfrm>
            <a:off x="2698188" y="9911670"/>
            <a:ext cx="252100" cy="6435"/>
          </a:xfrm>
          <a:prstGeom prst="straightConnector1">
            <a:avLst/>
          </a:prstGeom>
          <a:noFill/>
          <a:ln w="9525" cap="flat" cmpd="sng">
            <a:solidFill>
              <a:srgbClr val="44546A"/>
            </a:solidFill>
            <a:prstDash val="solid"/>
            <a:round/>
            <a:headEnd type="none" w="sm" len="sm"/>
            <a:tailEnd type="triangle" w="med" len="med"/>
          </a:ln>
        </p:spPr>
      </p:cxnSp>
      <p:cxnSp>
        <p:nvCxnSpPr>
          <p:cNvPr id="180" name="Google Shape;180;p1">
            <a:extLst>
              <a:ext uri="{FF2B5EF4-FFF2-40B4-BE49-F238E27FC236}">
                <a16:creationId xmlns:a16="http://schemas.microsoft.com/office/drawing/2014/main" id="{B617EA89-0327-0EAA-8BEB-2C4868530382}"/>
              </a:ext>
            </a:extLst>
          </p:cNvPr>
          <p:cNvCxnSpPr>
            <a:cxnSpLocks/>
          </p:cNvCxnSpPr>
          <p:nvPr/>
        </p:nvCxnSpPr>
        <p:spPr>
          <a:xfrm flipV="1">
            <a:off x="4270001" y="9502728"/>
            <a:ext cx="324588" cy="860851"/>
          </a:xfrm>
          <a:prstGeom prst="straightConnector1">
            <a:avLst/>
          </a:prstGeom>
          <a:noFill/>
          <a:ln w="9525" cap="flat" cmpd="sng">
            <a:solidFill>
              <a:srgbClr val="44546A"/>
            </a:solidFill>
            <a:prstDash val="solid"/>
            <a:round/>
            <a:headEnd type="none" w="sm" len="sm"/>
            <a:tailEnd type="triangle" w="med" len="med"/>
          </a:ln>
        </p:spPr>
      </p:cxnSp>
      <p:sp>
        <p:nvSpPr>
          <p:cNvPr id="203" name="Google Shape;203;p1">
            <a:extLst>
              <a:ext uri="{FF2B5EF4-FFF2-40B4-BE49-F238E27FC236}">
                <a16:creationId xmlns:a16="http://schemas.microsoft.com/office/drawing/2014/main" id="{7069E65F-E213-8C32-5C54-8D135EEFA50D}"/>
              </a:ext>
            </a:extLst>
          </p:cNvPr>
          <p:cNvSpPr/>
          <p:nvPr/>
        </p:nvSpPr>
        <p:spPr>
          <a:xfrm>
            <a:off x="4627359" y="8814962"/>
            <a:ext cx="5031171" cy="1167812"/>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1" i="0" u="none" strike="noStrike" cap="none" dirty="0">
                <a:solidFill>
                  <a:srgbClr val="000000"/>
                </a:solidFill>
                <a:latin typeface="Times New Roman"/>
                <a:ea typeface="Times New Roman"/>
                <a:cs typeface="Times New Roman"/>
                <a:sym typeface="Times New Roman"/>
              </a:rPr>
              <a:t>Proportion of alternative transcript/s (inferred to be) predicted </a:t>
            </a:r>
          </a:p>
          <a:p>
            <a:pPr marL="0" marR="0" lvl="0" indent="0" algn="ctr" rtl="0">
              <a:lnSpc>
                <a:spcPct val="100000"/>
              </a:lnSpc>
              <a:spcBef>
                <a:spcPts val="0"/>
              </a:spcBef>
              <a:spcAft>
                <a:spcPts val="0"/>
              </a:spcAft>
              <a:buClr>
                <a:srgbClr val="000000"/>
              </a:buClr>
              <a:buSzPts val="1200"/>
              <a:buFont typeface="Arial"/>
              <a:buNone/>
            </a:pPr>
            <a:r>
              <a:rPr lang="en-US" sz="1200" b="1" i="0" u="none" strike="noStrike" cap="none" dirty="0">
                <a:solidFill>
                  <a:srgbClr val="000000"/>
                </a:solidFill>
                <a:latin typeface="Times New Roman"/>
                <a:ea typeface="Times New Roman"/>
                <a:cs typeface="Times New Roman"/>
                <a:sym typeface="Times New Roman"/>
              </a:rPr>
              <a:t>by variant allele </a:t>
            </a:r>
            <a:r>
              <a:rPr lang="en-US" sz="1200" b="0" i="0" u="none" strike="noStrike" cap="none" dirty="0">
                <a:solidFill>
                  <a:srgbClr val="000000"/>
                </a:solidFill>
                <a:latin typeface="Times New Roman"/>
                <a:ea typeface="Times New Roman"/>
                <a:cs typeface="Times New Roman"/>
                <a:sym typeface="Times New Roman"/>
              </a:rPr>
              <a:t>(e)</a:t>
            </a:r>
          </a:p>
          <a:p>
            <a:pPr marL="0" marR="0" lvl="0" indent="0" algn="ctr" rtl="0">
              <a:lnSpc>
                <a:spcPct val="100000"/>
              </a:lnSpc>
              <a:spcBef>
                <a:spcPts val="0"/>
              </a:spcBef>
              <a:spcAft>
                <a:spcPts val="0"/>
              </a:spcAft>
              <a:buClr>
                <a:srgbClr val="000000"/>
              </a:buClr>
              <a:buSzPts val="1200"/>
              <a:buFont typeface="Arial"/>
              <a:buNone/>
            </a:pPr>
            <a:r>
              <a:rPr lang="en-US" sz="1200" dirty="0">
                <a:latin typeface="Times New Roman"/>
                <a:ea typeface="Times New Roman"/>
                <a:cs typeface="Times New Roman"/>
                <a:sym typeface="Times New Roman"/>
              </a:rPr>
              <a:t>If background rate is considered to be low-moderate levels suggestive of being tolerated, consider reducing PVS1 (RNA) codes by an additional level</a:t>
            </a:r>
            <a:endParaRPr sz="1200" b="0" i="0" u="none" strike="noStrike" cap="none" dirty="0">
              <a:solidFill>
                <a:srgbClr val="000000"/>
              </a:solidFill>
              <a:latin typeface="Times New Roman"/>
              <a:ea typeface="Times New Roman"/>
              <a:cs typeface="Times New Roman"/>
              <a:sym typeface="Times New Roman"/>
            </a:endParaRPr>
          </a:p>
        </p:txBody>
      </p:sp>
      <p:sp>
        <p:nvSpPr>
          <p:cNvPr id="204" name="Google Shape;204;p1">
            <a:extLst>
              <a:ext uri="{FF2B5EF4-FFF2-40B4-BE49-F238E27FC236}">
                <a16:creationId xmlns:a16="http://schemas.microsoft.com/office/drawing/2014/main" id="{A9C665EB-D9CB-3CB0-E5FB-323A5550B655}"/>
              </a:ext>
            </a:extLst>
          </p:cNvPr>
          <p:cNvSpPr/>
          <p:nvPr/>
        </p:nvSpPr>
        <p:spPr>
          <a:xfrm>
            <a:off x="9944427" y="9654484"/>
            <a:ext cx="2208603" cy="622995"/>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 sz="1200" b="0" i="0" u="none" strike="noStrike" cap="none" dirty="0">
                <a:solidFill>
                  <a:srgbClr val="000000"/>
                </a:solidFill>
                <a:latin typeface="Times New Roman"/>
                <a:ea typeface="Times New Roman"/>
                <a:cs typeface="Times New Roman"/>
                <a:sym typeface="Times New Roman"/>
              </a:rPr>
              <a:t>Determine PVS1 (RNA) weight from combined analysis (PP3/BP4 not applicable)</a:t>
            </a:r>
            <a:endParaRPr sz="1400" b="0" i="0" u="none" strike="noStrike" cap="none" dirty="0">
              <a:solidFill>
                <a:srgbClr val="000000"/>
              </a:solidFill>
              <a:latin typeface="Arial"/>
              <a:ea typeface="Arial"/>
              <a:cs typeface="Arial"/>
              <a:sym typeface="Arial"/>
            </a:endParaRPr>
          </a:p>
        </p:txBody>
      </p:sp>
      <p:sp>
        <p:nvSpPr>
          <p:cNvPr id="205" name="Google Shape;205;p1">
            <a:extLst>
              <a:ext uri="{FF2B5EF4-FFF2-40B4-BE49-F238E27FC236}">
                <a16:creationId xmlns:a16="http://schemas.microsoft.com/office/drawing/2014/main" id="{3A4E677F-21B9-6150-2747-93F3F2C4E9F2}"/>
              </a:ext>
            </a:extLst>
          </p:cNvPr>
          <p:cNvSpPr/>
          <p:nvPr/>
        </p:nvSpPr>
        <p:spPr>
          <a:xfrm>
            <a:off x="9944426" y="10369086"/>
            <a:ext cx="2208603" cy="622995"/>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dirty="0">
                <a:solidFill>
                  <a:srgbClr val="000000"/>
                </a:solidFill>
                <a:latin typeface="Times New Roman"/>
                <a:ea typeface="Times New Roman"/>
                <a:cs typeface="Times New Roman"/>
                <a:sym typeface="Times New Roman"/>
              </a:rPr>
              <a:t>PVS1 (RNA) or BP7_S (RNA) not applicable (reconsider PVS1 decision tree as appropriate)</a:t>
            </a:r>
            <a:endParaRPr lang="en-US" sz="1400" b="0" i="0" u="none" strike="noStrike" cap="none" dirty="0">
              <a:solidFill>
                <a:srgbClr val="000000"/>
              </a:solidFill>
              <a:latin typeface="Arial"/>
              <a:ea typeface="Arial"/>
              <a:cs typeface="Arial"/>
              <a:sym typeface="Arial"/>
            </a:endParaRPr>
          </a:p>
        </p:txBody>
      </p:sp>
      <p:cxnSp>
        <p:nvCxnSpPr>
          <p:cNvPr id="206" name="Google Shape;206;p1">
            <a:extLst>
              <a:ext uri="{FF2B5EF4-FFF2-40B4-BE49-F238E27FC236}">
                <a16:creationId xmlns:a16="http://schemas.microsoft.com/office/drawing/2014/main" id="{08A80DDC-0178-7F40-543D-004EA38C9437}"/>
              </a:ext>
            </a:extLst>
          </p:cNvPr>
          <p:cNvCxnSpPr>
            <a:cxnSpLocks/>
            <a:endCxn id="204" idx="1"/>
          </p:cNvCxnSpPr>
          <p:nvPr/>
        </p:nvCxnSpPr>
        <p:spPr>
          <a:xfrm flipV="1">
            <a:off x="9645090" y="9965982"/>
            <a:ext cx="299337" cy="210282"/>
          </a:xfrm>
          <a:prstGeom prst="straightConnector1">
            <a:avLst/>
          </a:prstGeom>
          <a:noFill/>
          <a:ln w="9525" cap="flat" cmpd="sng">
            <a:solidFill>
              <a:srgbClr val="44546A"/>
            </a:solidFill>
            <a:prstDash val="solid"/>
            <a:round/>
            <a:headEnd type="none" w="sm" len="sm"/>
            <a:tailEnd type="triangle" w="med" len="med"/>
          </a:ln>
        </p:spPr>
      </p:cxnSp>
      <p:cxnSp>
        <p:nvCxnSpPr>
          <p:cNvPr id="207" name="Google Shape;207;p1">
            <a:extLst>
              <a:ext uri="{FF2B5EF4-FFF2-40B4-BE49-F238E27FC236}">
                <a16:creationId xmlns:a16="http://schemas.microsoft.com/office/drawing/2014/main" id="{F0ED5E37-98C7-0A49-A0DF-812FAD72A8FD}"/>
              </a:ext>
            </a:extLst>
          </p:cNvPr>
          <p:cNvCxnSpPr>
            <a:cxnSpLocks/>
            <a:endCxn id="205" idx="1"/>
          </p:cNvCxnSpPr>
          <p:nvPr/>
        </p:nvCxnSpPr>
        <p:spPr>
          <a:xfrm flipV="1">
            <a:off x="9658641" y="10680584"/>
            <a:ext cx="285785" cy="151524"/>
          </a:xfrm>
          <a:prstGeom prst="straightConnector1">
            <a:avLst/>
          </a:prstGeom>
          <a:noFill/>
          <a:ln w="9525" cap="flat" cmpd="sng">
            <a:solidFill>
              <a:srgbClr val="44546A"/>
            </a:solidFill>
            <a:prstDash val="solid"/>
            <a:round/>
            <a:headEnd type="none" w="sm" len="sm"/>
            <a:tailEnd type="triangle" w="med" len="med"/>
          </a:ln>
        </p:spPr>
      </p:cxnSp>
      <p:sp>
        <p:nvSpPr>
          <p:cNvPr id="8" name="Google Shape;69;p1">
            <a:extLst>
              <a:ext uri="{FF2B5EF4-FFF2-40B4-BE49-F238E27FC236}">
                <a16:creationId xmlns:a16="http://schemas.microsoft.com/office/drawing/2014/main" id="{B50F09C5-1B90-279A-1710-5C5D929A5A9F}"/>
              </a:ext>
            </a:extLst>
          </p:cNvPr>
          <p:cNvSpPr/>
          <p:nvPr/>
        </p:nvSpPr>
        <p:spPr>
          <a:xfrm>
            <a:off x="5964241" y="1699312"/>
            <a:ext cx="4572000" cy="27432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dirty="0">
                <a:solidFill>
                  <a:srgbClr val="000000"/>
                </a:solidFill>
                <a:latin typeface="Times New Roman"/>
                <a:ea typeface="Times New Roman"/>
                <a:cs typeface="Times New Roman"/>
                <a:sym typeface="Times New Roman"/>
              </a:rPr>
              <a:t>LP variant within the same splice region with same predicted impact</a:t>
            </a:r>
            <a:endParaRPr lang="en-US" sz="1400" b="0" i="0" u="none" strike="noStrike" cap="none" dirty="0">
              <a:solidFill>
                <a:srgbClr val="000000"/>
              </a:solidFill>
              <a:latin typeface="Arial"/>
              <a:ea typeface="Arial"/>
              <a:cs typeface="Arial"/>
              <a:sym typeface="Arial"/>
            </a:endParaRPr>
          </a:p>
        </p:txBody>
      </p:sp>
      <p:sp>
        <p:nvSpPr>
          <p:cNvPr id="45" name="Google Shape;61;p1">
            <a:extLst>
              <a:ext uri="{FF2B5EF4-FFF2-40B4-BE49-F238E27FC236}">
                <a16:creationId xmlns:a16="http://schemas.microsoft.com/office/drawing/2014/main" id="{31E4B30E-BB4F-9B37-B4AA-374A4D7A0B2A}"/>
              </a:ext>
            </a:extLst>
          </p:cNvPr>
          <p:cNvSpPr/>
          <p:nvPr/>
        </p:nvSpPr>
        <p:spPr>
          <a:xfrm>
            <a:off x="4392226" y="2045688"/>
            <a:ext cx="3972689" cy="273261"/>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dirty="0">
                <a:solidFill>
                  <a:srgbClr val="000000"/>
                </a:solidFill>
                <a:latin typeface="Times New Roman"/>
                <a:ea typeface="Times New Roman"/>
                <a:cs typeface="Times New Roman"/>
                <a:sym typeface="Times New Roman"/>
              </a:rPr>
              <a:t>Not applied (prediction inconclusive)</a:t>
            </a:r>
            <a:endParaRPr sz="1400" b="0" i="0" u="none" strike="noStrike" cap="none" dirty="0">
              <a:solidFill>
                <a:srgbClr val="FF0000"/>
              </a:solidFill>
              <a:latin typeface="Arial"/>
              <a:ea typeface="Arial"/>
              <a:cs typeface="Arial"/>
              <a:sym typeface="Arial"/>
            </a:endParaRPr>
          </a:p>
        </p:txBody>
      </p:sp>
      <p:sp>
        <p:nvSpPr>
          <p:cNvPr id="50" name="Google Shape;61;p1">
            <a:extLst>
              <a:ext uri="{FF2B5EF4-FFF2-40B4-BE49-F238E27FC236}">
                <a16:creationId xmlns:a16="http://schemas.microsoft.com/office/drawing/2014/main" id="{501BC6DE-B38E-5566-E1F6-42C18D180F51}"/>
              </a:ext>
            </a:extLst>
          </p:cNvPr>
          <p:cNvSpPr/>
          <p:nvPr/>
        </p:nvSpPr>
        <p:spPr>
          <a:xfrm>
            <a:off x="4392226" y="2396016"/>
            <a:ext cx="1312149" cy="630404"/>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dirty="0">
                <a:solidFill>
                  <a:srgbClr val="000000"/>
                </a:solidFill>
                <a:latin typeface="Times New Roman"/>
                <a:ea typeface="Times New Roman"/>
                <a:cs typeface="Times New Roman"/>
                <a:sym typeface="Times New Roman"/>
              </a:rPr>
              <a:t>BP4 applied</a:t>
            </a:r>
            <a:endParaRPr sz="1400" b="0" i="0" u="none" strike="noStrike" cap="none" dirty="0">
              <a:solidFill>
                <a:srgbClr val="FF0000"/>
              </a:solidFill>
              <a:latin typeface="Arial"/>
              <a:ea typeface="Arial"/>
              <a:cs typeface="Arial"/>
              <a:sym typeface="Arial"/>
            </a:endParaRPr>
          </a:p>
        </p:txBody>
      </p:sp>
      <p:sp>
        <p:nvSpPr>
          <p:cNvPr id="51" name="Google Shape;71;p1">
            <a:extLst>
              <a:ext uri="{FF2B5EF4-FFF2-40B4-BE49-F238E27FC236}">
                <a16:creationId xmlns:a16="http://schemas.microsoft.com/office/drawing/2014/main" id="{17AF16F1-6471-199A-C057-12529DD9CE77}"/>
              </a:ext>
            </a:extLst>
          </p:cNvPr>
          <p:cNvSpPr/>
          <p:nvPr/>
        </p:nvSpPr>
        <p:spPr>
          <a:xfrm>
            <a:off x="9236252" y="2388671"/>
            <a:ext cx="2913595" cy="27432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dirty="0">
                <a:solidFill>
                  <a:srgbClr val="000000"/>
                </a:solidFill>
                <a:latin typeface="Times New Roman"/>
                <a:ea typeface="Times New Roman"/>
                <a:cs typeface="Times New Roman"/>
                <a:sym typeface="Times New Roman"/>
              </a:rPr>
              <a:t>BP4 + BP7</a:t>
            </a:r>
            <a:endParaRPr lang="en-US" sz="1400" b="0" i="0" u="none" strike="noStrike" cap="none" dirty="0">
              <a:solidFill>
                <a:srgbClr val="000000"/>
              </a:solidFill>
              <a:latin typeface="Arial"/>
              <a:ea typeface="Arial"/>
              <a:cs typeface="Arial"/>
              <a:sym typeface="Arial"/>
            </a:endParaRPr>
          </a:p>
        </p:txBody>
      </p:sp>
      <p:sp>
        <p:nvSpPr>
          <p:cNvPr id="52" name="Google Shape;72;p1">
            <a:extLst>
              <a:ext uri="{FF2B5EF4-FFF2-40B4-BE49-F238E27FC236}">
                <a16:creationId xmlns:a16="http://schemas.microsoft.com/office/drawing/2014/main" id="{C77D67F7-4E96-79BB-750E-5EE7E1376D75}"/>
              </a:ext>
            </a:extLst>
          </p:cNvPr>
          <p:cNvSpPr/>
          <p:nvPr/>
        </p:nvSpPr>
        <p:spPr>
          <a:xfrm>
            <a:off x="9236252" y="2740189"/>
            <a:ext cx="2913595" cy="27432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dirty="0">
                <a:solidFill>
                  <a:srgbClr val="000000"/>
                </a:solidFill>
                <a:latin typeface="Times New Roman"/>
                <a:ea typeface="Times New Roman"/>
                <a:cs typeface="Times New Roman"/>
                <a:sym typeface="Times New Roman"/>
              </a:rPr>
              <a:t>BP4 (only if protein impact ruled out)</a:t>
            </a:r>
            <a:endParaRPr lang="en-US" sz="1400" b="0" i="0" u="none" strike="noStrike" cap="none" dirty="0">
              <a:solidFill>
                <a:srgbClr val="000000"/>
              </a:solidFill>
              <a:latin typeface="Arial"/>
              <a:ea typeface="Arial"/>
              <a:cs typeface="Arial"/>
              <a:sym typeface="Arial"/>
            </a:endParaRPr>
          </a:p>
        </p:txBody>
      </p:sp>
      <p:cxnSp>
        <p:nvCxnSpPr>
          <p:cNvPr id="53" name="Google Shape;121;p1">
            <a:extLst>
              <a:ext uri="{FF2B5EF4-FFF2-40B4-BE49-F238E27FC236}">
                <a16:creationId xmlns:a16="http://schemas.microsoft.com/office/drawing/2014/main" id="{2633F8CB-0677-D08D-DFAA-3A75047FB2D6}"/>
              </a:ext>
            </a:extLst>
          </p:cNvPr>
          <p:cNvCxnSpPr>
            <a:cxnSpLocks/>
            <a:endCxn id="51" idx="1"/>
          </p:cNvCxnSpPr>
          <p:nvPr/>
        </p:nvCxnSpPr>
        <p:spPr>
          <a:xfrm>
            <a:off x="8383500" y="2503798"/>
            <a:ext cx="852752" cy="0"/>
          </a:xfrm>
          <a:prstGeom prst="straightConnector1">
            <a:avLst/>
          </a:prstGeom>
          <a:noFill/>
          <a:ln w="9525" cap="flat" cmpd="sng">
            <a:solidFill>
              <a:srgbClr val="595959"/>
            </a:solidFill>
            <a:prstDash val="solid"/>
            <a:round/>
            <a:headEnd type="none" w="sm" len="sm"/>
            <a:tailEnd type="triangle" w="med" len="med"/>
          </a:ln>
        </p:spPr>
      </p:cxnSp>
      <p:cxnSp>
        <p:nvCxnSpPr>
          <p:cNvPr id="54" name="Google Shape;122;p1">
            <a:extLst>
              <a:ext uri="{FF2B5EF4-FFF2-40B4-BE49-F238E27FC236}">
                <a16:creationId xmlns:a16="http://schemas.microsoft.com/office/drawing/2014/main" id="{CA246748-6DAA-2E1A-24CB-B497431E0CC2}"/>
              </a:ext>
            </a:extLst>
          </p:cNvPr>
          <p:cNvCxnSpPr>
            <a:cxnSpLocks/>
            <a:endCxn id="52" idx="1"/>
          </p:cNvCxnSpPr>
          <p:nvPr/>
        </p:nvCxnSpPr>
        <p:spPr>
          <a:xfrm flipV="1">
            <a:off x="8356567" y="2877349"/>
            <a:ext cx="879685" cy="0"/>
          </a:xfrm>
          <a:prstGeom prst="straightConnector1">
            <a:avLst/>
          </a:prstGeom>
          <a:noFill/>
          <a:ln w="9525" cap="flat" cmpd="sng">
            <a:solidFill>
              <a:srgbClr val="595959"/>
            </a:solidFill>
            <a:prstDash val="solid"/>
            <a:round/>
            <a:headEnd type="none" w="sm" len="sm"/>
            <a:tailEnd type="triangle" w="med" len="med"/>
          </a:ln>
        </p:spPr>
      </p:cxnSp>
      <p:sp>
        <p:nvSpPr>
          <p:cNvPr id="55" name="Google Shape;69;p1">
            <a:extLst>
              <a:ext uri="{FF2B5EF4-FFF2-40B4-BE49-F238E27FC236}">
                <a16:creationId xmlns:a16="http://schemas.microsoft.com/office/drawing/2014/main" id="{88BA4FC8-C10B-F1C8-B827-114CE4F39320}"/>
              </a:ext>
            </a:extLst>
          </p:cNvPr>
          <p:cNvSpPr/>
          <p:nvPr/>
        </p:nvSpPr>
        <p:spPr>
          <a:xfrm>
            <a:off x="5980268" y="2388671"/>
            <a:ext cx="2400674" cy="268465"/>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dirty="0">
                <a:solidFill>
                  <a:srgbClr val="000000"/>
                </a:solidFill>
                <a:latin typeface="Times New Roman"/>
                <a:ea typeface="Times New Roman"/>
                <a:cs typeface="Times New Roman"/>
                <a:sym typeface="Times New Roman"/>
              </a:rPr>
              <a:t>Silent / Intronic</a:t>
            </a:r>
            <a:endParaRPr lang="en-US" sz="1400" b="0" i="0" u="none" strike="noStrike" cap="none" dirty="0">
              <a:solidFill>
                <a:srgbClr val="000000"/>
              </a:solidFill>
              <a:latin typeface="Arial"/>
              <a:ea typeface="Arial"/>
              <a:cs typeface="Arial"/>
              <a:sym typeface="Arial"/>
            </a:endParaRPr>
          </a:p>
        </p:txBody>
      </p:sp>
      <p:sp>
        <p:nvSpPr>
          <p:cNvPr id="56" name="Google Shape;69;p1">
            <a:extLst>
              <a:ext uri="{FF2B5EF4-FFF2-40B4-BE49-F238E27FC236}">
                <a16:creationId xmlns:a16="http://schemas.microsoft.com/office/drawing/2014/main" id="{984B83F4-C94E-94DC-8173-5B9CC13B3EB9}"/>
              </a:ext>
            </a:extLst>
          </p:cNvPr>
          <p:cNvSpPr/>
          <p:nvPr/>
        </p:nvSpPr>
        <p:spPr>
          <a:xfrm>
            <a:off x="5964241" y="2754818"/>
            <a:ext cx="2400674" cy="268465"/>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dirty="0">
                <a:solidFill>
                  <a:srgbClr val="000000"/>
                </a:solidFill>
                <a:latin typeface="Times New Roman"/>
                <a:ea typeface="Times New Roman"/>
                <a:cs typeface="Times New Roman"/>
                <a:sym typeface="Times New Roman"/>
              </a:rPr>
              <a:t>Other variant types / positions</a:t>
            </a:r>
            <a:endParaRPr lang="en-US" sz="1400" b="0" i="0" u="none" strike="noStrike" cap="none" dirty="0">
              <a:solidFill>
                <a:srgbClr val="000000"/>
              </a:solidFill>
              <a:latin typeface="Arial"/>
              <a:ea typeface="Arial"/>
              <a:cs typeface="Arial"/>
              <a:sym typeface="Arial"/>
            </a:endParaRPr>
          </a:p>
        </p:txBody>
      </p:sp>
      <p:sp>
        <p:nvSpPr>
          <p:cNvPr id="59" name="Google Shape;60;p1">
            <a:extLst>
              <a:ext uri="{FF2B5EF4-FFF2-40B4-BE49-F238E27FC236}">
                <a16:creationId xmlns:a16="http://schemas.microsoft.com/office/drawing/2014/main" id="{5A68635B-C7C7-B914-F1E2-BE3234F7CF01}"/>
              </a:ext>
            </a:extLst>
          </p:cNvPr>
          <p:cNvSpPr txBox="1"/>
          <p:nvPr/>
        </p:nvSpPr>
        <p:spPr>
          <a:xfrm>
            <a:off x="2937566" y="202456"/>
            <a:ext cx="1105800" cy="281970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 sz="1200" b="1" i="0" u="none" strike="noStrike" cap="none" dirty="0">
                <a:solidFill>
                  <a:srgbClr val="000000"/>
                </a:solidFill>
                <a:latin typeface="Times New Roman"/>
                <a:ea typeface="Times New Roman"/>
                <a:cs typeface="Times New Roman"/>
                <a:sym typeface="Times New Roman"/>
              </a:rPr>
              <a:t>Splicing tool prediction</a:t>
            </a:r>
          </a:p>
          <a:p>
            <a:pPr marL="0" marR="0" lvl="0" indent="0" algn="ctr" rtl="0">
              <a:lnSpc>
                <a:spcPct val="100000"/>
              </a:lnSpc>
              <a:spcBef>
                <a:spcPts val="0"/>
              </a:spcBef>
              <a:spcAft>
                <a:spcPts val="0"/>
              </a:spcAft>
              <a:buClr>
                <a:srgbClr val="000000"/>
              </a:buClr>
              <a:buSzPts val="1200"/>
              <a:buFont typeface="Arial"/>
              <a:buNone/>
            </a:pPr>
            <a:endParaRPr lang="en" sz="1200" b="1" dirty="0">
              <a:latin typeface="Times New Roman"/>
              <a:cs typeface="Times New Roman"/>
              <a:sym typeface="Times New Roman"/>
            </a:endParaRPr>
          </a:p>
          <a:p>
            <a:pPr marL="0" marR="0" lvl="0" indent="0" algn="ctr" rtl="0">
              <a:lnSpc>
                <a:spcPct val="100000"/>
              </a:lnSpc>
              <a:spcBef>
                <a:spcPts val="0"/>
              </a:spcBef>
              <a:spcAft>
                <a:spcPts val="0"/>
              </a:spcAft>
              <a:buClr>
                <a:srgbClr val="000000"/>
              </a:buClr>
              <a:buSzPts val="1200"/>
              <a:buFont typeface="Arial"/>
              <a:buNone/>
            </a:pPr>
            <a:r>
              <a:rPr lang="en" sz="1200" b="1" dirty="0">
                <a:latin typeface="Times New Roman"/>
                <a:cs typeface="Times New Roman"/>
                <a:sym typeface="Times New Roman"/>
              </a:rPr>
              <a:t>(for missense/in-frame indel variants, also consider relevant predictions of protein impact </a:t>
            </a:r>
            <a:r>
              <a:rPr lang="en" sz="1200" b="1" dirty="0">
                <a:solidFill>
                  <a:srgbClr val="00B0F0"/>
                </a:solidFill>
                <a:latin typeface="Times New Roman"/>
                <a:cs typeface="Times New Roman"/>
                <a:sym typeface="Times New Roman"/>
              </a:rPr>
              <a:t>See (a): Flowchart for PP3 and BP4</a:t>
            </a:r>
            <a:endParaRPr sz="1400" b="1" i="0" u="none" strike="noStrike" cap="none" dirty="0">
              <a:solidFill>
                <a:srgbClr val="00B0F0"/>
              </a:solidFill>
              <a:latin typeface="Arial"/>
              <a:ea typeface="Arial"/>
              <a:cs typeface="Arial"/>
              <a:sym typeface="Arial"/>
            </a:endParaRPr>
          </a:p>
        </p:txBody>
      </p:sp>
      <p:cxnSp>
        <p:nvCxnSpPr>
          <p:cNvPr id="231" name="Google Shape;80;p1">
            <a:extLst>
              <a:ext uri="{FF2B5EF4-FFF2-40B4-BE49-F238E27FC236}">
                <a16:creationId xmlns:a16="http://schemas.microsoft.com/office/drawing/2014/main" id="{6652488D-F76A-326C-A237-43554DC9628F}"/>
              </a:ext>
            </a:extLst>
          </p:cNvPr>
          <p:cNvCxnSpPr>
            <a:cxnSpLocks/>
            <a:stCxn id="59" idx="3"/>
            <a:endCxn id="50" idx="1"/>
          </p:cNvCxnSpPr>
          <p:nvPr/>
        </p:nvCxnSpPr>
        <p:spPr>
          <a:xfrm>
            <a:off x="4043366" y="1612306"/>
            <a:ext cx="348860" cy="1098912"/>
          </a:xfrm>
          <a:prstGeom prst="straightConnector1">
            <a:avLst/>
          </a:prstGeom>
          <a:noFill/>
          <a:ln w="9525" cap="flat" cmpd="sng">
            <a:solidFill>
              <a:srgbClr val="44546A"/>
            </a:solidFill>
            <a:prstDash val="solid"/>
            <a:round/>
            <a:headEnd type="none" w="sm" len="sm"/>
            <a:tailEnd type="triangle" w="med" len="med"/>
          </a:ln>
        </p:spPr>
      </p:cxnSp>
      <p:cxnSp>
        <p:nvCxnSpPr>
          <p:cNvPr id="233" name="Google Shape;80;p1">
            <a:extLst>
              <a:ext uri="{FF2B5EF4-FFF2-40B4-BE49-F238E27FC236}">
                <a16:creationId xmlns:a16="http://schemas.microsoft.com/office/drawing/2014/main" id="{E9261A01-E379-6E44-92C1-9E0C72FB716D}"/>
              </a:ext>
            </a:extLst>
          </p:cNvPr>
          <p:cNvCxnSpPr>
            <a:cxnSpLocks/>
            <a:endCxn id="55" idx="1"/>
          </p:cNvCxnSpPr>
          <p:nvPr/>
        </p:nvCxnSpPr>
        <p:spPr>
          <a:xfrm flipV="1">
            <a:off x="5711939" y="2522904"/>
            <a:ext cx="268329" cy="156057"/>
          </a:xfrm>
          <a:prstGeom prst="straightConnector1">
            <a:avLst/>
          </a:prstGeom>
          <a:noFill/>
          <a:ln w="9525" cap="flat" cmpd="sng">
            <a:solidFill>
              <a:srgbClr val="44546A"/>
            </a:solidFill>
            <a:prstDash val="solid"/>
            <a:round/>
            <a:headEnd type="none" w="sm" len="sm"/>
            <a:tailEnd type="triangle" w="med" len="med"/>
          </a:ln>
        </p:spPr>
      </p:cxnSp>
      <p:cxnSp>
        <p:nvCxnSpPr>
          <p:cNvPr id="235" name="Google Shape;80;p1">
            <a:extLst>
              <a:ext uri="{FF2B5EF4-FFF2-40B4-BE49-F238E27FC236}">
                <a16:creationId xmlns:a16="http://schemas.microsoft.com/office/drawing/2014/main" id="{AF9189EA-A52E-164D-03CE-773FEF7A82E9}"/>
              </a:ext>
            </a:extLst>
          </p:cNvPr>
          <p:cNvCxnSpPr>
            <a:cxnSpLocks/>
            <a:endCxn id="56" idx="1"/>
          </p:cNvCxnSpPr>
          <p:nvPr/>
        </p:nvCxnSpPr>
        <p:spPr>
          <a:xfrm>
            <a:off x="5704375" y="2686812"/>
            <a:ext cx="259866" cy="202239"/>
          </a:xfrm>
          <a:prstGeom prst="straightConnector1">
            <a:avLst/>
          </a:prstGeom>
          <a:noFill/>
          <a:ln w="9525" cap="flat" cmpd="sng">
            <a:solidFill>
              <a:srgbClr val="44546A"/>
            </a:solidFill>
            <a:prstDash val="solid"/>
            <a:round/>
            <a:headEnd type="none" w="sm" len="sm"/>
            <a:tailEnd type="triangle" w="med" len="med"/>
          </a:ln>
        </p:spPr>
      </p:cxnSp>
      <p:sp>
        <p:nvSpPr>
          <p:cNvPr id="238" name="Google Shape;60;p1">
            <a:extLst>
              <a:ext uri="{FF2B5EF4-FFF2-40B4-BE49-F238E27FC236}">
                <a16:creationId xmlns:a16="http://schemas.microsoft.com/office/drawing/2014/main" id="{83A01066-B11D-31D8-14F7-E20C6581753D}"/>
              </a:ext>
            </a:extLst>
          </p:cNvPr>
          <p:cNvSpPr txBox="1"/>
          <p:nvPr/>
        </p:nvSpPr>
        <p:spPr>
          <a:xfrm>
            <a:off x="234482" y="202456"/>
            <a:ext cx="1105800" cy="6477848"/>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 sz="1200" b="1" i="0" u="none" strike="noStrike" cap="none" dirty="0">
                <a:solidFill>
                  <a:srgbClr val="000000"/>
                </a:solidFill>
                <a:latin typeface="Times New Roman"/>
                <a:ea typeface="Times New Roman"/>
                <a:cs typeface="Times New Roman"/>
                <a:sym typeface="Times New Roman"/>
              </a:rPr>
              <a:t>Splicing </a:t>
            </a:r>
            <a:r>
              <a:rPr lang="en" sz="1200" b="1" i="0" u="none" strike="noStrike" cap="none" dirty="0" err="1">
                <a:solidFill>
                  <a:srgbClr val="000000"/>
                </a:solidFill>
                <a:latin typeface="Times New Roman"/>
                <a:ea typeface="Times New Roman"/>
                <a:cs typeface="Times New Roman"/>
                <a:sym typeface="Times New Roman"/>
              </a:rPr>
              <a:t>predicti</a:t>
            </a:r>
            <a:r>
              <a:rPr lang="en-US" sz="1200" b="1" i="0" u="none" strike="noStrike" cap="none" dirty="0">
                <a:solidFill>
                  <a:srgbClr val="000000"/>
                </a:solidFill>
                <a:latin typeface="Times New Roman"/>
                <a:ea typeface="Times New Roman"/>
                <a:cs typeface="Times New Roman"/>
                <a:sym typeface="Times New Roman"/>
              </a:rPr>
              <a:t>on</a:t>
            </a:r>
            <a:r>
              <a:rPr lang="en" sz="1200" b="1" i="0" u="none" strike="noStrike" cap="none" dirty="0">
                <a:solidFill>
                  <a:srgbClr val="000000"/>
                </a:solidFill>
                <a:latin typeface="Times New Roman"/>
                <a:ea typeface="Times New Roman"/>
                <a:cs typeface="Times New Roman"/>
                <a:sym typeface="Times New Roman"/>
              </a:rPr>
              <a:t> data only</a:t>
            </a:r>
            <a:endParaRPr sz="1400" b="1" i="0" u="none" strike="noStrike" cap="none" dirty="0">
              <a:solidFill>
                <a:srgbClr val="000000"/>
              </a:solidFill>
              <a:latin typeface="Arial"/>
              <a:ea typeface="Arial"/>
              <a:cs typeface="Arial"/>
              <a:sym typeface="Arial"/>
            </a:endParaRPr>
          </a:p>
        </p:txBody>
      </p:sp>
      <p:sp>
        <p:nvSpPr>
          <p:cNvPr id="239" name="Google Shape;60;p1">
            <a:extLst>
              <a:ext uri="{FF2B5EF4-FFF2-40B4-BE49-F238E27FC236}">
                <a16:creationId xmlns:a16="http://schemas.microsoft.com/office/drawing/2014/main" id="{DC69C332-6D99-12A3-C2EB-067889D97052}"/>
              </a:ext>
            </a:extLst>
          </p:cNvPr>
          <p:cNvSpPr txBox="1"/>
          <p:nvPr/>
        </p:nvSpPr>
        <p:spPr>
          <a:xfrm>
            <a:off x="1592413" y="3167358"/>
            <a:ext cx="1105800" cy="3512946"/>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 sz="1200" b="1" dirty="0">
                <a:latin typeface="Times New Roman"/>
                <a:ea typeface="Times New Roman"/>
                <a:cs typeface="Times New Roman"/>
                <a:sym typeface="Times New Roman"/>
              </a:rPr>
              <a:t>D</a:t>
            </a:r>
            <a:r>
              <a:rPr lang="en" sz="1200" b="1" i="0" u="none" strike="noStrike" cap="none" dirty="0">
                <a:solidFill>
                  <a:srgbClr val="000000"/>
                </a:solidFill>
                <a:latin typeface="Times New Roman"/>
                <a:ea typeface="Times New Roman"/>
                <a:cs typeface="Times New Roman"/>
                <a:sym typeface="Times New Roman"/>
              </a:rPr>
              <a:t>onor/acceptor +/- 1,2 dinucleotide positions</a:t>
            </a:r>
          </a:p>
          <a:p>
            <a:pPr marL="0" marR="0" lvl="0" indent="0" algn="ctr" rtl="0">
              <a:lnSpc>
                <a:spcPct val="100000"/>
              </a:lnSpc>
              <a:spcBef>
                <a:spcPts val="0"/>
              </a:spcBef>
              <a:spcAft>
                <a:spcPts val="0"/>
              </a:spcAft>
              <a:buClr>
                <a:srgbClr val="000000"/>
              </a:buClr>
              <a:buSzPts val="1200"/>
              <a:buFont typeface="Arial"/>
              <a:buNone/>
            </a:pPr>
            <a:endParaRPr lang="en" sz="1200" b="1" dirty="0">
              <a:solidFill>
                <a:srgbClr val="00B0F0"/>
              </a:solidFill>
              <a:latin typeface="Times New Roman"/>
              <a:ea typeface="Times New Roman"/>
              <a:cs typeface="Times New Roman"/>
              <a:sym typeface="Times New Roman"/>
            </a:endParaRPr>
          </a:p>
          <a:p>
            <a:pPr marL="0" marR="0" lvl="0" indent="0" algn="ctr" rtl="0">
              <a:lnSpc>
                <a:spcPct val="100000"/>
              </a:lnSpc>
              <a:spcBef>
                <a:spcPts val="0"/>
              </a:spcBef>
              <a:spcAft>
                <a:spcPts val="0"/>
              </a:spcAft>
              <a:buClr>
                <a:srgbClr val="000000"/>
              </a:buClr>
              <a:buSzPts val="1200"/>
              <a:buFont typeface="Arial"/>
              <a:buNone/>
            </a:pPr>
            <a:r>
              <a:rPr lang="en" sz="1200" b="1" i="0" u="none" strike="noStrike" cap="none" dirty="0">
                <a:solidFill>
                  <a:srgbClr val="00B0F0"/>
                </a:solidFill>
                <a:latin typeface="Times New Roman"/>
                <a:ea typeface="Times New Roman"/>
                <a:cs typeface="Times New Roman"/>
                <a:sym typeface="Times New Roman"/>
              </a:rPr>
              <a:t>See (c):  RPGR Rule Table for PVS1</a:t>
            </a:r>
          </a:p>
        </p:txBody>
      </p:sp>
      <p:sp>
        <p:nvSpPr>
          <p:cNvPr id="240" name="Google Shape;61;p1">
            <a:extLst>
              <a:ext uri="{FF2B5EF4-FFF2-40B4-BE49-F238E27FC236}">
                <a16:creationId xmlns:a16="http://schemas.microsoft.com/office/drawing/2014/main" id="{AE1A5944-CD74-FCD5-4BF3-84B8856D6C56}"/>
              </a:ext>
            </a:extLst>
          </p:cNvPr>
          <p:cNvSpPr/>
          <p:nvPr/>
        </p:nvSpPr>
        <p:spPr>
          <a:xfrm>
            <a:off x="4392226" y="3157619"/>
            <a:ext cx="1312149" cy="1233861"/>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dirty="0">
                <a:solidFill>
                  <a:srgbClr val="000000"/>
                </a:solidFill>
                <a:latin typeface="Times New Roman"/>
                <a:ea typeface="Times New Roman"/>
                <a:cs typeface="Times New Roman"/>
                <a:sym typeface="Times New Roman"/>
              </a:rPr>
              <a:t>PVS1 applied</a:t>
            </a:r>
            <a:endParaRPr sz="1400" b="0" i="0" u="none" strike="noStrike" cap="none" dirty="0">
              <a:solidFill>
                <a:srgbClr val="FF0000"/>
              </a:solidFill>
              <a:latin typeface="Arial"/>
              <a:ea typeface="Arial"/>
              <a:cs typeface="Arial"/>
              <a:sym typeface="Arial"/>
            </a:endParaRPr>
          </a:p>
        </p:txBody>
      </p:sp>
      <p:sp>
        <p:nvSpPr>
          <p:cNvPr id="241" name="Google Shape;63;p1">
            <a:extLst>
              <a:ext uri="{FF2B5EF4-FFF2-40B4-BE49-F238E27FC236}">
                <a16:creationId xmlns:a16="http://schemas.microsoft.com/office/drawing/2014/main" id="{F55F3C30-1252-9E73-8EA5-0431B92BE72B}"/>
              </a:ext>
            </a:extLst>
          </p:cNvPr>
          <p:cNvSpPr/>
          <p:nvPr/>
        </p:nvSpPr>
        <p:spPr>
          <a:xfrm>
            <a:off x="5964241" y="3157602"/>
            <a:ext cx="4572000" cy="274320"/>
          </a:xfrm>
          <a:prstGeom prst="rect">
            <a:avLst/>
          </a:prstGeom>
          <a:solidFill>
            <a:schemeClr val="lt1"/>
          </a:solid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 sz="1200" b="0" i="0" u="none" strike="noStrike" cap="none" dirty="0">
                <a:solidFill>
                  <a:srgbClr val="000000"/>
                </a:solidFill>
                <a:latin typeface="Times New Roman"/>
                <a:ea typeface="Times New Roman"/>
                <a:cs typeface="Times New Roman"/>
                <a:sym typeface="Times New Roman"/>
              </a:rPr>
              <a:t>No appropriate comparison P/LP variant in this splice region</a:t>
            </a:r>
            <a:endParaRPr sz="1400" b="0" i="0" u="none" strike="noStrike" cap="none" dirty="0">
              <a:solidFill>
                <a:srgbClr val="000000"/>
              </a:solidFill>
              <a:latin typeface="Arial"/>
              <a:ea typeface="Arial"/>
              <a:cs typeface="Arial"/>
              <a:sym typeface="Arial"/>
            </a:endParaRPr>
          </a:p>
        </p:txBody>
      </p:sp>
      <p:sp>
        <p:nvSpPr>
          <p:cNvPr id="242" name="Google Shape;64;p1">
            <a:extLst>
              <a:ext uri="{FF2B5EF4-FFF2-40B4-BE49-F238E27FC236}">
                <a16:creationId xmlns:a16="http://schemas.microsoft.com/office/drawing/2014/main" id="{B6C42BCE-44E1-A7A2-5470-4673FA4A040B}"/>
              </a:ext>
            </a:extLst>
          </p:cNvPr>
          <p:cNvSpPr/>
          <p:nvPr/>
        </p:nvSpPr>
        <p:spPr>
          <a:xfrm>
            <a:off x="5972183" y="3526768"/>
            <a:ext cx="4572000" cy="384048"/>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dirty="0">
                <a:solidFill>
                  <a:srgbClr val="000000"/>
                </a:solidFill>
                <a:latin typeface="Times New Roman"/>
                <a:ea typeface="Times New Roman"/>
                <a:cs typeface="Times New Roman"/>
                <a:sym typeface="Times New Roman"/>
              </a:rPr>
              <a:t>P variant at this </a:t>
            </a:r>
            <a:r>
              <a:rPr lang="en-US" sz="1200" b="0" i="0" u="none" strike="noStrike" cap="none" dirty="0" err="1">
                <a:solidFill>
                  <a:srgbClr val="000000"/>
                </a:solidFill>
                <a:latin typeface="Times New Roman"/>
                <a:ea typeface="Times New Roman"/>
                <a:cs typeface="Times New Roman"/>
                <a:sym typeface="Times New Roman"/>
              </a:rPr>
              <a:t>nt</a:t>
            </a:r>
            <a:r>
              <a:rPr lang="en-US" sz="1200" b="0" i="0" u="none" strike="noStrike" cap="none" dirty="0">
                <a:solidFill>
                  <a:srgbClr val="000000"/>
                </a:solidFill>
                <a:latin typeface="Times New Roman"/>
                <a:ea typeface="Times New Roman"/>
                <a:cs typeface="Times New Roman"/>
                <a:sym typeface="Times New Roman"/>
              </a:rPr>
              <a:t> position or in same donor/acceptor +/-1,2 dinucleotide with same predicted impact</a:t>
            </a:r>
            <a:endParaRPr lang="en-US" sz="1400" b="0" i="0" u="none" strike="noStrike" cap="none" dirty="0">
              <a:solidFill>
                <a:srgbClr val="000000"/>
              </a:solidFill>
              <a:latin typeface="Arial"/>
              <a:ea typeface="Arial"/>
              <a:cs typeface="Arial"/>
              <a:sym typeface="Arial"/>
            </a:endParaRPr>
          </a:p>
        </p:txBody>
      </p:sp>
      <p:sp>
        <p:nvSpPr>
          <p:cNvPr id="243" name="Google Shape;65;p1">
            <a:extLst>
              <a:ext uri="{FF2B5EF4-FFF2-40B4-BE49-F238E27FC236}">
                <a16:creationId xmlns:a16="http://schemas.microsoft.com/office/drawing/2014/main" id="{907D3209-10AE-4097-19A6-7DC648FA8458}"/>
              </a:ext>
            </a:extLst>
          </p:cNvPr>
          <p:cNvSpPr/>
          <p:nvPr/>
        </p:nvSpPr>
        <p:spPr>
          <a:xfrm>
            <a:off x="10945100" y="3157602"/>
            <a:ext cx="1188720" cy="27432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 sz="1200" b="0" i="0" u="none" strike="noStrike" cap="none" dirty="0">
                <a:solidFill>
                  <a:srgbClr val="000000"/>
                </a:solidFill>
                <a:latin typeface="Times New Roman"/>
                <a:ea typeface="Times New Roman"/>
                <a:cs typeface="Times New Roman"/>
                <a:sym typeface="Times New Roman"/>
              </a:rPr>
              <a:t>PVS1</a:t>
            </a:r>
            <a:endParaRPr sz="1400" b="0" i="0" u="none" strike="noStrike" cap="none" dirty="0">
              <a:solidFill>
                <a:srgbClr val="000000"/>
              </a:solidFill>
              <a:latin typeface="Arial"/>
              <a:ea typeface="Arial"/>
              <a:cs typeface="Arial"/>
              <a:sym typeface="Arial"/>
            </a:endParaRPr>
          </a:p>
        </p:txBody>
      </p:sp>
      <p:sp>
        <p:nvSpPr>
          <p:cNvPr id="244" name="Google Shape;66;p1">
            <a:extLst>
              <a:ext uri="{FF2B5EF4-FFF2-40B4-BE49-F238E27FC236}">
                <a16:creationId xmlns:a16="http://schemas.microsoft.com/office/drawing/2014/main" id="{E6B3265B-A9F5-D2C0-AEF3-DE4591D8B401}"/>
              </a:ext>
            </a:extLst>
          </p:cNvPr>
          <p:cNvSpPr/>
          <p:nvPr/>
        </p:nvSpPr>
        <p:spPr>
          <a:xfrm>
            <a:off x="10945100" y="3533437"/>
            <a:ext cx="1188720" cy="384048"/>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 sz="1200" b="0" i="0" u="none" strike="noStrike" cap="none" dirty="0">
                <a:solidFill>
                  <a:srgbClr val="000000"/>
                </a:solidFill>
                <a:latin typeface="Times New Roman"/>
                <a:ea typeface="Times New Roman"/>
                <a:cs typeface="Times New Roman"/>
                <a:sym typeface="Times New Roman"/>
              </a:rPr>
              <a:t>PVS1 + PS1_P</a:t>
            </a:r>
            <a:endParaRPr sz="1400" b="0" i="0" u="none" strike="noStrike" cap="none" dirty="0">
              <a:solidFill>
                <a:srgbClr val="000000"/>
              </a:solidFill>
              <a:latin typeface="Arial"/>
              <a:ea typeface="Arial"/>
              <a:cs typeface="Arial"/>
              <a:sym typeface="Arial"/>
            </a:endParaRPr>
          </a:p>
        </p:txBody>
      </p:sp>
      <p:sp>
        <p:nvSpPr>
          <p:cNvPr id="245" name="Google Shape;67;p1">
            <a:extLst>
              <a:ext uri="{FF2B5EF4-FFF2-40B4-BE49-F238E27FC236}">
                <a16:creationId xmlns:a16="http://schemas.microsoft.com/office/drawing/2014/main" id="{7A359D49-7B59-6FA3-A36A-7E960A1E9130}"/>
              </a:ext>
            </a:extLst>
          </p:cNvPr>
          <p:cNvSpPr/>
          <p:nvPr/>
        </p:nvSpPr>
        <p:spPr>
          <a:xfrm>
            <a:off x="5962659" y="4007432"/>
            <a:ext cx="4572000" cy="384048"/>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dirty="0">
                <a:solidFill>
                  <a:srgbClr val="000000"/>
                </a:solidFill>
                <a:latin typeface="Times New Roman"/>
                <a:ea typeface="Times New Roman"/>
                <a:cs typeface="Times New Roman"/>
                <a:sym typeface="Times New Roman"/>
              </a:rPr>
              <a:t>P / LP variant within the same splice region, but outside donor/acceptor +/-1,2 dinucleotide, with same predicted impact</a:t>
            </a:r>
            <a:endParaRPr lang="en-US" sz="1400" b="0" i="0" u="none" strike="noStrike" cap="none" dirty="0">
              <a:solidFill>
                <a:srgbClr val="000000"/>
              </a:solidFill>
              <a:latin typeface="Arial"/>
              <a:ea typeface="Arial"/>
              <a:cs typeface="Arial"/>
              <a:sym typeface="Arial"/>
            </a:endParaRPr>
          </a:p>
        </p:txBody>
      </p:sp>
      <p:sp>
        <p:nvSpPr>
          <p:cNvPr id="246" name="Google Shape;69;p1">
            <a:extLst>
              <a:ext uri="{FF2B5EF4-FFF2-40B4-BE49-F238E27FC236}">
                <a16:creationId xmlns:a16="http://schemas.microsoft.com/office/drawing/2014/main" id="{5F5EB08D-A4FF-3D58-D172-6ABBB02FBE50}"/>
              </a:ext>
            </a:extLst>
          </p:cNvPr>
          <p:cNvSpPr/>
          <p:nvPr/>
        </p:nvSpPr>
        <p:spPr>
          <a:xfrm>
            <a:off x="5972183" y="4473783"/>
            <a:ext cx="4572000" cy="27432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dirty="0">
                <a:solidFill>
                  <a:srgbClr val="000000"/>
                </a:solidFill>
                <a:latin typeface="Times New Roman"/>
                <a:ea typeface="Times New Roman"/>
                <a:cs typeface="Times New Roman"/>
                <a:sym typeface="Times New Roman"/>
              </a:rPr>
              <a:t>No appropriate comparison P/LP variant within this splice region</a:t>
            </a:r>
            <a:endParaRPr lang="en-US" sz="1400" b="0" i="0" u="none" strike="noStrike" cap="none" dirty="0">
              <a:solidFill>
                <a:srgbClr val="000000"/>
              </a:solidFill>
              <a:latin typeface="Arial"/>
              <a:ea typeface="Arial"/>
              <a:cs typeface="Arial"/>
              <a:sym typeface="Arial"/>
            </a:endParaRPr>
          </a:p>
        </p:txBody>
      </p:sp>
      <p:sp>
        <p:nvSpPr>
          <p:cNvPr id="247" name="Google Shape;70;p1">
            <a:extLst>
              <a:ext uri="{FF2B5EF4-FFF2-40B4-BE49-F238E27FC236}">
                <a16:creationId xmlns:a16="http://schemas.microsoft.com/office/drawing/2014/main" id="{D248837A-3423-7DF0-292D-CCC514F32258}"/>
              </a:ext>
            </a:extLst>
          </p:cNvPr>
          <p:cNvSpPr/>
          <p:nvPr/>
        </p:nvSpPr>
        <p:spPr>
          <a:xfrm>
            <a:off x="10945100" y="4026281"/>
            <a:ext cx="1188720" cy="384048"/>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dirty="0">
                <a:solidFill>
                  <a:srgbClr val="000000"/>
                </a:solidFill>
                <a:latin typeface="Times New Roman"/>
                <a:ea typeface="Times New Roman"/>
                <a:cs typeface="Times New Roman"/>
                <a:sym typeface="Times New Roman"/>
              </a:rPr>
              <a:t>PVS1 + PS1_P</a:t>
            </a:r>
            <a:endParaRPr lang="en-US" sz="1400" b="0" i="0" u="none" strike="noStrike" cap="none" dirty="0">
              <a:solidFill>
                <a:srgbClr val="000000"/>
              </a:solidFill>
              <a:latin typeface="Arial"/>
              <a:ea typeface="Arial"/>
              <a:cs typeface="Arial"/>
              <a:sym typeface="Arial"/>
            </a:endParaRPr>
          </a:p>
        </p:txBody>
      </p:sp>
      <p:sp>
        <p:nvSpPr>
          <p:cNvPr id="248" name="Google Shape;71;p1">
            <a:extLst>
              <a:ext uri="{FF2B5EF4-FFF2-40B4-BE49-F238E27FC236}">
                <a16:creationId xmlns:a16="http://schemas.microsoft.com/office/drawing/2014/main" id="{B3FB024C-64D5-031C-A290-45084560025D}"/>
              </a:ext>
            </a:extLst>
          </p:cNvPr>
          <p:cNvSpPr/>
          <p:nvPr/>
        </p:nvSpPr>
        <p:spPr>
          <a:xfrm>
            <a:off x="10945100" y="4472675"/>
            <a:ext cx="1188720" cy="27432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dirty="0">
                <a:solidFill>
                  <a:srgbClr val="000000"/>
                </a:solidFill>
                <a:latin typeface="Times New Roman"/>
                <a:ea typeface="Times New Roman"/>
                <a:cs typeface="Times New Roman"/>
                <a:sym typeface="Times New Roman"/>
              </a:rPr>
              <a:t>PVS1_Strength</a:t>
            </a:r>
            <a:endParaRPr lang="en-US" sz="1400" b="0" i="0" u="none" strike="noStrike" cap="none" dirty="0">
              <a:solidFill>
                <a:srgbClr val="000000"/>
              </a:solidFill>
              <a:latin typeface="Arial"/>
              <a:ea typeface="Arial"/>
              <a:cs typeface="Arial"/>
              <a:sym typeface="Arial"/>
            </a:endParaRPr>
          </a:p>
        </p:txBody>
      </p:sp>
      <p:cxnSp>
        <p:nvCxnSpPr>
          <p:cNvPr id="251" name="Google Shape;79;p1">
            <a:extLst>
              <a:ext uri="{FF2B5EF4-FFF2-40B4-BE49-F238E27FC236}">
                <a16:creationId xmlns:a16="http://schemas.microsoft.com/office/drawing/2014/main" id="{ABF773DC-1F5A-2DA1-8C98-CC9A7EBE8519}"/>
              </a:ext>
            </a:extLst>
          </p:cNvPr>
          <p:cNvCxnSpPr>
            <a:cxnSpLocks/>
            <a:stCxn id="273" idx="3"/>
          </p:cNvCxnSpPr>
          <p:nvPr/>
        </p:nvCxnSpPr>
        <p:spPr>
          <a:xfrm flipV="1">
            <a:off x="4043366" y="4031306"/>
            <a:ext cx="423506" cy="900216"/>
          </a:xfrm>
          <a:prstGeom prst="straightConnector1">
            <a:avLst/>
          </a:prstGeom>
          <a:noFill/>
          <a:ln w="9525" cap="flat" cmpd="sng">
            <a:solidFill>
              <a:srgbClr val="44546A"/>
            </a:solidFill>
            <a:prstDash val="solid"/>
            <a:round/>
            <a:headEnd type="none" w="sm" len="sm"/>
            <a:tailEnd type="triangle" w="med" len="med"/>
          </a:ln>
        </p:spPr>
      </p:cxnSp>
      <p:cxnSp>
        <p:nvCxnSpPr>
          <p:cNvPr id="252" name="Google Shape;80;p1">
            <a:extLst>
              <a:ext uri="{FF2B5EF4-FFF2-40B4-BE49-F238E27FC236}">
                <a16:creationId xmlns:a16="http://schemas.microsoft.com/office/drawing/2014/main" id="{90600F01-AAD6-B923-909F-CC90CE99AD47}"/>
              </a:ext>
            </a:extLst>
          </p:cNvPr>
          <p:cNvCxnSpPr>
            <a:cxnSpLocks/>
            <a:stCxn id="273" idx="3"/>
            <a:endCxn id="282" idx="1"/>
          </p:cNvCxnSpPr>
          <p:nvPr/>
        </p:nvCxnSpPr>
        <p:spPr>
          <a:xfrm>
            <a:off x="4043366" y="4931522"/>
            <a:ext cx="348861" cy="396029"/>
          </a:xfrm>
          <a:prstGeom prst="straightConnector1">
            <a:avLst/>
          </a:prstGeom>
          <a:noFill/>
          <a:ln w="9525" cap="flat" cmpd="sng">
            <a:solidFill>
              <a:srgbClr val="44546A"/>
            </a:solidFill>
            <a:prstDash val="solid"/>
            <a:round/>
            <a:headEnd type="none" w="sm" len="sm"/>
            <a:tailEnd type="triangle" w="med" len="med"/>
          </a:ln>
        </p:spPr>
      </p:cxnSp>
      <p:cxnSp>
        <p:nvCxnSpPr>
          <p:cNvPr id="253" name="Google Shape;81;p1">
            <a:extLst>
              <a:ext uri="{FF2B5EF4-FFF2-40B4-BE49-F238E27FC236}">
                <a16:creationId xmlns:a16="http://schemas.microsoft.com/office/drawing/2014/main" id="{37947770-9FC0-7ED0-764A-620EBA20BE8E}"/>
              </a:ext>
            </a:extLst>
          </p:cNvPr>
          <p:cNvCxnSpPr>
            <a:cxnSpLocks/>
            <a:stCxn id="240" idx="3"/>
            <a:endCxn id="241" idx="1"/>
          </p:cNvCxnSpPr>
          <p:nvPr/>
        </p:nvCxnSpPr>
        <p:spPr>
          <a:xfrm flipV="1">
            <a:off x="5704375" y="3294762"/>
            <a:ext cx="259866" cy="479788"/>
          </a:xfrm>
          <a:prstGeom prst="straightConnector1">
            <a:avLst/>
          </a:prstGeom>
          <a:noFill/>
          <a:ln w="9525" cap="flat" cmpd="sng">
            <a:solidFill>
              <a:srgbClr val="44546A"/>
            </a:solidFill>
            <a:prstDash val="solid"/>
            <a:round/>
            <a:headEnd type="none" w="sm" len="sm"/>
            <a:tailEnd type="triangle" w="med" len="med"/>
          </a:ln>
        </p:spPr>
      </p:cxnSp>
      <p:cxnSp>
        <p:nvCxnSpPr>
          <p:cNvPr id="254" name="Google Shape;82;p1">
            <a:extLst>
              <a:ext uri="{FF2B5EF4-FFF2-40B4-BE49-F238E27FC236}">
                <a16:creationId xmlns:a16="http://schemas.microsoft.com/office/drawing/2014/main" id="{F95B9863-BCED-23A4-D6B3-F2B28C6D2405}"/>
              </a:ext>
            </a:extLst>
          </p:cNvPr>
          <p:cNvCxnSpPr>
            <a:cxnSpLocks/>
            <a:stCxn id="240" idx="3"/>
            <a:endCxn id="242" idx="1"/>
          </p:cNvCxnSpPr>
          <p:nvPr/>
        </p:nvCxnSpPr>
        <p:spPr>
          <a:xfrm flipV="1">
            <a:off x="5704375" y="3718792"/>
            <a:ext cx="267808" cy="55758"/>
          </a:xfrm>
          <a:prstGeom prst="straightConnector1">
            <a:avLst/>
          </a:prstGeom>
          <a:noFill/>
          <a:ln w="9525" cap="flat" cmpd="sng">
            <a:solidFill>
              <a:srgbClr val="44546A"/>
            </a:solidFill>
            <a:prstDash val="solid"/>
            <a:round/>
            <a:headEnd type="none" w="sm" len="sm"/>
            <a:tailEnd type="triangle" w="med" len="med"/>
          </a:ln>
        </p:spPr>
      </p:cxnSp>
      <p:cxnSp>
        <p:nvCxnSpPr>
          <p:cNvPr id="255" name="Google Shape;83;p1">
            <a:extLst>
              <a:ext uri="{FF2B5EF4-FFF2-40B4-BE49-F238E27FC236}">
                <a16:creationId xmlns:a16="http://schemas.microsoft.com/office/drawing/2014/main" id="{DC117A35-B213-62E1-2F08-0A665A115C82}"/>
              </a:ext>
            </a:extLst>
          </p:cNvPr>
          <p:cNvCxnSpPr>
            <a:cxnSpLocks/>
            <a:stCxn id="240" idx="3"/>
            <a:endCxn id="245" idx="1"/>
          </p:cNvCxnSpPr>
          <p:nvPr/>
        </p:nvCxnSpPr>
        <p:spPr>
          <a:xfrm>
            <a:off x="5704375" y="3774550"/>
            <a:ext cx="258284" cy="424906"/>
          </a:xfrm>
          <a:prstGeom prst="straightConnector1">
            <a:avLst/>
          </a:prstGeom>
          <a:noFill/>
          <a:ln w="9525" cap="flat" cmpd="sng">
            <a:solidFill>
              <a:srgbClr val="44546A"/>
            </a:solidFill>
            <a:prstDash val="solid"/>
            <a:round/>
            <a:headEnd type="none" w="sm" len="sm"/>
            <a:tailEnd type="triangle" w="med" len="med"/>
          </a:ln>
        </p:spPr>
      </p:cxnSp>
      <p:cxnSp>
        <p:nvCxnSpPr>
          <p:cNvPr id="256" name="Google Shape;85;p1">
            <a:extLst>
              <a:ext uri="{FF2B5EF4-FFF2-40B4-BE49-F238E27FC236}">
                <a16:creationId xmlns:a16="http://schemas.microsoft.com/office/drawing/2014/main" id="{E3B1243C-0385-612D-EFCF-B32C1230E9BA}"/>
              </a:ext>
            </a:extLst>
          </p:cNvPr>
          <p:cNvCxnSpPr>
            <a:cxnSpLocks/>
            <a:stCxn id="282" idx="3"/>
            <a:endCxn id="246" idx="1"/>
          </p:cNvCxnSpPr>
          <p:nvPr/>
        </p:nvCxnSpPr>
        <p:spPr>
          <a:xfrm flipV="1">
            <a:off x="5703475" y="4610943"/>
            <a:ext cx="268708" cy="716608"/>
          </a:xfrm>
          <a:prstGeom prst="straightConnector1">
            <a:avLst/>
          </a:prstGeom>
          <a:noFill/>
          <a:ln w="9525" cap="flat" cmpd="sng">
            <a:solidFill>
              <a:srgbClr val="44546A"/>
            </a:solidFill>
            <a:prstDash val="solid"/>
            <a:round/>
            <a:headEnd type="none" w="sm" len="sm"/>
            <a:tailEnd type="triangle" w="med" len="med"/>
          </a:ln>
        </p:spPr>
      </p:cxnSp>
      <p:cxnSp>
        <p:nvCxnSpPr>
          <p:cNvPr id="257" name="Google Shape;86;p1">
            <a:extLst>
              <a:ext uri="{FF2B5EF4-FFF2-40B4-BE49-F238E27FC236}">
                <a16:creationId xmlns:a16="http://schemas.microsoft.com/office/drawing/2014/main" id="{27C180EA-72F6-CCA8-FC84-86839B749CB5}"/>
              </a:ext>
            </a:extLst>
          </p:cNvPr>
          <p:cNvCxnSpPr>
            <a:cxnSpLocks/>
            <a:stCxn id="282" idx="3"/>
            <a:endCxn id="333" idx="1"/>
          </p:cNvCxnSpPr>
          <p:nvPr/>
        </p:nvCxnSpPr>
        <p:spPr>
          <a:xfrm>
            <a:off x="5703475" y="5327551"/>
            <a:ext cx="259184" cy="184944"/>
          </a:xfrm>
          <a:prstGeom prst="straightConnector1">
            <a:avLst/>
          </a:prstGeom>
          <a:noFill/>
          <a:ln w="9525" cap="flat" cmpd="sng">
            <a:solidFill>
              <a:srgbClr val="44546A"/>
            </a:solidFill>
            <a:prstDash val="solid"/>
            <a:round/>
            <a:headEnd type="none" w="sm" len="sm"/>
            <a:tailEnd type="triangle" w="med" len="med"/>
          </a:ln>
        </p:spPr>
      </p:cxnSp>
      <p:cxnSp>
        <p:nvCxnSpPr>
          <p:cNvPr id="258" name="Google Shape;118;p1">
            <a:extLst>
              <a:ext uri="{FF2B5EF4-FFF2-40B4-BE49-F238E27FC236}">
                <a16:creationId xmlns:a16="http://schemas.microsoft.com/office/drawing/2014/main" id="{CC73B4B7-FD39-D672-CB43-589879A019CB}"/>
              </a:ext>
            </a:extLst>
          </p:cNvPr>
          <p:cNvCxnSpPr>
            <a:stCxn id="241" idx="3"/>
            <a:endCxn id="243" idx="1"/>
          </p:cNvCxnSpPr>
          <p:nvPr/>
        </p:nvCxnSpPr>
        <p:spPr>
          <a:xfrm>
            <a:off x="10536241" y="3294762"/>
            <a:ext cx="408859" cy="0"/>
          </a:xfrm>
          <a:prstGeom prst="straightConnector1">
            <a:avLst/>
          </a:prstGeom>
          <a:noFill/>
          <a:ln w="9525" cap="flat" cmpd="sng">
            <a:solidFill>
              <a:srgbClr val="595959"/>
            </a:solidFill>
            <a:prstDash val="solid"/>
            <a:round/>
            <a:headEnd type="none" w="sm" len="sm"/>
            <a:tailEnd type="triangle" w="med" len="med"/>
          </a:ln>
        </p:spPr>
      </p:cxnSp>
      <p:cxnSp>
        <p:nvCxnSpPr>
          <p:cNvPr id="259" name="Google Shape;119;p1">
            <a:extLst>
              <a:ext uri="{FF2B5EF4-FFF2-40B4-BE49-F238E27FC236}">
                <a16:creationId xmlns:a16="http://schemas.microsoft.com/office/drawing/2014/main" id="{34EBD97F-2D9D-2B89-FE4D-8F5A593B577B}"/>
              </a:ext>
            </a:extLst>
          </p:cNvPr>
          <p:cNvCxnSpPr>
            <a:cxnSpLocks/>
            <a:stCxn id="242" idx="3"/>
            <a:endCxn id="244" idx="1"/>
          </p:cNvCxnSpPr>
          <p:nvPr/>
        </p:nvCxnSpPr>
        <p:spPr>
          <a:xfrm>
            <a:off x="10544183" y="3718792"/>
            <a:ext cx="400917" cy="0"/>
          </a:xfrm>
          <a:prstGeom prst="straightConnector1">
            <a:avLst/>
          </a:prstGeom>
          <a:noFill/>
          <a:ln w="9525" cap="flat" cmpd="sng">
            <a:solidFill>
              <a:srgbClr val="595959"/>
            </a:solidFill>
            <a:prstDash val="solid"/>
            <a:round/>
            <a:headEnd type="none" w="sm" len="sm"/>
            <a:tailEnd type="triangle" w="med" len="med"/>
          </a:ln>
        </p:spPr>
      </p:cxnSp>
      <p:cxnSp>
        <p:nvCxnSpPr>
          <p:cNvPr id="260" name="Google Shape;120;p1">
            <a:extLst>
              <a:ext uri="{FF2B5EF4-FFF2-40B4-BE49-F238E27FC236}">
                <a16:creationId xmlns:a16="http://schemas.microsoft.com/office/drawing/2014/main" id="{8F92BD1E-7294-58A7-E1BD-56790F526C90}"/>
              </a:ext>
            </a:extLst>
          </p:cNvPr>
          <p:cNvCxnSpPr>
            <a:stCxn id="245" idx="3"/>
            <a:endCxn id="247" idx="1"/>
          </p:cNvCxnSpPr>
          <p:nvPr/>
        </p:nvCxnSpPr>
        <p:spPr>
          <a:xfrm>
            <a:off x="10534659" y="4199456"/>
            <a:ext cx="410441" cy="0"/>
          </a:xfrm>
          <a:prstGeom prst="straightConnector1">
            <a:avLst/>
          </a:prstGeom>
          <a:noFill/>
          <a:ln w="9525" cap="flat" cmpd="sng">
            <a:solidFill>
              <a:srgbClr val="595959"/>
            </a:solidFill>
            <a:prstDash val="solid"/>
            <a:round/>
            <a:headEnd type="none" w="sm" len="sm"/>
            <a:tailEnd type="triangle" w="med" len="med"/>
          </a:ln>
        </p:spPr>
      </p:cxnSp>
      <p:cxnSp>
        <p:nvCxnSpPr>
          <p:cNvPr id="261" name="Google Shape;121;p1">
            <a:extLst>
              <a:ext uri="{FF2B5EF4-FFF2-40B4-BE49-F238E27FC236}">
                <a16:creationId xmlns:a16="http://schemas.microsoft.com/office/drawing/2014/main" id="{7D07D2D2-014E-09A9-6641-952938268F04}"/>
              </a:ext>
            </a:extLst>
          </p:cNvPr>
          <p:cNvCxnSpPr>
            <a:cxnSpLocks/>
            <a:stCxn id="246" idx="3"/>
            <a:endCxn id="248" idx="1"/>
          </p:cNvCxnSpPr>
          <p:nvPr/>
        </p:nvCxnSpPr>
        <p:spPr>
          <a:xfrm flipV="1">
            <a:off x="10544183" y="4609835"/>
            <a:ext cx="400917" cy="1108"/>
          </a:xfrm>
          <a:prstGeom prst="straightConnector1">
            <a:avLst/>
          </a:prstGeom>
          <a:noFill/>
          <a:ln w="9525" cap="flat" cmpd="sng">
            <a:solidFill>
              <a:srgbClr val="595959"/>
            </a:solidFill>
            <a:prstDash val="solid"/>
            <a:round/>
            <a:headEnd type="none" w="sm" len="sm"/>
            <a:tailEnd type="triangle" w="med" len="med"/>
          </a:ln>
        </p:spPr>
      </p:cxnSp>
      <p:sp>
        <p:nvSpPr>
          <p:cNvPr id="266" name="Google Shape;61;p1">
            <a:extLst>
              <a:ext uri="{FF2B5EF4-FFF2-40B4-BE49-F238E27FC236}">
                <a16:creationId xmlns:a16="http://schemas.microsoft.com/office/drawing/2014/main" id="{ADEEED5C-E909-345F-E7DE-19EE1B9CB494}"/>
              </a:ext>
            </a:extLst>
          </p:cNvPr>
          <p:cNvSpPr/>
          <p:nvPr/>
        </p:nvSpPr>
        <p:spPr>
          <a:xfrm>
            <a:off x="4392226" y="6280335"/>
            <a:ext cx="1319713" cy="415351"/>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dirty="0">
                <a:solidFill>
                  <a:srgbClr val="000000"/>
                </a:solidFill>
                <a:latin typeface="Times New Roman"/>
                <a:ea typeface="Times New Roman"/>
                <a:cs typeface="Times New Roman"/>
                <a:sym typeface="Times New Roman"/>
              </a:rPr>
              <a:t>PVS1 not applicable</a:t>
            </a:r>
            <a:endParaRPr sz="1400" b="0" i="0" u="none" strike="noStrike" cap="none" dirty="0">
              <a:solidFill>
                <a:srgbClr val="FF0000"/>
              </a:solidFill>
              <a:latin typeface="Arial"/>
              <a:ea typeface="Arial"/>
              <a:cs typeface="Arial"/>
              <a:sym typeface="Arial"/>
            </a:endParaRPr>
          </a:p>
        </p:txBody>
      </p:sp>
      <p:sp>
        <p:nvSpPr>
          <p:cNvPr id="268" name="Google Shape;72;p1">
            <a:extLst>
              <a:ext uri="{FF2B5EF4-FFF2-40B4-BE49-F238E27FC236}">
                <a16:creationId xmlns:a16="http://schemas.microsoft.com/office/drawing/2014/main" id="{D272ACB7-20E2-B69A-DF7E-F4A81427816C}"/>
              </a:ext>
            </a:extLst>
          </p:cNvPr>
          <p:cNvSpPr/>
          <p:nvPr/>
        </p:nvSpPr>
        <p:spPr>
          <a:xfrm>
            <a:off x="10961127" y="6314544"/>
            <a:ext cx="1188720" cy="36576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dirty="0">
                <a:solidFill>
                  <a:srgbClr val="000000"/>
                </a:solidFill>
                <a:latin typeface="Times New Roman"/>
                <a:ea typeface="Times New Roman"/>
                <a:cs typeface="Times New Roman"/>
                <a:sym typeface="Times New Roman"/>
              </a:rPr>
              <a:t>Not applied</a:t>
            </a:r>
            <a:endParaRPr lang="en-US" sz="1400" b="0" i="0" u="none" strike="noStrike" cap="none" dirty="0">
              <a:solidFill>
                <a:srgbClr val="000000"/>
              </a:solidFill>
              <a:latin typeface="Arial"/>
              <a:ea typeface="Arial"/>
              <a:cs typeface="Arial"/>
              <a:sym typeface="Arial"/>
            </a:endParaRPr>
          </a:p>
        </p:txBody>
      </p:sp>
      <p:cxnSp>
        <p:nvCxnSpPr>
          <p:cNvPr id="270" name="Google Shape;122;p1">
            <a:extLst>
              <a:ext uri="{FF2B5EF4-FFF2-40B4-BE49-F238E27FC236}">
                <a16:creationId xmlns:a16="http://schemas.microsoft.com/office/drawing/2014/main" id="{63F5DBF9-4CAC-D657-F001-A229BBFE9DFC}"/>
              </a:ext>
            </a:extLst>
          </p:cNvPr>
          <p:cNvCxnSpPr>
            <a:cxnSpLocks/>
            <a:stCxn id="266" idx="3"/>
            <a:endCxn id="268" idx="1"/>
          </p:cNvCxnSpPr>
          <p:nvPr/>
        </p:nvCxnSpPr>
        <p:spPr>
          <a:xfrm>
            <a:off x="5711939" y="6488011"/>
            <a:ext cx="5249188" cy="9413"/>
          </a:xfrm>
          <a:prstGeom prst="straightConnector1">
            <a:avLst/>
          </a:prstGeom>
          <a:noFill/>
          <a:ln w="9525" cap="flat" cmpd="sng">
            <a:solidFill>
              <a:srgbClr val="595959"/>
            </a:solidFill>
            <a:prstDash val="solid"/>
            <a:round/>
            <a:headEnd type="none" w="sm" len="sm"/>
            <a:tailEnd type="triangle" w="med" len="med"/>
          </a:ln>
        </p:spPr>
      </p:cxnSp>
      <p:sp>
        <p:nvSpPr>
          <p:cNvPr id="273" name="Google Shape;60;p1">
            <a:extLst>
              <a:ext uri="{FF2B5EF4-FFF2-40B4-BE49-F238E27FC236}">
                <a16:creationId xmlns:a16="http://schemas.microsoft.com/office/drawing/2014/main" id="{20D01613-0FAA-DE53-0CD1-38DE3047E4EF}"/>
              </a:ext>
            </a:extLst>
          </p:cNvPr>
          <p:cNvSpPr txBox="1"/>
          <p:nvPr/>
        </p:nvSpPr>
        <p:spPr>
          <a:xfrm>
            <a:off x="2937566" y="3167358"/>
            <a:ext cx="1105800" cy="3528328"/>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 sz="1200" b="1" i="0" u="none" strike="noStrike" cap="none" dirty="0">
                <a:solidFill>
                  <a:srgbClr val="000000"/>
                </a:solidFill>
                <a:latin typeface="Times New Roman"/>
                <a:ea typeface="Times New Roman"/>
                <a:cs typeface="Times New Roman"/>
                <a:sym typeface="Times New Roman"/>
              </a:rPr>
              <a:t>Use PVS1 rule table for PREDICTED impact</a:t>
            </a:r>
            <a:endParaRPr sz="1400" b="1" i="0" u="none" strike="noStrike" cap="none" dirty="0">
              <a:solidFill>
                <a:srgbClr val="00B0F0"/>
              </a:solidFill>
              <a:latin typeface="Arial"/>
              <a:ea typeface="Arial"/>
              <a:cs typeface="Arial"/>
              <a:sym typeface="Arial"/>
            </a:endParaRPr>
          </a:p>
        </p:txBody>
      </p:sp>
      <p:cxnSp>
        <p:nvCxnSpPr>
          <p:cNvPr id="274" name="Google Shape;80;p1">
            <a:extLst>
              <a:ext uri="{FF2B5EF4-FFF2-40B4-BE49-F238E27FC236}">
                <a16:creationId xmlns:a16="http://schemas.microsoft.com/office/drawing/2014/main" id="{696EF050-25A9-06BF-0A12-B8DECF73F7CD}"/>
              </a:ext>
            </a:extLst>
          </p:cNvPr>
          <p:cNvCxnSpPr>
            <a:cxnSpLocks/>
            <a:stCxn id="273" idx="3"/>
            <a:endCxn id="266" idx="1"/>
          </p:cNvCxnSpPr>
          <p:nvPr/>
        </p:nvCxnSpPr>
        <p:spPr>
          <a:xfrm>
            <a:off x="4043366" y="4931522"/>
            <a:ext cx="348860" cy="1556489"/>
          </a:xfrm>
          <a:prstGeom prst="straightConnector1">
            <a:avLst/>
          </a:prstGeom>
          <a:noFill/>
          <a:ln w="9525" cap="flat" cmpd="sng">
            <a:solidFill>
              <a:srgbClr val="44546A"/>
            </a:solidFill>
            <a:prstDash val="solid"/>
            <a:round/>
            <a:headEnd type="none" w="sm" len="sm"/>
            <a:tailEnd type="triangle" w="med" len="med"/>
          </a:ln>
        </p:spPr>
      </p:cxnSp>
      <p:sp>
        <p:nvSpPr>
          <p:cNvPr id="332" name="Google Shape;64;p1">
            <a:extLst>
              <a:ext uri="{FF2B5EF4-FFF2-40B4-BE49-F238E27FC236}">
                <a16:creationId xmlns:a16="http://schemas.microsoft.com/office/drawing/2014/main" id="{A9317FD2-A252-225F-EE51-3522385E0AA3}"/>
              </a:ext>
            </a:extLst>
          </p:cNvPr>
          <p:cNvSpPr/>
          <p:nvPr/>
        </p:nvSpPr>
        <p:spPr>
          <a:xfrm>
            <a:off x="5972183" y="4839807"/>
            <a:ext cx="4572000" cy="384048"/>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dirty="0">
                <a:solidFill>
                  <a:srgbClr val="000000"/>
                </a:solidFill>
                <a:latin typeface="Times New Roman"/>
                <a:ea typeface="Times New Roman"/>
                <a:cs typeface="Times New Roman"/>
                <a:sym typeface="Times New Roman"/>
              </a:rPr>
              <a:t>P variant at this </a:t>
            </a:r>
            <a:r>
              <a:rPr lang="en-US" sz="1200" b="0" i="0" u="none" strike="noStrike" cap="none" dirty="0" err="1">
                <a:solidFill>
                  <a:srgbClr val="000000"/>
                </a:solidFill>
                <a:latin typeface="Times New Roman"/>
                <a:ea typeface="Times New Roman"/>
                <a:cs typeface="Times New Roman"/>
                <a:sym typeface="Times New Roman"/>
              </a:rPr>
              <a:t>nt</a:t>
            </a:r>
            <a:r>
              <a:rPr lang="en-US" sz="1200" b="0" i="0" u="none" strike="noStrike" cap="none" dirty="0">
                <a:solidFill>
                  <a:srgbClr val="000000"/>
                </a:solidFill>
                <a:latin typeface="Times New Roman"/>
                <a:ea typeface="Times New Roman"/>
                <a:cs typeface="Times New Roman"/>
                <a:sym typeface="Times New Roman"/>
              </a:rPr>
              <a:t> position or in same donor/acceptor +/-1,2 dinucleotide with same predicted impact</a:t>
            </a:r>
            <a:endParaRPr lang="en-US" sz="1400" b="0" i="0" u="none" strike="noStrike" cap="none" dirty="0">
              <a:solidFill>
                <a:srgbClr val="000000"/>
              </a:solidFill>
              <a:latin typeface="Arial"/>
              <a:ea typeface="Arial"/>
              <a:cs typeface="Arial"/>
              <a:sym typeface="Arial"/>
            </a:endParaRPr>
          </a:p>
        </p:txBody>
      </p:sp>
      <p:sp>
        <p:nvSpPr>
          <p:cNvPr id="333" name="Google Shape;67;p1">
            <a:extLst>
              <a:ext uri="{FF2B5EF4-FFF2-40B4-BE49-F238E27FC236}">
                <a16:creationId xmlns:a16="http://schemas.microsoft.com/office/drawing/2014/main" id="{F6AB45DD-161F-5CAF-CA05-9AA90CA2CF0C}"/>
              </a:ext>
            </a:extLst>
          </p:cNvPr>
          <p:cNvSpPr/>
          <p:nvPr/>
        </p:nvSpPr>
        <p:spPr>
          <a:xfrm>
            <a:off x="5962659" y="5320471"/>
            <a:ext cx="4572000" cy="384048"/>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dirty="0">
                <a:solidFill>
                  <a:srgbClr val="000000"/>
                </a:solidFill>
                <a:latin typeface="Times New Roman"/>
                <a:ea typeface="Times New Roman"/>
                <a:cs typeface="Times New Roman"/>
                <a:sym typeface="Times New Roman"/>
              </a:rPr>
              <a:t>P variant within the same splice region, but outside donor/acceptor +/-1,2 dinucleotide, with same predicted impact</a:t>
            </a:r>
            <a:endParaRPr lang="en-US" sz="1400" b="0" i="0" u="none" strike="noStrike" cap="none" dirty="0">
              <a:solidFill>
                <a:srgbClr val="000000"/>
              </a:solidFill>
              <a:latin typeface="Arial"/>
              <a:ea typeface="Arial"/>
              <a:cs typeface="Arial"/>
              <a:sym typeface="Arial"/>
            </a:endParaRPr>
          </a:p>
        </p:txBody>
      </p:sp>
      <p:cxnSp>
        <p:nvCxnSpPr>
          <p:cNvPr id="334" name="Google Shape;82;p1">
            <a:extLst>
              <a:ext uri="{FF2B5EF4-FFF2-40B4-BE49-F238E27FC236}">
                <a16:creationId xmlns:a16="http://schemas.microsoft.com/office/drawing/2014/main" id="{C71170DD-4C79-6FF7-6BE0-F8CA0A24905E}"/>
              </a:ext>
            </a:extLst>
          </p:cNvPr>
          <p:cNvCxnSpPr>
            <a:cxnSpLocks/>
            <a:stCxn id="282" idx="3"/>
            <a:endCxn id="332" idx="1"/>
          </p:cNvCxnSpPr>
          <p:nvPr/>
        </p:nvCxnSpPr>
        <p:spPr>
          <a:xfrm flipV="1">
            <a:off x="5703475" y="5031831"/>
            <a:ext cx="268708" cy="295720"/>
          </a:xfrm>
          <a:prstGeom prst="straightConnector1">
            <a:avLst/>
          </a:prstGeom>
          <a:noFill/>
          <a:ln w="9525" cap="flat" cmpd="sng">
            <a:solidFill>
              <a:srgbClr val="44546A"/>
            </a:solidFill>
            <a:prstDash val="solid"/>
            <a:round/>
            <a:headEnd type="none" w="sm" len="sm"/>
            <a:tailEnd type="triangle" w="med" len="med"/>
          </a:ln>
        </p:spPr>
      </p:cxnSp>
      <p:cxnSp>
        <p:nvCxnSpPr>
          <p:cNvPr id="335" name="Google Shape;83;p1">
            <a:extLst>
              <a:ext uri="{FF2B5EF4-FFF2-40B4-BE49-F238E27FC236}">
                <a16:creationId xmlns:a16="http://schemas.microsoft.com/office/drawing/2014/main" id="{5FFE4A49-1250-3A81-8ABE-B05BCADF386E}"/>
              </a:ext>
            </a:extLst>
          </p:cNvPr>
          <p:cNvCxnSpPr>
            <a:cxnSpLocks/>
          </p:cNvCxnSpPr>
          <p:nvPr/>
        </p:nvCxnSpPr>
        <p:spPr>
          <a:xfrm>
            <a:off x="5703475" y="5338630"/>
            <a:ext cx="268708" cy="678667"/>
          </a:xfrm>
          <a:prstGeom prst="straightConnector1">
            <a:avLst/>
          </a:prstGeom>
          <a:noFill/>
          <a:ln w="9525" cap="flat" cmpd="sng">
            <a:solidFill>
              <a:srgbClr val="44546A"/>
            </a:solidFill>
            <a:prstDash val="solid"/>
            <a:round/>
            <a:headEnd type="none" w="sm" len="sm"/>
            <a:tailEnd type="triangle" w="med" len="med"/>
          </a:ln>
        </p:spPr>
      </p:cxnSp>
      <p:sp>
        <p:nvSpPr>
          <p:cNvPr id="336" name="Google Shape;67;p1">
            <a:extLst>
              <a:ext uri="{FF2B5EF4-FFF2-40B4-BE49-F238E27FC236}">
                <a16:creationId xmlns:a16="http://schemas.microsoft.com/office/drawing/2014/main" id="{4039C9F7-96DD-E804-6223-FBBFCE48D9D4}"/>
              </a:ext>
            </a:extLst>
          </p:cNvPr>
          <p:cNvSpPr/>
          <p:nvPr/>
        </p:nvSpPr>
        <p:spPr>
          <a:xfrm>
            <a:off x="5972183" y="5814194"/>
            <a:ext cx="4572000" cy="384048"/>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dirty="0">
                <a:solidFill>
                  <a:srgbClr val="000000"/>
                </a:solidFill>
                <a:latin typeface="Times New Roman"/>
                <a:ea typeface="Times New Roman"/>
                <a:cs typeface="Times New Roman"/>
                <a:sym typeface="Times New Roman"/>
              </a:rPr>
              <a:t>LP variant within the same splice region, but outside donor/acceptor +/-1,2 dinucleotide, with same predicted impact</a:t>
            </a:r>
            <a:endParaRPr lang="en-US" sz="1400" b="0" i="0" u="none" strike="noStrike" cap="none" dirty="0">
              <a:solidFill>
                <a:srgbClr val="000000"/>
              </a:solidFill>
              <a:latin typeface="Arial"/>
              <a:ea typeface="Arial"/>
              <a:cs typeface="Arial"/>
              <a:sym typeface="Arial"/>
            </a:endParaRPr>
          </a:p>
        </p:txBody>
      </p:sp>
      <p:sp>
        <p:nvSpPr>
          <p:cNvPr id="341" name="Google Shape;66;p1">
            <a:extLst>
              <a:ext uri="{FF2B5EF4-FFF2-40B4-BE49-F238E27FC236}">
                <a16:creationId xmlns:a16="http://schemas.microsoft.com/office/drawing/2014/main" id="{955B63C8-148E-1012-B4B3-BE49AF5BB1FB}"/>
              </a:ext>
            </a:extLst>
          </p:cNvPr>
          <p:cNvSpPr/>
          <p:nvPr/>
        </p:nvSpPr>
        <p:spPr>
          <a:xfrm>
            <a:off x="10945100" y="4855879"/>
            <a:ext cx="1188720" cy="384048"/>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algn="ctr">
              <a:buSzPts val="1200"/>
            </a:pPr>
            <a:r>
              <a:rPr lang="en-US" sz="1200" b="0" i="0" u="none" strike="noStrike" cap="none" dirty="0">
                <a:solidFill>
                  <a:srgbClr val="000000"/>
                </a:solidFill>
                <a:latin typeface="Times New Roman"/>
                <a:ea typeface="Times New Roman"/>
                <a:cs typeface="Times New Roman"/>
                <a:sym typeface="Times New Roman"/>
              </a:rPr>
              <a:t>PVS1_Strength</a:t>
            </a:r>
            <a:endParaRPr lang="en-US" sz="1400" b="0" i="0" u="none" strike="noStrike" cap="none" dirty="0">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200"/>
              <a:buFont typeface="Arial"/>
              <a:buNone/>
            </a:pPr>
            <a:r>
              <a:rPr lang="en" sz="1200" b="0" i="0" u="none" strike="noStrike" cap="none" dirty="0">
                <a:solidFill>
                  <a:srgbClr val="000000"/>
                </a:solidFill>
                <a:latin typeface="Times New Roman"/>
                <a:ea typeface="Times New Roman"/>
                <a:cs typeface="Times New Roman"/>
                <a:sym typeface="Times New Roman"/>
              </a:rPr>
              <a:t> + PS1</a:t>
            </a:r>
            <a:endParaRPr sz="1400" b="0" i="0" u="none" strike="noStrike" cap="none" dirty="0">
              <a:solidFill>
                <a:srgbClr val="000000"/>
              </a:solidFill>
              <a:latin typeface="Arial"/>
              <a:ea typeface="Arial"/>
              <a:cs typeface="Arial"/>
              <a:sym typeface="Arial"/>
            </a:endParaRPr>
          </a:p>
        </p:txBody>
      </p:sp>
      <p:sp>
        <p:nvSpPr>
          <p:cNvPr id="342" name="Google Shape;70;p1">
            <a:extLst>
              <a:ext uri="{FF2B5EF4-FFF2-40B4-BE49-F238E27FC236}">
                <a16:creationId xmlns:a16="http://schemas.microsoft.com/office/drawing/2014/main" id="{EFF3142B-C89A-DC00-D520-EDD9EEB45BED}"/>
              </a:ext>
            </a:extLst>
          </p:cNvPr>
          <p:cNvSpPr/>
          <p:nvPr/>
        </p:nvSpPr>
        <p:spPr>
          <a:xfrm>
            <a:off x="10945100" y="5348723"/>
            <a:ext cx="1188720" cy="384048"/>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algn="ctr">
              <a:buSzPts val="1200"/>
            </a:pPr>
            <a:r>
              <a:rPr lang="en-US" sz="1200" b="0" i="0" u="none" strike="noStrike" cap="none" dirty="0">
                <a:solidFill>
                  <a:srgbClr val="000000"/>
                </a:solidFill>
                <a:latin typeface="Times New Roman"/>
                <a:ea typeface="Times New Roman"/>
                <a:cs typeface="Times New Roman"/>
                <a:sym typeface="Times New Roman"/>
              </a:rPr>
              <a:t>PVS1_Strength</a:t>
            </a:r>
            <a:endParaRPr lang="en-US" sz="1400" b="0" i="0" u="none" strike="noStrike" cap="none" dirty="0">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dirty="0">
                <a:solidFill>
                  <a:srgbClr val="000000"/>
                </a:solidFill>
                <a:latin typeface="Times New Roman"/>
                <a:ea typeface="Times New Roman"/>
                <a:cs typeface="Times New Roman"/>
                <a:sym typeface="Times New Roman"/>
              </a:rPr>
              <a:t> + PS1_M</a:t>
            </a:r>
            <a:endParaRPr lang="en-US" sz="1400" b="0" i="0" u="none" strike="noStrike" cap="none" dirty="0">
              <a:solidFill>
                <a:srgbClr val="000000"/>
              </a:solidFill>
              <a:latin typeface="Arial"/>
              <a:ea typeface="Arial"/>
              <a:cs typeface="Arial"/>
              <a:sym typeface="Arial"/>
            </a:endParaRPr>
          </a:p>
        </p:txBody>
      </p:sp>
      <p:sp>
        <p:nvSpPr>
          <p:cNvPr id="343" name="Google Shape;71;p1">
            <a:extLst>
              <a:ext uri="{FF2B5EF4-FFF2-40B4-BE49-F238E27FC236}">
                <a16:creationId xmlns:a16="http://schemas.microsoft.com/office/drawing/2014/main" id="{A66D4582-F675-5D4A-DBD2-DE85EF915122}"/>
              </a:ext>
            </a:extLst>
          </p:cNvPr>
          <p:cNvSpPr/>
          <p:nvPr/>
        </p:nvSpPr>
        <p:spPr>
          <a:xfrm>
            <a:off x="10945100" y="5819942"/>
            <a:ext cx="1188720" cy="384048"/>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algn="ctr">
              <a:buSzPts val="1200"/>
            </a:pPr>
            <a:r>
              <a:rPr lang="en-US" sz="1200" b="0" i="0" u="none" strike="noStrike" cap="none" dirty="0">
                <a:solidFill>
                  <a:srgbClr val="000000"/>
                </a:solidFill>
                <a:latin typeface="Times New Roman"/>
                <a:ea typeface="Times New Roman"/>
                <a:cs typeface="Times New Roman"/>
                <a:sym typeface="Times New Roman"/>
              </a:rPr>
              <a:t>PVS1_Strength</a:t>
            </a:r>
            <a:endParaRPr lang="en-US" sz="1400" b="0" i="0" u="none" strike="noStrike" cap="none" dirty="0">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dirty="0">
                <a:solidFill>
                  <a:srgbClr val="000000"/>
                </a:solidFill>
                <a:latin typeface="Times New Roman"/>
                <a:ea typeface="Times New Roman"/>
                <a:cs typeface="Times New Roman"/>
                <a:sym typeface="Times New Roman"/>
              </a:rPr>
              <a:t> + PS1_P</a:t>
            </a:r>
            <a:endParaRPr lang="en-US" sz="1400" b="0" i="0" u="none" strike="noStrike" cap="none" dirty="0">
              <a:solidFill>
                <a:srgbClr val="000000"/>
              </a:solidFill>
              <a:latin typeface="Arial"/>
              <a:ea typeface="Arial"/>
              <a:cs typeface="Arial"/>
              <a:sym typeface="Arial"/>
            </a:endParaRPr>
          </a:p>
        </p:txBody>
      </p:sp>
      <p:cxnSp>
        <p:nvCxnSpPr>
          <p:cNvPr id="344" name="Google Shape;119;p1">
            <a:extLst>
              <a:ext uri="{FF2B5EF4-FFF2-40B4-BE49-F238E27FC236}">
                <a16:creationId xmlns:a16="http://schemas.microsoft.com/office/drawing/2014/main" id="{414C3EBF-E7F4-9E34-FD8B-0836A836668E}"/>
              </a:ext>
            </a:extLst>
          </p:cNvPr>
          <p:cNvCxnSpPr>
            <a:cxnSpLocks/>
            <a:endCxn id="341" idx="1"/>
          </p:cNvCxnSpPr>
          <p:nvPr/>
        </p:nvCxnSpPr>
        <p:spPr>
          <a:xfrm>
            <a:off x="10544183" y="5041234"/>
            <a:ext cx="400917" cy="0"/>
          </a:xfrm>
          <a:prstGeom prst="straightConnector1">
            <a:avLst/>
          </a:prstGeom>
          <a:noFill/>
          <a:ln w="9525" cap="flat" cmpd="sng">
            <a:solidFill>
              <a:srgbClr val="595959"/>
            </a:solidFill>
            <a:prstDash val="solid"/>
            <a:round/>
            <a:headEnd type="none" w="sm" len="sm"/>
            <a:tailEnd type="triangle" w="med" len="med"/>
          </a:ln>
        </p:spPr>
      </p:cxnSp>
      <p:cxnSp>
        <p:nvCxnSpPr>
          <p:cNvPr id="345" name="Google Shape;120;p1">
            <a:extLst>
              <a:ext uri="{FF2B5EF4-FFF2-40B4-BE49-F238E27FC236}">
                <a16:creationId xmlns:a16="http://schemas.microsoft.com/office/drawing/2014/main" id="{6179A241-9687-02E7-E64F-07EA169CE835}"/>
              </a:ext>
            </a:extLst>
          </p:cNvPr>
          <p:cNvCxnSpPr>
            <a:endCxn id="342" idx="1"/>
          </p:cNvCxnSpPr>
          <p:nvPr/>
        </p:nvCxnSpPr>
        <p:spPr>
          <a:xfrm>
            <a:off x="10534659" y="5521898"/>
            <a:ext cx="410441" cy="0"/>
          </a:xfrm>
          <a:prstGeom prst="straightConnector1">
            <a:avLst/>
          </a:prstGeom>
          <a:noFill/>
          <a:ln w="9525" cap="flat" cmpd="sng">
            <a:solidFill>
              <a:srgbClr val="595959"/>
            </a:solidFill>
            <a:prstDash val="solid"/>
            <a:round/>
            <a:headEnd type="none" w="sm" len="sm"/>
            <a:tailEnd type="triangle" w="med" len="med"/>
          </a:ln>
        </p:spPr>
      </p:cxnSp>
      <p:cxnSp>
        <p:nvCxnSpPr>
          <p:cNvPr id="346" name="Google Shape;121;p1">
            <a:extLst>
              <a:ext uri="{FF2B5EF4-FFF2-40B4-BE49-F238E27FC236}">
                <a16:creationId xmlns:a16="http://schemas.microsoft.com/office/drawing/2014/main" id="{94797CD3-852A-EE33-7128-40C6741B2099}"/>
              </a:ext>
            </a:extLst>
          </p:cNvPr>
          <p:cNvCxnSpPr>
            <a:cxnSpLocks/>
            <a:endCxn id="343" idx="1"/>
          </p:cNvCxnSpPr>
          <p:nvPr/>
        </p:nvCxnSpPr>
        <p:spPr>
          <a:xfrm>
            <a:off x="10544183" y="5958210"/>
            <a:ext cx="400917" cy="0"/>
          </a:xfrm>
          <a:prstGeom prst="straightConnector1">
            <a:avLst/>
          </a:prstGeom>
          <a:noFill/>
          <a:ln w="9525" cap="flat" cmpd="sng">
            <a:solidFill>
              <a:srgbClr val="595959"/>
            </a:solidFill>
            <a:prstDash val="solid"/>
            <a:round/>
            <a:headEnd type="none" w="sm" len="sm"/>
            <a:tailEnd type="triangle" w="med" len="med"/>
          </a:ln>
        </p:spPr>
      </p:cxnSp>
      <p:cxnSp>
        <p:nvCxnSpPr>
          <p:cNvPr id="366" name="Google Shape;83;p1">
            <a:extLst>
              <a:ext uri="{FF2B5EF4-FFF2-40B4-BE49-F238E27FC236}">
                <a16:creationId xmlns:a16="http://schemas.microsoft.com/office/drawing/2014/main" id="{92C03B10-87EF-6F86-EEB4-5A70593C8BD7}"/>
              </a:ext>
            </a:extLst>
          </p:cNvPr>
          <p:cNvCxnSpPr>
            <a:cxnSpLocks/>
          </p:cNvCxnSpPr>
          <p:nvPr/>
        </p:nvCxnSpPr>
        <p:spPr>
          <a:xfrm flipV="1">
            <a:off x="2723653" y="4949168"/>
            <a:ext cx="213912" cy="0"/>
          </a:xfrm>
          <a:prstGeom prst="straightConnector1">
            <a:avLst/>
          </a:prstGeom>
          <a:noFill/>
          <a:ln w="9525" cap="flat" cmpd="sng">
            <a:solidFill>
              <a:srgbClr val="44546A"/>
            </a:solidFill>
            <a:prstDash val="solid"/>
            <a:round/>
            <a:headEnd type="none" w="sm" len="sm"/>
            <a:tailEnd type="triangle" w="med" len="med"/>
          </a:ln>
        </p:spPr>
      </p:cxnSp>
      <p:cxnSp>
        <p:nvCxnSpPr>
          <p:cNvPr id="368" name="Google Shape;83;p1">
            <a:extLst>
              <a:ext uri="{FF2B5EF4-FFF2-40B4-BE49-F238E27FC236}">
                <a16:creationId xmlns:a16="http://schemas.microsoft.com/office/drawing/2014/main" id="{2EC4B360-D404-6284-2EE2-0A7CCBB35548}"/>
              </a:ext>
            </a:extLst>
          </p:cNvPr>
          <p:cNvCxnSpPr>
            <a:cxnSpLocks/>
            <a:endCxn id="59" idx="1"/>
          </p:cNvCxnSpPr>
          <p:nvPr/>
        </p:nvCxnSpPr>
        <p:spPr>
          <a:xfrm>
            <a:off x="2698213" y="1612306"/>
            <a:ext cx="239353" cy="0"/>
          </a:xfrm>
          <a:prstGeom prst="straightConnector1">
            <a:avLst/>
          </a:prstGeom>
          <a:noFill/>
          <a:ln w="9525" cap="flat" cmpd="sng">
            <a:solidFill>
              <a:srgbClr val="44546A"/>
            </a:solidFill>
            <a:prstDash val="solid"/>
            <a:round/>
            <a:headEnd type="none" w="sm" len="sm"/>
            <a:tailEnd type="triangle" w="med" len="med"/>
          </a:ln>
        </p:spPr>
      </p:cxnSp>
      <p:cxnSp>
        <p:nvCxnSpPr>
          <p:cNvPr id="370" name="Google Shape;83;p1">
            <a:extLst>
              <a:ext uri="{FF2B5EF4-FFF2-40B4-BE49-F238E27FC236}">
                <a16:creationId xmlns:a16="http://schemas.microsoft.com/office/drawing/2014/main" id="{2F856DD1-8406-9B68-7DA3-7E335B55C19B}"/>
              </a:ext>
            </a:extLst>
          </p:cNvPr>
          <p:cNvCxnSpPr>
            <a:cxnSpLocks/>
          </p:cNvCxnSpPr>
          <p:nvPr/>
        </p:nvCxnSpPr>
        <p:spPr>
          <a:xfrm flipV="1">
            <a:off x="1340282" y="1612306"/>
            <a:ext cx="252131" cy="1545296"/>
          </a:xfrm>
          <a:prstGeom prst="straightConnector1">
            <a:avLst/>
          </a:prstGeom>
          <a:noFill/>
          <a:ln w="9525" cap="flat" cmpd="sng">
            <a:solidFill>
              <a:srgbClr val="44546A"/>
            </a:solidFill>
            <a:prstDash val="solid"/>
            <a:round/>
            <a:headEnd type="none" w="sm" len="sm"/>
            <a:tailEnd type="triangle" w="med" len="med"/>
          </a:ln>
        </p:spPr>
      </p:cxnSp>
      <p:cxnSp>
        <p:nvCxnSpPr>
          <p:cNvPr id="372" name="Google Shape;83;p1">
            <a:extLst>
              <a:ext uri="{FF2B5EF4-FFF2-40B4-BE49-F238E27FC236}">
                <a16:creationId xmlns:a16="http://schemas.microsoft.com/office/drawing/2014/main" id="{8EB46500-0C0C-497A-27BC-EAA4077D92C3}"/>
              </a:ext>
            </a:extLst>
          </p:cNvPr>
          <p:cNvCxnSpPr>
            <a:cxnSpLocks/>
            <a:endCxn id="239" idx="1"/>
          </p:cNvCxnSpPr>
          <p:nvPr/>
        </p:nvCxnSpPr>
        <p:spPr>
          <a:xfrm>
            <a:off x="1342840" y="3137506"/>
            <a:ext cx="249573" cy="1786325"/>
          </a:xfrm>
          <a:prstGeom prst="straightConnector1">
            <a:avLst/>
          </a:prstGeom>
          <a:noFill/>
          <a:ln w="9525" cap="flat" cmpd="sng">
            <a:solidFill>
              <a:srgbClr val="44546A"/>
            </a:solidFill>
            <a:prstDash val="solid"/>
            <a:round/>
            <a:headEnd type="none" w="sm" len="sm"/>
            <a:tailEnd type="triangle" w="med" len="med"/>
          </a:ln>
        </p:spPr>
      </p:cxnSp>
      <p:sp>
        <p:nvSpPr>
          <p:cNvPr id="390" name="Google Shape;71;p1">
            <a:extLst>
              <a:ext uri="{FF2B5EF4-FFF2-40B4-BE49-F238E27FC236}">
                <a16:creationId xmlns:a16="http://schemas.microsoft.com/office/drawing/2014/main" id="{BB4D8680-C19D-E3C8-96DD-5FFC9507A9CE}"/>
              </a:ext>
            </a:extLst>
          </p:cNvPr>
          <p:cNvSpPr/>
          <p:nvPr/>
        </p:nvSpPr>
        <p:spPr>
          <a:xfrm>
            <a:off x="4392226" y="6861561"/>
            <a:ext cx="1319713" cy="41352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dirty="0">
                <a:solidFill>
                  <a:srgbClr val="000000"/>
                </a:solidFill>
                <a:latin typeface="Times New Roman"/>
                <a:ea typeface="Times New Roman"/>
                <a:cs typeface="Times New Roman"/>
                <a:sym typeface="Times New Roman"/>
              </a:rPr>
              <a:t>BP7_S (RNA) applied</a:t>
            </a:r>
            <a:endParaRPr lang="en-US" sz="1400" b="0" i="0" u="none" strike="noStrike" cap="none" dirty="0">
              <a:solidFill>
                <a:srgbClr val="000000"/>
              </a:solidFill>
              <a:latin typeface="Arial"/>
              <a:ea typeface="Arial"/>
              <a:cs typeface="Arial"/>
              <a:sym typeface="Arial"/>
            </a:endParaRPr>
          </a:p>
        </p:txBody>
      </p:sp>
      <p:sp>
        <p:nvSpPr>
          <p:cNvPr id="391" name="Google Shape;72;p1">
            <a:extLst>
              <a:ext uri="{FF2B5EF4-FFF2-40B4-BE49-F238E27FC236}">
                <a16:creationId xmlns:a16="http://schemas.microsoft.com/office/drawing/2014/main" id="{DBE07DDF-4AAB-617A-67E8-D867E6E74566}"/>
              </a:ext>
            </a:extLst>
          </p:cNvPr>
          <p:cNvSpPr/>
          <p:nvPr/>
        </p:nvSpPr>
        <p:spPr>
          <a:xfrm>
            <a:off x="4392226" y="7423007"/>
            <a:ext cx="1319713" cy="1085846"/>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dirty="0">
                <a:solidFill>
                  <a:srgbClr val="000000"/>
                </a:solidFill>
                <a:latin typeface="Times New Roman"/>
                <a:ea typeface="Times New Roman"/>
                <a:cs typeface="Times New Roman"/>
                <a:sym typeface="Times New Roman"/>
              </a:rPr>
              <a:t>Assess pathogenicity using protein pathway</a:t>
            </a:r>
            <a:endParaRPr lang="en-US" sz="1400" b="0" i="0" u="none" strike="noStrike" cap="none" dirty="0">
              <a:solidFill>
                <a:srgbClr val="000000"/>
              </a:solidFill>
              <a:latin typeface="Arial"/>
              <a:ea typeface="Arial"/>
              <a:cs typeface="Arial"/>
              <a:sym typeface="Arial"/>
            </a:endParaRPr>
          </a:p>
        </p:txBody>
      </p:sp>
      <p:cxnSp>
        <p:nvCxnSpPr>
          <p:cNvPr id="392" name="Google Shape;121;p1">
            <a:extLst>
              <a:ext uri="{FF2B5EF4-FFF2-40B4-BE49-F238E27FC236}">
                <a16:creationId xmlns:a16="http://schemas.microsoft.com/office/drawing/2014/main" id="{28D8FBC0-4331-1661-456C-266633FBE44C}"/>
              </a:ext>
            </a:extLst>
          </p:cNvPr>
          <p:cNvCxnSpPr>
            <a:cxnSpLocks/>
            <a:stCxn id="394" idx="3"/>
            <a:endCxn id="390" idx="1"/>
          </p:cNvCxnSpPr>
          <p:nvPr/>
        </p:nvCxnSpPr>
        <p:spPr>
          <a:xfrm flipV="1">
            <a:off x="4043366" y="7068321"/>
            <a:ext cx="348860" cy="218311"/>
          </a:xfrm>
          <a:prstGeom prst="straightConnector1">
            <a:avLst/>
          </a:prstGeom>
          <a:noFill/>
          <a:ln w="9525" cap="flat" cmpd="sng">
            <a:solidFill>
              <a:srgbClr val="595959"/>
            </a:solidFill>
            <a:prstDash val="solid"/>
            <a:round/>
            <a:headEnd type="none" w="sm" len="sm"/>
            <a:tailEnd type="triangle" w="med" len="med"/>
          </a:ln>
        </p:spPr>
      </p:cxnSp>
      <p:cxnSp>
        <p:nvCxnSpPr>
          <p:cNvPr id="393" name="Google Shape;122;p1">
            <a:extLst>
              <a:ext uri="{FF2B5EF4-FFF2-40B4-BE49-F238E27FC236}">
                <a16:creationId xmlns:a16="http://schemas.microsoft.com/office/drawing/2014/main" id="{A89D4DB9-F258-FBE5-CEA0-6846292E91D4}"/>
              </a:ext>
            </a:extLst>
          </p:cNvPr>
          <p:cNvCxnSpPr>
            <a:cxnSpLocks/>
            <a:stCxn id="395" idx="3"/>
            <a:endCxn id="391" idx="1"/>
          </p:cNvCxnSpPr>
          <p:nvPr/>
        </p:nvCxnSpPr>
        <p:spPr>
          <a:xfrm flipV="1">
            <a:off x="4043366" y="7965930"/>
            <a:ext cx="348860" cy="246851"/>
          </a:xfrm>
          <a:prstGeom prst="straightConnector1">
            <a:avLst/>
          </a:prstGeom>
          <a:noFill/>
          <a:ln w="9525" cap="flat" cmpd="sng">
            <a:solidFill>
              <a:srgbClr val="595959"/>
            </a:solidFill>
            <a:prstDash val="solid"/>
            <a:round/>
            <a:headEnd type="none" w="sm" len="sm"/>
            <a:tailEnd type="triangle" w="med" len="med"/>
          </a:ln>
        </p:spPr>
      </p:cxnSp>
      <p:sp>
        <p:nvSpPr>
          <p:cNvPr id="394" name="Google Shape;69;p1">
            <a:extLst>
              <a:ext uri="{FF2B5EF4-FFF2-40B4-BE49-F238E27FC236}">
                <a16:creationId xmlns:a16="http://schemas.microsoft.com/office/drawing/2014/main" id="{B2D85106-31E9-FDD6-B043-2A30C8DE352C}"/>
              </a:ext>
            </a:extLst>
          </p:cNvPr>
          <p:cNvSpPr/>
          <p:nvPr/>
        </p:nvSpPr>
        <p:spPr>
          <a:xfrm>
            <a:off x="2961291" y="6861561"/>
            <a:ext cx="1082075" cy="850141"/>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dirty="0">
                <a:solidFill>
                  <a:srgbClr val="000000"/>
                </a:solidFill>
                <a:latin typeface="Times New Roman"/>
                <a:ea typeface="Times New Roman"/>
                <a:cs typeface="Times New Roman"/>
                <a:sym typeface="Times New Roman"/>
              </a:rPr>
              <a:t>Silent / Intronic</a:t>
            </a:r>
            <a:endParaRPr lang="en-US" sz="1400" b="0" i="0" u="none" strike="noStrike" cap="none" dirty="0">
              <a:solidFill>
                <a:srgbClr val="000000"/>
              </a:solidFill>
              <a:latin typeface="Arial"/>
              <a:ea typeface="Arial"/>
              <a:cs typeface="Arial"/>
              <a:sym typeface="Arial"/>
            </a:endParaRPr>
          </a:p>
        </p:txBody>
      </p:sp>
      <p:sp>
        <p:nvSpPr>
          <p:cNvPr id="395" name="Google Shape;69;p1">
            <a:extLst>
              <a:ext uri="{FF2B5EF4-FFF2-40B4-BE49-F238E27FC236}">
                <a16:creationId xmlns:a16="http://schemas.microsoft.com/office/drawing/2014/main" id="{9875157C-4C5B-6FC5-B7D5-4A3B6A6E0B43}"/>
              </a:ext>
            </a:extLst>
          </p:cNvPr>
          <p:cNvSpPr/>
          <p:nvPr/>
        </p:nvSpPr>
        <p:spPr>
          <a:xfrm>
            <a:off x="2945264" y="7809384"/>
            <a:ext cx="1098102" cy="806793"/>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dirty="0">
                <a:solidFill>
                  <a:srgbClr val="000000"/>
                </a:solidFill>
                <a:latin typeface="Times New Roman"/>
                <a:ea typeface="Times New Roman"/>
                <a:cs typeface="Times New Roman"/>
                <a:sym typeface="Times New Roman"/>
              </a:rPr>
              <a:t>Other variant types / positions</a:t>
            </a:r>
            <a:endParaRPr lang="en-US" sz="1400" b="0" i="0" u="none" strike="noStrike" cap="none" dirty="0">
              <a:solidFill>
                <a:srgbClr val="000000"/>
              </a:solidFill>
              <a:latin typeface="Arial"/>
              <a:ea typeface="Arial"/>
              <a:cs typeface="Arial"/>
              <a:sym typeface="Arial"/>
            </a:endParaRPr>
          </a:p>
        </p:txBody>
      </p:sp>
      <p:cxnSp>
        <p:nvCxnSpPr>
          <p:cNvPr id="396" name="Google Shape;80;p1">
            <a:extLst>
              <a:ext uri="{FF2B5EF4-FFF2-40B4-BE49-F238E27FC236}">
                <a16:creationId xmlns:a16="http://schemas.microsoft.com/office/drawing/2014/main" id="{D18B60DE-DE84-5C76-3C59-F07EB7939AEA}"/>
              </a:ext>
            </a:extLst>
          </p:cNvPr>
          <p:cNvCxnSpPr>
            <a:cxnSpLocks/>
            <a:endCxn id="394" idx="1"/>
          </p:cNvCxnSpPr>
          <p:nvPr/>
        </p:nvCxnSpPr>
        <p:spPr>
          <a:xfrm flipV="1">
            <a:off x="2692962" y="7286632"/>
            <a:ext cx="268329" cy="446895"/>
          </a:xfrm>
          <a:prstGeom prst="straightConnector1">
            <a:avLst/>
          </a:prstGeom>
          <a:noFill/>
          <a:ln w="9525" cap="flat" cmpd="sng">
            <a:solidFill>
              <a:srgbClr val="44546A"/>
            </a:solidFill>
            <a:prstDash val="solid"/>
            <a:round/>
            <a:headEnd type="none" w="sm" len="sm"/>
            <a:tailEnd type="triangle" w="med" len="med"/>
          </a:ln>
        </p:spPr>
      </p:cxnSp>
      <p:cxnSp>
        <p:nvCxnSpPr>
          <p:cNvPr id="397" name="Google Shape;80;p1">
            <a:extLst>
              <a:ext uri="{FF2B5EF4-FFF2-40B4-BE49-F238E27FC236}">
                <a16:creationId xmlns:a16="http://schemas.microsoft.com/office/drawing/2014/main" id="{4717C2CE-AC50-3CB1-66E3-C3D6340E87D2}"/>
              </a:ext>
            </a:extLst>
          </p:cNvPr>
          <p:cNvCxnSpPr>
            <a:cxnSpLocks/>
            <a:endCxn id="395" idx="1"/>
          </p:cNvCxnSpPr>
          <p:nvPr/>
        </p:nvCxnSpPr>
        <p:spPr>
          <a:xfrm>
            <a:off x="2685398" y="7741378"/>
            <a:ext cx="259866" cy="471403"/>
          </a:xfrm>
          <a:prstGeom prst="straightConnector1">
            <a:avLst/>
          </a:prstGeom>
          <a:noFill/>
          <a:ln w="9525" cap="flat" cmpd="sng">
            <a:solidFill>
              <a:srgbClr val="44546A"/>
            </a:solidFill>
            <a:prstDash val="solid"/>
            <a:round/>
            <a:headEnd type="none" w="sm" len="sm"/>
            <a:tailEnd type="triangle" w="med" len="med"/>
          </a:ln>
        </p:spPr>
      </p:cxnSp>
      <p:cxnSp>
        <p:nvCxnSpPr>
          <p:cNvPr id="404" name="Google Shape;86;p1">
            <a:extLst>
              <a:ext uri="{FF2B5EF4-FFF2-40B4-BE49-F238E27FC236}">
                <a16:creationId xmlns:a16="http://schemas.microsoft.com/office/drawing/2014/main" id="{54866A8B-E8B2-0746-A209-7977A128FA7C}"/>
              </a:ext>
            </a:extLst>
          </p:cNvPr>
          <p:cNvCxnSpPr>
            <a:cxnSpLocks/>
            <a:stCxn id="391" idx="3"/>
            <a:endCxn id="406" idx="1"/>
          </p:cNvCxnSpPr>
          <p:nvPr/>
        </p:nvCxnSpPr>
        <p:spPr>
          <a:xfrm flipV="1">
            <a:off x="5711939" y="7958725"/>
            <a:ext cx="279776" cy="7205"/>
          </a:xfrm>
          <a:prstGeom prst="straightConnector1">
            <a:avLst/>
          </a:prstGeom>
          <a:noFill/>
          <a:ln w="9525" cap="flat" cmpd="sng">
            <a:solidFill>
              <a:srgbClr val="44546A"/>
            </a:solidFill>
            <a:prstDash val="solid"/>
            <a:round/>
            <a:headEnd type="none" w="sm" len="sm"/>
            <a:tailEnd type="triangle" w="med" len="med"/>
          </a:ln>
        </p:spPr>
      </p:cxnSp>
      <p:sp>
        <p:nvSpPr>
          <p:cNvPr id="405" name="Google Shape;64;p1">
            <a:extLst>
              <a:ext uri="{FF2B5EF4-FFF2-40B4-BE49-F238E27FC236}">
                <a16:creationId xmlns:a16="http://schemas.microsoft.com/office/drawing/2014/main" id="{D1F5FAA7-BFD9-DDF2-B821-DB0354542A4F}"/>
              </a:ext>
            </a:extLst>
          </p:cNvPr>
          <p:cNvSpPr/>
          <p:nvPr/>
        </p:nvSpPr>
        <p:spPr>
          <a:xfrm>
            <a:off x="5991715" y="6861561"/>
            <a:ext cx="3228510" cy="41148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dirty="0">
                <a:solidFill>
                  <a:srgbClr val="000000"/>
                </a:solidFill>
                <a:latin typeface="Times New Roman"/>
                <a:ea typeface="Times New Roman"/>
                <a:cs typeface="Times New Roman"/>
                <a:sym typeface="Times New Roman"/>
              </a:rPr>
              <a:t>Consider splicing predictive data</a:t>
            </a:r>
            <a:endParaRPr lang="en-US" sz="1400" b="0" i="0" u="none" strike="noStrike" cap="none" dirty="0">
              <a:solidFill>
                <a:srgbClr val="000000"/>
              </a:solidFill>
              <a:latin typeface="Arial"/>
              <a:ea typeface="Arial"/>
              <a:cs typeface="Arial"/>
              <a:sym typeface="Arial"/>
            </a:endParaRPr>
          </a:p>
        </p:txBody>
      </p:sp>
      <p:sp>
        <p:nvSpPr>
          <p:cNvPr id="406" name="Google Shape;67;p1">
            <a:extLst>
              <a:ext uri="{FF2B5EF4-FFF2-40B4-BE49-F238E27FC236}">
                <a16:creationId xmlns:a16="http://schemas.microsoft.com/office/drawing/2014/main" id="{7AC58CCA-F6B4-92A9-B9C4-42F6021CD78C}"/>
              </a:ext>
            </a:extLst>
          </p:cNvPr>
          <p:cNvSpPr/>
          <p:nvPr/>
        </p:nvSpPr>
        <p:spPr>
          <a:xfrm>
            <a:off x="5991715" y="7408597"/>
            <a:ext cx="2843659" cy="1100256"/>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dirty="0">
                <a:solidFill>
                  <a:srgbClr val="000000"/>
                </a:solidFill>
                <a:latin typeface="Times New Roman"/>
                <a:ea typeface="Times New Roman"/>
                <a:cs typeface="Times New Roman"/>
                <a:sym typeface="Times New Roman"/>
              </a:rPr>
              <a:t>Can the protein impact be ruled out (based on functional and / or clinical data)?</a:t>
            </a:r>
            <a:endParaRPr lang="en-US" sz="1400" b="0" i="0" u="none" strike="noStrike" cap="none" dirty="0">
              <a:solidFill>
                <a:srgbClr val="000000"/>
              </a:solidFill>
              <a:latin typeface="Arial"/>
              <a:ea typeface="Arial"/>
              <a:cs typeface="Arial"/>
              <a:sym typeface="Arial"/>
            </a:endParaRPr>
          </a:p>
        </p:txBody>
      </p:sp>
      <p:cxnSp>
        <p:nvCxnSpPr>
          <p:cNvPr id="407" name="Google Shape;82;p1">
            <a:extLst>
              <a:ext uri="{FF2B5EF4-FFF2-40B4-BE49-F238E27FC236}">
                <a16:creationId xmlns:a16="http://schemas.microsoft.com/office/drawing/2014/main" id="{76368EEE-9D71-9F34-88D2-029E54F98223}"/>
              </a:ext>
            </a:extLst>
          </p:cNvPr>
          <p:cNvCxnSpPr>
            <a:cxnSpLocks/>
            <a:stCxn id="390" idx="3"/>
            <a:endCxn id="405" idx="1"/>
          </p:cNvCxnSpPr>
          <p:nvPr/>
        </p:nvCxnSpPr>
        <p:spPr>
          <a:xfrm flipV="1">
            <a:off x="5711939" y="7067301"/>
            <a:ext cx="279776" cy="1020"/>
          </a:xfrm>
          <a:prstGeom prst="straightConnector1">
            <a:avLst/>
          </a:prstGeom>
          <a:noFill/>
          <a:ln w="9525" cap="flat" cmpd="sng">
            <a:solidFill>
              <a:srgbClr val="44546A"/>
            </a:solidFill>
            <a:prstDash val="solid"/>
            <a:round/>
            <a:headEnd type="none" w="sm" len="sm"/>
            <a:tailEnd type="triangle" w="med" len="med"/>
          </a:ln>
        </p:spPr>
      </p:cxnSp>
      <p:cxnSp>
        <p:nvCxnSpPr>
          <p:cNvPr id="408" name="Google Shape;83;p1">
            <a:extLst>
              <a:ext uri="{FF2B5EF4-FFF2-40B4-BE49-F238E27FC236}">
                <a16:creationId xmlns:a16="http://schemas.microsoft.com/office/drawing/2014/main" id="{0E26A9B6-A932-8FEF-D225-DE67490789F4}"/>
              </a:ext>
            </a:extLst>
          </p:cNvPr>
          <p:cNvCxnSpPr>
            <a:cxnSpLocks/>
            <a:stCxn id="406" idx="3"/>
            <a:endCxn id="428" idx="1"/>
          </p:cNvCxnSpPr>
          <p:nvPr/>
        </p:nvCxnSpPr>
        <p:spPr>
          <a:xfrm>
            <a:off x="8835374" y="7958725"/>
            <a:ext cx="284790" cy="228889"/>
          </a:xfrm>
          <a:prstGeom prst="straightConnector1">
            <a:avLst/>
          </a:prstGeom>
          <a:noFill/>
          <a:ln w="9525" cap="flat" cmpd="sng">
            <a:solidFill>
              <a:srgbClr val="44546A"/>
            </a:solidFill>
            <a:prstDash val="solid"/>
            <a:round/>
            <a:headEnd type="none" w="sm" len="sm"/>
            <a:tailEnd type="triangle" w="med" len="med"/>
          </a:ln>
        </p:spPr>
      </p:cxnSp>
      <p:sp>
        <p:nvSpPr>
          <p:cNvPr id="411" name="Google Shape;70;p1">
            <a:extLst>
              <a:ext uri="{FF2B5EF4-FFF2-40B4-BE49-F238E27FC236}">
                <a16:creationId xmlns:a16="http://schemas.microsoft.com/office/drawing/2014/main" id="{741BE543-418F-CA56-076F-CE44AAD1101D}"/>
              </a:ext>
            </a:extLst>
          </p:cNvPr>
          <p:cNvSpPr/>
          <p:nvPr/>
        </p:nvSpPr>
        <p:spPr>
          <a:xfrm>
            <a:off x="10091279" y="7399949"/>
            <a:ext cx="2062073" cy="384048"/>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algn="ctr">
              <a:buSzPts val="1200"/>
            </a:pPr>
            <a:r>
              <a:rPr lang="en-US" sz="1200" b="0" i="0" u="none" strike="noStrike" cap="none" dirty="0">
                <a:solidFill>
                  <a:srgbClr val="000000"/>
                </a:solidFill>
                <a:latin typeface="Times New Roman"/>
                <a:ea typeface="Times New Roman"/>
                <a:cs typeface="Times New Roman"/>
                <a:sym typeface="Times New Roman"/>
              </a:rPr>
              <a:t>BP7_S (RNA) + prediction (PP3/BP4)</a:t>
            </a:r>
            <a:endParaRPr lang="en-US" sz="1400" b="0" i="0" u="none" strike="noStrike" cap="none" dirty="0">
              <a:solidFill>
                <a:srgbClr val="000000"/>
              </a:solidFill>
              <a:latin typeface="Arial"/>
              <a:ea typeface="Arial"/>
              <a:cs typeface="Arial"/>
              <a:sym typeface="Arial"/>
            </a:endParaRPr>
          </a:p>
        </p:txBody>
      </p:sp>
      <p:sp>
        <p:nvSpPr>
          <p:cNvPr id="412" name="Google Shape;71;p1">
            <a:extLst>
              <a:ext uri="{FF2B5EF4-FFF2-40B4-BE49-F238E27FC236}">
                <a16:creationId xmlns:a16="http://schemas.microsoft.com/office/drawing/2014/main" id="{8126D227-0360-CC21-FA3E-789B9293E9FD}"/>
              </a:ext>
            </a:extLst>
          </p:cNvPr>
          <p:cNvSpPr/>
          <p:nvPr/>
        </p:nvSpPr>
        <p:spPr>
          <a:xfrm>
            <a:off x="10091279" y="7871168"/>
            <a:ext cx="2062073" cy="640031"/>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algn="ctr">
              <a:buSzPts val="1200"/>
            </a:pPr>
            <a:r>
              <a:rPr lang="en-US" sz="1200" b="0" i="0" u="none" strike="noStrike" cap="none" dirty="0">
                <a:solidFill>
                  <a:srgbClr val="000000"/>
                </a:solidFill>
                <a:latin typeface="Times New Roman"/>
                <a:ea typeface="Times New Roman"/>
                <a:cs typeface="Times New Roman"/>
                <a:sym typeface="Times New Roman"/>
              </a:rPr>
              <a:t>Document as “BP7_S (RNA)” Not Met to indicate that data was present and reviewed</a:t>
            </a:r>
            <a:endParaRPr lang="en-US" sz="1400" b="0" i="0" u="none" strike="noStrike" cap="none" dirty="0">
              <a:solidFill>
                <a:srgbClr val="000000"/>
              </a:solidFill>
              <a:latin typeface="Arial"/>
              <a:ea typeface="Arial"/>
              <a:cs typeface="Arial"/>
              <a:sym typeface="Arial"/>
            </a:endParaRPr>
          </a:p>
        </p:txBody>
      </p:sp>
      <p:cxnSp>
        <p:nvCxnSpPr>
          <p:cNvPr id="413" name="Google Shape;119;p1">
            <a:extLst>
              <a:ext uri="{FF2B5EF4-FFF2-40B4-BE49-F238E27FC236}">
                <a16:creationId xmlns:a16="http://schemas.microsoft.com/office/drawing/2014/main" id="{60A155AF-F000-46EF-8FE9-9CBE96FD6D51}"/>
              </a:ext>
            </a:extLst>
          </p:cNvPr>
          <p:cNvCxnSpPr>
            <a:cxnSpLocks/>
            <a:stCxn id="405" idx="3"/>
            <a:endCxn id="410" idx="1"/>
          </p:cNvCxnSpPr>
          <p:nvPr/>
        </p:nvCxnSpPr>
        <p:spPr>
          <a:xfrm>
            <a:off x="9220225" y="7067301"/>
            <a:ext cx="1314434" cy="0"/>
          </a:xfrm>
          <a:prstGeom prst="straightConnector1">
            <a:avLst/>
          </a:prstGeom>
          <a:noFill/>
          <a:ln w="9525" cap="flat" cmpd="sng">
            <a:solidFill>
              <a:srgbClr val="595959"/>
            </a:solidFill>
            <a:prstDash val="solid"/>
            <a:round/>
            <a:headEnd type="none" w="sm" len="sm"/>
            <a:tailEnd type="triangle" w="med" len="med"/>
          </a:ln>
        </p:spPr>
      </p:cxnSp>
      <p:cxnSp>
        <p:nvCxnSpPr>
          <p:cNvPr id="414" name="Google Shape;120;p1">
            <a:extLst>
              <a:ext uri="{FF2B5EF4-FFF2-40B4-BE49-F238E27FC236}">
                <a16:creationId xmlns:a16="http://schemas.microsoft.com/office/drawing/2014/main" id="{9813E860-385E-B289-6DB8-E3F186C3F6F8}"/>
              </a:ext>
            </a:extLst>
          </p:cNvPr>
          <p:cNvCxnSpPr>
            <a:cxnSpLocks/>
          </p:cNvCxnSpPr>
          <p:nvPr/>
        </p:nvCxnSpPr>
        <p:spPr>
          <a:xfrm>
            <a:off x="9635516" y="7642229"/>
            <a:ext cx="455763" cy="0"/>
          </a:xfrm>
          <a:prstGeom prst="straightConnector1">
            <a:avLst/>
          </a:prstGeom>
          <a:noFill/>
          <a:ln w="9525" cap="flat" cmpd="sng">
            <a:solidFill>
              <a:srgbClr val="595959"/>
            </a:solidFill>
            <a:prstDash val="solid"/>
            <a:round/>
            <a:headEnd type="none" w="sm" len="sm"/>
            <a:tailEnd type="triangle" w="med" len="med"/>
          </a:ln>
        </p:spPr>
      </p:cxnSp>
      <p:cxnSp>
        <p:nvCxnSpPr>
          <p:cNvPr id="415" name="Google Shape;121;p1">
            <a:extLst>
              <a:ext uri="{FF2B5EF4-FFF2-40B4-BE49-F238E27FC236}">
                <a16:creationId xmlns:a16="http://schemas.microsoft.com/office/drawing/2014/main" id="{A32249D8-22E5-8ACA-8754-CAEE1BA8AE4D}"/>
              </a:ext>
            </a:extLst>
          </p:cNvPr>
          <p:cNvCxnSpPr>
            <a:cxnSpLocks/>
          </p:cNvCxnSpPr>
          <p:nvPr/>
        </p:nvCxnSpPr>
        <p:spPr>
          <a:xfrm>
            <a:off x="9635516" y="8187614"/>
            <a:ext cx="455763" cy="0"/>
          </a:xfrm>
          <a:prstGeom prst="straightConnector1">
            <a:avLst/>
          </a:prstGeom>
          <a:noFill/>
          <a:ln w="9525" cap="flat" cmpd="sng">
            <a:solidFill>
              <a:srgbClr val="595959"/>
            </a:solidFill>
            <a:prstDash val="solid"/>
            <a:round/>
            <a:headEnd type="none" w="sm" len="sm"/>
            <a:tailEnd type="triangle" w="med" len="med"/>
          </a:ln>
        </p:spPr>
      </p:cxnSp>
      <p:sp>
        <p:nvSpPr>
          <p:cNvPr id="427" name="Google Shape;67;p1">
            <a:extLst>
              <a:ext uri="{FF2B5EF4-FFF2-40B4-BE49-F238E27FC236}">
                <a16:creationId xmlns:a16="http://schemas.microsoft.com/office/drawing/2014/main" id="{8BBF24D4-1CE1-69F6-F938-2E0656E496B0}"/>
              </a:ext>
            </a:extLst>
          </p:cNvPr>
          <p:cNvSpPr/>
          <p:nvPr/>
        </p:nvSpPr>
        <p:spPr>
          <a:xfrm>
            <a:off x="9115150" y="7504717"/>
            <a:ext cx="518179" cy="27432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dirty="0">
                <a:solidFill>
                  <a:srgbClr val="000000"/>
                </a:solidFill>
                <a:latin typeface="Times New Roman"/>
                <a:ea typeface="Times New Roman"/>
                <a:cs typeface="Times New Roman"/>
                <a:sym typeface="Times New Roman"/>
              </a:rPr>
              <a:t>Yes</a:t>
            </a:r>
            <a:endParaRPr lang="en-US" sz="1400" b="0" i="0" u="none" strike="noStrike" cap="none" dirty="0">
              <a:solidFill>
                <a:srgbClr val="000000"/>
              </a:solidFill>
              <a:latin typeface="Arial"/>
              <a:ea typeface="Arial"/>
              <a:cs typeface="Arial"/>
              <a:sym typeface="Arial"/>
            </a:endParaRPr>
          </a:p>
        </p:txBody>
      </p:sp>
      <p:sp>
        <p:nvSpPr>
          <p:cNvPr id="428" name="Google Shape;67;p1">
            <a:extLst>
              <a:ext uri="{FF2B5EF4-FFF2-40B4-BE49-F238E27FC236}">
                <a16:creationId xmlns:a16="http://schemas.microsoft.com/office/drawing/2014/main" id="{1F4FD97D-C09D-44AC-771D-C54C257AA2C3}"/>
              </a:ext>
            </a:extLst>
          </p:cNvPr>
          <p:cNvSpPr/>
          <p:nvPr/>
        </p:nvSpPr>
        <p:spPr>
          <a:xfrm>
            <a:off x="9120164" y="8050454"/>
            <a:ext cx="518179" cy="27432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dirty="0">
                <a:solidFill>
                  <a:srgbClr val="000000"/>
                </a:solidFill>
                <a:latin typeface="Times New Roman"/>
                <a:ea typeface="Times New Roman"/>
                <a:cs typeface="Times New Roman"/>
                <a:sym typeface="Times New Roman"/>
              </a:rPr>
              <a:t>No</a:t>
            </a:r>
            <a:endParaRPr lang="en-US" sz="1400" b="0" i="0" u="none" strike="noStrike" cap="none" dirty="0">
              <a:solidFill>
                <a:srgbClr val="000000"/>
              </a:solidFill>
              <a:latin typeface="Arial"/>
              <a:ea typeface="Arial"/>
              <a:cs typeface="Arial"/>
              <a:sym typeface="Arial"/>
            </a:endParaRPr>
          </a:p>
        </p:txBody>
      </p:sp>
      <p:cxnSp>
        <p:nvCxnSpPr>
          <p:cNvPr id="431" name="Google Shape;83;p1">
            <a:extLst>
              <a:ext uri="{FF2B5EF4-FFF2-40B4-BE49-F238E27FC236}">
                <a16:creationId xmlns:a16="http://schemas.microsoft.com/office/drawing/2014/main" id="{533FF9B4-211F-6904-E89D-320CB092CE91}"/>
              </a:ext>
            </a:extLst>
          </p:cNvPr>
          <p:cNvCxnSpPr>
            <a:cxnSpLocks/>
            <a:stCxn id="406" idx="3"/>
            <a:endCxn id="427" idx="1"/>
          </p:cNvCxnSpPr>
          <p:nvPr/>
        </p:nvCxnSpPr>
        <p:spPr>
          <a:xfrm flipV="1">
            <a:off x="8835374" y="7641877"/>
            <a:ext cx="279776" cy="316848"/>
          </a:xfrm>
          <a:prstGeom prst="straightConnector1">
            <a:avLst/>
          </a:prstGeom>
          <a:noFill/>
          <a:ln w="9525" cap="flat" cmpd="sng">
            <a:solidFill>
              <a:srgbClr val="44546A"/>
            </a:solidFill>
            <a:prstDash val="solid"/>
            <a:round/>
            <a:headEnd type="none" w="sm" len="sm"/>
            <a:tailEnd type="triangle" w="med" len="med"/>
          </a:ln>
        </p:spPr>
      </p:cxnSp>
      <p:sp>
        <p:nvSpPr>
          <p:cNvPr id="462" name="Google Shape;203;p1">
            <a:extLst>
              <a:ext uri="{FF2B5EF4-FFF2-40B4-BE49-F238E27FC236}">
                <a16:creationId xmlns:a16="http://schemas.microsoft.com/office/drawing/2014/main" id="{02CE34A5-2A81-CA29-1E53-801012BD7E0C}"/>
              </a:ext>
            </a:extLst>
          </p:cNvPr>
          <p:cNvSpPr/>
          <p:nvPr/>
        </p:nvSpPr>
        <p:spPr>
          <a:xfrm>
            <a:off x="6158272" y="9993247"/>
            <a:ext cx="3500257" cy="348305"/>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dirty="0">
              <a:solidFill>
                <a:srgbClr val="000000"/>
              </a:solidFill>
              <a:latin typeface="Times New Roman" panose="02020603050405020304" pitchFamily="18" charset="0"/>
              <a:ea typeface="Times New Roman"/>
              <a:cs typeface="Times New Roman" panose="02020603050405020304" pitchFamily="18" charset="0"/>
              <a:sym typeface="Times New Roman"/>
            </a:endParaRPr>
          </a:p>
        </p:txBody>
      </p:sp>
      <p:sp>
        <p:nvSpPr>
          <p:cNvPr id="461" name="Google Shape;203;p1">
            <a:extLst>
              <a:ext uri="{FF2B5EF4-FFF2-40B4-BE49-F238E27FC236}">
                <a16:creationId xmlns:a16="http://schemas.microsoft.com/office/drawing/2014/main" id="{0C135CD1-43C2-6D9F-6EC3-51FF2786D5E8}"/>
              </a:ext>
            </a:extLst>
          </p:cNvPr>
          <p:cNvSpPr/>
          <p:nvPr/>
        </p:nvSpPr>
        <p:spPr>
          <a:xfrm>
            <a:off x="4630599" y="9990424"/>
            <a:ext cx="1528072" cy="344458"/>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dirty="0">
              <a:solidFill>
                <a:srgbClr val="000000"/>
              </a:solidFill>
              <a:latin typeface="Times New Roman" panose="02020603050405020304" pitchFamily="18" charset="0"/>
              <a:ea typeface="Times New Roman"/>
              <a:cs typeface="Times New Roman" panose="02020603050405020304" pitchFamily="18" charset="0"/>
              <a:sym typeface="Times New Roman"/>
            </a:endParaRPr>
          </a:p>
        </p:txBody>
      </p:sp>
      <p:sp>
        <p:nvSpPr>
          <p:cNvPr id="465" name="TextBox 464">
            <a:extLst>
              <a:ext uri="{FF2B5EF4-FFF2-40B4-BE49-F238E27FC236}">
                <a16:creationId xmlns:a16="http://schemas.microsoft.com/office/drawing/2014/main" id="{15161B10-33E0-38B3-E697-BFB2DED6E89C}"/>
              </a:ext>
            </a:extLst>
          </p:cNvPr>
          <p:cNvSpPr txBox="1"/>
          <p:nvPr/>
        </p:nvSpPr>
        <p:spPr>
          <a:xfrm>
            <a:off x="4987880" y="10002805"/>
            <a:ext cx="1220756" cy="307777"/>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Complete</a:t>
            </a:r>
          </a:p>
        </p:txBody>
      </p:sp>
      <p:sp>
        <p:nvSpPr>
          <p:cNvPr id="466" name="TextBox 465">
            <a:extLst>
              <a:ext uri="{FF2B5EF4-FFF2-40B4-BE49-F238E27FC236}">
                <a16:creationId xmlns:a16="http://schemas.microsoft.com/office/drawing/2014/main" id="{35C9F04F-963F-B4B5-A351-00D834265390}"/>
              </a:ext>
            </a:extLst>
          </p:cNvPr>
          <p:cNvSpPr txBox="1"/>
          <p:nvPr/>
        </p:nvSpPr>
        <p:spPr>
          <a:xfrm>
            <a:off x="4786675" y="10365337"/>
            <a:ext cx="1809990" cy="307777"/>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Near Complete</a:t>
            </a:r>
          </a:p>
        </p:txBody>
      </p:sp>
      <p:sp>
        <p:nvSpPr>
          <p:cNvPr id="467" name="Google Shape;203;p1">
            <a:extLst>
              <a:ext uri="{FF2B5EF4-FFF2-40B4-BE49-F238E27FC236}">
                <a16:creationId xmlns:a16="http://schemas.microsoft.com/office/drawing/2014/main" id="{D274FFFF-1BD6-FC2A-D34F-C4B2B3F20786}"/>
              </a:ext>
            </a:extLst>
          </p:cNvPr>
          <p:cNvSpPr/>
          <p:nvPr/>
        </p:nvSpPr>
        <p:spPr>
          <a:xfrm>
            <a:off x="4635992" y="10342545"/>
            <a:ext cx="1522280" cy="33190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dirty="0">
              <a:solidFill>
                <a:srgbClr val="000000"/>
              </a:solidFill>
              <a:latin typeface="Times New Roman" panose="02020603050405020304" pitchFamily="18" charset="0"/>
              <a:ea typeface="Times New Roman"/>
              <a:cs typeface="Times New Roman" panose="02020603050405020304" pitchFamily="18" charset="0"/>
              <a:sym typeface="Times New Roman"/>
            </a:endParaRPr>
          </a:p>
        </p:txBody>
      </p:sp>
      <p:sp>
        <p:nvSpPr>
          <p:cNvPr id="468" name="Google Shape;203;p1">
            <a:extLst>
              <a:ext uri="{FF2B5EF4-FFF2-40B4-BE49-F238E27FC236}">
                <a16:creationId xmlns:a16="http://schemas.microsoft.com/office/drawing/2014/main" id="{A8EAA5EB-CD76-C2ED-924D-42A2CFA563E7}"/>
              </a:ext>
            </a:extLst>
          </p:cNvPr>
          <p:cNvSpPr/>
          <p:nvPr/>
        </p:nvSpPr>
        <p:spPr>
          <a:xfrm>
            <a:off x="6158272" y="10341709"/>
            <a:ext cx="3500258" cy="334724"/>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dirty="0">
              <a:solidFill>
                <a:srgbClr val="000000"/>
              </a:solidFill>
              <a:latin typeface="Times New Roman" panose="02020603050405020304" pitchFamily="18" charset="0"/>
              <a:ea typeface="Times New Roman"/>
              <a:cs typeface="Times New Roman" panose="02020603050405020304" pitchFamily="18" charset="0"/>
              <a:sym typeface="Times New Roman"/>
            </a:endParaRPr>
          </a:p>
        </p:txBody>
      </p:sp>
      <p:sp>
        <p:nvSpPr>
          <p:cNvPr id="470" name="Google Shape;203;p1">
            <a:extLst>
              <a:ext uri="{FF2B5EF4-FFF2-40B4-BE49-F238E27FC236}">
                <a16:creationId xmlns:a16="http://schemas.microsoft.com/office/drawing/2014/main" id="{5971BC9F-573C-6535-51E9-27FC3AEBF0F8}"/>
              </a:ext>
            </a:extLst>
          </p:cNvPr>
          <p:cNvSpPr/>
          <p:nvPr/>
        </p:nvSpPr>
        <p:spPr>
          <a:xfrm>
            <a:off x="6158271" y="10684083"/>
            <a:ext cx="3500258" cy="33190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dirty="0">
              <a:solidFill>
                <a:srgbClr val="000000"/>
              </a:solidFill>
              <a:latin typeface="Times New Roman" panose="02020603050405020304" pitchFamily="18" charset="0"/>
              <a:ea typeface="Times New Roman"/>
              <a:cs typeface="Times New Roman" panose="02020603050405020304" pitchFamily="18" charset="0"/>
              <a:sym typeface="Times New Roman"/>
            </a:endParaRPr>
          </a:p>
        </p:txBody>
      </p:sp>
      <p:sp>
        <p:nvSpPr>
          <p:cNvPr id="469" name="Google Shape;203;p1">
            <a:extLst>
              <a:ext uri="{FF2B5EF4-FFF2-40B4-BE49-F238E27FC236}">
                <a16:creationId xmlns:a16="http://schemas.microsoft.com/office/drawing/2014/main" id="{C4FA7593-52B9-1C14-AD14-B1E7591F0FC0}"/>
              </a:ext>
            </a:extLst>
          </p:cNvPr>
          <p:cNvSpPr/>
          <p:nvPr/>
        </p:nvSpPr>
        <p:spPr>
          <a:xfrm>
            <a:off x="4630202" y="10682108"/>
            <a:ext cx="1528072" cy="33190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dirty="0">
              <a:solidFill>
                <a:srgbClr val="000000"/>
              </a:solidFill>
              <a:latin typeface="Times New Roman" panose="02020603050405020304" pitchFamily="18" charset="0"/>
              <a:ea typeface="Times New Roman"/>
              <a:cs typeface="Times New Roman" panose="02020603050405020304" pitchFamily="18" charset="0"/>
              <a:sym typeface="Times New Roman"/>
            </a:endParaRPr>
          </a:p>
        </p:txBody>
      </p:sp>
      <p:sp>
        <p:nvSpPr>
          <p:cNvPr id="471" name="TextBox 470">
            <a:extLst>
              <a:ext uri="{FF2B5EF4-FFF2-40B4-BE49-F238E27FC236}">
                <a16:creationId xmlns:a16="http://schemas.microsoft.com/office/drawing/2014/main" id="{97F9E4C3-3F9F-F32F-1DBA-A15368947DBB}"/>
              </a:ext>
            </a:extLst>
          </p:cNvPr>
          <p:cNvSpPr txBox="1"/>
          <p:nvPr/>
        </p:nvSpPr>
        <p:spPr>
          <a:xfrm>
            <a:off x="4938243" y="10706231"/>
            <a:ext cx="1505815" cy="307777"/>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Incomplete</a:t>
            </a:r>
          </a:p>
        </p:txBody>
      </p:sp>
      <p:sp>
        <p:nvSpPr>
          <p:cNvPr id="472" name="TextBox 471">
            <a:extLst>
              <a:ext uri="{FF2B5EF4-FFF2-40B4-BE49-F238E27FC236}">
                <a16:creationId xmlns:a16="http://schemas.microsoft.com/office/drawing/2014/main" id="{6AC07F6F-64B0-465F-1DB5-07C7EADA0DD4}"/>
              </a:ext>
            </a:extLst>
          </p:cNvPr>
          <p:cNvSpPr txBox="1"/>
          <p:nvPr/>
        </p:nvSpPr>
        <p:spPr>
          <a:xfrm>
            <a:off x="6892019" y="10005531"/>
            <a:ext cx="2044859" cy="307777"/>
          </a:xfrm>
          <a:prstGeom prst="rect">
            <a:avLst/>
          </a:prstGeom>
          <a:noFill/>
        </p:spPr>
        <p:txBody>
          <a:bodyPr wrap="square" rtlCol="0">
            <a:spAutoFit/>
          </a:bodyPr>
          <a:lstStyle/>
          <a:p>
            <a:pPr algn="ctr"/>
            <a:r>
              <a:rPr lang="en-US" dirty="0">
                <a:latin typeface="Times New Roman" panose="02020603050405020304" pitchFamily="18" charset="0"/>
                <a:cs typeface="Times New Roman" panose="02020603050405020304" pitchFamily="18" charset="0"/>
              </a:rPr>
              <a:t>Keep strength level</a:t>
            </a:r>
          </a:p>
        </p:txBody>
      </p:sp>
      <p:sp>
        <p:nvSpPr>
          <p:cNvPr id="473" name="TextBox 472">
            <a:extLst>
              <a:ext uri="{FF2B5EF4-FFF2-40B4-BE49-F238E27FC236}">
                <a16:creationId xmlns:a16="http://schemas.microsoft.com/office/drawing/2014/main" id="{ABB21FBF-4BAE-D059-80B0-9DC2B90FB662}"/>
              </a:ext>
            </a:extLst>
          </p:cNvPr>
          <p:cNvSpPr txBox="1"/>
          <p:nvPr/>
        </p:nvSpPr>
        <p:spPr>
          <a:xfrm>
            <a:off x="6726687" y="10344872"/>
            <a:ext cx="2375523" cy="307777"/>
          </a:xfrm>
          <a:prstGeom prst="rect">
            <a:avLst/>
          </a:prstGeom>
          <a:noFill/>
        </p:spPr>
        <p:txBody>
          <a:bodyPr wrap="square" rtlCol="0">
            <a:spAutoFit/>
          </a:bodyPr>
          <a:lstStyle/>
          <a:p>
            <a:pPr algn="ctr"/>
            <a:r>
              <a:rPr lang="en-US" dirty="0">
                <a:latin typeface="Times New Roman" panose="02020603050405020304" pitchFamily="18" charset="0"/>
                <a:cs typeface="Times New Roman" panose="02020603050405020304" pitchFamily="18" charset="0"/>
              </a:rPr>
              <a:t>Reduce strength by 1 level</a:t>
            </a:r>
          </a:p>
        </p:txBody>
      </p:sp>
      <p:sp>
        <p:nvSpPr>
          <p:cNvPr id="474" name="TextBox 473">
            <a:extLst>
              <a:ext uri="{FF2B5EF4-FFF2-40B4-BE49-F238E27FC236}">
                <a16:creationId xmlns:a16="http://schemas.microsoft.com/office/drawing/2014/main" id="{3159AEA8-E723-5E33-AEA3-48448555E758}"/>
              </a:ext>
            </a:extLst>
          </p:cNvPr>
          <p:cNvSpPr txBox="1"/>
          <p:nvPr/>
        </p:nvSpPr>
        <p:spPr>
          <a:xfrm>
            <a:off x="6831598" y="10674474"/>
            <a:ext cx="2165700" cy="307777"/>
          </a:xfrm>
          <a:prstGeom prst="rect">
            <a:avLst/>
          </a:prstGeom>
          <a:noFill/>
        </p:spPr>
        <p:txBody>
          <a:bodyPr wrap="square" rtlCol="0">
            <a:spAutoFit/>
          </a:bodyPr>
          <a:lstStyle/>
          <a:p>
            <a:pPr algn="ctr"/>
            <a:r>
              <a:rPr lang="en-US" dirty="0">
                <a:latin typeface="Times New Roman" panose="02020603050405020304" pitchFamily="18" charset="0"/>
                <a:cs typeface="Times New Roman" panose="02020603050405020304" pitchFamily="18" charset="0"/>
              </a:rPr>
              <a:t>Do not apply codes</a:t>
            </a:r>
          </a:p>
        </p:txBody>
      </p:sp>
      <p:cxnSp>
        <p:nvCxnSpPr>
          <p:cNvPr id="476" name="Google Shape;206;p1">
            <a:extLst>
              <a:ext uri="{FF2B5EF4-FFF2-40B4-BE49-F238E27FC236}">
                <a16:creationId xmlns:a16="http://schemas.microsoft.com/office/drawing/2014/main" id="{205B0DEC-AAC5-9B28-BAB7-4E9AD9473C65}"/>
              </a:ext>
            </a:extLst>
          </p:cNvPr>
          <p:cNvCxnSpPr>
            <a:cxnSpLocks/>
            <a:endCxn id="204" idx="1"/>
          </p:cNvCxnSpPr>
          <p:nvPr/>
        </p:nvCxnSpPr>
        <p:spPr>
          <a:xfrm flipV="1">
            <a:off x="9658240" y="9965982"/>
            <a:ext cx="286187" cy="574597"/>
          </a:xfrm>
          <a:prstGeom prst="straightConnector1">
            <a:avLst/>
          </a:prstGeom>
          <a:noFill/>
          <a:ln w="9525" cap="flat" cmpd="sng">
            <a:solidFill>
              <a:srgbClr val="44546A"/>
            </a:solidFill>
            <a:prstDash val="solid"/>
            <a:round/>
            <a:headEnd type="none" w="sm" len="sm"/>
            <a:tailEnd type="triangle" w="med" len="med"/>
          </a:ln>
        </p:spPr>
      </p:cxnSp>
      <p:sp>
        <p:nvSpPr>
          <p:cNvPr id="487" name="TextBox 486">
            <a:extLst>
              <a:ext uri="{FF2B5EF4-FFF2-40B4-BE49-F238E27FC236}">
                <a16:creationId xmlns:a16="http://schemas.microsoft.com/office/drawing/2014/main" id="{96152B2E-DF20-5B3A-DF2C-AE1DD38C1DFC}"/>
              </a:ext>
            </a:extLst>
          </p:cNvPr>
          <p:cNvSpPr txBox="1"/>
          <p:nvPr/>
        </p:nvSpPr>
        <p:spPr>
          <a:xfrm>
            <a:off x="4594589" y="12660923"/>
            <a:ext cx="3841116" cy="307777"/>
          </a:xfrm>
          <a:prstGeom prst="rect">
            <a:avLst/>
          </a:prstGeom>
          <a:noFill/>
        </p:spPr>
        <p:txBody>
          <a:bodyPr wrap="none" rtlCol="0">
            <a:spAutoFit/>
          </a:bodyPr>
          <a:lstStyle/>
          <a:p>
            <a:r>
              <a:rPr lang="en-US" dirty="0"/>
              <a:t>RPGR-specific PVS1 decision tree for splicing</a:t>
            </a:r>
          </a:p>
        </p:txBody>
      </p:sp>
    </p:spTree>
    <p:extLst>
      <p:ext uri="{BB962C8B-B14F-4D97-AF65-F5344CB8AC3E}">
        <p14:creationId xmlns:p14="http://schemas.microsoft.com/office/powerpoint/2010/main" val="21656367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4806A8-6F95-2DFE-2853-BDC566DB6323}"/>
              </a:ext>
            </a:extLst>
          </p:cNvPr>
          <p:cNvSpPr>
            <a:spLocks noGrp="1"/>
          </p:cNvSpPr>
          <p:nvPr>
            <p:ph type="ctrTitle"/>
          </p:nvPr>
        </p:nvSpPr>
        <p:spPr/>
        <p:txBody>
          <a:bodyPr/>
          <a:lstStyle/>
          <a:p>
            <a:r>
              <a:rPr lang="en-US" dirty="0"/>
              <a:t>RPGR</a:t>
            </a:r>
          </a:p>
        </p:txBody>
      </p:sp>
      <p:sp>
        <p:nvSpPr>
          <p:cNvPr id="3" name="Subtitle 2">
            <a:extLst>
              <a:ext uri="{FF2B5EF4-FFF2-40B4-BE49-F238E27FC236}">
                <a16:creationId xmlns:a16="http://schemas.microsoft.com/office/drawing/2014/main" id="{95B785A7-BD90-E9DB-40AD-7B99FCFC8A07}"/>
              </a:ext>
            </a:extLst>
          </p:cNvPr>
          <p:cNvSpPr>
            <a:spLocks noGrp="1"/>
          </p:cNvSpPr>
          <p:nvPr>
            <p:ph type="subTitle" idx="1"/>
          </p:nvPr>
        </p:nvSpPr>
        <p:spPr/>
        <p:txBody>
          <a:bodyPr/>
          <a:lstStyle/>
          <a:p>
            <a:r>
              <a:rPr lang="en-US" dirty="0"/>
              <a:t>PVS1 Documents 7/30/2024 Version</a:t>
            </a:r>
          </a:p>
        </p:txBody>
      </p:sp>
    </p:spTree>
    <p:extLst>
      <p:ext uri="{BB962C8B-B14F-4D97-AF65-F5344CB8AC3E}">
        <p14:creationId xmlns:p14="http://schemas.microsoft.com/office/powerpoint/2010/main" val="28744039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 name="Google Shape;54;p13">
            <a:extLst>
              <a:ext uri="{FF2B5EF4-FFF2-40B4-BE49-F238E27FC236}">
                <a16:creationId xmlns:a16="http://schemas.microsoft.com/office/drawing/2014/main" id="{E35431AB-1923-6A41-3D62-551E6737C841}"/>
              </a:ext>
            </a:extLst>
          </p:cNvPr>
          <p:cNvSpPr txBox="1"/>
          <p:nvPr/>
        </p:nvSpPr>
        <p:spPr>
          <a:xfrm>
            <a:off x="90621" y="824794"/>
            <a:ext cx="1105800" cy="3209117"/>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 sz="1400" b="1" i="0" u="none" strike="noStrike" cap="none" dirty="0">
                <a:solidFill>
                  <a:schemeClr val="tx1"/>
                </a:solidFill>
                <a:latin typeface="Times New Roman" panose="02020603050405020304" pitchFamily="18" charset="0"/>
                <a:ea typeface="Times New Roman"/>
                <a:cs typeface="Times New Roman" panose="02020603050405020304" pitchFamily="18" charset="0"/>
                <a:sym typeface="Times New Roman"/>
              </a:rPr>
              <a:t>Nonsense or Frameshift</a:t>
            </a:r>
            <a:endParaRPr sz="2000" b="1" dirty="0">
              <a:solidFill>
                <a:schemeClr val="tx1"/>
              </a:solidFill>
              <a:latin typeface="Times New Roman" panose="02020603050405020304" pitchFamily="18" charset="0"/>
              <a:cs typeface="Times New Roman" panose="02020603050405020304" pitchFamily="18" charset="0"/>
            </a:endParaRPr>
          </a:p>
        </p:txBody>
      </p:sp>
      <p:sp>
        <p:nvSpPr>
          <p:cNvPr id="174" name="Google Shape;56;p13">
            <a:extLst>
              <a:ext uri="{FF2B5EF4-FFF2-40B4-BE49-F238E27FC236}">
                <a16:creationId xmlns:a16="http://schemas.microsoft.com/office/drawing/2014/main" id="{4D8CD6F2-3438-C38C-4DAD-BB15EF9C72A3}"/>
              </a:ext>
            </a:extLst>
          </p:cNvPr>
          <p:cNvSpPr/>
          <p:nvPr/>
        </p:nvSpPr>
        <p:spPr>
          <a:xfrm>
            <a:off x="1683949" y="2004891"/>
            <a:ext cx="975324" cy="1106627"/>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 sz="1400" b="0" i="0" u="none" strike="noStrike" cap="none" dirty="0">
                <a:solidFill>
                  <a:schemeClr val="tx1"/>
                </a:solidFill>
                <a:latin typeface="Times New Roman" panose="02020603050405020304" pitchFamily="18" charset="0"/>
                <a:ea typeface="Times New Roman"/>
                <a:cs typeface="Times New Roman" panose="02020603050405020304" pitchFamily="18" charset="0"/>
                <a:sym typeface="Times New Roman"/>
              </a:rPr>
              <a:t>Not predicted to undergo NMD</a:t>
            </a:r>
            <a:r>
              <a:rPr lang="en" sz="1400" dirty="0">
                <a:solidFill>
                  <a:schemeClr val="tx1"/>
                </a:solidFill>
                <a:latin typeface="Times New Roman" panose="02020603050405020304" pitchFamily="18" charset="0"/>
                <a:ea typeface="Times New Roman"/>
                <a:cs typeface="Times New Roman" panose="02020603050405020304" pitchFamily="18" charset="0"/>
                <a:sym typeface="Times New Roman"/>
              </a:rPr>
              <a:t> </a:t>
            </a:r>
            <a:r>
              <a:rPr lang="en" sz="1400" baseline="30000" dirty="0">
                <a:solidFill>
                  <a:schemeClr val="tx1"/>
                </a:solidFill>
                <a:latin typeface="Times New Roman" panose="02020603050405020304" pitchFamily="18" charset="0"/>
                <a:ea typeface="Times New Roman"/>
                <a:cs typeface="Times New Roman" panose="02020603050405020304" pitchFamily="18" charset="0"/>
                <a:sym typeface="Times New Roman"/>
              </a:rPr>
              <a:t>b</a:t>
            </a:r>
            <a:endParaRPr sz="2000" dirty="0">
              <a:solidFill>
                <a:schemeClr val="tx1"/>
              </a:solidFill>
              <a:latin typeface="Times New Roman" panose="02020603050405020304" pitchFamily="18" charset="0"/>
              <a:cs typeface="Times New Roman" panose="02020603050405020304" pitchFamily="18" charset="0"/>
            </a:endParaRPr>
          </a:p>
        </p:txBody>
      </p:sp>
      <p:sp>
        <p:nvSpPr>
          <p:cNvPr id="180" name="Google Shape;62;p13">
            <a:extLst>
              <a:ext uri="{FF2B5EF4-FFF2-40B4-BE49-F238E27FC236}">
                <a16:creationId xmlns:a16="http://schemas.microsoft.com/office/drawing/2014/main" id="{9394E790-90B0-82FB-553F-EE7C201BC496}"/>
              </a:ext>
            </a:extLst>
          </p:cNvPr>
          <p:cNvSpPr/>
          <p:nvPr/>
        </p:nvSpPr>
        <p:spPr>
          <a:xfrm>
            <a:off x="3059247" y="2469332"/>
            <a:ext cx="2904578" cy="1310402"/>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algn="ctr"/>
            <a:r>
              <a:rPr lang="en" sz="1400" dirty="0">
                <a:solidFill>
                  <a:schemeClr val="tx1"/>
                </a:solidFill>
                <a:latin typeface="Times New Roman" panose="02020603050405020304" pitchFamily="18" charset="0"/>
                <a:ea typeface="Times New Roman"/>
                <a:cs typeface="Times New Roman" panose="02020603050405020304" pitchFamily="18" charset="0"/>
                <a:sym typeface="Times New Roman"/>
              </a:rPr>
              <a:t>Role of region in protein function is unknown. </a:t>
            </a:r>
          </a:p>
          <a:p>
            <a:pPr marL="0" marR="0" lvl="0" indent="0" algn="ctr" rtl="0">
              <a:spcBef>
                <a:spcPts val="0"/>
              </a:spcBef>
              <a:spcAft>
                <a:spcPts val="0"/>
              </a:spcAft>
              <a:buNone/>
            </a:pPr>
            <a:r>
              <a:rPr lang="en" sz="1400" dirty="0">
                <a:solidFill>
                  <a:schemeClr val="tx1"/>
                </a:solidFill>
                <a:latin typeface="Times New Roman" panose="02020603050405020304" pitchFamily="18" charset="0"/>
                <a:ea typeface="Times New Roman"/>
                <a:cs typeface="Times New Roman" panose="02020603050405020304" pitchFamily="18" charset="0"/>
                <a:sym typeface="Times New Roman"/>
              </a:rPr>
              <a:t>Applies to </a:t>
            </a:r>
            <a:r>
              <a:rPr lang="en-US" sz="1400" dirty="0">
                <a:solidFill>
                  <a:schemeClr val="tx1"/>
                </a:solidFill>
                <a:latin typeface="Times New Roman" panose="02020603050405020304" pitchFamily="18" charset="0"/>
                <a:cs typeface="Times New Roman" panose="02020603050405020304" pitchFamily="18" charset="0"/>
              </a:rPr>
              <a:t>NM_001034853.2:c.3399-3458</a:t>
            </a:r>
            <a:r>
              <a:rPr lang="en" sz="1400" dirty="0">
                <a:solidFill>
                  <a:schemeClr val="tx1"/>
                </a:solidFill>
                <a:latin typeface="Times New Roman" panose="02020603050405020304" pitchFamily="18" charset="0"/>
                <a:ea typeface="Times New Roman"/>
                <a:cs typeface="Times New Roman" panose="02020603050405020304" pitchFamily="18" charset="0"/>
                <a:sym typeface="Times New Roman"/>
              </a:rPr>
              <a:t> (codons 1132-1152), or 3’ UTR,</a:t>
            </a:r>
          </a:p>
          <a:p>
            <a:pPr marL="0" marR="0" lvl="0" indent="0" algn="ctr" rtl="0">
              <a:spcBef>
                <a:spcPts val="0"/>
              </a:spcBef>
              <a:spcAft>
                <a:spcPts val="0"/>
              </a:spcAft>
              <a:buNone/>
            </a:pPr>
            <a:r>
              <a:rPr lang="en" sz="1400" dirty="0">
                <a:solidFill>
                  <a:schemeClr val="tx1"/>
                </a:solidFill>
                <a:latin typeface="Times New Roman" panose="02020603050405020304" pitchFamily="18" charset="0"/>
                <a:ea typeface="Times New Roman"/>
                <a:cs typeface="Times New Roman" panose="02020603050405020304" pitchFamily="18" charset="0"/>
                <a:sym typeface="Times New Roman"/>
              </a:rPr>
              <a:t>NM_00328.3:c.2352-2909 (codons 784-969), or 3’ </a:t>
            </a:r>
            <a:r>
              <a:rPr lang="en" sz="1400" dirty="0" err="1">
                <a:solidFill>
                  <a:schemeClr val="tx1"/>
                </a:solidFill>
                <a:latin typeface="Times New Roman" panose="02020603050405020304" pitchFamily="18" charset="0"/>
                <a:ea typeface="Times New Roman"/>
                <a:cs typeface="Times New Roman" panose="02020603050405020304" pitchFamily="18" charset="0"/>
                <a:sym typeface="Times New Roman"/>
              </a:rPr>
              <a:t>UTR</a:t>
            </a:r>
            <a:r>
              <a:rPr lang="en" sz="1400" baseline="30000" dirty="0" err="1">
                <a:solidFill>
                  <a:schemeClr val="tx1"/>
                </a:solidFill>
                <a:latin typeface="Times New Roman" panose="02020603050405020304" pitchFamily="18" charset="0"/>
                <a:ea typeface="Times New Roman"/>
                <a:cs typeface="Times New Roman" panose="02020603050405020304" pitchFamily="18" charset="0"/>
                <a:sym typeface="Times New Roman"/>
              </a:rPr>
              <a:t>h</a:t>
            </a:r>
            <a:endParaRPr sz="1400" baseline="30000" dirty="0">
              <a:solidFill>
                <a:schemeClr val="tx1"/>
              </a:solidFill>
              <a:latin typeface="Times New Roman" panose="02020603050405020304" pitchFamily="18" charset="0"/>
              <a:cs typeface="Times New Roman" panose="02020603050405020304" pitchFamily="18" charset="0"/>
            </a:endParaRPr>
          </a:p>
        </p:txBody>
      </p:sp>
      <p:sp>
        <p:nvSpPr>
          <p:cNvPr id="184" name="Google Shape;66;p13">
            <a:extLst>
              <a:ext uri="{FF2B5EF4-FFF2-40B4-BE49-F238E27FC236}">
                <a16:creationId xmlns:a16="http://schemas.microsoft.com/office/drawing/2014/main" id="{1D61E762-B413-3F64-38DA-CE0CEF488A48}"/>
              </a:ext>
            </a:extLst>
          </p:cNvPr>
          <p:cNvSpPr/>
          <p:nvPr/>
        </p:nvSpPr>
        <p:spPr>
          <a:xfrm>
            <a:off x="10955521" y="2919075"/>
            <a:ext cx="1281000" cy="27432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 sz="1400" b="0" i="0" u="none" strike="noStrike" cap="none" dirty="0">
                <a:solidFill>
                  <a:schemeClr val="tx1"/>
                </a:solidFill>
                <a:latin typeface="Times New Roman" panose="02020603050405020304" pitchFamily="18" charset="0"/>
                <a:ea typeface="Times New Roman"/>
                <a:cs typeface="Times New Roman" panose="02020603050405020304" pitchFamily="18" charset="0"/>
                <a:sym typeface="Times New Roman"/>
              </a:rPr>
              <a:t>PVS1_Strong</a:t>
            </a:r>
            <a:endParaRPr sz="2000" dirty="0">
              <a:solidFill>
                <a:schemeClr val="tx1"/>
              </a:solidFill>
              <a:latin typeface="Times New Roman" panose="02020603050405020304" pitchFamily="18" charset="0"/>
              <a:cs typeface="Times New Roman" panose="02020603050405020304" pitchFamily="18" charset="0"/>
            </a:endParaRPr>
          </a:p>
        </p:txBody>
      </p:sp>
      <p:sp>
        <p:nvSpPr>
          <p:cNvPr id="185" name="Google Shape;67;p13">
            <a:extLst>
              <a:ext uri="{FF2B5EF4-FFF2-40B4-BE49-F238E27FC236}">
                <a16:creationId xmlns:a16="http://schemas.microsoft.com/office/drawing/2014/main" id="{EC56C352-C943-2CA3-5703-51220E5767A4}"/>
              </a:ext>
            </a:extLst>
          </p:cNvPr>
          <p:cNvSpPr/>
          <p:nvPr/>
        </p:nvSpPr>
        <p:spPr>
          <a:xfrm>
            <a:off x="10805685" y="3496717"/>
            <a:ext cx="1416393" cy="359071"/>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 sz="1400" dirty="0">
                <a:solidFill>
                  <a:schemeClr val="tx1"/>
                </a:solidFill>
                <a:latin typeface="Times New Roman" panose="02020603050405020304" pitchFamily="18" charset="0"/>
                <a:ea typeface="Times New Roman"/>
                <a:cs typeface="Times New Roman" panose="02020603050405020304" pitchFamily="18" charset="0"/>
                <a:sym typeface="Times New Roman"/>
              </a:rPr>
              <a:t>PVS1_Moderate</a:t>
            </a:r>
            <a:endParaRPr sz="2000" dirty="0">
              <a:solidFill>
                <a:schemeClr val="tx1"/>
              </a:solidFill>
              <a:latin typeface="Times New Roman" panose="02020603050405020304" pitchFamily="18" charset="0"/>
              <a:cs typeface="Times New Roman" panose="02020603050405020304" pitchFamily="18" charset="0"/>
            </a:endParaRPr>
          </a:p>
        </p:txBody>
      </p:sp>
      <p:sp>
        <p:nvSpPr>
          <p:cNvPr id="186" name="Google Shape;68;p13">
            <a:extLst>
              <a:ext uri="{FF2B5EF4-FFF2-40B4-BE49-F238E27FC236}">
                <a16:creationId xmlns:a16="http://schemas.microsoft.com/office/drawing/2014/main" id="{E0969146-73BE-A27C-2A45-363576E4E8AF}"/>
              </a:ext>
            </a:extLst>
          </p:cNvPr>
          <p:cNvSpPr/>
          <p:nvPr/>
        </p:nvSpPr>
        <p:spPr>
          <a:xfrm>
            <a:off x="6295869" y="2681767"/>
            <a:ext cx="1884095" cy="1366015"/>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lvl="0" indent="0" algn="ctr" rtl="0">
              <a:spcBef>
                <a:spcPts val="0"/>
              </a:spcBef>
              <a:spcAft>
                <a:spcPts val="0"/>
              </a:spcAft>
              <a:buNone/>
            </a:pPr>
            <a:r>
              <a:rPr lang="en" sz="1400" dirty="0" err="1">
                <a:solidFill>
                  <a:schemeClr val="tx1"/>
                </a:solidFill>
                <a:latin typeface="Times New Roman" panose="02020603050405020304" pitchFamily="18" charset="0"/>
                <a:ea typeface="Times New Roman"/>
                <a:cs typeface="Times New Roman" panose="02020603050405020304" pitchFamily="18" charset="0"/>
                <a:sym typeface="Times New Roman"/>
              </a:rPr>
              <a:t>LoF</a:t>
            </a:r>
            <a:r>
              <a:rPr lang="en" sz="1400" dirty="0">
                <a:solidFill>
                  <a:schemeClr val="tx1"/>
                </a:solidFill>
                <a:latin typeface="Times New Roman" panose="02020603050405020304" pitchFamily="18" charset="0"/>
                <a:ea typeface="Times New Roman"/>
                <a:cs typeface="Times New Roman" panose="02020603050405020304" pitchFamily="18" charset="0"/>
                <a:sym typeface="Times New Roman"/>
              </a:rPr>
              <a:t> variants in this exon are not frequent in the general population and exon is present in biologically-relevant transcript(s)</a:t>
            </a:r>
            <a:endParaRPr sz="1400" dirty="0">
              <a:solidFill>
                <a:schemeClr val="tx1"/>
              </a:solidFill>
              <a:latin typeface="Times New Roman" panose="02020603050405020304" pitchFamily="18" charset="0"/>
              <a:ea typeface="Times New Roman"/>
              <a:cs typeface="Times New Roman" panose="02020603050405020304" pitchFamily="18" charset="0"/>
              <a:sym typeface="Times New Roman"/>
            </a:endParaRPr>
          </a:p>
        </p:txBody>
      </p:sp>
      <p:sp>
        <p:nvSpPr>
          <p:cNvPr id="187" name="Google Shape;69;p13">
            <a:extLst>
              <a:ext uri="{FF2B5EF4-FFF2-40B4-BE49-F238E27FC236}">
                <a16:creationId xmlns:a16="http://schemas.microsoft.com/office/drawing/2014/main" id="{4FE8D5B7-106E-61B9-26CE-6E9E3D0174D7}"/>
              </a:ext>
            </a:extLst>
          </p:cNvPr>
          <p:cNvSpPr/>
          <p:nvPr/>
        </p:nvSpPr>
        <p:spPr>
          <a:xfrm>
            <a:off x="8632873" y="2798552"/>
            <a:ext cx="1991505" cy="505265"/>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 sz="1400" dirty="0">
                <a:solidFill>
                  <a:schemeClr val="tx1"/>
                </a:solidFill>
                <a:latin typeface="Times New Roman" panose="02020603050405020304" pitchFamily="18" charset="0"/>
                <a:ea typeface="Times New Roman"/>
                <a:cs typeface="Times New Roman" panose="02020603050405020304" pitchFamily="18" charset="0"/>
                <a:sym typeface="Times New Roman"/>
              </a:rPr>
              <a:t>Variant removes </a:t>
            </a:r>
            <a:r>
              <a:rPr lang="en" sz="1400" b="0" i="0" u="none" strike="noStrike" cap="none" dirty="0">
                <a:solidFill>
                  <a:schemeClr val="tx1"/>
                </a:solidFill>
                <a:latin typeface="Times New Roman" panose="02020603050405020304" pitchFamily="18" charset="0"/>
                <a:ea typeface="Times New Roman"/>
                <a:cs typeface="Times New Roman" panose="02020603050405020304" pitchFamily="18" charset="0"/>
                <a:sym typeface="Times New Roman"/>
              </a:rPr>
              <a:t>&gt;10% of protein</a:t>
            </a:r>
            <a:endParaRPr sz="2000" dirty="0">
              <a:solidFill>
                <a:schemeClr val="tx1"/>
              </a:solidFill>
              <a:latin typeface="Times New Roman" panose="02020603050405020304" pitchFamily="18" charset="0"/>
              <a:cs typeface="Times New Roman" panose="02020603050405020304" pitchFamily="18" charset="0"/>
            </a:endParaRPr>
          </a:p>
        </p:txBody>
      </p:sp>
      <p:sp>
        <p:nvSpPr>
          <p:cNvPr id="188" name="Google Shape;70;p13">
            <a:extLst>
              <a:ext uri="{FF2B5EF4-FFF2-40B4-BE49-F238E27FC236}">
                <a16:creationId xmlns:a16="http://schemas.microsoft.com/office/drawing/2014/main" id="{C79CD767-4DB6-524E-EFD0-28FE148D31AB}"/>
              </a:ext>
            </a:extLst>
          </p:cNvPr>
          <p:cNvSpPr/>
          <p:nvPr/>
        </p:nvSpPr>
        <p:spPr>
          <a:xfrm>
            <a:off x="8628067" y="3384632"/>
            <a:ext cx="1991505" cy="66315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 sz="1400" dirty="0">
                <a:solidFill>
                  <a:schemeClr val="tx1"/>
                </a:solidFill>
                <a:latin typeface="Times New Roman" panose="02020603050405020304" pitchFamily="18" charset="0"/>
                <a:ea typeface="Times New Roman"/>
                <a:cs typeface="Times New Roman" panose="02020603050405020304" pitchFamily="18" charset="0"/>
                <a:sym typeface="Times New Roman"/>
              </a:rPr>
              <a:t>NM_00328.3 variants after codon 872 remove &lt;</a:t>
            </a:r>
            <a:r>
              <a:rPr lang="en" sz="1400" b="0" i="0" u="none" strike="noStrike" cap="none" dirty="0">
                <a:solidFill>
                  <a:schemeClr val="tx1"/>
                </a:solidFill>
                <a:latin typeface="Times New Roman" panose="02020603050405020304" pitchFamily="18" charset="0"/>
                <a:ea typeface="Times New Roman"/>
                <a:cs typeface="Times New Roman" panose="02020603050405020304" pitchFamily="18" charset="0"/>
                <a:sym typeface="Times New Roman"/>
              </a:rPr>
              <a:t>10% of p</a:t>
            </a:r>
            <a:r>
              <a:rPr lang="en" sz="1400" dirty="0">
                <a:solidFill>
                  <a:schemeClr val="tx1"/>
                </a:solidFill>
                <a:latin typeface="Times New Roman" panose="02020603050405020304" pitchFamily="18" charset="0"/>
                <a:ea typeface="Times New Roman"/>
                <a:cs typeface="Times New Roman" panose="02020603050405020304" pitchFamily="18" charset="0"/>
                <a:sym typeface="Times New Roman"/>
              </a:rPr>
              <a:t>rotein </a:t>
            </a:r>
            <a:endParaRPr sz="2000" dirty="0">
              <a:solidFill>
                <a:schemeClr val="tx1"/>
              </a:solidFill>
              <a:latin typeface="Times New Roman" panose="02020603050405020304" pitchFamily="18" charset="0"/>
              <a:cs typeface="Times New Roman" panose="02020603050405020304" pitchFamily="18" charset="0"/>
            </a:endParaRPr>
          </a:p>
        </p:txBody>
      </p:sp>
      <p:cxnSp>
        <p:nvCxnSpPr>
          <p:cNvPr id="189" name="Google Shape;71;p13">
            <a:extLst>
              <a:ext uri="{FF2B5EF4-FFF2-40B4-BE49-F238E27FC236}">
                <a16:creationId xmlns:a16="http://schemas.microsoft.com/office/drawing/2014/main" id="{CFCFA64A-30F9-E919-D897-116AFA6F3D93}"/>
              </a:ext>
            </a:extLst>
          </p:cNvPr>
          <p:cNvCxnSpPr>
            <a:cxnSpLocks/>
            <a:stCxn id="186" idx="3"/>
            <a:endCxn id="187" idx="1"/>
          </p:cNvCxnSpPr>
          <p:nvPr/>
        </p:nvCxnSpPr>
        <p:spPr>
          <a:xfrm flipV="1">
            <a:off x="8179964" y="3051185"/>
            <a:ext cx="452909" cy="313590"/>
          </a:xfrm>
          <a:prstGeom prst="straightConnector1">
            <a:avLst/>
          </a:prstGeom>
          <a:noFill/>
          <a:ln w="9525" cap="flat" cmpd="sng">
            <a:solidFill>
              <a:srgbClr val="44546A"/>
            </a:solidFill>
            <a:prstDash val="solid"/>
            <a:round/>
            <a:headEnd type="none" w="med" len="med"/>
            <a:tailEnd type="triangle" w="med" len="med"/>
          </a:ln>
        </p:spPr>
      </p:cxnSp>
      <p:cxnSp>
        <p:nvCxnSpPr>
          <p:cNvPr id="190" name="Google Shape;72;p13">
            <a:extLst>
              <a:ext uri="{FF2B5EF4-FFF2-40B4-BE49-F238E27FC236}">
                <a16:creationId xmlns:a16="http://schemas.microsoft.com/office/drawing/2014/main" id="{E05E2FC3-A1B5-8029-7244-BED1F60C0A82}"/>
              </a:ext>
            </a:extLst>
          </p:cNvPr>
          <p:cNvCxnSpPr>
            <a:cxnSpLocks/>
            <a:stCxn id="186" idx="3"/>
            <a:endCxn id="188" idx="1"/>
          </p:cNvCxnSpPr>
          <p:nvPr/>
        </p:nvCxnSpPr>
        <p:spPr>
          <a:xfrm>
            <a:off x="8179964" y="3364775"/>
            <a:ext cx="448103" cy="351432"/>
          </a:xfrm>
          <a:prstGeom prst="straightConnector1">
            <a:avLst/>
          </a:prstGeom>
          <a:noFill/>
          <a:ln w="9525" cap="flat" cmpd="sng">
            <a:solidFill>
              <a:srgbClr val="44546A"/>
            </a:solidFill>
            <a:prstDash val="solid"/>
            <a:round/>
            <a:headEnd type="none" w="med" len="med"/>
            <a:tailEnd type="triangle" w="med" len="med"/>
          </a:ln>
        </p:spPr>
      </p:cxnSp>
      <p:cxnSp>
        <p:nvCxnSpPr>
          <p:cNvPr id="191" name="Google Shape;73;p13">
            <a:extLst>
              <a:ext uri="{FF2B5EF4-FFF2-40B4-BE49-F238E27FC236}">
                <a16:creationId xmlns:a16="http://schemas.microsoft.com/office/drawing/2014/main" id="{F6CA913F-7B03-CA28-C5FE-E5947F11A1A1}"/>
              </a:ext>
            </a:extLst>
          </p:cNvPr>
          <p:cNvCxnSpPr>
            <a:cxnSpLocks/>
            <a:stCxn id="172" idx="3"/>
            <a:endCxn id="173" idx="1"/>
          </p:cNvCxnSpPr>
          <p:nvPr/>
        </p:nvCxnSpPr>
        <p:spPr>
          <a:xfrm flipV="1">
            <a:off x="1196421" y="1241137"/>
            <a:ext cx="467100" cy="1188216"/>
          </a:xfrm>
          <a:prstGeom prst="straightConnector1">
            <a:avLst/>
          </a:prstGeom>
          <a:noFill/>
          <a:ln w="9525" cap="flat" cmpd="sng">
            <a:solidFill>
              <a:srgbClr val="44546A"/>
            </a:solidFill>
            <a:prstDash val="solid"/>
            <a:round/>
            <a:headEnd type="none" w="med" len="med"/>
            <a:tailEnd type="triangle" w="med" len="med"/>
          </a:ln>
        </p:spPr>
      </p:cxnSp>
      <p:cxnSp>
        <p:nvCxnSpPr>
          <p:cNvPr id="192" name="Google Shape;74;p13">
            <a:extLst>
              <a:ext uri="{FF2B5EF4-FFF2-40B4-BE49-F238E27FC236}">
                <a16:creationId xmlns:a16="http://schemas.microsoft.com/office/drawing/2014/main" id="{AF1BDC4A-1047-985D-B586-2F0ACBA6905D}"/>
              </a:ext>
            </a:extLst>
          </p:cNvPr>
          <p:cNvCxnSpPr>
            <a:cxnSpLocks/>
            <a:stCxn id="172" idx="3"/>
            <a:endCxn id="174" idx="1"/>
          </p:cNvCxnSpPr>
          <p:nvPr/>
        </p:nvCxnSpPr>
        <p:spPr>
          <a:xfrm>
            <a:off x="1196421" y="2429353"/>
            <a:ext cx="487528" cy="128852"/>
          </a:xfrm>
          <a:prstGeom prst="straightConnector1">
            <a:avLst/>
          </a:prstGeom>
          <a:noFill/>
          <a:ln w="9525" cap="flat" cmpd="sng">
            <a:solidFill>
              <a:srgbClr val="44546A"/>
            </a:solidFill>
            <a:prstDash val="solid"/>
            <a:round/>
            <a:headEnd type="none" w="med" len="med"/>
            <a:tailEnd type="triangle" w="med" len="med"/>
          </a:ln>
        </p:spPr>
      </p:cxnSp>
      <p:cxnSp>
        <p:nvCxnSpPr>
          <p:cNvPr id="196" name="Google Shape;78;p13">
            <a:extLst>
              <a:ext uri="{FF2B5EF4-FFF2-40B4-BE49-F238E27FC236}">
                <a16:creationId xmlns:a16="http://schemas.microsoft.com/office/drawing/2014/main" id="{FE18ADAC-1D59-26FE-2287-B425BC248ED4}"/>
              </a:ext>
            </a:extLst>
          </p:cNvPr>
          <p:cNvCxnSpPr>
            <a:cxnSpLocks/>
            <a:stCxn id="174" idx="3"/>
            <a:endCxn id="180" idx="1"/>
          </p:cNvCxnSpPr>
          <p:nvPr/>
        </p:nvCxnSpPr>
        <p:spPr>
          <a:xfrm>
            <a:off x="2659273" y="2558205"/>
            <a:ext cx="399974" cy="566328"/>
          </a:xfrm>
          <a:prstGeom prst="straightConnector1">
            <a:avLst/>
          </a:prstGeom>
          <a:noFill/>
          <a:ln w="9525" cap="flat" cmpd="sng">
            <a:solidFill>
              <a:srgbClr val="44546A"/>
            </a:solidFill>
            <a:prstDash val="solid"/>
            <a:round/>
            <a:headEnd type="none" w="med" len="med"/>
            <a:tailEnd type="triangle" w="med" len="med"/>
          </a:ln>
        </p:spPr>
      </p:cxnSp>
      <p:cxnSp>
        <p:nvCxnSpPr>
          <p:cNvPr id="198" name="Google Shape;80;p13">
            <a:extLst>
              <a:ext uri="{FF2B5EF4-FFF2-40B4-BE49-F238E27FC236}">
                <a16:creationId xmlns:a16="http://schemas.microsoft.com/office/drawing/2014/main" id="{149A09D6-F8F8-0DF4-258B-230588F40D3E}"/>
              </a:ext>
            </a:extLst>
          </p:cNvPr>
          <p:cNvCxnSpPr>
            <a:cxnSpLocks/>
            <a:stCxn id="180" idx="3"/>
            <a:endCxn id="186" idx="1"/>
          </p:cNvCxnSpPr>
          <p:nvPr/>
        </p:nvCxnSpPr>
        <p:spPr>
          <a:xfrm>
            <a:off x="5963825" y="3124533"/>
            <a:ext cx="332044" cy="240242"/>
          </a:xfrm>
          <a:prstGeom prst="straightConnector1">
            <a:avLst/>
          </a:prstGeom>
          <a:noFill/>
          <a:ln w="9525" cap="flat" cmpd="sng">
            <a:solidFill>
              <a:srgbClr val="44546A"/>
            </a:solidFill>
            <a:prstDash val="solid"/>
            <a:round/>
            <a:headEnd type="none" w="med" len="med"/>
            <a:tailEnd type="triangle" w="med" len="med"/>
          </a:ln>
        </p:spPr>
      </p:cxnSp>
      <p:sp>
        <p:nvSpPr>
          <p:cNvPr id="173" name="Google Shape;55;p13">
            <a:extLst>
              <a:ext uri="{FF2B5EF4-FFF2-40B4-BE49-F238E27FC236}">
                <a16:creationId xmlns:a16="http://schemas.microsoft.com/office/drawing/2014/main" id="{EBB5F680-53C2-4AA8-9668-D92E0C68CA1B}"/>
              </a:ext>
            </a:extLst>
          </p:cNvPr>
          <p:cNvSpPr/>
          <p:nvPr/>
        </p:nvSpPr>
        <p:spPr>
          <a:xfrm>
            <a:off x="1663521" y="830026"/>
            <a:ext cx="982225" cy="822222"/>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 sz="1400" b="0" i="0" u="none" strike="noStrike" cap="none" dirty="0">
                <a:solidFill>
                  <a:schemeClr val="tx1"/>
                </a:solidFill>
                <a:latin typeface="Times New Roman" panose="02020603050405020304" pitchFamily="18" charset="0"/>
                <a:ea typeface="Times New Roman"/>
                <a:cs typeface="Times New Roman" panose="02020603050405020304" pitchFamily="18" charset="0"/>
                <a:sym typeface="Times New Roman"/>
              </a:rPr>
              <a:t>Predicted to undergo NMD </a:t>
            </a:r>
            <a:r>
              <a:rPr lang="en" sz="1400" b="0" i="0" u="none" strike="noStrike" cap="none" baseline="30000" dirty="0">
                <a:solidFill>
                  <a:schemeClr val="tx1"/>
                </a:solidFill>
                <a:latin typeface="Times New Roman" panose="02020603050405020304" pitchFamily="18" charset="0"/>
                <a:ea typeface="Times New Roman"/>
                <a:cs typeface="Times New Roman" panose="02020603050405020304" pitchFamily="18" charset="0"/>
                <a:sym typeface="Times New Roman"/>
              </a:rPr>
              <a:t>b</a:t>
            </a:r>
          </a:p>
        </p:txBody>
      </p:sp>
      <p:sp>
        <p:nvSpPr>
          <p:cNvPr id="175" name="Google Shape;57;p13">
            <a:extLst>
              <a:ext uri="{FF2B5EF4-FFF2-40B4-BE49-F238E27FC236}">
                <a16:creationId xmlns:a16="http://schemas.microsoft.com/office/drawing/2014/main" id="{FAA59B78-7608-12D2-51E7-0190723F2E2E}"/>
              </a:ext>
            </a:extLst>
          </p:cNvPr>
          <p:cNvSpPr/>
          <p:nvPr/>
        </p:nvSpPr>
        <p:spPr>
          <a:xfrm>
            <a:off x="3059248" y="824794"/>
            <a:ext cx="7565130" cy="27432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 sz="1400" dirty="0">
                <a:solidFill>
                  <a:schemeClr val="tx1"/>
                </a:solidFill>
                <a:latin typeface="Times New Roman" panose="02020603050405020304" pitchFamily="18" charset="0"/>
                <a:ea typeface="Times New Roman"/>
                <a:cs typeface="Times New Roman" panose="02020603050405020304" pitchFamily="18" charset="0"/>
                <a:sym typeface="Times New Roman"/>
              </a:rPr>
              <a:t>V</a:t>
            </a:r>
            <a:r>
              <a:rPr lang="en" sz="1400" b="0" i="0" u="none" strike="noStrike" cap="none" dirty="0">
                <a:solidFill>
                  <a:schemeClr val="tx1"/>
                </a:solidFill>
                <a:latin typeface="Times New Roman" panose="02020603050405020304" pitchFamily="18" charset="0"/>
                <a:ea typeface="Times New Roman"/>
                <a:cs typeface="Times New Roman" panose="02020603050405020304" pitchFamily="18" charset="0"/>
                <a:sym typeface="Times New Roman"/>
              </a:rPr>
              <a:t>ariants that terminate in codons 2-619 (</a:t>
            </a:r>
            <a:r>
              <a:rPr lang="en-US" sz="1400" dirty="0">
                <a:solidFill>
                  <a:schemeClr val="tx1"/>
                </a:solidFill>
                <a:latin typeface="Times New Roman" panose="02020603050405020304" pitchFamily="18" charset="0"/>
                <a:cs typeface="Times New Roman" panose="02020603050405020304" pitchFamily="18" charset="0"/>
              </a:rPr>
              <a:t>NM_001034853.2:c.4-1704</a:t>
            </a:r>
            <a:r>
              <a:rPr lang="en" sz="1400" dirty="0">
                <a:solidFill>
                  <a:schemeClr val="tx1"/>
                </a:solidFill>
                <a:latin typeface="Times New Roman" panose="02020603050405020304" pitchFamily="18" charset="0"/>
                <a:ea typeface="Times New Roman"/>
                <a:cs typeface="Times New Roman" panose="02020603050405020304" pitchFamily="18" charset="0"/>
                <a:sym typeface="Times New Roman"/>
              </a:rPr>
              <a:t> or </a:t>
            </a:r>
            <a:r>
              <a:rPr lang="en-US" sz="1400" dirty="0">
                <a:solidFill>
                  <a:schemeClr val="tx1"/>
                </a:solidFill>
                <a:latin typeface="Times New Roman" panose="02020603050405020304" pitchFamily="18" charset="0"/>
                <a:cs typeface="Times New Roman" panose="02020603050405020304" pitchFamily="18" charset="0"/>
              </a:rPr>
              <a:t>NM_00328.3:c.4-1704</a:t>
            </a:r>
            <a:r>
              <a:rPr lang="en-US" sz="1400" baseline="30000" dirty="0">
                <a:solidFill>
                  <a:schemeClr val="tx1"/>
                </a:solidFill>
                <a:latin typeface="Times New Roman" panose="02020603050405020304" pitchFamily="18" charset="0"/>
                <a:cs typeface="Times New Roman" panose="02020603050405020304" pitchFamily="18" charset="0"/>
              </a:rPr>
              <a:t>e</a:t>
            </a:r>
            <a:r>
              <a:rPr lang="en-US" sz="1400" dirty="0">
                <a:solidFill>
                  <a:schemeClr val="tx1"/>
                </a:solidFill>
                <a:latin typeface="Times New Roman" panose="02020603050405020304" pitchFamily="18" charset="0"/>
                <a:cs typeface="Times New Roman" panose="02020603050405020304" pitchFamily="18" charset="0"/>
              </a:rPr>
              <a:t>)</a:t>
            </a:r>
            <a:endParaRPr sz="2000" dirty="0">
              <a:solidFill>
                <a:schemeClr val="tx1"/>
              </a:solidFill>
              <a:latin typeface="Times New Roman" panose="02020603050405020304" pitchFamily="18" charset="0"/>
              <a:cs typeface="Times New Roman" panose="02020603050405020304" pitchFamily="18" charset="0"/>
            </a:endParaRPr>
          </a:p>
        </p:txBody>
      </p:sp>
      <p:sp>
        <p:nvSpPr>
          <p:cNvPr id="176" name="Google Shape;58;p13">
            <a:extLst>
              <a:ext uri="{FF2B5EF4-FFF2-40B4-BE49-F238E27FC236}">
                <a16:creationId xmlns:a16="http://schemas.microsoft.com/office/drawing/2014/main" id="{1A03A41B-53EA-6BD7-C5F2-C25F81499791}"/>
              </a:ext>
            </a:extLst>
          </p:cNvPr>
          <p:cNvSpPr/>
          <p:nvPr/>
        </p:nvSpPr>
        <p:spPr>
          <a:xfrm>
            <a:off x="3059247" y="1176834"/>
            <a:ext cx="7562585" cy="27432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 sz="1400" dirty="0">
                <a:solidFill>
                  <a:schemeClr val="tx1"/>
                </a:solidFill>
                <a:latin typeface="Times New Roman" panose="02020603050405020304" pitchFamily="18" charset="0"/>
                <a:ea typeface="Times New Roman"/>
                <a:cs typeface="Times New Roman" panose="02020603050405020304" pitchFamily="18" charset="0"/>
                <a:sym typeface="Times New Roman"/>
              </a:rPr>
              <a:t>V</a:t>
            </a:r>
            <a:r>
              <a:rPr lang="en" sz="1400" b="0" i="0" u="none" strike="noStrike" cap="none" dirty="0">
                <a:solidFill>
                  <a:schemeClr val="tx1"/>
                </a:solidFill>
                <a:latin typeface="Times New Roman" panose="02020603050405020304" pitchFamily="18" charset="0"/>
                <a:ea typeface="Times New Roman"/>
                <a:cs typeface="Times New Roman" panose="02020603050405020304" pitchFamily="18" charset="0"/>
                <a:sym typeface="Times New Roman"/>
              </a:rPr>
              <a:t>ariants that terminate in codons 620-783 </a:t>
            </a:r>
            <a:r>
              <a:rPr lang="en" sz="1400" dirty="0">
                <a:solidFill>
                  <a:schemeClr val="tx1"/>
                </a:solidFill>
                <a:latin typeface="Times New Roman" panose="02020603050405020304" pitchFamily="18" charset="0"/>
                <a:ea typeface="Times New Roman"/>
                <a:cs typeface="Times New Roman" panose="02020603050405020304" pitchFamily="18" charset="0"/>
                <a:sym typeface="Times New Roman"/>
              </a:rPr>
              <a:t>in transcript </a:t>
            </a:r>
            <a:r>
              <a:rPr lang="en-US" sz="1400" dirty="0">
                <a:solidFill>
                  <a:schemeClr val="tx1"/>
                </a:solidFill>
                <a:latin typeface="Times New Roman" panose="02020603050405020304" pitchFamily="18" charset="0"/>
                <a:cs typeface="Times New Roman" panose="02020603050405020304" pitchFamily="18" charset="0"/>
              </a:rPr>
              <a:t>NM_00328.3:c.1705-2106</a:t>
            </a:r>
            <a:r>
              <a:rPr lang="en-US" sz="1400" baseline="30000" dirty="0">
                <a:solidFill>
                  <a:schemeClr val="tx1"/>
                </a:solidFill>
                <a:latin typeface="Times New Roman" panose="02020603050405020304" pitchFamily="18" charset="0"/>
                <a:cs typeface="Times New Roman" panose="02020603050405020304" pitchFamily="18" charset="0"/>
              </a:rPr>
              <a:t>f</a:t>
            </a:r>
            <a:r>
              <a:rPr lang="en-US" sz="1400" dirty="0">
                <a:solidFill>
                  <a:schemeClr val="tx1"/>
                </a:solidFill>
                <a:latin typeface="Times New Roman" panose="02020603050405020304" pitchFamily="18" charset="0"/>
                <a:cs typeface="Times New Roman" panose="02020603050405020304" pitchFamily="18" charset="0"/>
              </a:rPr>
              <a:t>)</a:t>
            </a:r>
            <a:endParaRPr sz="1400" dirty="0">
              <a:solidFill>
                <a:schemeClr val="tx1"/>
              </a:solidFill>
              <a:latin typeface="Times New Roman" panose="02020603050405020304" pitchFamily="18" charset="0"/>
              <a:ea typeface="Times New Roman"/>
              <a:cs typeface="Times New Roman" panose="02020603050405020304" pitchFamily="18" charset="0"/>
              <a:sym typeface="Times New Roman"/>
            </a:endParaRPr>
          </a:p>
        </p:txBody>
      </p:sp>
      <p:sp>
        <p:nvSpPr>
          <p:cNvPr id="177" name="Google Shape;59;p13">
            <a:extLst>
              <a:ext uri="{FF2B5EF4-FFF2-40B4-BE49-F238E27FC236}">
                <a16:creationId xmlns:a16="http://schemas.microsoft.com/office/drawing/2014/main" id="{E385903D-6349-8A4A-CD90-1662F18DE728}"/>
              </a:ext>
            </a:extLst>
          </p:cNvPr>
          <p:cNvSpPr/>
          <p:nvPr/>
        </p:nvSpPr>
        <p:spPr>
          <a:xfrm>
            <a:off x="10958086" y="828542"/>
            <a:ext cx="1281000" cy="27690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 sz="1400" b="0" i="0" u="none" strike="noStrike" cap="none" dirty="0">
                <a:solidFill>
                  <a:schemeClr val="tx1"/>
                </a:solidFill>
                <a:latin typeface="Times New Roman" panose="02020603050405020304" pitchFamily="18" charset="0"/>
                <a:ea typeface="Times New Roman"/>
                <a:cs typeface="Times New Roman" panose="02020603050405020304" pitchFamily="18" charset="0"/>
                <a:sym typeface="Times New Roman"/>
              </a:rPr>
              <a:t>PVS1</a:t>
            </a:r>
            <a:endParaRPr sz="2000" dirty="0">
              <a:solidFill>
                <a:schemeClr val="tx1"/>
              </a:solidFill>
              <a:latin typeface="Times New Roman" panose="02020603050405020304" pitchFamily="18" charset="0"/>
              <a:cs typeface="Times New Roman" panose="02020603050405020304" pitchFamily="18" charset="0"/>
            </a:endParaRPr>
          </a:p>
        </p:txBody>
      </p:sp>
      <p:sp>
        <p:nvSpPr>
          <p:cNvPr id="178" name="Google Shape;60;p13">
            <a:extLst>
              <a:ext uri="{FF2B5EF4-FFF2-40B4-BE49-F238E27FC236}">
                <a16:creationId xmlns:a16="http://schemas.microsoft.com/office/drawing/2014/main" id="{24910BD6-3535-3764-DA63-DC743F83B7EF}"/>
              </a:ext>
            </a:extLst>
          </p:cNvPr>
          <p:cNvSpPr/>
          <p:nvPr/>
        </p:nvSpPr>
        <p:spPr>
          <a:xfrm>
            <a:off x="10955520" y="1182384"/>
            <a:ext cx="1298259" cy="264025"/>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ts val="1040"/>
              </a:lnSpc>
              <a:spcBef>
                <a:spcPts val="0"/>
              </a:spcBef>
              <a:spcAft>
                <a:spcPts val="0"/>
              </a:spcAft>
              <a:buNone/>
            </a:pPr>
            <a:r>
              <a:rPr lang="en-US" sz="1400" b="0" i="0" u="none" strike="noStrike" cap="none" dirty="0">
                <a:solidFill>
                  <a:schemeClr val="tx1"/>
                </a:solidFill>
                <a:latin typeface="Times New Roman" panose="02020603050405020304" pitchFamily="18" charset="0"/>
                <a:ea typeface="Times New Roman"/>
                <a:cs typeface="Times New Roman" panose="02020603050405020304" pitchFamily="18" charset="0"/>
                <a:sym typeface="Times New Roman"/>
              </a:rPr>
              <a:t>N/A</a:t>
            </a:r>
            <a:endParaRPr lang="en-US" sz="1400" dirty="0">
              <a:solidFill>
                <a:schemeClr val="tx1"/>
              </a:solidFill>
              <a:latin typeface="Times New Roman" panose="02020603050405020304" pitchFamily="18" charset="0"/>
              <a:cs typeface="Times New Roman" panose="02020603050405020304" pitchFamily="18" charset="0"/>
            </a:endParaRPr>
          </a:p>
        </p:txBody>
      </p:sp>
      <p:sp>
        <p:nvSpPr>
          <p:cNvPr id="179" name="Google Shape;61;p13">
            <a:extLst>
              <a:ext uri="{FF2B5EF4-FFF2-40B4-BE49-F238E27FC236}">
                <a16:creationId xmlns:a16="http://schemas.microsoft.com/office/drawing/2014/main" id="{A248B9A3-BF3A-B20A-19F3-7F8E6DC8BCAF}"/>
              </a:ext>
            </a:extLst>
          </p:cNvPr>
          <p:cNvSpPr/>
          <p:nvPr/>
        </p:nvSpPr>
        <p:spPr>
          <a:xfrm>
            <a:off x="3063072" y="1523501"/>
            <a:ext cx="7560884" cy="425282"/>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400" dirty="0">
                <a:solidFill>
                  <a:schemeClr val="tx1"/>
                </a:solidFill>
                <a:latin typeface="Times New Roman" panose="02020603050405020304" pitchFamily="18" charset="0"/>
                <a:cs typeface="Times New Roman" panose="02020603050405020304" pitchFamily="18" charset="0"/>
              </a:rPr>
              <a:t>NM_001034853.2:c.1705-3398</a:t>
            </a:r>
            <a:r>
              <a:rPr lang="en" sz="1400" dirty="0">
                <a:solidFill>
                  <a:schemeClr val="tx1"/>
                </a:solidFill>
                <a:latin typeface="Times New Roman" panose="02020603050405020304" pitchFamily="18" charset="0"/>
                <a:ea typeface="Times New Roman"/>
                <a:cs typeface="Times New Roman" panose="02020603050405020304" pitchFamily="18" charset="0"/>
                <a:sym typeface="Times New Roman"/>
              </a:rPr>
              <a:t> variants in codons 620-1132, disrupt ORF15 glutamylation, a  critical function </a:t>
            </a:r>
            <a:r>
              <a:rPr lang="en" sz="1400" baseline="30000" dirty="0">
                <a:solidFill>
                  <a:schemeClr val="tx1"/>
                </a:solidFill>
                <a:latin typeface="Times New Roman" panose="02020603050405020304" pitchFamily="18" charset="0"/>
                <a:ea typeface="Times New Roman"/>
                <a:cs typeface="Times New Roman" panose="02020603050405020304" pitchFamily="18" charset="0"/>
                <a:sym typeface="Times New Roman"/>
              </a:rPr>
              <a:t>c, g</a:t>
            </a:r>
            <a:endParaRPr sz="1400" dirty="0">
              <a:solidFill>
                <a:schemeClr val="tx1"/>
              </a:solidFill>
              <a:latin typeface="Times New Roman" panose="02020603050405020304" pitchFamily="18" charset="0"/>
              <a:ea typeface="Times New Roman"/>
              <a:cs typeface="Times New Roman" panose="02020603050405020304" pitchFamily="18" charset="0"/>
              <a:sym typeface="Times New Roman"/>
            </a:endParaRPr>
          </a:p>
        </p:txBody>
      </p:sp>
      <p:sp>
        <p:nvSpPr>
          <p:cNvPr id="181" name="Google Shape;63;p13">
            <a:extLst>
              <a:ext uri="{FF2B5EF4-FFF2-40B4-BE49-F238E27FC236}">
                <a16:creationId xmlns:a16="http://schemas.microsoft.com/office/drawing/2014/main" id="{C0FC4C0B-014C-0446-F397-6D5112FF2D30}"/>
              </a:ext>
            </a:extLst>
          </p:cNvPr>
          <p:cNvSpPr/>
          <p:nvPr/>
        </p:nvSpPr>
        <p:spPr>
          <a:xfrm>
            <a:off x="6295870" y="2006989"/>
            <a:ext cx="4327608" cy="616377"/>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 sz="1400" dirty="0" err="1">
                <a:solidFill>
                  <a:schemeClr val="tx1"/>
                </a:solidFill>
                <a:latin typeface="Times New Roman" panose="02020603050405020304" pitchFamily="18" charset="0"/>
                <a:ea typeface="Times New Roman"/>
                <a:cs typeface="Times New Roman" panose="02020603050405020304" pitchFamily="18" charset="0"/>
                <a:sym typeface="Times New Roman"/>
              </a:rPr>
              <a:t>LoF</a:t>
            </a:r>
            <a:r>
              <a:rPr lang="en" sz="1400" dirty="0">
                <a:solidFill>
                  <a:schemeClr val="tx1"/>
                </a:solidFill>
                <a:latin typeface="Times New Roman" panose="02020603050405020304" pitchFamily="18" charset="0"/>
                <a:ea typeface="Times New Roman"/>
                <a:cs typeface="Times New Roman" panose="02020603050405020304" pitchFamily="18" charset="0"/>
                <a:sym typeface="Times New Roman"/>
              </a:rPr>
              <a:t> variants in this exon are frequent in the general population and/or exon is absent from biologically-relevant transcript(s)</a:t>
            </a:r>
            <a:endParaRPr sz="2000" dirty="0">
              <a:solidFill>
                <a:schemeClr val="tx1"/>
              </a:solidFill>
              <a:latin typeface="Times New Roman" panose="02020603050405020304" pitchFamily="18" charset="0"/>
              <a:cs typeface="Times New Roman" panose="02020603050405020304" pitchFamily="18" charset="0"/>
            </a:endParaRPr>
          </a:p>
        </p:txBody>
      </p:sp>
      <p:sp>
        <p:nvSpPr>
          <p:cNvPr id="182" name="Google Shape;64;p13">
            <a:extLst>
              <a:ext uri="{FF2B5EF4-FFF2-40B4-BE49-F238E27FC236}">
                <a16:creationId xmlns:a16="http://schemas.microsoft.com/office/drawing/2014/main" id="{C6293EB9-C6E3-5A81-FD74-96986A962E62}"/>
              </a:ext>
            </a:extLst>
          </p:cNvPr>
          <p:cNvSpPr/>
          <p:nvPr/>
        </p:nvSpPr>
        <p:spPr>
          <a:xfrm>
            <a:off x="10955396" y="1597161"/>
            <a:ext cx="1281000" cy="27690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 sz="1400" b="0" i="0" u="none" strike="noStrike" cap="none" dirty="0">
                <a:solidFill>
                  <a:schemeClr val="tx1"/>
                </a:solidFill>
                <a:latin typeface="Times New Roman" panose="02020603050405020304" pitchFamily="18" charset="0"/>
                <a:ea typeface="Times New Roman"/>
                <a:cs typeface="Times New Roman" panose="02020603050405020304" pitchFamily="18" charset="0"/>
                <a:sym typeface="Times New Roman"/>
              </a:rPr>
              <a:t>PVS1</a:t>
            </a:r>
            <a:endParaRPr sz="2000" dirty="0">
              <a:solidFill>
                <a:schemeClr val="tx1"/>
              </a:solidFill>
              <a:latin typeface="Times New Roman" panose="02020603050405020304" pitchFamily="18" charset="0"/>
              <a:cs typeface="Times New Roman" panose="02020603050405020304" pitchFamily="18" charset="0"/>
            </a:endParaRPr>
          </a:p>
        </p:txBody>
      </p:sp>
      <p:sp>
        <p:nvSpPr>
          <p:cNvPr id="183" name="Google Shape;65;p13">
            <a:extLst>
              <a:ext uri="{FF2B5EF4-FFF2-40B4-BE49-F238E27FC236}">
                <a16:creationId xmlns:a16="http://schemas.microsoft.com/office/drawing/2014/main" id="{AC19C93A-1093-9CD5-B3E1-59291419A7C6}"/>
              </a:ext>
            </a:extLst>
          </p:cNvPr>
          <p:cNvSpPr/>
          <p:nvPr/>
        </p:nvSpPr>
        <p:spPr>
          <a:xfrm>
            <a:off x="10955521" y="2156129"/>
            <a:ext cx="1281000" cy="27432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 sz="1400" b="0" i="0" u="none" strike="noStrike" cap="none" dirty="0">
                <a:solidFill>
                  <a:schemeClr val="tx1"/>
                </a:solidFill>
                <a:latin typeface="Times New Roman" panose="02020603050405020304" pitchFamily="18" charset="0"/>
                <a:ea typeface="Times New Roman"/>
                <a:cs typeface="Times New Roman" panose="02020603050405020304" pitchFamily="18" charset="0"/>
                <a:sym typeface="Times New Roman"/>
              </a:rPr>
              <a:t>N/A</a:t>
            </a:r>
            <a:endParaRPr sz="2000" dirty="0">
              <a:solidFill>
                <a:schemeClr val="tx1"/>
              </a:solidFill>
              <a:latin typeface="Times New Roman" panose="02020603050405020304" pitchFamily="18" charset="0"/>
              <a:cs typeface="Times New Roman" panose="02020603050405020304" pitchFamily="18" charset="0"/>
            </a:endParaRPr>
          </a:p>
        </p:txBody>
      </p:sp>
      <p:cxnSp>
        <p:nvCxnSpPr>
          <p:cNvPr id="193" name="Google Shape;75;p13">
            <a:extLst>
              <a:ext uri="{FF2B5EF4-FFF2-40B4-BE49-F238E27FC236}">
                <a16:creationId xmlns:a16="http://schemas.microsoft.com/office/drawing/2014/main" id="{F1DAAC76-1DB2-6DBB-4448-83C5E6FEE5E6}"/>
              </a:ext>
            </a:extLst>
          </p:cNvPr>
          <p:cNvCxnSpPr>
            <a:cxnSpLocks/>
            <a:stCxn id="173" idx="3"/>
            <a:endCxn id="175" idx="1"/>
          </p:cNvCxnSpPr>
          <p:nvPr/>
        </p:nvCxnSpPr>
        <p:spPr>
          <a:xfrm flipV="1">
            <a:off x="2645746" y="961954"/>
            <a:ext cx="413502" cy="279183"/>
          </a:xfrm>
          <a:prstGeom prst="straightConnector1">
            <a:avLst/>
          </a:prstGeom>
          <a:noFill/>
          <a:ln w="9525" cap="flat" cmpd="sng">
            <a:solidFill>
              <a:srgbClr val="44546A"/>
            </a:solidFill>
            <a:prstDash val="solid"/>
            <a:round/>
            <a:headEnd type="none" w="med" len="med"/>
            <a:tailEnd type="triangle" w="med" len="med"/>
          </a:ln>
        </p:spPr>
      </p:cxnSp>
      <p:cxnSp>
        <p:nvCxnSpPr>
          <p:cNvPr id="194" name="Google Shape;76;p13">
            <a:extLst>
              <a:ext uri="{FF2B5EF4-FFF2-40B4-BE49-F238E27FC236}">
                <a16:creationId xmlns:a16="http://schemas.microsoft.com/office/drawing/2014/main" id="{E08A5823-A5D2-E947-C050-F1EB77F4B6BC}"/>
              </a:ext>
            </a:extLst>
          </p:cNvPr>
          <p:cNvCxnSpPr>
            <a:cxnSpLocks/>
            <a:stCxn id="173" idx="3"/>
            <a:endCxn id="176" idx="1"/>
          </p:cNvCxnSpPr>
          <p:nvPr/>
        </p:nvCxnSpPr>
        <p:spPr>
          <a:xfrm>
            <a:off x="2645746" y="1241137"/>
            <a:ext cx="413501" cy="72857"/>
          </a:xfrm>
          <a:prstGeom prst="straightConnector1">
            <a:avLst/>
          </a:prstGeom>
          <a:noFill/>
          <a:ln w="9525" cap="flat" cmpd="sng">
            <a:solidFill>
              <a:srgbClr val="44546A"/>
            </a:solidFill>
            <a:prstDash val="solid"/>
            <a:round/>
            <a:headEnd type="none" w="med" len="med"/>
            <a:tailEnd type="triangle" w="med" len="med"/>
          </a:ln>
        </p:spPr>
      </p:cxnSp>
      <p:cxnSp>
        <p:nvCxnSpPr>
          <p:cNvPr id="195" name="Google Shape;77;p13">
            <a:extLst>
              <a:ext uri="{FF2B5EF4-FFF2-40B4-BE49-F238E27FC236}">
                <a16:creationId xmlns:a16="http://schemas.microsoft.com/office/drawing/2014/main" id="{FA07231B-D29C-648B-A3E4-9B106703FF0E}"/>
              </a:ext>
            </a:extLst>
          </p:cNvPr>
          <p:cNvCxnSpPr>
            <a:cxnSpLocks/>
            <a:stCxn id="174" idx="3"/>
            <a:endCxn id="179" idx="1"/>
          </p:cNvCxnSpPr>
          <p:nvPr/>
        </p:nvCxnSpPr>
        <p:spPr>
          <a:xfrm flipV="1">
            <a:off x="2659273" y="1736142"/>
            <a:ext cx="403799" cy="822063"/>
          </a:xfrm>
          <a:prstGeom prst="straightConnector1">
            <a:avLst/>
          </a:prstGeom>
          <a:noFill/>
          <a:ln w="9525" cap="flat" cmpd="sng">
            <a:solidFill>
              <a:srgbClr val="44546A"/>
            </a:solidFill>
            <a:prstDash val="solid"/>
            <a:round/>
            <a:headEnd type="none" w="med" len="med"/>
            <a:tailEnd type="triangle" w="med" len="med"/>
          </a:ln>
        </p:spPr>
      </p:cxnSp>
      <p:cxnSp>
        <p:nvCxnSpPr>
          <p:cNvPr id="197" name="Google Shape;79;p13">
            <a:extLst>
              <a:ext uri="{FF2B5EF4-FFF2-40B4-BE49-F238E27FC236}">
                <a16:creationId xmlns:a16="http://schemas.microsoft.com/office/drawing/2014/main" id="{B4FACC48-4403-3DA7-0EB6-4815D36BBE7E}"/>
              </a:ext>
            </a:extLst>
          </p:cNvPr>
          <p:cNvCxnSpPr>
            <a:cxnSpLocks/>
            <a:stCxn id="180" idx="3"/>
            <a:endCxn id="181" idx="1"/>
          </p:cNvCxnSpPr>
          <p:nvPr/>
        </p:nvCxnSpPr>
        <p:spPr>
          <a:xfrm flipV="1">
            <a:off x="5963825" y="2315178"/>
            <a:ext cx="332045" cy="809355"/>
          </a:xfrm>
          <a:prstGeom prst="straightConnector1">
            <a:avLst/>
          </a:prstGeom>
          <a:noFill/>
          <a:ln w="9525" cap="flat" cmpd="sng">
            <a:solidFill>
              <a:srgbClr val="44546A"/>
            </a:solidFill>
            <a:prstDash val="solid"/>
            <a:round/>
            <a:headEnd type="none" w="med" len="med"/>
            <a:tailEnd type="triangle" w="med" len="med"/>
          </a:ln>
        </p:spPr>
      </p:cxnSp>
      <p:cxnSp>
        <p:nvCxnSpPr>
          <p:cNvPr id="218" name="Google Shape;112;p13">
            <a:extLst>
              <a:ext uri="{FF2B5EF4-FFF2-40B4-BE49-F238E27FC236}">
                <a16:creationId xmlns:a16="http://schemas.microsoft.com/office/drawing/2014/main" id="{2FF5121C-1A8B-1084-4898-E485200F0975}"/>
              </a:ext>
            </a:extLst>
          </p:cNvPr>
          <p:cNvCxnSpPr>
            <a:cxnSpLocks/>
            <a:endCxn id="177" idx="1"/>
          </p:cNvCxnSpPr>
          <p:nvPr/>
        </p:nvCxnSpPr>
        <p:spPr>
          <a:xfrm flipV="1">
            <a:off x="10626943" y="966992"/>
            <a:ext cx="331143" cy="0"/>
          </a:xfrm>
          <a:prstGeom prst="straightConnector1">
            <a:avLst/>
          </a:prstGeom>
          <a:noFill/>
          <a:ln w="9525" cap="flat" cmpd="sng">
            <a:solidFill>
              <a:srgbClr val="595959"/>
            </a:solidFill>
            <a:prstDash val="solid"/>
            <a:round/>
            <a:headEnd type="none" w="med" len="med"/>
            <a:tailEnd type="triangle" w="med" len="med"/>
          </a:ln>
        </p:spPr>
      </p:cxnSp>
      <p:cxnSp>
        <p:nvCxnSpPr>
          <p:cNvPr id="219" name="Google Shape;113;p13">
            <a:extLst>
              <a:ext uri="{FF2B5EF4-FFF2-40B4-BE49-F238E27FC236}">
                <a16:creationId xmlns:a16="http://schemas.microsoft.com/office/drawing/2014/main" id="{2A826635-B262-BC67-4313-D9CE31B4E3C0}"/>
              </a:ext>
            </a:extLst>
          </p:cNvPr>
          <p:cNvCxnSpPr>
            <a:cxnSpLocks/>
            <a:stCxn id="176" idx="3"/>
            <a:endCxn id="178" idx="1"/>
          </p:cNvCxnSpPr>
          <p:nvPr/>
        </p:nvCxnSpPr>
        <p:spPr>
          <a:xfrm>
            <a:off x="10621832" y="1313994"/>
            <a:ext cx="333688" cy="403"/>
          </a:xfrm>
          <a:prstGeom prst="straightConnector1">
            <a:avLst/>
          </a:prstGeom>
          <a:noFill/>
          <a:ln w="9525" cap="flat" cmpd="sng">
            <a:solidFill>
              <a:srgbClr val="595959"/>
            </a:solidFill>
            <a:prstDash val="solid"/>
            <a:round/>
            <a:headEnd type="none" w="med" len="med"/>
            <a:tailEnd type="triangle" w="med" len="med"/>
          </a:ln>
        </p:spPr>
      </p:cxnSp>
      <p:cxnSp>
        <p:nvCxnSpPr>
          <p:cNvPr id="220" name="Google Shape;114;p13">
            <a:extLst>
              <a:ext uri="{FF2B5EF4-FFF2-40B4-BE49-F238E27FC236}">
                <a16:creationId xmlns:a16="http://schemas.microsoft.com/office/drawing/2014/main" id="{4CC51A28-1112-67B5-75A6-69848989713D}"/>
              </a:ext>
            </a:extLst>
          </p:cNvPr>
          <p:cNvCxnSpPr>
            <a:cxnSpLocks/>
            <a:stCxn id="179" idx="3"/>
            <a:endCxn id="182" idx="1"/>
          </p:cNvCxnSpPr>
          <p:nvPr/>
        </p:nvCxnSpPr>
        <p:spPr>
          <a:xfrm flipV="1">
            <a:off x="10623956" y="1735611"/>
            <a:ext cx="331440" cy="531"/>
          </a:xfrm>
          <a:prstGeom prst="straightConnector1">
            <a:avLst/>
          </a:prstGeom>
          <a:noFill/>
          <a:ln w="9525" cap="flat" cmpd="sng">
            <a:solidFill>
              <a:srgbClr val="595959"/>
            </a:solidFill>
            <a:prstDash val="solid"/>
            <a:round/>
            <a:headEnd type="none" w="med" len="med"/>
            <a:tailEnd type="triangle" w="med" len="med"/>
          </a:ln>
        </p:spPr>
      </p:cxnSp>
      <p:cxnSp>
        <p:nvCxnSpPr>
          <p:cNvPr id="221" name="Google Shape;115;p13">
            <a:extLst>
              <a:ext uri="{FF2B5EF4-FFF2-40B4-BE49-F238E27FC236}">
                <a16:creationId xmlns:a16="http://schemas.microsoft.com/office/drawing/2014/main" id="{2569A7A2-A5D1-82C7-8291-21AECD3B48B2}"/>
              </a:ext>
            </a:extLst>
          </p:cNvPr>
          <p:cNvCxnSpPr>
            <a:cxnSpLocks/>
            <a:endCxn id="183" idx="1"/>
          </p:cNvCxnSpPr>
          <p:nvPr/>
        </p:nvCxnSpPr>
        <p:spPr>
          <a:xfrm flipV="1">
            <a:off x="10623477" y="2293289"/>
            <a:ext cx="332044" cy="0"/>
          </a:xfrm>
          <a:prstGeom prst="straightConnector1">
            <a:avLst/>
          </a:prstGeom>
          <a:noFill/>
          <a:ln w="9525" cap="flat" cmpd="sng">
            <a:solidFill>
              <a:srgbClr val="595959"/>
            </a:solidFill>
            <a:prstDash val="solid"/>
            <a:round/>
            <a:headEnd type="none" w="med" len="med"/>
            <a:tailEnd type="triangle" w="med" len="med"/>
          </a:ln>
        </p:spPr>
      </p:cxnSp>
      <p:cxnSp>
        <p:nvCxnSpPr>
          <p:cNvPr id="222" name="Google Shape;116;p13">
            <a:extLst>
              <a:ext uri="{FF2B5EF4-FFF2-40B4-BE49-F238E27FC236}">
                <a16:creationId xmlns:a16="http://schemas.microsoft.com/office/drawing/2014/main" id="{13DE4C48-D052-067E-1158-37396F7BE2C4}"/>
              </a:ext>
            </a:extLst>
          </p:cNvPr>
          <p:cNvCxnSpPr>
            <a:cxnSpLocks/>
            <a:endCxn id="184" idx="1"/>
          </p:cNvCxnSpPr>
          <p:nvPr/>
        </p:nvCxnSpPr>
        <p:spPr>
          <a:xfrm flipV="1">
            <a:off x="10624378" y="3056235"/>
            <a:ext cx="331143" cy="0"/>
          </a:xfrm>
          <a:prstGeom prst="straightConnector1">
            <a:avLst/>
          </a:prstGeom>
          <a:noFill/>
          <a:ln w="9525" cap="flat" cmpd="sng">
            <a:solidFill>
              <a:srgbClr val="595959"/>
            </a:solidFill>
            <a:prstDash val="solid"/>
            <a:round/>
            <a:headEnd type="none" w="med" len="med"/>
            <a:tailEnd type="triangle" w="med" len="med"/>
          </a:ln>
        </p:spPr>
      </p:cxnSp>
      <p:cxnSp>
        <p:nvCxnSpPr>
          <p:cNvPr id="223" name="Google Shape;117;p13">
            <a:extLst>
              <a:ext uri="{FF2B5EF4-FFF2-40B4-BE49-F238E27FC236}">
                <a16:creationId xmlns:a16="http://schemas.microsoft.com/office/drawing/2014/main" id="{9F1F51AB-88F7-91D7-F43D-56A16DF50B91}"/>
              </a:ext>
            </a:extLst>
          </p:cNvPr>
          <p:cNvCxnSpPr>
            <a:cxnSpLocks/>
            <a:endCxn id="185" idx="1"/>
          </p:cNvCxnSpPr>
          <p:nvPr/>
        </p:nvCxnSpPr>
        <p:spPr>
          <a:xfrm flipV="1">
            <a:off x="10467172" y="3676253"/>
            <a:ext cx="338513" cy="0"/>
          </a:xfrm>
          <a:prstGeom prst="straightConnector1">
            <a:avLst/>
          </a:prstGeom>
          <a:noFill/>
          <a:ln w="9525" cap="flat" cmpd="sng">
            <a:solidFill>
              <a:srgbClr val="595959"/>
            </a:solidFill>
            <a:prstDash val="solid"/>
            <a:round/>
            <a:headEnd type="none" w="med" len="med"/>
            <a:tailEnd type="triangle" w="med" len="med"/>
          </a:ln>
        </p:spPr>
      </p:cxnSp>
      <p:sp>
        <p:nvSpPr>
          <p:cNvPr id="228" name="Google Shape;125;p13">
            <a:extLst>
              <a:ext uri="{FF2B5EF4-FFF2-40B4-BE49-F238E27FC236}">
                <a16:creationId xmlns:a16="http://schemas.microsoft.com/office/drawing/2014/main" id="{5C081C2D-111D-F260-E805-CF4721ED94F7}"/>
              </a:ext>
            </a:extLst>
          </p:cNvPr>
          <p:cNvSpPr txBox="1"/>
          <p:nvPr/>
        </p:nvSpPr>
        <p:spPr>
          <a:xfrm>
            <a:off x="90621" y="4133313"/>
            <a:ext cx="1105800" cy="3615003"/>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lvl="0" indent="0" algn="ctr" rtl="0">
              <a:spcBef>
                <a:spcPts val="0"/>
              </a:spcBef>
              <a:spcAft>
                <a:spcPts val="0"/>
              </a:spcAft>
              <a:buNone/>
            </a:pPr>
            <a:r>
              <a:rPr lang="en" sz="1400" b="1">
                <a:solidFill>
                  <a:schemeClr val="tx1"/>
                </a:solidFill>
                <a:latin typeface="Times New Roman" panose="02020603050405020304" pitchFamily="18" charset="0"/>
                <a:ea typeface="Times New Roman"/>
                <a:cs typeface="Times New Roman" panose="02020603050405020304" pitchFamily="18" charset="0"/>
                <a:sym typeface="Times New Roman"/>
              </a:rPr>
              <a:t>Deletion</a:t>
            </a:r>
            <a:endParaRPr sz="1400" b="1">
              <a:solidFill>
                <a:schemeClr val="tx1"/>
              </a:solidFill>
              <a:latin typeface="Times New Roman" panose="02020603050405020304" pitchFamily="18" charset="0"/>
              <a:ea typeface="Times New Roman"/>
              <a:cs typeface="Times New Roman" panose="02020603050405020304" pitchFamily="18" charset="0"/>
              <a:sym typeface="Times New Roman"/>
            </a:endParaRPr>
          </a:p>
          <a:p>
            <a:pPr marL="0" marR="0" lvl="0" indent="0" algn="ctr" rtl="0">
              <a:spcBef>
                <a:spcPts val="0"/>
              </a:spcBef>
              <a:spcAft>
                <a:spcPts val="0"/>
              </a:spcAft>
              <a:buNone/>
            </a:pPr>
            <a:r>
              <a:rPr lang="en" sz="1050">
                <a:solidFill>
                  <a:schemeClr val="tx1"/>
                </a:solidFill>
                <a:latin typeface="Times New Roman" panose="02020603050405020304" pitchFamily="18" charset="0"/>
                <a:ea typeface="Times New Roman"/>
                <a:cs typeface="Times New Roman" panose="02020603050405020304" pitchFamily="18" charset="0"/>
                <a:sym typeface="Times New Roman"/>
              </a:rPr>
              <a:t>(Single exon to full gene)</a:t>
            </a:r>
            <a:endParaRPr sz="1050">
              <a:solidFill>
                <a:schemeClr val="tx1"/>
              </a:solidFill>
              <a:latin typeface="Times New Roman" panose="02020603050405020304" pitchFamily="18" charset="0"/>
              <a:ea typeface="Times New Roman"/>
              <a:cs typeface="Times New Roman" panose="02020603050405020304" pitchFamily="18" charset="0"/>
              <a:sym typeface="Times New Roman"/>
            </a:endParaRPr>
          </a:p>
          <a:p>
            <a:pPr marL="0" marR="0" lvl="0" indent="0" algn="ctr" rtl="0">
              <a:spcBef>
                <a:spcPts val="0"/>
              </a:spcBef>
              <a:spcAft>
                <a:spcPts val="0"/>
              </a:spcAft>
              <a:buNone/>
            </a:pPr>
            <a:endParaRPr sz="2000">
              <a:solidFill>
                <a:schemeClr val="tx1"/>
              </a:solidFill>
              <a:latin typeface="Times New Roman" panose="02020603050405020304" pitchFamily="18" charset="0"/>
              <a:cs typeface="Times New Roman" panose="02020603050405020304" pitchFamily="18" charset="0"/>
            </a:endParaRPr>
          </a:p>
        </p:txBody>
      </p:sp>
      <p:sp>
        <p:nvSpPr>
          <p:cNvPr id="229" name="Google Shape;126;p13">
            <a:extLst>
              <a:ext uri="{FF2B5EF4-FFF2-40B4-BE49-F238E27FC236}">
                <a16:creationId xmlns:a16="http://schemas.microsoft.com/office/drawing/2014/main" id="{AC8806F0-9581-CA8F-2F9D-E92181E65EBF}"/>
              </a:ext>
            </a:extLst>
          </p:cNvPr>
          <p:cNvSpPr/>
          <p:nvPr/>
        </p:nvSpPr>
        <p:spPr>
          <a:xfrm>
            <a:off x="1659358" y="4455158"/>
            <a:ext cx="1128374" cy="1176375"/>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 sz="1400" dirty="0">
                <a:solidFill>
                  <a:schemeClr val="tx1"/>
                </a:solidFill>
                <a:latin typeface="Times New Roman" panose="02020603050405020304" pitchFamily="18" charset="0"/>
                <a:ea typeface="Times New Roman"/>
                <a:cs typeface="Times New Roman" panose="02020603050405020304" pitchFamily="18" charset="0"/>
                <a:sym typeface="Times New Roman"/>
              </a:rPr>
              <a:t>D</a:t>
            </a:r>
            <a:r>
              <a:rPr lang="en" sz="1400" b="0" i="0" u="none" strike="noStrike" cap="none" dirty="0">
                <a:solidFill>
                  <a:schemeClr val="tx1"/>
                </a:solidFill>
                <a:latin typeface="Times New Roman" panose="02020603050405020304" pitchFamily="18" charset="0"/>
                <a:ea typeface="Times New Roman"/>
                <a:cs typeface="Times New Roman" panose="02020603050405020304" pitchFamily="18" charset="0"/>
                <a:sym typeface="Times New Roman"/>
              </a:rPr>
              <a:t>isrupts reading frame and NMD is predicted</a:t>
            </a:r>
            <a:endParaRPr sz="2000" dirty="0">
              <a:solidFill>
                <a:schemeClr val="tx1"/>
              </a:solidFill>
              <a:latin typeface="Times New Roman" panose="02020603050405020304" pitchFamily="18" charset="0"/>
              <a:cs typeface="Times New Roman" panose="02020603050405020304" pitchFamily="18" charset="0"/>
            </a:endParaRPr>
          </a:p>
        </p:txBody>
      </p:sp>
      <p:sp>
        <p:nvSpPr>
          <p:cNvPr id="230" name="Google Shape;127;p13">
            <a:extLst>
              <a:ext uri="{FF2B5EF4-FFF2-40B4-BE49-F238E27FC236}">
                <a16:creationId xmlns:a16="http://schemas.microsoft.com/office/drawing/2014/main" id="{50F3160D-B3B5-4676-971F-67C37B8C1902}"/>
              </a:ext>
            </a:extLst>
          </p:cNvPr>
          <p:cNvSpPr/>
          <p:nvPr/>
        </p:nvSpPr>
        <p:spPr>
          <a:xfrm>
            <a:off x="1661179" y="7057114"/>
            <a:ext cx="1126004" cy="854958"/>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 sz="1400" dirty="0">
                <a:solidFill>
                  <a:schemeClr val="tx1"/>
                </a:solidFill>
                <a:latin typeface="Times New Roman" panose="02020603050405020304" pitchFamily="18" charset="0"/>
                <a:ea typeface="Times New Roman"/>
                <a:cs typeface="Times New Roman" panose="02020603050405020304" pitchFamily="18" charset="0"/>
                <a:sym typeface="Times New Roman"/>
              </a:rPr>
              <a:t>D</a:t>
            </a:r>
            <a:r>
              <a:rPr lang="en" sz="1400" b="0" i="0" u="none" strike="noStrike" cap="none" dirty="0">
                <a:solidFill>
                  <a:schemeClr val="tx1"/>
                </a:solidFill>
                <a:latin typeface="Times New Roman" panose="02020603050405020304" pitchFamily="18" charset="0"/>
                <a:ea typeface="Times New Roman"/>
                <a:cs typeface="Times New Roman" panose="02020603050405020304" pitchFamily="18" charset="0"/>
                <a:sym typeface="Times New Roman"/>
              </a:rPr>
              <a:t>eletion </a:t>
            </a:r>
            <a:endParaRPr sz="2000" dirty="0">
              <a:solidFill>
                <a:schemeClr val="tx1"/>
              </a:solidFill>
              <a:latin typeface="Times New Roman" panose="02020603050405020304" pitchFamily="18" charset="0"/>
              <a:cs typeface="Times New Roman" panose="02020603050405020304" pitchFamily="18" charset="0"/>
            </a:endParaRPr>
          </a:p>
          <a:p>
            <a:pPr marL="0" marR="0" lvl="0" indent="0" algn="ctr" rtl="0">
              <a:spcBef>
                <a:spcPts val="0"/>
              </a:spcBef>
              <a:spcAft>
                <a:spcPts val="0"/>
              </a:spcAft>
              <a:buNone/>
            </a:pPr>
            <a:r>
              <a:rPr lang="en" sz="1400" b="0" i="0" u="none" strike="noStrike" cap="none" dirty="0">
                <a:solidFill>
                  <a:schemeClr val="tx1"/>
                </a:solidFill>
                <a:latin typeface="Times New Roman" panose="02020603050405020304" pitchFamily="18" charset="0"/>
                <a:ea typeface="Times New Roman"/>
                <a:cs typeface="Times New Roman" panose="02020603050405020304" pitchFamily="18" charset="0"/>
                <a:sym typeface="Times New Roman"/>
              </a:rPr>
              <a:t>Preserves reading frame</a:t>
            </a:r>
            <a:endParaRPr sz="2000" dirty="0">
              <a:solidFill>
                <a:schemeClr val="tx1"/>
              </a:solidFill>
              <a:latin typeface="Times New Roman" panose="02020603050405020304" pitchFamily="18" charset="0"/>
              <a:cs typeface="Times New Roman" panose="02020603050405020304" pitchFamily="18" charset="0"/>
            </a:endParaRPr>
          </a:p>
        </p:txBody>
      </p:sp>
      <p:sp>
        <p:nvSpPr>
          <p:cNvPr id="231" name="Google Shape;128;p13">
            <a:extLst>
              <a:ext uri="{FF2B5EF4-FFF2-40B4-BE49-F238E27FC236}">
                <a16:creationId xmlns:a16="http://schemas.microsoft.com/office/drawing/2014/main" id="{330ADD13-9366-CFE0-3BA2-8784C4C4084B}"/>
              </a:ext>
            </a:extLst>
          </p:cNvPr>
          <p:cNvSpPr/>
          <p:nvPr/>
        </p:nvSpPr>
        <p:spPr>
          <a:xfrm>
            <a:off x="1659357" y="4127923"/>
            <a:ext cx="8960769" cy="27690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 sz="1400" b="0" i="0" u="none" strike="noStrike" cap="none">
                <a:solidFill>
                  <a:schemeClr val="tx1"/>
                </a:solidFill>
                <a:latin typeface="Times New Roman" panose="02020603050405020304" pitchFamily="18" charset="0"/>
                <a:ea typeface="Times New Roman"/>
                <a:cs typeface="Times New Roman" panose="02020603050405020304" pitchFamily="18" charset="0"/>
                <a:sym typeface="Times New Roman"/>
              </a:rPr>
              <a:t>Full gene deletion</a:t>
            </a:r>
            <a:endParaRPr sz="2000">
              <a:solidFill>
                <a:schemeClr val="tx1"/>
              </a:solidFill>
              <a:latin typeface="Times New Roman" panose="02020603050405020304" pitchFamily="18" charset="0"/>
              <a:cs typeface="Times New Roman" panose="02020603050405020304" pitchFamily="18" charset="0"/>
            </a:endParaRPr>
          </a:p>
        </p:txBody>
      </p:sp>
      <p:sp>
        <p:nvSpPr>
          <p:cNvPr id="232" name="Google Shape;134;p13">
            <a:extLst>
              <a:ext uri="{FF2B5EF4-FFF2-40B4-BE49-F238E27FC236}">
                <a16:creationId xmlns:a16="http://schemas.microsoft.com/office/drawing/2014/main" id="{9CDF75E9-8F39-7D21-1831-E679D220C12B}"/>
              </a:ext>
            </a:extLst>
          </p:cNvPr>
          <p:cNvSpPr/>
          <p:nvPr/>
        </p:nvSpPr>
        <p:spPr>
          <a:xfrm>
            <a:off x="10955521" y="4133313"/>
            <a:ext cx="1281000" cy="27690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 sz="1400" b="0" i="0" u="none" strike="noStrike" cap="none">
                <a:solidFill>
                  <a:schemeClr val="tx1"/>
                </a:solidFill>
                <a:latin typeface="Times New Roman" panose="02020603050405020304" pitchFamily="18" charset="0"/>
                <a:ea typeface="Times New Roman"/>
                <a:cs typeface="Times New Roman" panose="02020603050405020304" pitchFamily="18" charset="0"/>
                <a:sym typeface="Times New Roman"/>
              </a:rPr>
              <a:t>PVS1 </a:t>
            </a:r>
            <a:r>
              <a:rPr lang="en" sz="1400" b="0" i="0" u="none" strike="noStrike" cap="none" baseline="30000">
                <a:solidFill>
                  <a:schemeClr val="tx1"/>
                </a:solidFill>
                <a:latin typeface="Times New Roman" panose="02020603050405020304" pitchFamily="18" charset="0"/>
                <a:ea typeface="Times New Roman"/>
                <a:cs typeface="Times New Roman" panose="02020603050405020304" pitchFamily="18" charset="0"/>
                <a:sym typeface="Times New Roman"/>
              </a:rPr>
              <a:t>d</a:t>
            </a:r>
            <a:endParaRPr sz="2000" baseline="30000">
              <a:solidFill>
                <a:schemeClr val="tx1"/>
              </a:solidFill>
              <a:latin typeface="Times New Roman" panose="02020603050405020304" pitchFamily="18" charset="0"/>
              <a:cs typeface="Times New Roman" panose="02020603050405020304" pitchFamily="18" charset="0"/>
            </a:endParaRPr>
          </a:p>
        </p:txBody>
      </p:sp>
      <p:sp>
        <p:nvSpPr>
          <p:cNvPr id="254" name="Google Shape;162;p13">
            <a:extLst>
              <a:ext uri="{FF2B5EF4-FFF2-40B4-BE49-F238E27FC236}">
                <a16:creationId xmlns:a16="http://schemas.microsoft.com/office/drawing/2014/main" id="{7FCC0466-7224-D0E6-0389-7DC75CA5D4F0}"/>
              </a:ext>
            </a:extLst>
          </p:cNvPr>
          <p:cNvSpPr/>
          <p:nvPr/>
        </p:nvSpPr>
        <p:spPr>
          <a:xfrm>
            <a:off x="1659346" y="5698683"/>
            <a:ext cx="1128374" cy="1294579"/>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 sz="1400" dirty="0">
                <a:solidFill>
                  <a:schemeClr val="tx1"/>
                </a:solidFill>
                <a:latin typeface="Times New Roman" panose="02020603050405020304" pitchFamily="18" charset="0"/>
                <a:ea typeface="Times New Roman"/>
                <a:cs typeface="Times New Roman" panose="02020603050405020304" pitchFamily="18" charset="0"/>
                <a:sym typeface="Times New Roman"/>
              </a:rPr>
              <a:t>D</a:t>
            </a:r>
            <a:r>
              <a:rPr lang="en" sz="1400" b="0" i="0" u="none" strike="noStrike" cap="none" dirty="0">
                <a:solidFill>
                  <a:schemeClr val="tx1"/>
                </a:solidFill>
                <a:latin typeface="Times New Roman" panose="02020603050405020304" pitchFamily="18" charset="0"/>
                <a:ea typeface="Times New Roman"/>
                <a:cs typeface="Times New Roman" panose="02020603050405020304" pitchFamily="18" charset="0"/>
                <a:sym typeface="Times New Roman"/>
              </a:rPr>
              <a:t>isrupts reading frame and NMD is </a:t>
            </a:r>
            <a:r>
              <a:rPr lang="en" sz="1400" b="1" dirty="0">
                <a:solidFill>
                  <a:schemeClr val="tx1"/>
                </a:solidFill>
                <a:latin typeface="Times New Roman" panose="02020603050405020304" pitchFamily="18" charset="0"/>
                <a:ea typeface="Times New Roman"/>
                <a:cs typeface="Times New Roman" panose="02020603050405020304" pitchFamily="18" charset="0"/>
                <a:sym typeface="Times New Roman"/>
              </a:rPr>
              <a:t>NOT</a:t>
            </a:r>
            <a:r>
              <a:rPr lang="en" sz="1400" b="0" i="0" u="none" strike="noStrike" cap="none" dirty="0">
                <a:solidFill>
                  <a:schemeClr val="tx1"/>
                </a:solidFill>
                <a:latin typeface="Times New Roman" panose="02020603050405020304" pitchFamily="18" charset="0"/>
                <a:ea typeface="Times New Roman"/>
                <a:cs typeface="Times New Roman" panose="02020603050405020304" pitchFamily="18" charset="0"/>
                <a:sym typeface="Times New Roman"/>
              </a:rPr>
              <a:t> predicted</a:t>
            </a:r>
            <a:endParaRPr sz="2000" dirty="0">
              <a:solidFill>
                <a:schemeClr val="tx1"/>
              </a:solidFill>
              <a:latin typeface="Times New Roman" panose="02020603050405020304" pitchFamily="18" charset="0"/>
              <a:cs typeface="Times New Roman" panose="02020603050405020304" pitchFamily="18" charset="0"/>
            </a:endParaRPr>
          </a:p>
        </p:txBody>
      </p:sp>
      <p:cxnSp>
        <p:nvCxnSpPr>
          <p:cNvPr id="255" name="Google Shape;163;p13">
            <a:extLst>
              <a:ext uri="{FF2B5EF4-FFF2-40B4-BE49-F238E27FC236}">
                <a16:creationId xmlns:a16="http://schemas.microsoft.com/office/drawing/2014/main" id="{F32BBA2E-9F55-3184-63CA-0F7FE60AC84E}"/>
              </a:ext>
            </a:extLst>
          </p:cNvPr>
          <p:cNvCxnSpPr>
            <a:cxnSpLocks/>
            <a:stCxn id="228" idx="3"/>
            <a:endCxn id="231" idx="1"/>
          </p:cNvCxnSpPr>
          <p:nvPr/>
        </p:nvCxnSpPr>
        <p:spPr>
          <a:xfrm flipV="1">
            <a:off x="1196421" y="4266373"/>
            <a:ext cx="462936" cy="1674442"/>
          </a:xfrm>
          <a:prstGeom prst="straightConnector1">
            <a:avLst/>
          </a:prstGeom>
          <a:noFill/>
          <a:ln w="9525" cap="flat" cmpd="sng">
            <a:solidFill>
              <a:srgbClr val="44546A"/>
            </a:solidFill>
            <a:prstDash val="solid"/>
            <a:round/>
            <a:headEnd type="none" w="med" len="med"/>
            <a:tailEnd type="triangle" w="med" len="med"/>
          </a:ln>
        </p:spPr>
      </p:cxnSp>
      <p:cxnSp>
        <p:nvCxnSpPr>
          <p:cNvPr id="256" name="Google Shape;164;p13">
            <a:extLst>
              <a:ext uri="{FF2B5EF4-FFF2-40B4-BE49-F238E27FC236}">
                <a16:creationId xmlns:a16="http://schemas.microsoft.com/office/drawing/2014/main" id="{B681756A-21C7-FBD9-A802-7E57EFE1D123}"/>
              </a:ext>
            </a:extLst>
          </p:cNvPr>
          <p:cNvCxnSpPr>
            <a:cxnSpLocks/>
            <a:stCxn id="228" idx="3"/>
            <a:endCxn id="229" idx="1"/>
          </p:cNvCxnSpPr>
          <p:nvPr/>
        </p:nvCxnSpPr>
        <p:spPr>
          <a:xfrm flipV="1">
            <a:off x="1196421" y="5043346"/>
            <a:ext cx="462937" cy="897469"/>
          </a:xfrm>
          <a:prstGeom prst="straightConnector1">
            <a:avLst/>
          </a:prstGeom>
          <a:noFill/>
          <a:ln w="9525" cap="flat" cmpd="sng">
            <a:solidFill>
              <a:srgbClr val="44546A"/>
            </a:solidFill>
            <a:prstDash val="solid"/>
            <a:round/>
            <a:headEnd type="none" w="med" len="med"/>
            <a:tailEnd type="triangle" w="med" len="med"/>
          </a:ln>
        </p:spPr>
      </p:cxnSp>
      <p:cxnSp>
        <p:nvCxnSpPr>
          <p:cNvPr id="257" name="Google Shape;165;p13">
            <a:extLst>
              <a:ext uri="{FF2B5EF4-FFF2-40B4-BE49-F238E27FC236}">
                <a16:creationId xmlns:a16="http://schemas.microsoft.com/office/drawing/2014/main" id="{2565128D-C6BE-35E4-EF72-278FAFFAA87D}"/>
              </a:ext>
            </a:extLst>
          </p:cNvPr>
          <p:cNvCxnSpPr>
            <a:cxnSpLocks/>
            <a:stCxn id="228" idx="3"/>
            <a:endCxn id="254" idx="1"/>
          </p:cNvCxnSpPr>
          <p:nvPr/>
        </p:nvCxnSpPr>
        <p:spPr>
          <a:xfrm>
            <a:off x="1196421" y="5940815"/>
            <a:ext cx="462925" cy="405158"/>
          </a:xfrm>
          <a:prstGeom prst="straightConnector1">
            <a:avLst/>
          </a:prstGeom>
          <a:noFill/>
          <a:ln w="9525" cap="flat" cmpd="sng">
            <a:solidFill>
              <a:srgbClr val="44546A"/>
            </a:solidFill>
            <a:prstDash val="solid"/>
            <a:round/>
            <a:headEnd type="none" w="med" len="med"/>
            <a:tailEnd type="triangle" w="med" len="med"/>
          </a:ln>
        </p:spPr>
      </p:cxnSp>
      <p:cxnSp>
        <p:nvCxnSpPr>
          <p:cNvPr id="258" name="Google Shape;166;p13">
            <a:extLst>
              <a:ext uri="{FF2B5EF4-FFF2-40B4-BE49-F238E27FC236}">
                <a16:creationId xmlns:a16="http://schemas.microsoft.com/office/drawing/2014/main" id="{103C236B-F376-7972-1AD4-77765F974552}"/>
              </a:ext>
            </a:extLst>
          </p:cNvPr>
          <p:cNvCxnSpPr>
            <a:cxnSpLocks/>
            <a:stCxn id="228" idx="3"/>
            <a:endCxn id="230" idx="1"/>
          </p:cNvCxnSpPr>
          <p:nvPr/>
        </p:nvCxnSpPr>
        <p:spPr>
          <a:xfrm>
            <a:off x="1196421" y="5940815"/>
            <a:ext cx="464758" cy="1543778"/>
          </a:xfrm>
          <a:prstGeom prst="straightConnector1">
            <a:avLst/>
          </a:prstGeom>
          <a:noFill/>
          <a:ln w="9525" cap="flat" cmpd="sng">
            <a:solidFill>
              <a:srgbClr val="44546A"/>
            </a:solidFill>
            <a:prstDash val="solid"/>
            <a:round/>
            <a:headEnd type="none" w="med" len="med"/>
            <a:tailEnd type="triangle" w="med" len="med"/>
          </a:ln>
        </p:spPr>
      </p:cxnSp>
      <p:cxnSp>
        <p:nvCxnSpPr>
          <p:cNvPr id="259" name="Google Shape;167;p13">
            <a:extLst>
              <a:ext uri="{FF2B5EF4-FFF2-40B4-BE49-F238E27FC236}">
                <a16:creationId xmlns:a16="http://schemas.microsoft.com/office/drawing/2014/main" id="{54509435-3B96-F2A4-07F1-59D039D50054}"/>
              </a:ext>
            </a:extLst>
          </p:cNvPr>
          <p:cNvCxnSpPr>
            <a:cxnSpLocks/>
            <a:stCxn id="231" idx="3"/>
            <a:endCxn id="232" idx="1"/>
          </p:cNvCxnSpPr>
          <p:nvPr/>
        </p:nvCxnSpPr>
        <p:spPr>
          <a:xfrm>
            <a:off x="10620126" y="4266373"/>
            <a:ext cx="335395" cy="5390"/>
          </a:xfrm>
          <a:prstGeom prst="straightConnector1">
            <a:avLst/>
          </a:prstGeom>
          <a:noFill/>
          <a:ln w="9525" cap="flat" cmpd="sng">
            <a:solidFill>
              <a:srgbClr val="44546A"/>
            </a:solidFill>
            <a:prstDash val="solid"/>
            <a:round/>
            <a:headEnd type="none" w="med" len="med"/>
            <a:tailEnd type="triangle" w="med" len="med"/>
          </a:ln>
        </p:spPr>
      </p:cxnSp>
      <p:cxnSp>
        <p:nvCxnSpPr>
          <p:cNvPr id="260" name="Google Shape;170;p13">
            <a:extLst>
              <a:ext uri="{FF2B5EF4-FFF2-40B4-BE49-F238E27FC236}">
                <a16:creationId xmlns:a16="http://schemas.microsoft.com/office/drawing/2014/main" id="{01B1B5CC-19A9-A8BB-8810-B20DC6A43621}"/>
              </a:ext>
            </a:extLst>
          </p:cNvPr>
          <p:cNvCxnSpPr>
            <a:cxnSpLocks/>
            <a:stCxn id="254" idx="3"/>
            <a:endCxn id="296" idx="1"/>
          </p:cNvCxnSpPr>
          <p:nvPr/>
        </p:nvCxnSpPr>
        <p:spPr>
          <a:xfrm flipV="1">
            <a:off x="2787720" y="5686430"/>
            <a:ext cx="274009" cy="659543"/>
          </a:xfrm>
          <a:prstGeom prst="straightConnector1">
            <a:avLst/>
          </a:prstGeom>
          <a:noFill/>
          <a:ln w="9525" cap="flat" cmpd="sng">
            <a:solidFill>
              <a:srgbClr val="44546A"/>
            </a:solidFill>
            <a:prstDash val="solid"/>
            <a:round/>
            <a:headEnd type="none" w="med" len="med"/>
            <a:tailEnd type="triangle" w="med" len="med"/>
          </a:ln>
        </p:spPr>
      </p:cxnSp>
      <p:cxnSp>
        <p:nvCxnSpPr>
          <p:cNvPr id="261" name="Google Shape;171;p13">
            <a:extLst>
              <a:ext uri="{FF2B5EF4-FFF2-40B4-BE49-F238E27FC236}">
                <a16:creationId xmlns:a16="http://schemas.microsoft.com/office/drawing/2014/main" id="{6F44C008-1956-B987-0EA1-B4E8D971ACB1}"/>
              </a:ext>
            </a:extLst>
          </p:cNvPr>
          <p:cNvCxnSpPr>
            <a:cxnSpLocks/>
            <a:stCxn id="254" idx="3"/>
          </p:cNvCxnSpPr>
          <p:nvPr/>
        </p:nvCxnSpPr>
        <p:spPr>
          <a:xfrm>
            <a:off x="2787720" y="6345973"/>
            <a:ext cx="271525" cy="325278"/>
          </a:xfrm>
          <a:prstGeom prst="straightConnector1">
            <a:avLst/>
          </a:prstGeom>
          <a:noFill/>
          <a:ln w="9525" cap="flat" cmpd="sng">
            <a:solidFill>
              <a:srgbClr val="44546A"/>
            </a:solidFill>
            <a:prstDash val="solid"/>
            <a:round/>
            <a:headEnd type="none" w="med" len="med"/>
            <a:tailEnd type="triangle" w="med" len="med"/>
          </a:ln>
        </p:spPr>
      </p:cxnSp>
      <p:cxnSp>
        <p:nvCxnSpPr>
          <p:cNvPr id="262" name="Google Shape;172;p13">
            <a:extLst>
              <a:ext uri="{FF2B5EF4-FFF2-40B4-BE49-F238E27FC236}">
                <a16:creationId xmlns:a16="http://schemas.microsoft.com/office/drawing/2014/main" id="{86C0A15D-6461-39AD-38B0-416CB1C3CCC0}"/>
              </a:ext>
            </a:extLst>
          </p:cNvPr>
          <p:cNvCxnSpPr>
            <a:cxnSpLocks/>
            <a:stCxn id="230" idx="3"/>
          </p:cNvCxnSpPr>
          <p:nvPr/>
        </p:nvCxnSpPr>
        <p:spPr>
          <a:xfrm flipV="1">
            <a:off x="2787183" y="6671251"/>
            <a:ext cx="272062" cy="813342"/>
          </a:xfrm>
          <a:prstGeom prst="straightConnector1">
            <a:avLst/>
          </a:prstGeom>
          <a:noFill/>
          <a:ln w="9525" cap="flat" cmpd="sng">
            <a:solidFill>
              <a:srgbClr val="44546A"/>
            </a:solidFill>
            <a:prstDash val="solid"/>
            <a:round/>
            <a:headEnd type="none" w="med" len="med"/>
            <a:tailEnd type="triangle" w="med" len="med"/>
          </a:ln>
        </p:spPr>
      </p:cxnSp>
      <p:cxnSp>
        <p:nvCxnSpPr>
          <p:cNvPr id="263" name="Google Shape;173;p13">
            <a:extLst>
              <a:ext uri="{FF2B5EF4-FFF2-40B4-BE49-F238E27FC236}">
                <a16:creationId xmlns:a16="http://schemas.microsoft.com/office/drawing/2014/main" id="{14D97CBC-062A-A96D-2DEC-88820E2FE0B2}"/>
              </a:ext>
            </a:extLst>
          </p:cNvPr>
          <p:cNvCxnSpPr>
            <a:cxnSpLocks/>
            <a:stCxn id="230" idx="3"/>
            <a:endCxn id="233" idx="1"/>
          </p:cNvCxnSpPr>
          <p:nvPr/>
        </p:nvCxnSpPr>
        <p:spPr>
          <a:xfrm>
            <a:off x="2787183" y="7484593"/>
            <a:ext cx="272004" cy="705377"/>
          </a:xfrm>
          <a:prstGeom prst="straightConnector1">
            <a:avLst/>
          </a:prstGeom>
          <a:noFill/>
          <a:ln w="9525" cap="flat" cmpd="sng">
            <a:solidFill>
              <a:srgbClr val="44546A"/>
            </a:solidFill>
            <a:prstDash val="solid"/>
            <a:round/>
            <a:headEnd type="none" w="med" len="med"/>
            <a:tailEnd type="triangle" w="med" len="med"/>
          </a:ln>
        </p:spPr>
      </p:cxnSp>
      <p:grpSp>
        <p:nvGrpSpPr>
          <p:cNvPr id="26" name="Group 25">
            <a:extLst>
              <a:ext uri="{FF2B5EF4-FFF2-40B4-BE49-F238E27FC236}">
                <a16:creationId xmlns:a16="http://schemas.microsoft.com/office/drawing/2014/main" id="{E05157EE-4073-B440-DE16-847C4B31B029}"/>
              </a:ext>
            </a:extLst>
          </p:cNvPr>
          <p:cNvGrpSpPr/>
          <p:nvPr/>
        </p:nvGrpSpPr>
        <p:grpSpPr>
          <a:xfrm>
            <a:off x="3059187" y="8045794"/>
            <a:ext cx="9177334" cy="276900"/>
            <a:chOff x="3059187" y="10997541"/>
            <a:chExt cx="9177334" cy="276900"/>
          </a:xfrm>
        </p:grpSpPr>
        <p:sp>
          <p:nvSpPr>
            <p:cNvPr id="233" name="Google Shape;135;p13">
              <a:extLst>
                <a:ext uri="{FF2B5EF4-FFF2-40B4-BE49-F238E27FC236}">
                  <a16:creationId xmlns:a16="http://schemas.microsoft.com/office/drawing/2014/main" id="{BF18A355-D948-7B49-AC86-8A8977A87CF0}"/>
                </a:ext>
              </a:extLst>
            </p:cNvPr>
            <p:cNvSpPr/>
            <p:nvPr/>
          </p:nvSpPr>
          <p:spPr>
            <a:xfrm>
              <a:off x="3059187" y="11012433"/>
              <a:ext cx="7560387" cy="258568"/>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lvl="0" indent="0" algn="ctr" rtl="0">
                <a:spcBef>
                  <a:spcPts val="0"/>
                </a:spcBef>
                <a:spcAft>
                  <a:spcPts val="0"/>
                </a:spcAft>
                <a:buNone/>
              </a:pPr>
              <a:r>
                <a:rPr lang="en" sz="1400" dirty="0">
                  <a:solidFill>
                    <a:schemeClr val="tx1"/>
                  </a:solidFill>
                  <a:latin typeface="Times New Roman" panose="02020603050405020304" pitchFamily="18" charset="0"/>
                  <a:ea typeface="Times New Roman"/>
                  <a:cs typeface="Times New Roman" panose="02020603050405020304" pitchFamily="18" charset="0"/>
                  <a:sym typeface="Times New Roman"/>
                </a:rPr>
                <a:t>Deletions that truncate/alter </a:t>
              </a:r>
              <a:r>
                <a:rPr lang="en-US" sz="1400" dirty="0">
                  <a:solidFill>
                    <a:schemeClr val="tx1"/>
                  </a:solidFill>
                  <a:latin typeface="Times New Roman" panose="02020603050405020304" pitchFamily="18" charset="0"/>
                  <a:ea typeface="Times New Roman"/>
                  <a:cs typeface="Times New Roman" panose="02020603050405020304" pitchFamily="18" charset="0"/>
                  <a:sym typeface="Times New Roman"/>
                </a:rPr>
                <a:t>exons 2, 3, 4, 5, 6, 7, 8, or 10 affect regions critical to protein function</a:t>
              </a:r>
              <a:r>
                <a:rPr lang="en-US" sz="1400" baseline="30000" dirty="0">
                  <a:solidFill>
                    <a:schemeClr val="tx1"/>
                  </a:solidFill>
                  <a:latin typeface="Times New Roman" panose="02020603050405020304" pitchFamily="18" charset="0"/>
                  <a:ea typeface="Times New Roman"/>
                  <a:cs typeface="Times New Roman" panose="02020603050405020304" pitchFamily="18" charset="0"/>
                  <a:sym typeface="Times New Roman"/>
                </a:rPr>
                <a:t> c , </a:t>
              </a:r>
              <a:r>
                <a:rPr lang="en-US" sz="1400" baseline="30000" dirty="0" err="1">
                  <a:solidFill>
                    <a:schemeClr val="tx1"/>
                  </a:solidFill>
                  <a:latin typeface="Times New Roman" panose="02020603050405020304" pitchFamily="18" charset="0"/>
                  <a:ea typeface="Times New Roman"/>
                  <a:cs typeface="Times New Roman" panose="02020603050405020304" pitchFamily="18" charset="0"/>
                  <a:sym typeface="Times New Roman"/>
                </a:rPr>
                <a:t>i</a:t>
              </a:r>
              <a:endParaRPr sz="1400" dirty="0">
                <a:solidFill>
                  <a:schemeClr val="tx1"/>
                </a:solidFill>
                <a:latin typeface="Times New Roman" panose="02020603050405020304" pitchFamily="18" charset="0"/>
                <a:ea typeface="Times New Roman"/>
                <a:cs typeface="Times New Roman" panose="02020603050405020304" pitchFamily="18" charset="0"/>
                <a:sym typeface="Times New Roman"/>
              </a:endParaRPr>
            </a:p>
          </p:txBody>
        </p:sp>
        <p:sp>
          <p:nvSpPr>
            <p:cNvPr id="234" name="Google Shape;142;p13">
              <a:extLst>
                <a:ext uri="{FF2B5EF4-FFF2-40B4-BE49-F238E27FC236}">
                  <a16:creationId xmlns:a16="http://schemas.microsoft.com/office/drawing/2014/main" id="{01780E17-DA4F-C96D-456E-89D244FC7167}"/>
                </a:ext>
              </a:extLst>
            </p:cNvPr>
            <p:cNvSpPr/>
            <p:nvPr/>
          </p:nvSpPr>
          <p:spPr>
            <a:xfrm>
              <a:off x="10955521" y="10997541"/>
              <a:ext cx="1281000" cy="27690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 sz="1400" b="0" i="0" u="none" strike="noStrike" cap="none" dirty="0">
                  <a:solidFill>
                    <a:schemeClr val="tx1"/>
                  </a:solidFill>
                  <a:latin typeface="Times New Roman" panose="02020603050405020304" pitchFamily="18" charset="0"/>
                  <a:ea typeface="Times New Roman"/>
                  <a:cs typeface="Times New Roman" panose="02020603050405020304" pitchFamily="18" charset="0"/>
                  <a:sym typeface="Times New Roman"/>
                </a:rPr>
                <a:t>PVS1</a:t>
              </a:r>
              <a:endParaRPr sz="2000" dirty="0">
                <a:solidFill>
                  <a:schemeClr val="tx1"/>
                </a:solidFill>
                <a:latin typeface="Times New Roman" panose="02020603050405020304" pitchFamily="18" charset="0"/>
                <a:cs typeface="Times New Roman" panose="02020603050405020304" pitchFamily="18" charset="0"/>
              </a:endParaRPr>
            </a:p>
          </p:txBody>
        </p:sp>
        <p:cxnSp>
          <p:nvCxnSpPr>
            <p:cNvPr id="264" name="Google Shape;180;p13">
              <a:extLst>
                <a:ext uri="{FF2B5EF4-FFF2-40B4-BE49-F238E27FC236}">
                  <a16:creationId xmlns:a16="http://schemas.microsoft.com/office/drawing/2014/main" id="{D33B76BF-92A7-5088-967B-CD9CFF0D2568}"/>
                </a:ext>
              </a:extLst>
            </p:cNvPr>
            <p:cNvCxnSpPr>
              <a:cxnSpLocks/>
              <a:stCxn id="233" idx="3"/>
              <a:endCxn id="234" idx="1"/>
            </p:cNvCxnSpPr>
            <p:nvPr/>
          </p:nvCxnSpPr>
          <p:spPr>
            <a:xfrm flipV="1">
              <a:off x="10619574" y="11135991"/>
              <a:ext cx="335947" cy="5726"/>
            </a:xfrm>
            <a:prstGeom prst="straightConnector1">
              <a:avLst/>
            </a:prstGeom>
            <a:noFill/>
            <a:ln w="9525" cap="flat" cmpd="sng">
              <a:solidFill>
                <a:srgbClr val="44546A"/>
              </a:solidFill>
              <a:prstDash val="solid"/>
              <a:round/>
              <a:headEnd type="none" w="med" len="med"/>
              <a:tailEnd type="triangle" w="med" len="med"/>
            </a:ln>
          </p:spPr>
        </p:cxnSp>
      </p:grpSp>
      <p:sp>
        <p:nvSpPr>
          <p:cNvPr id="235" name="Google Shape;143;p13">
            <a:extLst>
              <a:ext uri="{FF2B5EF4-FFF2-40B4-BE49-F238E27FC236}">
                <a16:creationId xmlns:a16="http://schemas.microsoft.com/office/drawing/2014/main" id="{F24144F2-DA61-3A6D-904F-683AF046CF0F}"/>
              </a:ext>
            </a:extLst>
          </p:cNvPr>
          <p:cNvSpPr txBox="1"/>
          <p:nvPr/>
        </p:nvSpPr>
        <p:spPr>
          <a:xfrm>
            <a:off x="90621" y="8525416"/>
            <a:ext cx="1105800" cy="1262731"/>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 sz="1400" b="1" i="0" u="none" strike="noStrike" cap="none" dirty="0">
                <a:solidFill>
                  <a:schemeClr val="tx1"/>
                </a:solidFill>
                <a:latin typeface="Times New Roman" panose="02020603050405020304" pitchFamily="18" charset="0"/>
                <a:ea typeface="Times New Roman"/>
                <a:cs typeface="Times New Roman" panose="02020603050405020304" pitchFamily="18" charset="0"/>
                <a:sym typeface="Times New Roman"/>
              </a:rPr>
              <a:t>Duplication</a:t>
            </a:r>
            <a:endParaRPr sz="1400" b="1" i="0" u="none" strike="noStrike" cap="none" dirty="0">
              <a:solidFill>
                <a:schemeClr val="tx1"/>
              </a:solidFill>
              <a:latin typeface="Times New Roman" panose="02020603050405020304" pitchFamily="18" charset="0"/>
              <a:ea typeface="Times New Roman"/>
              <a:cs typeface="Times New Roman" panose="02020603050405020304" pitchFamily="18" charset="0"/>
              <a:sym typeface="Times New Roman"/>
            </a:endParaRPr>
          </a:p>
          <a:p>
            <a:pPr marL="0" marR="0" lvl="0" indent="0" algn="ctr" rtl="0">
              <a:spcBef>
                <a:spcPts val="0"/>
              </a:spcBef>
              <a:spcAft>
                <a:spcPts val="0"/>
              </a:spcAft>
              <a:buNone/>
            </a:pPr>
            <a:r>
              <a:rPr lang="en" sz="1050" dirty="0">
                <a:solidFill>
                  <a:schemeClr val="tx1"/>
                </a:solidFill>
                <a:latin typeface="Times New Roman" panose="02020603050405020304" pitchFamily="18" charset="0"/>
                <a:ea typeface="Times New Roman"/>
                <a:cs typeface="Times New Roman" panose="02020603050405020304" pitchFamily="18" charset="0"/>
                <a:sym typeface="Times New Roman"/>
              </a:rPr>
              <a:t>(≥1 exon in size and must be completely contained within gene)</a:t>
            </a:r>
            <a:endParaRPr sz="1050" dirty="0">
              <a:solidFill>
                <a:schemeClr val="tx1"/>
              </a:solidFill>
              <a:latin typeface="Times New Roman" panose="02020603050405020304" pitchFamily="18" charset="0"/>
              <a:ea typeface="Times New Roman"/>
              <a:cs typeface="Times New Roman" panose="02020603050405020304" pitchFamily="18" charset="0"/>
              <a:sym typeface="Times New Roman"/>
            </a:endParaRPr>
          </a:p>
        </p:txBody>
      </p:sp>
      <p:sp>
        <p:nvSpPr>
          <p:cNvPr id="236" name="Google Shape;144;p13">
            <a:extLst>
              <a:ext uri="{FF2B5EF4-FFF2-40B4-BE49-F238E27FC236}">
                <a16:creationId xmlns:a16="http://schemas.microsoft.com/office/drawing/2014/main" id="{EF3B0847-90FA-89A3-7D06-FE1936A6F466}"/>
              </a:ext>
            </a:extLst>
          </p:cNvPr>
          <p:cNvSpPr/>
          <p:nvPr/>
        </p:nvSpPr>
        <p:spPr>
          <a:xfrm>
            <a:off x="1656594" y="8678159"/>
            <a:ext cx="2078043" cy="272229"/>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 sz="1400" b="0" i="0" u="none" strike="noStrike" cap="none" dirty="0">
                <a:solidFill>
                  <a:schemeClr val="tx1"/>
                </a:solidFill>
                <a:latin typeface="Times New Roman" panose="02020603050405020304" pitchFamily="18" charset="0"/>
                <a:ea typeface="Times New Roman"/>
                <a:cs typeface="Times New Roman" panose="02020603050405020304" pitchFamily="18" charset="0"/>
                <a:sym typeface="Times New Roman"/>
              </a:rPr>
              <a:t>Proven in tandem</a:t>
            </a:r>
            <a:endParaRPr sz="2000" dirty="0">
              <a:solidFill>
                <a:schemeClr val="tx1"/>
              </a:solidFill>
              <a:latin typeface="Times New Roman" panose="02020603050405020304" pitchFamily="18" charset="0"/>
              <a:cs typeface="Times New Roman" panose="02020603050405020304" pitchFamily="18" charset="0"/>
            </a:endParaRPr>
          </a:p>
        </p:txBody>
      </p:sp>
      <p:sp>
        <p:nvSpPr>
          <p:cNvPr id="237" name="Google Shape;145;p13">
            <a:extLst>
              <a:ext uri="{FF2B5EF4-FFF2-40B4-BE49-F238E27FC236}">
                <a16:creationId xmlns:a16="http://schemas.microsoft.com/office/drawing/2014/main" id="{31DEF64D-BCFD-2B6A-8AFF-8038FA1518D3}"/>
              </a:ext>
            </a:extLst>
          </p:cNvPr>
          <p:cNvSpPr/>
          <p:nvPr/>
        </p:nvSpPr>
        <p:spPr>
          <a:xfrm>
            <a:off x="1660964" y="9001204"/>
            <a:ext cx="2073673" cy="280389"/>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 sz="1400" b="0" i="0" u="none" strike="noStrike" cap="none" dirty="0">
                <a:solidFill>
                  <a:schemeClr val="tx1"/>
                </a:solidFill>
                <a:latin typeface="Times New Roman" panose="02020603050405020304" pitchFamily="18" charset="0"/>
                <a:ea typeface="Times New Roman"/>
                <a:cs typeface="Times New Roman" panose="02020603050405020304" pitchFamily="18" charset="0"/>
                <a:sym typeface="Times New Roman"/>
              </a:rPr>
              <a:t>Presumed in tandem</a:t>
            </a:r>
            <a:endParaRPr sz="2000" dirty="0">
              <a:solidFill>
                <a:schemeClr val="tx1"/>
              </a:solidFill>
              <a:latin typeface="Times New Roman" panose="02020603050405020304" pitchFamily="18" charset="0"/>
              <a:cs typeface="Times New Roman" panose="02020603050405020304" pitchFamily="18" charset="0"/>
            </a:endParaRPr>
          </a:p>
        </p:txBody>
      </p:sp>
      <p:sp>
        <p:nvSpPr>
          <p:cNvPr id="238" name="Google Shape;146;p13">
            <a:extLst>
              <a:ext uri="{FF2B5EF4-FFF2-40B4-BE49-F238E27FC236}">
                <a16:creationId xmlns:a16="http://schemas.microsoft.com/office/drawing/2014/main" id="{FF585325-F6B6-345F-793E-683049A13420}"/>
              </a:ext>
            </a:extLst>
          </p:cNvPr>
          <p:cNvSpPr/>
          <p:nvPr/>
        </p:nvSpPr>
        <p:spPr>
          <a:xfrm>
            <a:off x="1660838" y="9509425"/>
            <a:ext cx="8962639" cy="27432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 sz="1400" b="0" i="0" u="none" strike="noStrike" cap="none">
                <a:solidFill>
                  <a:schemeClr val="tx1"/>
                </a:solidFill>
                <a:latin typeface="Times New Roman" panose="02020603050405020304" pitchFamily="18" charset="0"/>
                <a:ea typeface="Times New Roman"/>
                <a:cs typeface="Times New Roman" panose="02020603050405020304" pitchFamily="18" charset="0"/>
                <a:sym typeface="Times New Roman"/>
              </a:rPr>
              <a:t>Proven not in tandem</a:t>
            </a:r>
            <a:endParaRPr sz="2000">
              <a:solidFill>
                <a:schemeClr val="tx1"/>
              </a:solidFill>
              <a:latin typeface="Times New Roman" panose="02020603050405020304" pitchFamily="18" charset="0"/>
              <a:cs typeface="Times New Roman" panose="02020603050405020304" pitchFamily="18" charset="0"/>
            </a:endParaRPr>
          </a:p>
        </p:txBody>
      </p:sp>
      <p:sp>
        <p:nvSpPr>
          <p:cNvPr id="239" name="Google Shape;147;p13">
            <a:extLst>
              <a:ext uri="{FF2B5EF4-FFF2-40B4-BE49-F238E27FC236}">
                <a16:creationId xmlns:a16="http://schemas.microsoft.com/office/drawing/2014/main" id="{862E8248-D165-79A0-770A-207AAA1309DD}"/>
              </a:ext>
            </a:extLst>
          </p:cNvPr>
          <p:cNvSpPr/>
          <p:nvPr/>
        </p:nvSpPr>
        <p:spPr>
          <a:xfrm>
            <a:off x="4539271" y="8381337"/>
            <a:ext cx="6084306" cy="389653"/>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 sz="1400" b="0" i="0" u="none" strike="noStrike" cap="none" dirty="0">
                <a:solidFill>
                  <a:schemeClr val="tx1"/>
                </a:solidFill>
                <a:latin typeface="Times New Roman" panose="02020603050405020304" pitchFamily="18" charset="0"/>
                <a:ea typeface="Times New Roman"/>
                <a:cs typeface="Times New Roman" panose="02020603050405020304" pitchFamily="18" charset="0"/>
                <a:sym typeface="Times New Roman"/>
              </a:rPr>
              <a:t>Reading frame disrupted </a:t>
            </a:r>
            <a:r>
              <a:rPr lang="en" sz="1400" b="0" i="0" u="none" strike="noStrike" cap="none" dirty="0">
                <a:solidFill>
                  <a:schemeClr val="tx1"/>
                </a:solidFill>
                <a:latin typeface="Times New Roman"/>
                <a:ea typeface="Times New Roman"/>
                <a:cs typeface="Times New Roman"/>
                <a:sym typeface="Times New Roman"/>
              </a:rPr>
              <a:t> in either transcript or presumed disrupted in NM_</a:t>
            </a:r>
            <a:r>
              <a:rPr lang="en-US" sz="1400" dirty="0">
                <a:solidFill>
                  <a:schemeClr val="tx1"/>
                </a:solidFill>
                <a:latin typeface="Times New Roman"/>
                <a:cs typeface="Times New Roman"/>
              </a:rPr>
              <a:t> 001034853.2 </a:t>
            </a:r>
            <a:r>
              <a:rPr lang="en" sz="1400" b="0" i="0" u="none" strike="noStrike" cap="none" dirty="0">
                <a:solidFill>
                  <a:schemeClr val="tx1"/>
                </a:solidFill>
                <a:latin typeface="Times New Roman" panose="02020603050405020304" pitchFamily="18" charset="0"/>
                <a:ea typeface="Times New Roman"/>
                <a:cs typeface="Times New Roman" panose="02020603050405020304" pitchFamily="18" charset="0"/>
                <a:sym typeface="Times New Roman"/>
              </a:rPr>
              <a:t>and NMD predicted to occur</a:t>
            </a:r>
            <a:endParaRPr sz="2000" dirty="0">
              <a:solidFill>
                <a:schemeClr val="tx1"/>
              </a:solidFill>
              <a:latin typeface="Times New Roman" panose="02020603050405020304" pitchFamily="18" charset="0"/>
              <a:cs typeface="Times New Roman" panose="02020603050405020304" pitchFamily="18" charset="0"/>
            </a:endParaRPr>
          </a:p>
        </p:txBody>
      </p:sp>
      <p:sp>
        <p:nvSpPr>
          <p:cNvPr id="240" name="Google Shape;148;p13">
            <a:extLst>
              <a:ext uri="{FF2B5EF4-FFF2-40B4-BE49-F238E27FC236}">
                <a16:creationId xmlns:a16="http://schemas.microsoft.com/office/drawing/2014/main" id="{CA53095F-AC64-6DA7-E891-601770058130}"/>
              </a:ext>
            </a:extLst>
          </p:cNvPr>
          <p:cNvSpPr/>
          <p:nvPr/>
        </p:nvSpPr>
        <p:spPr>
          <a:xfrm>
            <a:off x="4539171" y="8829216"/>
            <a:ext cx="6084306" cy="27690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 sz="1400" dirty="0">
                <a:solidFill>
                  <a:schemeClr val="tx1"/>
                </a:solidFill>
                <a:latin typeface="Times New Roman" panose="02020603050405020304" pitchFamily="18" charset="0"/>
                <a:ea typeface="Times New Roman"/>
                <a:cs typeface="Times New Roman" panose="02020603050405020304" pitchFamily="18" charset="0"/>
                <a:sym typeface="Times New Roman"/>
              </a:rPr>
              <a:t>No or unknown i</a:t>
            </a:r>
            <a:r>
              <a:rPr lang="en" sz="1400" b="0" i="0" u="none" strike="noStrike" cap="none" dirty="0">
                <a:solidFill>
                  <a:schemeClr val="tx1"/>
                </a:solidFill>
                <a:latin typeface="Times New Roman" panose="02020603050405020304" pitchFamily="18" charset="0"/>
                <a:ea typeface="Times New Roman"/>
                <a:cs typeface="Times New Roman" panose="02020603050405020304" pitchFamily="18" charset="0"/>
                <a:sym typeface="Times New Roman"/>
              </a:rPr>
              <a:t>mpact on reading frame and NMD</a:t>
            </a:r>
            <a:endParaRPr sz="2000" dirty="0">
              <a:solidFill>
                <a:schemeClr val="tx1"/>
              </a:solidFill>
              <a:latin typeface="Times New Roman" panose="02020603050405020304" pitchFamily="18" charset="0"/>
              <a:cs typeface="Times New Roman" panose="02020603050405020304" pitchFamily="18" charset="0"/>
            </a:endParaRPr>
          </a:p>
        </p:txBody>
      </p:sp>
      <p:sp>
        <p:nvSpPr>
          <p:cNvPr id="241" name="Google Shape;149;p13">
            <a:extLst>
              <a:ext uri="{FF2B5EF4-FFF2-40B4-BE49-F238E27FC236}">
                <a16:creationId xmlns:a16="http://schemas.microsoft.com/office/drawing/2014/main" id="{D3366599-69B5-D7F3-B7CB-29779EDDD51B}"/>
              </a:ext>
            </a:extLst>
          </p:cNvPr>
          <p:cNvSpPr/>
          <p:nvPr/>
        </p:nvSpPr>
        <p:spPr>
          <a:xfrm>
            <a:off x="4539296" y="9166046"/>
            <a:ext cx="6084306" cy="27690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 sz="1400" b="0" i="0" u="none" strike="noStrike" cap="none" dirty="0">
                <a:solidFill>
                  <a:schemeClr val="tx1"/>
                </a:solidFill>
                <a:latin typeface="Times New Roman" panose="02020603050405020304" pitchFamily="18" charset="0"/>
                <a:ea typeface="Times New Roman"/>
                <a:cs typeface="Times New Roman" panose="02020603050405020304" pitchFamily="18" charset="0"/>
                <a:sym typeface="Times New Roman"/>
              </a:rPr>
              <a:t>Reading frame presumed disrupted and NMD predicted to occur</a:t>
            </a:r>
            <a:endParaRPr sz="2000" dirty="0">
              <a:solidFill>
                <a:schemeClr val="tx1"/>
              </a:solidFill>
              <a:latin typeface="Times New Roman" panose="02020603050405020304" pitchFamily="18" charset="0"/>
              <a:cs typeface="Times New Roman" panose="02020603050405020304" pitchFamily="18" charset="0"/>
            </a:endParaRPr>
          </a:p>
        </p:txBody>
      </p:sp>
      <p:sp>
        <p:nvSpPr>
          <p:cNvPr id="242" name="Google Shape;150;p13">
            <a:extLst>
              <a:ext uri="{FF2B5EF4-FFF2-40B4-BE49-F238E27FC236}">
                <a16:creationId xmlns:a16="http://schemas.microsoft.com/office/drawing/2014/main" id="{F5D83354-65B9-BEA5-3422-E73D1A019693}"/>
              </a:ext>
            </a:extLst>
          </p:cNvPr>
          <p:cNvSpPr/>
          <p:nvPr/>
        </p:nvSpPr>
        <p:spPr>
          <a:xfrm>
            <a:off x="10950771" y="8443399"/>
            <a:ext cx="1281000" cy="27690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 sz="1400" b="0" i="0" u="none" strike="noStrike" cap="none" dirty="0">
                <a:solidFill>
                  <a:schemeClr val="tx1"/>
                </a:solidFill>
                <a:latin typeface="Times New Roman" panose="02020603050405020304" pitchFamily="18" charset="0"/>
                <a:ea typeface="Times New Roman"/>
                <a:cs typeface="Times New Roman" panose="02020603050405020304" pitchFamily="18" charset="0"/>
                <a:sym typeface="Times New Roman"/>
              </a:rPr>
              <a:t>PVS1</a:t>
            </a:r>
            <a:endParaRPr sz="2000" dirty="0">
              <a:solidFill>
                <a:schemeClr val="tx1"/>
              </a:solidFill>
              <a:latin typeface="Times New Roman" panose="02020603050405020304" pitchFamily="18" charset="0"/>
              <a:cs typeface="Times New Roman" panose="02020603050405020304" pitchFamily="18" charset="0"/>
            </a:endParaRPr>
          </a:p>
        </p:txBody>
      </p:sp>
      <p:sp>
        <p:nvSpPr>
          <p:cNvPr id="243" name="Google Shape;151;p13">
            <a:extLst>
              <a:ext uri="{FF2B5EF4-FFF2-40B4-BE49-F238E27FC236}">
                <a16:creationId xmlns:a16="http://schemas.microsoft.com/office/drawing/2014/main" id="{9202C807-67D1-BFD6-727D-FCC013312128}"/>
              </a:ext>
            </a:extLst>
          </p:cNvPr>
          <p:cNvSpPr/>
          <p:nvPr/>
        </p:nvSpPr>
        <p:spPr>
          <a:xfrm>
            <a:off x="10959480" y="8829290"/>
            <a:ext cx="1278212" cy="27690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 sz="1400" b="0" i="0" u="none" strike="noStrike" cap="none" dirty="0">
                <a:solidFill>
                  <a:schemeClr val="tx1"/>
                </a:solidFill>
                <a:latin typeface="Times New Roman" panose="02020603050405020304" pitchFamily="18" charset="0"/>
                <a:ea typeface="Times New Roman"/>
                <a:cs typeface="Times New Roman" panose="02020603050405020304" pitchFamily="18" charset="0"/>
                <a:sym typeface="Times New Roman"/>
              </a:rPr>
              <a:t>N/A</a:t>
            </a:r>
            <a:endParaRPr sz="2000" dirty="0">
              <a:solidFill>
                <a:schemeClr val="tx1"/>
              </a:solidFill>
              <a:latin typeface="Times New Roman" panose="02020603050405020304" pitchFamily="18" charset="0"/>
              <a:cs typeface="Times New Roman" panose="02020603050405020304" pitchFamily="18" charset="0"/>
            </a:endParaRPr>
          </a:p>
        </p:txBody>
      </p:sp>
      <p:sp>
        <p:nvSpPr>
          <p:cNvPr id="244" name="Google Shape;152;p13">
            <a:extLst>
              <a:ext uri="{FF2B5EF4-FFF2-40B4-BE49-F238E27FC236}">
                <a16:creationId xmlns:a16="http://schemas.microsoft.com/office/drawing/2014/main" id="{3C3D4C55-62DA-C14C-2AE9-D194B57C1148}"/>
              </a:ext>
            </a:extLst>
          </p:cNvPr>
          <p:cNvSpPr/>
          <p:nvPr/>
        </p:nvSpPr>
        <p:spPr>
          <a:xfrm>
            <a:off x="10959480" y="9160730"/>
            <a:ext cx="1273772" cy="27690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 sz="1400" b="0" i="0" u="none" strike="noStrike" cap="none" dirty="0">
                <a:solidFill>
                  <a:schemeClr val="tx1"/>
                </a:solidFill>
                <a:latin typeface="Times New Roman" panose="02020603050405020304" pitchFamily="18" charset="0"/>
                <a:ea typeface="Times New Roman"/>
                <a:cs typeface="Times New Roman" panose="02020603050405020304" pitchFamily="18" charset="0"/>
                <a:sym typeface="Times New Roman"/>
              </a:rPr>
              <a:t>PVS1</a:t>
            </a:r>
            <a:endParaRPr sz="2000" dirty="0">
              <a:solidFill>
                <a:schemeClr val="tx1"/>
              </a:solidFill>
              <a:latin typeface="Times New Roman" panose="02020603050405020304" pitchFamily="18" charset="0"/>
              <a:cs typeface="Times New Roman" panose="02020603050405020304" pitchFamily="18" charset="0"/>
            </a:endParaRPr>
          </a:p>
        </p:txBody>
      </p:sp>
      <p:sp>
        <p:nvSpPr>
          <p:cNvPr id="245" name="Google Shape;153;p13">
            <a:extLst>
              <a:ext uri="{FF2B5EF4-FFF2-40B4-BE49-F238E27FC236}">
                <a16:creationId xmlns:a16="http://schemas.microsoft.com/office/drawing/2014/main" id="{92BE095B-AAA4-3E39-BAD0-957E613BF548}"/>
              </a:ext>
            </a:extLst>
          </p:cNvPr>
          <p:cNvSpPr/>
          <p:nvPr/>
        </p:nvSpPr>
        <p:spPr>
          <a:xfrm>
            <a:off x="10955396" y="9492073"/>
            <a:ext cx="1281000" cy="27690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 sz="1400" b="0" i="0" u="none" strike="noStrike" cap="none">
                <a:solidFill>
                  <a:schemeClr val="tx1"/>
                </a:solidFill>
                <a:latin typeface="Times New Roman" panose="02020603050405020304" pitchFamily="18" charset="0"/>
                <a:ea typeface="Times New Roman"/>
                <a:cs typeface="Times New Roman" panose="02020603050405020304" pitchFamily="18" charset="0"/>
                <a:sym typeface="Times New Roman"/>
              </a:rPr>
              <a:t>N/A</a:t>
            </a:r>
            <a:endParaRPr sz="2000">
              <a:solidFill>
                <a:schemeClr val="tx1"/>
              </a:solidFill>
              <a:latin typeface="Times New Roman" panose="02020603050405020304" pitchFamily="18" charset="0"/>
              <a:cs typeface="Times New Roman" panose="02020603050405020304" pitchFamily="18" charset="0"/>
            </a:endParaRPr>
          </a:p>
        </p:txBody>
      </p:sp>
      <p:sp>
        <p:nvSpPr>
          <p:cNvPr id="246" name="Google Shape;154;p13">
            <a:extLst>
              <a:ext uri="{FF2B5EF4-FFF2-40B4-BE49-F238E27FC236}">
                <a16:creationId xmlns:a16="http://schemas.microsoft.com/office/drawing/2014/main" id="{AE5E759D-06DE-80EC-E755-43A22E0B0784}"/>
              </a:ext>
            </a:extLst>
          </p:cNvPr>
          <p:cNvSpPr txBox="1"/>
          <p:nvPr/>
        </p:nvSpPr>
        <p:spPr>
          <a:xfrm>
            <a:off x="90621" y="9942727"/>
            <a:ext cx="1105800" cy="837323"/>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 sz="1400" b="1" i="0" u="none" strike="noStrike" cap="none">
                <a:solidFill>
                  <a:schemeClr val="tx1"/>
                </a:solidFill>
                <a:latin typeface="Times New Roman" panose="02020603050405020304" pitchFamily="18" charset="0"/>
                <a:ea typeface="Times New Roman"/>
                <a:cs typeface="Times New Roman" panose="02020603050405020304" pitchFamily="18" charset="0"/>
                <a:sym typeface="Times New Roman"/>
              </a:rPr>
              <a:t>Initiation Codon</a:t>
            </a:r>
            <a:endParaRPr sz="2000" b="1">
              <a:solidFill>
                <a:schemeClr val="tx1"/>
              </a:solidFill>
              <a:latin typeface="Times New Roman" panose="02020603050405020304" pitchFamily="18" charset="0"/>
              <a:cs typeface="Times New Roman" panose="02020603050405020304" pitchFamily="18" charset="0"/>
            </a:endParaRPr>
          </a:p>
        </p:txBody>
      </p:sp>
      <p:sp>
        <p:nvSpPr>
          <p:cNvPr id="247" name="Google Shape;155;p13">
            <a:extLst>
              <a:ext uri="{FF2B5EF4-FFF2-40B4-BE49-F238E27FC236}">
                <a16:creationId xmlns:a16="http://schemas.microsoft.com/office/drawing/2014/main" id="{C2326371-E1D3-327A-A35E-6FC272522D00}"/>
              </a:ext>
            </a:extLst>
          </p:cNvPr>
          <p:cNvSpPr/>
          <p:nvPr/>
        </p:nvSpPr>
        <p:spPr>
          <a:xfrm>
            <a:off x="1655787" y="10321446"/>
            <a:ext cx="2412705" cy="495111"/>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 sz="1400" b="0" i="0" u="none" strike="noStrike" cap="none" dirty="0">
                <a:solidFill>
                  <a:schemeClr val="tx1"/>
                </a:solidFill>
                <a:latin typeface="Times New Roman" panose="02020603050405020304" pitchFamily="18" charset="0"/>
                <a:ea typeface="Times New Roman"/>
                <a:cs typeface="Times New Roman" panose="02020603050405020304" pitchFamily="18" charset="0"/>
                <a:sym typeface="Times New Roman"/>
              </a:rPr>
              <a:t>Different functional transcript uses alternative start codon</a:t>
            </a:r>
            <a:endParaRPr sz="2000" dirty="0">
              <a:solidFill>
                <a:schemeClr val="tx1"/>
              </a:solidFill>
              <a:latin typeface="Times New Roman" panose="02020603050405020304" pitchFamily="18" charset="0"/>
              <a:cs typeface="Times New Roman" panose="02020603050405020304" pitchFamily="18" charset="0"/>
            </a:endParaRPr>
          </a:p>
        </p:txBody>
      </p:sp>
      <p:sp>
        <p:nvSpPr>
          <p:cNvPr id="248" name="Google Shape;156;p13">
            <a:extLst>
              <a:ext uri="{FF2B5EF4-FFF2-40B4-BE49-F238E27FC236}">
                <a16:creationId xmlns:a16="http://schemas.microsoft.com/office/drawing/2014/main" id="{9D4B8DDC-A64C-8828-00D5-7842ACA8212A}"/>
              </a:ext>
            </a:extLst>
          </p:cNvPr>
          <p:cNvSpPr/>
          <p:nvPr/>
        </p:nvSpPr>
        <p:spPr>
          <a:xfrm>
            <a:off x="1661178" y="9845774"/>
            <a:ext cx="2407314" cy="434113"/>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 sz="1400" b="0" i="0" u="none" strike="noStrike" cap="none" dirty="0">
                <a:solidFill>
                  <a:schemeClr val="tx1"/>
                </a:solidFill>
                <a:latin typeface="Times New Roman" panose="02020603050405020304" pitchFamily="18" charset="0"/>
                <a:ea typeface="Times New Roman"/>
                <a:cs typeface="Times New Roman" panose="02020603050405020304" pitchFamily="18" charset="0"/>
                <a:sym typeface="Times New Roman"/>
              </a:rPr>
              <a:t>No known alternative start codon in other transcripts</a:t>
            </a:r>
            <a:endParaRPr sz="2000" dirty="0">
              <a:solidFill>
                <a:schemeClr val="tx1"/>
              </a:solidFill>
              <a:latin typeface="Times New Roman" panose="02020603050405020304" pitchFamily="18" charset="0"/>
              <a:cs typeface="Times New Roman" panose="02020603050405020304" pitchFamily="18" charset="0"/>
            </a:endParaRPr>
          </a:p>
        </p:txBody>
      </p:sp>
      <p:sp>
        <p:nvSpPr>
          <p:cNvPr id="249" name="Google Shape;157;p13">
            <a:extLst>
              <a:ext uri="{FF2B5EF4-FFF2-40B4-BE49-F238E27FC236}">
                <a16:creationId xmlns:a16="http://schemas.microsoft.com/office/drawing/2014/main" id="{F403CEAE-0FC6-B84E-DA3A-EA4F6D5118FD}"/>
              </a:ext>
            </a:extLst>
          </p:cNvPr>
          <p:cNvSpPr/>
          <p:nvPr/>
        </p:nvSpPr>
        <p:spPr>
          <a:xfrm>
            <a:off x="4534646" y="9870956"/>
            <a:ext cx="6084928" cy="27420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 sz="1400" b="0" i="0" u="none" strike="noStrike" cap="none" dirty="0">
                <a:solidFill>
                  <a:schemeClr val="tx1"/>
                </a:solidFill>
                <a:latin typeface="Times New Roman" panose="02020603050405020304" pitchFamily="18" charset="0"/>
                <a:ea typeface="Times New Roman"/>
                <a:cs typeface="Times New Roman" panose="02020603050405020304" pitchFamily="18" charset="0"/>
                <a:sym typeface="Times New Roman"/>
              </a:rPr>
              <a:t>≥1 pathogenic variant(s) upstream of closest potential in-frame start codon</a:t>
            </a:r>
            <a:endParaRPr sz="1050" b="0" i="0" u="none" strike="noStrike" cap="none" dirty="0">
              <a:solidFill>
                <a:schemeClr val="tx1"/>
              </a:solidFill>
              <a:latin typeface="Times New Roman" panose="02020603050405020304" pitchFamily="18" charset="0"/>
              <a:ea typeface="Times New Roman"/>
              <a:cs typeface="Times New Roman" panose="02020603050405020304" pitchFamily="18" charset="0"/>
              <a:sym typeface="Times New Roman"/>
            </a:endParaRPr>
          </a:p>
        </p:txBody>
      </p:sp>
      <p:sp>
        <p:nvSpPr>
          <p:cNvPr id="250" name="Google Shape;158;p13">
            <a:extLst>
              <a:ext uri="{FF2B5EF4-FFF2-40B4-BE49-F238E27FC236}">
                <a16:creationId xmlns:a16="http://schemas.microsoft.com/office/drawing/2014/main" id="{08CD3E73-47FB-C5DD-A713-E12EDF2D814D}"/>
              </a:ext>
            </a:extLst>
          </p:cNvPr>
          <p:cNvSpPr/>
          <p:nvPr/>
        </p:nvSpPr>
        <p:spPr>
          <a:xfrm>
            <a:off x="4533250" y="10203362"/>
            <a:ext cx="6086322" cy="27420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 sz="1400" b="0" i="0" u="none" strike="noStrike" cap="none">
                <a:solidFill>
                  <a:schemeClr val="tx1"/>
                </a:solidFill>
                <a:latin typeface="Times New Roman" panose="02020603050405020304" pitchFamily="18" charset="0"/>
                <a:ea typeface="Times New Roman"/>
                <a:cs typeface="Times New Roman" panose="02020603050405020304" pitchFamily="18" charset="0"/>
                <a:sym typeface="Times New Roman"/>
              </a:rPr>
              <a:t>No pathogenic variant(s) upstream of closest potential in-frame start codon</a:t>
            </a:r>
            <a:endParaRPr sz="1050" b="0" i="0" u="none" strike="noStrike" cap="none">
              <a:solidFill>
                <a:schemeClr val="tx1"/>
              </a:solidFill>
              <a:latin typeface="Times New Roman" panose="02020603050405020304" pitchFamily="18" charset="0"/>
              <a:ea typeface="Times New Roman"/>
              <a:cs typeface="Times New Roman" panose="02020603050405020304" pitchFamily="18" charset="0"/>
              <a:sym typeface="Times New Roman"/>
            </a:endParaRPr>
          </a:p>
        </p:txBody>
      </p:sp>
      <p:sp>
        <p:nvSpPr>
          <p:cNvPr id="251" name="Google Shape;159;p13">
            <a:extLst>
              <a:ext uri="{FF2B5EF4-FFF2-40B4-BE49-F238E27FC236}">
                <a16:creationId xmlns:a16="http://schemas.microsoft.com/office/drawing/2014/main" id="{357E8157-6141-2E08-C4DA-B4CD83DD52A4}"/>
              </a:ext>
            </a:extLst>
          </p:cNvPr>
          <p:cNvSpPr/>
          <p:nvPr/>
        </p:nvSpPr>
        <p:spPr>
          <a:xfrm>
            <a:off x="10955521" y="10173241"/>
            <a:ext cx="1281000" cy="27690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 sz="1400" b="0" i="0" u="none" strike="noStrike" cap="none">
                <a:solidFill>
                  <a:schemeClr val="tx1"/>
                </a:solidFill>
                <a:latin typeface="Times New Roman" panose="02020603050405020304" pitchFamily="18" charset="0"/>
                <a:ea typeface="Times New Roman"/>
                <a:cs typeface="Times New Roman" panose="02020603050405020304" pitchFamily="18" charset="0"/>
                <a:sym typeface="Times New Roman"/>
              </a:rPr>
              <a:t>PVS1_Supp</a:t>
            </a:r>
            <a:endParaRPr sz="2000">
              <a:solidFill>
                <a:schemeClr val="tx1"/>
              </a:solidFill>
              <a:latin typeface="Times New Roman" panose="02020603050405020304" pitchFamily="18" charset="0"/>
              <a:cs typeface="Times New Roman" panose="02020603050405020304" pitchFamily="18" charset="0"/>
            </a:endParaRPr>
          </a:p>
        </p:txBody>
      </p:sp>
      <p:sp>
        <p:nvSpPr>
          <p:cNvPr id="252" name="Google Shape;160;p13">
            <a:extLst>
              <a:ext uri="{FF2B5EF4-FFF2-40B4-BE49-F238E27FC236}">
                <a16:creationId xmlns:a16="http://schemas.microsoft.com/office/drawing/2014/main" id="{06D0734A-ACCD-6738-EADF-EA3E21487557}"/>
              </a:ext>
            </a:extLst>
          </p:cNvPr>
          <p:cNvSpPr/>
          <p:nvPr/>
        </p:nvSpPr>
        <p:spPr>
          <a:xfrm>
            <a:off x="10818361" y="9841801"/>
            <a:ext cx="1417320" cy="27690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 sz="1400" dirty="0">
                <a:solidFill>
                  <a:schemeClr val="tx1"/>
                </a:solidFill>
                <a:latin typeface="Times New Roman" panose="02020603050405020304" pitchFamily="18" charset="0"/>
                <a:ea typeface="Times New Roman"/>
                <a:cs typeface="Times New Roman" panose="02020603050405020304" pitchFamily="18" charset="0"/>
                <a:sym typeface="Times New Roman"/>
              </a:rPr>
              <a:t>PVS1_Moderate </a:t>
            </a:r>
            <a:endParaRPr sz="2000" dirty="0">
              <a:solidFill>
                <a:schemeClr val="tx1"/>
              </a:solidFill>
              <a:latin typeface="Times New Roman" panose="02020603050405020304" pitchFamily="18" charset="0"/>
              <a:cs typeface="Times New Roman" panose="02020603050405020304" pitchFamily="18" charset="0"/>
            </a:endParaRPr>
          </a:p>
        </p:txBody>
      </p:sp>
      <p:sp>
        <p:nvSpPr>
          <p:cNvPr id="253" name="Google Shape;161;p13">
            <a:extLst>
              <a:ext uri="{FF2B5EF4-FFF2-40B4-BE49-F238E27FC236}">
                <a16:creationId xmlns:a16="http://schemas.microsoft.com/office/drawing/2014/main" id="{30972403-77F5-EC27-5CB2-CA1FC1D22A01}"/>
              </a:ext>
            </a:extLst>
          </p:cNvPr>
          <p:cNvSpPr/>
          <p:nvPr/>
        </p:nvSpPr>
        <p:spPr>
          <a:xfrm>
            <a:off x="10955521" y="10503251"/>
            <a:ext cx="1281000" cy="27690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 sz="1400" b="0" i="0" u="none" strike="noStrike" cap="none" dirty="0">
                <a:solidFill>
                  <a:schemeClr val="tx1"/>
                </a:solidFill>
                <a:latin typeface="Times New Roman" panose="02020603050405020304" pitchFamily="18" charset="0"/>
                <a:ea typeface="Times New Roman"/>
                <a:cs typeface="Times New Roman" panose="02020603050405020304" pitchFamily="18" charset="0"/>
                <a:sym typeface="Times New Roman"/>
              </a:rPr>
              <a:t>N/A</a:t>
            </a:r>
            <a:endParaRPr sz="2000" dirty="0">
              <a:solidFill>
                <a:schemeClr val="tx1"/>
              </a:solidFill>
              <a:latin typeface="Times New Roman" panose="02020603050405020304" pitchFamily="18" charset="0"/>
              <a:cs typeface="Times New Roman" panose="02020603050405020304" pitchFamily="18" charset="0"/>
            </a:endParaRPr>
          </a:p>
        </p:txBody>
      </p:sp>
      <p:cxnSp>
        <p:nvCxnSpPr>
          <p:cNvPr id="265" name="Google Shape;181;p13">
            <a:extLst>
              <a:ext uri="{FF2B5EF4-FFF2-40B4-BE49-F238E27FC236}">
                <a16:creationId xmlns:a16="http://schemas.microsoft.com/office/drawing/2014/main" id="{22E0D2F8-6CDE-B280-03A9-295FAA02B429}"/>
              </a:ext>
            </a:extLst>
          </p:cNvPr>
          <p:cNvCxnSpPr>
            <a:cxnSpLocks/>
            <a:stCxn id="235" idx="3"/>
            <a:endCxn id="236" idx="1"/>
          </p:cNvCxnSpPr>
          <p:nvPr/>
        </p:nvCxnSpPr>
        <p:spPr>
          <a:xfrm flipV="1">
            <a:off x="1196421" y="8814274"/>
            <a:ext cx="460173" cy="342508"/>
          </a:xfrm>
          <a:prstGeom prst="straightConnector1">
            <a:avLst/>
          </a:prstGeom>
          <a:noFill/>
          <a:ln w="9525" cap="flat" cmpd="sng">
            <a:solidFill>
              <a:srgbClr val="44546A"/>
            </a:solidFill>
            <a:prstDash val="solid"/>
            <a:round/>
            <a:headEnd type="none" w="med" len="med"/>
            <a:tailEnd type="triangle" w="med" len="med"/>
          </a:ln>
        </p:spPr>
      </p:cxnSp>
      <p:cxnSp>
        <p:nvCxnSpPr>
          <p:cNvPr id="266" name="Google Shape;182;p13">
            <a:extLst>
              <a:ext uri="{FF2B5EF4-FFF2-40B4-BE49-F238E27FC236}">
                <a16:creationId xmlns:a16="http://schemas.microsoft.com/office/drawing/2014/main" id="{12DB3D62-FD09-B58E-F135-D542898316C1}"/>
              </a:ext>
            </a:extLst>
          </p:cNvPr>
          <p:cNvCxnSpPr>
            <a:cxnSpLocks/>
            <a:stCxn id="235" idx="3"/>
            <a:endCxn id="237" idx="1"/>
          </p:cNvCxnSpPr>
          <p:nvPr/>
        </p:nvCxnSpPr>
        <p:spPr>
          <a:xfrm flipV="1">
            <a:off x="1196421" y="9141399"/>
            <a:ext cx="464543" cy="15383"/>
          </a:xfrm>
          <a:prstGeom prst="straightConnector1">
            <a:avLst/>
          </a:prstGeom>
          <a:noFill/>
          <a:ln w="9525" cap="flat" cmpd="sng">
            <a:solidFill>
              <a:srgbClr val="44546A"/>
            </a:solidFill>
            <a:prstDash val="solid"/>
            <a:round/>
            <a:headEnd type="none" w="med" len="med"/>
            <a:tailEnd type="triangle" w="med" len="med"/>
          </a:ln>
        </p:spPr>
      </p:cxnSp>
      <p:cxnSp>
        <p:nvCxnSpPr>
          <p:cNvPr id="267" name="Google Shape;183;p13">
            <a:extLst>
              <a:ext uri="{FF2B5EF4-FFF2-40B4-BE49-F238E27FC236}">
                <a16:creationId xmlns:a16="http://schemas.microsoft.com/office/drawing/2014/main" id="{60697EDF-712D-C69C-7009-E1C8D4266A2C}"/>
              </a:ext>
            </a:extLst>
          </p:cNvPr>
          <p:cNvCxnSpPr>
            <a:cxnSpLocks/>
            <a:stCxn id="235" idx="3"/>
            <a:endCxn id="238" idx="1"/>
          </p:cNvCxnSpPr>
          <p:nvPr/>
        </p:nvCxnSpPr>
        <p:spPr>
          <a:xfrm>
            <a:off x="1196421" y="9156782"/>
            <a:ext cx="464417" cy="489803"/>
          </a:xfrm>
          <a:prstGeom prst="straightConnector1">
            <a:avLst/>
          </a:prstGeom>
          <a:noFill/>
          <a:ln w="9525" cap="flat" cmpd="sng">
            <a:solidFill>
              <a:srgbClr val="44546A"/>
            </a:solidFill>
            <a:prstDash val="solid"/>
            <a:round/>
            <a:headEnd type="none" w="med" len="med"/>
            <a:tailEnd type="triangle" w="med" len="med"/>
          </a:ln>
        </p:spPr>
      </p:cxnSp>
      <p:cxnSp>
        <p:nvCxnSpPr>
          <p:cNvPr id="268" name="Google Shape;184;p13">
            <a:extLst>
              <a:ext uri="{FF2B5EF4-FFF2-40B4-BE49-F238E27FC236}">
                <a16:creationId xmlns:a16="http://schemas.microsoft.com/office/drawing/2014/main" id="{E7897229-2235-DFDB-C633-E31DCCE54E84}"/>
              </a:ext>
            </a:extLst>
          </p:cNvPr>
          <p:cNvCxnSpPr>
            <a:cxnSpLocks/>
            <a:stCxn id="236" idx="3"/>
            <a:endCxn id="240" idx="1"/>
          </p:cNvCxnSpPr>
          <p:nvPr/>
        </p:nvCxnSpPr>
        <p:spPr>
          <a:xfrm>
            <a:off x="3734637" y="8814274"/>
            <a:ext cx="804534" cy="153392"/>
          </a:xfrm>
          <a:prstGeom prst="straightConnector1">
            <a:avLst/>
          </a:prstGeom>
          <a:noFill/>
          <a:ln w="9525" cap="flat" cmpd="sng">
            <a:solidFill>
              <a:srgbClr val="44546A"/>
            </a:solidFill>
            <a:prstDash val="solid"/>
            <a:round/>
            <a:headEnd type="none" w="med" len="med"/>
            <a:tailEnd type="triangle" w="med" len="med"/>
          </a:ln>
        </p:spPr>
      </p:cxnSp>
      <p:cxnSp>
        <p:nvCxnSpPr>
          <p:cNvPr id="269" name="Google Shape;185;p13">
            <a:extLst>
              <a:ext uri="{FF2B5EF4-FFF2-40B4-BE49-F238E27FC236}">
                <a16:creationId xmlns:a16="http://schemas.microsoft.com/office/drawing/2014/main" id="{38494A86-E0AE-9404-3A34-3FAFA369D75D}"/>
              </a:ext>
            </a:extLst>
          </p:cNvPr>
          <p:cNvCxnSpPr>
            <a:cxnSpLocks/>
            <a:stCxn id="237" idx="3"/>
            <a:endCxn id="240" idx="1"/>
          </p:cNvCxnSpPr>
          <p:nvPr/>
        </p:nvCxnSpPr>
        <p:spPr>
          <a:xfrm flipV="1">
            <a:off x="3734637" y="8967666"/>
            <a:ext cx="804534" cy="173733"/>
          </a:xfrm>
          <a:prstGeom prst="straightConnector1">
            <a:avLst/>
          </a:prstGeom>
          <a:noFill/>
          <a:ln w="9525" cap="flat" cmpd="sng">
            <a:solidFill>
              <a:srgbClr val="44546A"/>
            </a:solidFill>
            <a:prstDash val="solid"/>
            <a:round/>
            <a:headEnd type="none" w="med" len="med"/>
            <a:tailEnd type="triangle" w="med" len="med"/>
          </a:ln>
        </p:spPr>
      </p:cxnSp>
      <p:cxnSp>
        <p:nvCxnSpPr>
          <p:cNvPr id="270" name="Google Shape;186;p13">
            <a:extLst>
              <a:ext uri="{FF2B5EF4-FFF2-40B4-BE49-F238E27FC236}">
                <a16:creationId xmlns:a16="http://schemas.microsoft.com/office/drawing/2014/main" id="{95821125-E892-B9ED-70EA-7DD83D9D1D8F}"/>
              </a:ext>
            </a:extLst>
          </p:cNvPr>
          <p:cNvCxnSpPr>
            <a:cxnSpLocks/>
            <a:stCxn id="237" idx="3"/>
            <a:endCxn id="241" idx="1"/>
          </p:cNvCxnSpPr>
          <p:nvPr/>
        </p:nvCxnSpPr>
        <p:spPr>
          <a:xfrm>
            <a:off x="3734637" y="9141399"/>
            <a:ext cx="804659" cy="163097"/>
          </a:xfrm>
          <a:prstGeom prst="straightConnector1">
            <a:avLst/>
          </a:prstGeom>
          <a:noFill/>
          <a:ln w="9525" cap="flat" cmpd="sng">
            <a:solidFill>
              <a:srgbClr val="44546A"/>
            </a:solidFill>
            <a:prstDash val="solid"/>
            <a:round/>
            <a:headEnd type="none" w="med" len="med"/>
            <a:tailEnd type="triangle" w="med" len="med"/>
          </a:ln>
        </p:spPr>
      </p:cxnSp>
      <p:cxnSp>
        <p:nvCxnSpPr>
          <p:cNvPr id="271" name="Google Shape;187;p13">
            <a:extLst>
              <a:ext uri="{FF2B5EF4-FFF2-40B4-BE49-F238E27FC236}">
                <a16:creationId xmlns:a16="http://schemas.microsoft.com/office/drawing/2014/main" id="{85415118-A5D7-E9C9-372A-531270162A60}"/>
              </a:ext>
            </a:extLst>
          </p:cNvPr>
          <p:cNvCxnSpPr>
            <a:cxnSpLocks/>
            <a:stCxn id="239" idx="3"/>
            <a:endCxn id="242" idx="1"/>
          </p:cNvCxnSpPr>
          <p:nvPr/>
        </p:nvCxnSpPr>
        <p:spPr>
          <a:xfrm>
            <a:off x="10623577" y="8576164"/>
            <a:ext cx="327194" cy="5685"/>
          </a:xfrm>
          <a:prstGeom prst="straightConnector1">
            <a:avLst/>
          </a:prstGeom>
          <a:noFill/>
          <a:ln w="9525" cap="flat" cmpd="sng">
            <a:solidFill>
              <a:srgbClr val="44546A"/>
            </a:solidFill>
            <a:prstDash val="solid"/>
            <a:round/>
            <a:headEnd type="none" w="med" len="med"/>
            <a:tailEnd type="triangle" w="med" len="med"/>
          </a:ln>
        </p:spPr>
      </p:cxnSp>
      <p:cxnSp>
        <p:nvCxnSpPr>
          <p:cNvPr id="272" name="Google Shape;188;p13">
            <a:extLst>
              <a:ext uri="{FF2B5EF4-FFF2-40B4-BE49-F238E27FC236}">
                <a16:creationId xmlns:a16="http://schemas.microsoft.com/office/drawing/2014/main" id="{C918F44F-573C-136A-E83A-AB0F2DC222AC}"/>
              </a:ext>
            </a:extLst>
          </p:cNvPr>
          <p:cNvCxnSpPr>
            <a:cxnSpLocks/>
            <a:stCxn id="240" idx="3"/>
            <a:endCxn id="243" idx="1"/>
          </p:cNvCxnSpPr>
          <p:nvPr/>
        </p:nvCxnSpPr>
        <p:spPr>
          <a:xfrm>
            <a:off x="10623477" y="8967666"/>
            <a:ext cx="336003" cy="74"/>
          </a:xfrm>
          <a:prstGeom prst="straightConnector1">
            <a:avLst/>
          </a:prstGeom>
          <a:noFill/>
          <a:ln w="9525" cap="flat" cmpd="sng">
            <a:solidFill>
              <a:srgbClr val="44546A"/>
            </a:solidFill>
            <a:prstDash val="solid"/>
            <a:round/>
            <a:headEnd type="none" w="med" len="med"/>
            <a:tailEnd type="triangle" w="med" len="med"/>
          </a:ln>
        </p:spPr>
      </p:cxnSp>
      <p:cxnSp>
        <p:nvCxnSpPr>
          <p:cNvPr id="273" name="Google Shape;189;p13">
            <a:extLst>
              <a:ext uri="{FF2B5EF4-FFF2-40B4-BE49-F238E27FC236}">
                <a16:creationId xmlns:a16="http://schemas.microsoft.com/office/drawing/2014/main" id="{CE495336-4B17-7911-2EE9-A70D14C0972D}"/>
              </a:ext>
            </a:extLst>
          </p:cNvPr>
          <p:cNvCxnSpPr>
            <a:cxnSpLocks/>
            <a:stCxn id="241" idx="3"/>
            <a:endCxn id="244" idx="1"/>
          </p:cNvCxnSpPr>
          <p:nvPr/>
        </p:nvCxnSpPr>
        <p:spPr>
          <a:xfrm flipV="1">
            <a:off x="10623602" y="9299180"/>
            <a:ext cx="335878" cy="0"/>
          </a:xfrm>
          <a:prstGeom prst="straightConnector1">
            <a:avLst/>
          </a:prstGeom>
          <a:noFill/>
          <a:ln w="9525" cap="flat" cmpd="sng">
            <a:solidFill>
              <a:srgbClr val="44546A"/>
            </a:solidFill>
            <a:prstDash val="solid"/>
            <a:round/>
            <a:headEnd type="none" w="med" len="med"/>
            <a:tailEnd type="triangle" w="med" len="med"/>
          </a:ln>
        </p:spPr>
      </p:cxnSp>
      <p:cxnSp>
        <p:nvCxnSpPr>
          <p:cNvPr id="274" name="Google Shape;190;p13">
            <a:extLst>
              <a:ext uri="{FF2B5EF4-FFF2-40B4-BE49-F238E27FC236}">
                <a16:creationId xmlns:a16="http://schemas.microsoft.com/office/drawing/2014/main" id="{6CD3CB83-5446-6F30-3CD7-05D022603292}"/>
              </a:ext>
            </a:extLst>
          </p:cNvPr>
          <p:cNvCxnSpPr>
            <a:cxnSpLocks/>
            <a:stCxn id="248" idx="3"/>
            <a:endCxn id="249" idx="1"/>
          </p:cNvCxnSpPr>
          <p:nvPr/>
        </p:nvCxnSpPr>
        <p:spPr>
          <a:xfrm flipV="1">
            <a:off x="4068492" y="10008056"/>
            <a:ext cx="466154" cy="54775"/>
          </a:xfrm>
          <a:prstGeom prst="straightConnector1">
            <a:avLst/>
          </a:prstGeom>
          <a:noFill/>
          <a:ln w="9525" cap="flat" cmpd="sng">
            <a:solidFill>
              <a:srgbClr val="44546A"/>
            </a:solidFill>
            <a:prstDash val="solid"/>
            <a:round/>
            <a:headEnd type="none" w="med" len="med"/>
            <a:tailEnd type="triangle" w="med" len="med"/>
          </a:ln>
        </p:spPr>
      </p:cxnSp>
      <p:cxnSp>
        <p:nvCxnSpPr>
          <p:cNvPr id="275" name="Google Shape;191;p13">
            <a:extLst>
              <a:ext uri="{FF2B5EF4-FFF2-40B4-BE49-F238E27FC236}">
                <a16:creationId xmlns:a16="http://schemas.microsoft.com/office/drawing/2014/main" id="{C3763776-81AC-DA11-E824-5B95C0A9E30B}"/>
              </a:ext>
            </a:extLst>
          </p:cNvPr>
          <p:cNvCxnSpPr>
            <a:cxnSpLocks/>
            <a:stCxn id="248" idx="3"/>
            <a:endCxn id="250" idx="1"/>
          </p:cNvCxnSpPr>
          <p:nvPr/>
        </p:nvCxnSpPr>
        <p:spPr>
          <a:xfrm>
            <a:off x="4068492" y="10062831"/>
            <a:ext cx="464758" cy="277631"/>
          </a:xfrm>
          <a:prstGeom prst="straightConnector1">
            <a:avLst/>
          </a:prstGeom>
          <a:noFill/>
          <a:ln w="9525" cap="flat" cmpd="sng">
            <a:solidFill>
              <a:srgbClr val="44546A"/>
            </a:solidFill>
            <a:prstDash val="solid"/>
            <a:round/>
            <a:headEnd type="none" w="med" len="med"/>
            <a:tailEnd type="triangle" w="med" len="med"/>
          </a:ln>
        </p:spPr>
      </p:cxnSp>
      <p:cxnSp>
        <p:nvCxnSpPr>
          <p:cNvPr id="276" name="Google Shape;192;p13">
            <a:extLst>
              <a:ext uri="{FF2B5EF4-FFF2-40B4-BE49-F238E27FC236}">
                <a16:creationId xmlns:a16="http://schemas.microsoft.com/office/drawing/2014/main" id="{5F1BAADA-9DAE-3369-3DF9-B300B3E5EE6D}"/>
              </a:ext>
            </a:extLst>
          </p:cNvPr>
          <p:cNvCxnSpPr>
            <a:cxnSpLocks/>
          </p:cNvCxnSpPr>
          <p:nvPr/>
        </p:nvCxnSpPr>
        <p:spPr>
          <a:xfrm>
            <a:off x="4068492" y="10634721"/>
            <a:ext cx="6887029" cy="0"/>
          </a:xfrm>
          <a:prstGeom prst="straightConnector1">
            <a:avLst/>
          </a:prstGeom>
          <a:noFill/>
          <a:ln w="9525" cap="flat" cmpd="sng">
            <a:solidFill>
              <a:srgbClr val="44546A"/>
            </a:solidFill>
            <a:prstDash val="solid"/>
            <a:round/>
            <a:headEnd type="none" w="med" len="med"/>
            <a:tailEnd type="triangle" w="med" len="med"/>
          </a:ln>
        </p:spPr>
      </p:cxnSp>
      <p:cxnSp>
        <p:nvCxnSpPr>
          <p:cNvPr id="277" name="Google Shape;193;p13">
            <a:extLst>
              <a:ext uri="{FF2B5EF4-FFF2-40B4-BE49-F238E27FC236}">
                <a16:creationId xmlns:a16="http://schemas.microsoft.com/office/drawing/2014/main" id="{58BD5A70-D86C-3379-1B72-7FCCA5AD3C8C}"/>
              </a:ext>
            </a:extLst>
          </p:cNvPr>
          <p:cNvCxnSpPr>
            <a:cxnSpLocks/>
            <a:stCxn id="249" idx="3"/>
            <a:endCxn id="252" idx="1"/>
          </p:cNvCxnSpPr>
          <p:nvPr/>
        </p:nvCxnSpPr>
        <p:spPr>
          <a:xfrm flipV="1">
            <a:off x="10619574" y="9980251"/>
            <a:ext cx="198787" cy="0"/>
          </a:xfrm>
          <a:prstGeom prst="straightConnector1">
            <a:avLst/>
          </a:prstGeom>
          <a:noFill/>
          <a:ln w="9525" cap="flat" cmpd="sng">
            <a:solidFill>
              <a:srgbClr val="44546A"/>
            </a:solidFill>
            <a:prstDash val="solid"/>
            <a:round/>
            <a:headEnd type="none" w="med" len="med"/>
            <a:tailEnd type="triangle" w="med" len="med"/>
          </a:ln>
        </p:spPr>
      </p:cxnSp>
      <p:cxnSp>
        <p:nvCxnSpPr>
          <p:cNvPr id="278" name="Google Shape;194;p13">
            <a:extLst>
              <a:ext uri="{FF2B5EF4-FFF2-40B4-BE49-F238E27FC236}">
                <a16:creationId xmlns:a16="http://schemas.microsoft.com/office/drawing/2014/main" id="{E2277CBE-1FFE-DAF3-2AF2-5E2F5D2BDDA1}"/>
              </a:ext>
            </a:extLst>
          </p:cNvPr>
          <p:cNvCxnSpPr>
            <a:cxnSpLocks/>
            <a:stCxn id="250" idx="3"/>
          </p:cNvCxnSpPr>
          <p:nvPr/>
        </p:nvCxnSpPr>
        <p:spPr>
          <a:xfrm flipV="1">
            <a:off x="10619572" y="10339399"/>
            <a:ext cx="335949" cy="1063"/>
          </a:xfrm>
          <a:prstGeom prst="straightConnector1">
            <a:avLst/>
          </a:prstGeom>
          <a:noFill/>
          <a:ln w="9525" cap="flat" cmpd="sng">
            <a:solidFill>
              <a:srgbClr val="44546A"/>
            </a:solidFill>
            <a:prstDash val="solid"/>
            <a:round/>
            <a:headEnd type="none" w="med" len="med"/>
            <a:tailEnd type="triangle" w="med" len="med"/>
          </a:ln>
        </p:spPr>
      </p:cxnSp>
      <p:cxnSp>
        <p:nvCxnSpPr>
          <p:cNvPr id="279" name="Google Shape;195;p13">
            <a:extLst>
              <a:ext uri="{FF2B5EF4-FFF2-40B4-BE49-F238E27FC236}">
                <a16:creationId xmlns:a16="http://schemas.microsoft.com/office/drawing/2014/main" id="{1A1E6AED-A689-8467-D015-C73272A4A050}"/>
              </a:ext>
            </a:extLst>
          </p:cNvPr>
          <p:cNvCxnSpPr>
            <a:cxnSpLocks/>
            <a:stCxn id="246" idx="3"/>
            <a:endCxn id="248" idx="1"/>
          </p:cNvCxnSpPr>
          <p:nvPr/>
        </p:nvCxnSpPr>
        <p:spPr>
          <a:xfrm flipV="1">
            <a:off x="1196421" y="10062831"/>
            <a:ext cx="464757" cy="298558"/>
          </a:xfrm>
          <a:prstGeom prst="straightConnector1">
            <a:avLst/>
          </a:prstGeom>
          <a:noFill/>
          <a:ln w="9525" cap="flat" cmpd="sng">
            <a:solidFill>
              <a:srgbClr val="44546A"/>
            </a:solidFill>
            <a:prstDash val="solid"/>
            <a:round/>
            <a:headEnd type="none" w="med" len="med"/>
            <a:tailEnd type="triangle" w="med" len="med"/>
          </a:ln>
        </p:spPr>
      </p:cxnSp>
      <p:cxnSp>
        <p:nvCxnSpPr>
          <p:cNvPr id="280" name="Google Shape;196;p13">
            <a:extLst>
              <a:ext uri="{FF2B5EF4-FFF2-40B4-BE49-F238E27FC236}">
                <a16:creationId xmlns:a16="http://schemas.microsoft.com/office/drawing/2014/main" id="{DB9AE338-AEE3-AAD6-A3C2-D057C5D70EEE}"/>
              </a:ext>
            </a:extLst>
          </p:cNvPr>
          <p:cNvCxnSpPr>
            <a:cxnSpLocks/>
            <a:stCxn id="246" idx="3"/>
            <a:endCxn id="247" idx="1"/>
          </p:cNvCxnSpPr>
          <p:nvPr/>
        </p:nvCxnSpPr>
        <p:spPr>
          <a:xfrm>
            <a:off x="1196421" y="10361389"/>
            <a:ext cx="459366" cy="207613"/>
          </a:xfrm>
          <a:prstGeom prst="straightConnector1">
            <a:avLst/>
          </a:prstGeom>
          <a:noFill/>
          <a:ln w="9525" cap="flat" cmpd="sng">
            <a:solidFill>
              <a:srgbClr val="44546A"/>
            </a:solidFill>
            <a:prstDash val="solid"/>
            <a:round/>
            <a:headEnd type="none" w="med" len="med"/>
            <a:tailEnd type="triangle" w="med" len="med"/>
          </a:ln>
        </p:spPr>
      </p:cxnSp>
      <p:cxnSp>
        <p:nvCxnSpPr>
          <p:cNvPr id="283" name="Google Shape;221;p13">
            <a:extLst>
              <a:ext uri="{FF2B5EF4-FFF2-40B4-BE49-F238E27FC236}">
                <a16:creationId xmlns:a16="http://schemas.microsoft.com/office/drawing/2014/main" id="{FB1FA40B-24F0-D9EE-80C8-ED327E4069F2}"/>
              </a:ext>
            </a:extLst>
          </p:cNvPr>
          <p:cNvCxnSpPr>
            <a:cxnSpLocks/>
            <a:stCxn id="238" idx="3"/>
            <a:endCxn id="245" idx="1"/>
          </p:cNvCxnSpPr>
          <p:nvPr/>
        </p:nvCxnSpPr>
        <p:spPr>
          <a:xfrm flipV="1">
            <a:off x="10623477" y="9630523"/>
            <a:ext cx="331919" cy="0"/>
          </a:xfrm>
          <a:prstGeom prst="straightConnector1">
            <a:avLst/>
          </a:prstGeom>
          <a:noFill/>
          <a:ln w="9525" cap="flat" cmpd="sng">
            <a:solidFill>
              <a:schemeClr val="dk2"/>
            </a:solidFill>
            <a:prstDash val="solid"/>
            <a:round/>
            <a:headEnd type="none" w="med" len="med"/>
            <a:tailEnd type="triangle" w="med" len="med"/>
          </a:ln>
        </p:spPr>
      </p:cxnSp>
      <p:cxnSp>
        <p:nvCxnSpPr>
          <p:cNvPr id="284" name="Google Shape;222;p13">
            <a:extLst>
              <a:ext uri="{FF2B5EF4-FFF2-40B4-BE49-F238E27FC236}">
                <a16:creationId xmlns:a16="http://schemas.microsoft.com/office/drawing/2014/main" id="{F1B7AADA-5D39-0A42-2E64-4852B539C68B}"/>
              </a:ext>
            </a:extLst>
          </p:cNvPr>
          <p:cNvCxnSpPr>
            <a:cxnSpLocks/>
            <a:stCxn id="236" idx="3"/>
            <a:endCxn id="239" idx="1"/>
          </p:cNvCxnSpPr>
          <p:nvPr/>
        </p:nvCxnSpPr>
        <p:spPr>
          <a:xfrm flipV="1">
            <a:off x="3734637" y="8576164"/>
            <a:ext cx="804634" cy="238110"/>
          </a:xfrm>
          <a:prstGeom prst="straightConnector1">
            <a:avLst/>
          </a:prstGeom>
          <a:noFill/>
          <a:ln w="9525" cap="flat" cmpd="sng">
            <a:solidFill>
              <a:schemeClr val="dk2"/>
            </a:solidFill>
            <a:prstDash val="solid"/>
            <a:round/>
            <a:headEnd type="none" w="med" len="med"/>
            <a:tailEnd type="triangle" w="med" len="med"/>
          </a:ln>
        </p:spPr>
      </p:cxnSp>
      <p:sp>
        <p:nvSpPr>
          <p:cNvPr id="295" name="Google Shape;84;p13">
            <a:extLst>
              <a:ext uri="{FF2B5EF4-FFF2-40B4-BE49-F238E27FC236}">
                <a16:creationId xmlns:a16="http://schemas.microsoft.com/office/drawing/2014/main" id="{FD1003FF-BB28-2ACE-DAC9-23452534DF0D}"/>
              </a:ext>
            </a:extLst>
          </p:cNvPr>
          <p:cNvSpPr/>
          <p:nvPr/>
        </p:nvSpPr>
        <p:spPr>
          <a:xfrm>
            <a:off x="3059187" y="4463191"/>
            <a:ext cx="7562644" cy="27690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400" dirty="0">
                <a:solidFill>
                  <a:schemeClr val="tx1"/>
                </a:solidFill>
                <a:latin typeface="Times New Roman" panose="02020603050405020304" pitchFamily="18" charset="0"/>
                <a:ea typeface="Times New Roman"/>
                <a:cs typeface="Times New Roman" panose="02020603050405020304" pitchFamily="18" charset="0"/>
                <a:sym typeface="Times New Roman"/>
              </a:rPr>
              <a:t>Deletions of single </a:t>
            </a:r>
            <a:r>
              <a:rPr lang="en" sz="1400" dirty="0">
                <a:solidFill>
                  <a:schemeClr val="tx1"/>
                </a:solidFill>
                <a:latin typeface="Times New Roman" panose="02020603050405020304" pitchFamily="18" charset="0"/>
                <a:ea typeface="Times New Roman"/>
                <a:cs typeface="Times New Roman" panose="02020603050405020304" pitchFamily="18" charset="0"/>
                <a:sym typeface="Times New Roman"/>
              </a:rPr>
              <a:t>e</a:t>
            </a:r>
            <a:r>
              <a:rPr lang="en" sz="1400" b="0" i="0" u="none" strike="noStrike" cap="none" dirty="0">
                <a:solidFill>
                  <a:schemeClr val="tx1"/>
                </a:solidFill>
                <a:latin typeface="Times New Roman" panose="02020603050405020304" pitchFamily="18" charset="0"/>
                <a:ea typeface="Times New Roman"/>
                <a:cs typeface="Times New Roman" panose="02020603050405020304" pitchFamily="18" charset="0"/>
                <a:sym typeface="Times New Roman"/>
              </a:rPr>
              <a:t>xons 1, 9, 11, 12, or 14 in NM_</a:t>
            </a:r>
            <a:r>
              <a:rPr lang="en-US" sz="1400" dirty="0">
                <a:solidFill>
                  <a:schemeClr val="tx1"/>
                </a:solidFill>
                <a:latin typeface="Times New Roman" panose="02020603050405020304" pitchFamily="18" charset="0"/>
                <a:cs typeface="Times New Roman" panose="02020603050405020304" pitchFamily="18" charset="0"/>
              </a:rPr>
              <a:t> 001034853.2</a:t>
            </a:r>
            <a:endParaRPr sz="2000" dirty="0">
              <a:solidFill>
                <a:schemeClr val="tx1"/>
              </a:solidFill>
              <a:latin typeface="Times New Roman" panose="02020603050405020304" pitchFamily="18" charset="0"/>
              <a:cs typeface="Times New Roman" panose="02020603050405020304" pitchFamily="18" charset="0"/>
            </a:endParaRPr>
          </a:p>
        </p:txBody>
      </p:sp>
      <p:sp>
        <p:nvSpPr>
          <p:cNvPr id="296" name="Google Shape;85;p13">
            <a:extLst>
              <a:ext uri="{FF2B5EF4-FFF2-40B4-BE49-F238E27FC236}">
                <a16:creationId xmlns:a16="http://schemas.microsoft.com/office/drawing/2014/main" id="{45F16225-E38B-B4F2-B7E6-D272D6A7EE1D}"/>
              </a:ext>
            </a:extLst>
          </p:cNvPr>
          <p:cNvSpPr/>
          <p:nvPr/>
        </p:nvSpPr>
        <p:spPr>
          <a:xfrm>
            <a:off x="3061729" y="5482797"/>
            <a:ext cx="7562648" cy="407265"/>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400" dirty="0">
                <a:solidFill>
                  <a:schemeClr val="tx1"/>
                </a:solidFill>
                <a:latin typeface="Times New Roman" panose="02020603050405020304" pitchFamily="18" charset="0"/>
                <a:cs typeface="Times New Roman" panose="02020603050405020304" pitchFamily="18" charset="0"/>
              </a:rPr>
              <a:t>NM_001034853.2 :c.1705-3398</a:t>
            </a:r>
            <a:r>
              <a:rPr lang="en-US" sz="1400" dirty="0">
                <a:solidFill>
                  <a:schemeClr val="tx1"/>
                </a:solidFill>
                <a:latin typeface="Times New Roman" panose="02020603050405020304" pitchFamily="18" charset="0"/>
                <a:ea typeface="Times New Roman"/>
                <a:cs typeface="Times New Roman" panose="02020603050405020304" pitchFamily="18" charset="0"/>
                <a:sym typeface="Times New Roman"/>
              </a:rPr>
              <a:t> variants in codons 619-1132, disrupt ORF15 glutamylation, a  critical function </a:t>
            </a:r>
            <a:r>
              <a:rPr lang="en-US" sz="1400" baseline="30000" dirty="0">
                <a:solidFill>
                  <a:schemeClr val="tx1"/>
                </a:solidFill>
                <a:latin typeface="Times New Roman" panose="02020603050405020304" pitchFamily="18" charset="0"/>
                <a:ea typeface="Times New Roman"/>
                <a:cs typeface="Times New Roman" panose="02020603050405020304" pitchFamily="18" charset="0"/>
                <a:sym typeface="Times New Roman"/>
              </a:rPr>
              <a:t>c</a:t>
            </a:r>
            <a:r>
              <a:rPr lang="en" sz="1400" baseline="30000" dirty="0">
                <a:solidFill>
                  <a:schemeClr val="tx1"/>
                </a:solidFill>
                <a:latin typeface="Times New Roman" panose="02020603050405020304" pitchFamily="18" charset="0"/>
                <a:ea typeface="Times New Roman"/>
                <a:cs typeface="Times New Roman" panose="02020603050405020304" pitchFamily="18" charset="0"/>
                <a:sym typeface="Times New Roman"/>
              </a:rPr>
              <a:t> , g</a:t>
            </a:r>
            <a:endParaRPr lang="en-US" sz="1400" dirty="0">
              <a:solidFill>
                <a:schemeClr val="tx1"/>
              </a:solidFill>
              <a:latin typeface="Times New Roman" panose="02020603050405020304" pitchFamily="18" charset="0"/>
              <a:ea typeface="Times New Roman"/>
              <a:cs typeface="Times New Roman" panose="02020603050405020304" pitchFamily="18" charset="0"/>
              <a:sym typeface="Times New Roman"/>
            </a:endParaRPr>
          </a:p>
        </p:txBody>
      </p:sp>
      <p:sp>
        <p:nvSpPr>
          <p:cNvPr id="297" name="Google Shape;86;p13">
            <a:extLst>
              <a:ext uri="{FF2B5EF4-FFF2-40B4-BE49-F238E27FC236}">
                <a16:creationId xmlns:a16="http://schemas.microsoft.com/office/drawing/2014/main" id="{E6CCE50D-898C-BE5A-2E4E-448279F8CC5A}"/>
              </a:ext>
            </a:extLst>
          </p:cNvPr>
          <p:cNvSpPr/>
          <p:nvPr/>
        </p:nvSpPr>
        <p:spPr>
          <a:xfrm>
            <a:off x="3059187" y="5141700"/>
            <a:ext cx="7562648" cy="27690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 sz="1400" b="0" i="0" u="none" strike="noStrike" cap="none">
                <a:solidFill>
                  <a:schemeClr val="tx1"/>
                </a:solidFill>
                <a:latin typeface="Times New Roman" panose="02020603050405020304" pitchFamily="18" charset="0"/>
                <a:ea typeface="Times New Roman"/>
                <a:cs typeface="Times New Roman" panose="02020603050405020304" pitchFamily="18" charset="0"/>
                <a:sym typeface="Times New Roman"/>
              </a:rPr>
              <a:t>Exon is absent from </a:t>
            </a:r>
            <a:r>
              <a:rPr lang="en" sz="1400">
                <a:solidFill>
                  <a:schemeClr val="tx1"/>
                </a:solidFill>
                <a:latin typeface="Times New Roman" panose="02020603050405020304" pitchFamily="18" charset="0"/>
                <a:ea typeface="Times New Roman"/>
                <a:cs typeface="Times New Roman" panose="02020603050405020304" pitchFamily="18" charset="0"/>
                <a:sym typeface="Times New Roman"/>
              </a:rPr>
              <a:t>biologically-relevant transcript(s)</a:t>
            </a:r>
            <a:endParaRPr sz="1400">
              <a:solidFill>
                <a:schemeClr val="tx1"/>
              </a:solidFill>
              <a:latin typeface="Times New Roman" panose="02020603050405020304" pitchFamily="18" charset="0"/>
              <a:ea typeface="Times New Roman"/>
              <a:cs typeface="Times New Roman" panose="02020603050405020304" pitchFamily="18" charset="0"/>
              <a:sym typeface="Times New Roman"/>
            </a:endParaRPr>
          </a:p>
        </p:txBody>
      </p:sp>
      <p:sp>
        <p:nvSpPr>
          <p:cNvPr id="298" name="Google Shape;92;p13">
            <a:extLst>
              <a:ext uri="{FF2B5EF4-FFF2-40B4-BE49-F238E27FC236}">
                <a16:creationId xmlns:a16="http://schemas.microsoft.com/office/drawing/2014/main" id="{034B7C2E-6627-492B-DC1C-89B95B3E2C50}"/>
              </a:ext>
            </a:extLst>
          </p:cNvPr>
          <p:cNvSpPr/>
          <p:nvPr/>
        </p:nvSpPr>
        <p:spPr>
          <a:xfrm>
            <a:off x="10955520" y="4463191"/>
            <a:ext cx="1281000" cy="27690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 sz="1400" b="0" i="0" u="none" strike="noStrike" cap="none" dirty="0">
                <a:solidFill>
                  <a:schemeClr val="tx1"/>
                </a:solidFill>
                <a:latin typeface="Times New Roman" panose="02020603050405020304" pitchFamily="18" charset="0"/>
                <a:ea typeface="Times New Roman"/>
                <a:cs typeface="Times New Roman" panose="02020603050405020304" pitchFamily="18" charset="0"/>
                <a:sym typeface="Times New Roman"/>
              </a:rPr>
              <a:t>PVS1</a:t>
            </a:r>
            <a:endParaRPr sz="2000" dirty="0">
              <a:solidFill>
                <a:schemeClr val="tx1"/>
              </a:solidFill>
              <a:latin typeface="Times New Roman" panose="02020603050405020304" pitchFamily="18" charset="0"/>
              <a:cs typeface="Times New Roman" panose="02020603050405020304" pitchFamily="18" charset="0"/>
            </a:endParaRPr>
          </a:p>
        </p:txBody>
      </p:sp>
      <p:sp>
        <p:nvSpPr>
          <p:cNvPr id="299" name="Google Shape;93;p13">
            <a:extLst>
              <a:ext uri="{FF2B5EF4-FFF2-40B4-BE49-F238E27FC236}">
                <a16:creationId xmlns:a16="http://schemas.microsoft.com/office/drawing/2014/main" id="{A58A14DE-ED39-3030-88DB-DDB73F400F81}"/>
              </a:ext>
            </a:extLst>
          </p:cNvPr>
          <p:cNvSpPr/>
          <p:nvPr/>
        </p:nvSpPr>
        <p:spPr>
          <a:xfrm>
            <a:off x="10955520" y="5148076"/>
            <a:ext cx="1281000" cy="27690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 sz="1400" b="0" i="0" u="none" strike="noStrike" cap="none">
                <a:solidFill>
                  <a:schemeClr val="tx1"/>
                </a:solidFill>
                <a:latin typeface="Times New Roman" panose="02020603050405020304" pitchFamily="18" charset="0"/>
                <a:ea typeface="Times New Roman"/>
                <a:cs typeface="Times New Roman" panose="02020603050405020304" pitchFamily="18" charset="0"/>
                <a:sym typeface="Times New Roman"/>
              </a:rPr>
              <a:t>N/A</a:t>
            </a:r>
            <a:endParaRPr sz="2000">
              <a:solidFill>
                <a:schemeClr val="tx1"/>
              </a:solidFill>
              <a:latin typeface="Times New Roman" panose="02020603050405020304" pitchFamily="18" charset="0"/>
              <a:cs typeface="Times New Roman" panose="02020603050405020304" pitchFamily="18" charset="0"/>
            </a:endParaRPr>
          </a:p>
        </p:txBody>
      </p:sp>
      <p:sp>
        <p:nvSpPr>
          <p:cNvPr id="300" name="Google Shape;94;p13">
            <a:extLst>
              <a:ext uri="{FF2B5EF4-FFF2-40B4-BE49-F238E27FC236}">
                <a16:creationId xmlns:a16="http://schemas.microsoft.com/office/drawing/2014/main" id="{AB23F6C2-01B4-065C-E758-4596E0FF478B}"/>
              </a:ext>
            </a:extLst>
          </p:cNvPr>
          <p:cNvSpPr/>
          <p:nvPr/>
        </p:nvSpPr>
        <p:spPr>
          <a:xfrm>
            <a:off x="10955520" y="5541670"/>
            <a:ext cx="1281000" cy="27690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 sz="1400" b="0" i="0" u="none" strike="noStrike" cap="none" dirty="0">
                <a:solidFill>
                  <a:schemeClr val="tx1"/>
                </a:solidFill>
                <a:latin typeface="Times New Roman" panose="02020603050405020304" pitchFamily="18" charset="0"/>
                <a:ea typeface="Times New Roman"/>
                <a:cs typeface="Times New Roman" panose="02020603050405020304" pitchFamily="18" charset="0"/>
                <a:sym typeface="Times New Roman"/>
              </a:rPr>
              <a:t>PVS1</a:t>
            </a:r>
            <a:endParaRPr sz="2000" dirty="0">
              <a:solidFill>
                <a:schemeClr val="tx1"/>
              </a:solidFill>
              <a:latin typeface="Times New Roman" panose="02020603050405020304" pitchFamily="18" charset="0"/>
              <a:cs typeface="Times New Roman" panose="02020603050405020304" pitchFamily="18" charset="0"/>
            </a:endParaRPr>
          </a:p>
        </p:txBody>
      </p:sp>
      <p:cxnSp>
        <p:nvCxnSpPr>
          <p:cNvPr id="301" name="Google Shape;104;p13">
            <a:extLst>
              <a:ext uri="{FF2B5EF4-FFF2-40B4-BE49-F238E27FC236}">
                <a16:creationId xmlns:a16="http://schemas.microsoft.com/office/drawing/2014/main" id="{A4F8DA99-CD02-B6FD-6AE2-B9F445FD8625}"/>
              </a:ext>
            </a:extLst>
          </p:cNvPr>
          <p:cNvCxnSpPr>
            <a:cxnSpLocks/>
            <a:endCxn id="295" idx="1"/>
          </p:cNvCxnSpPr>
          <p:nvPr/>
        </p:nvCxnSpPr>
        <p:spPr>
          <a:xfrm flipV="1">
            <a:off x="2795059" y="4601641"/>
            <a:ext cx="264128" cy="339318"/>
          </a:xfrm>
          <a:prstGeom prst="straightConnector1">
            <a:avLst/>
          </a:prstGeom>
          <a:noFill/>
          <a:ln w="9525" cap="flat" cmpd="sng">
            <a:solidFill>
              <a:srgbClr val="44546A"/>
            </a:solidFill>
            <a:prstDash val="solid"/>
            <a:round/>
            <a:headEnd type="none" w="med" len="med"/>
            <a:tailEnd type="triangle" w="med" len="med"/>
          </a:ln>
        </p:spPr>
      </p:cxnSp>
      <p:cxnSp>
        <p:nvCxnSpPr>
          <p:cNvPr id="302" name="Google Shape;105;p13">
            <a:extLst>
              <a:ext uri="{FF2B5EF4-FFF2-40B4-BE49-F238E27FC236}">
                <a16:creationId xmlns:a16="http://schemas.microsoft.com/office/drawing/2014/main" id="{83835A74-2ADC-CD8A-59F0-4DF52C484BE2}"/>
              </a:ext>
            </a:extLst>
          </p:cNvPr>
          <p:cNvCxnSpPr>
            <a:cxnSpLocks/>
            <a:endCxn id="297" idx="1"/>
          </p:cNvCxnSpPr>
          <p:nvPr/>
        </p:nvCxnSpPr>
        <p:spPr>
          <a:xfrm>
            <a:off x="2795059" y="4940959"/>
            <a:ext cx="264128" cy="339191"/>
          </a:xfrm>
          <a:prstGeom prst="straightConnector1">
            <a:avLst/>
          </a:prstGeom>
          <a:noFill/>
          <a:ln w="9525" cap="flat" cmpd="sng">
            <a:solidFill>
              <a:srgbClr val="44546A"/>
            </a:solidFill>
            <a:prstDash val="solid"/>
            <a:round/>
            <a:headEnd type="none" w="med" len="med"/>
            <a:tailEnd type="triangle" w="med" len="med"/>
          </a:ln>
        </p:spPr>
      </p:cxnSp>
      <p:cxnSp>
        <p:nvCxnSpPr>
          <p:cNvPr id="303" name="Google Shape;118;p13">
            <a:extLst>
              <a:ext uri="{FF2B5EF4-FFF2-40B4-BE49-F238E27FC236}">
                <a16:creationId xmlns:a16="http://schemas.microsoft.com/office/drawing/2014/main" id="{41613370-2C69-E887-24F8-EDE2E2B7A167}"/>
              </a:ext>
            </a:extLst>
          </p:cNvPr>
          <p:cNvCxnSpPr>
            <a:cxnSpLocks/>
            <a:stCxn id="295" idx="3"/>
            <a:endCxn id="298" idx="1"/>
          </p:cNvCxnSpPr>
          <p:nvPr/>
        </p:nvCxnSpPr>
        <p:spPr>
          <a:xfrm>
            <a:off x="10621831" y="4601641"/>
            <a:ext cx="333689" cy="0"/>
          </a:xfrm>
          <a:prstGeom prst="straightConnector1">
            <a:avLst/>
          </a:prstGeom>
          <a:noFill/>
          <a:ln w="9525" cap="flat" cmpd="sng">
            <a:solidFill>
              <a:srgbClr val="595959"/>
            </a:solidFill>
            <a:prstDash val="solid"/>
            <a:round/>
            <a:headEnd type="none" w="med" len="med"/>
            <a:tailEnd type="triangle" w="med" len="med"/>
          </a:ln>
        </p:spPr>
      </p:cxnSp>
      <p:cxnSp>
        <p:nvCxnSpPr>
          <p:cNvPr id="304" name="Google Shape;119;p13">
            <a:extLst>
              <a:ext uri="{FF2B5EF4-FFF2-40B4-BE49-F238E27FC236}">
                <a16:creationId xmlns:a16="http://schemas.microsoft.com/office/drawing/2014/main" id="{A9972E53-C373-E267-45FE-1FAD7B968332}"/>
              </a:ext>
            </a:extLst>
          </p:cNvPr>
          <p:cNvCxnSpPr>
            <a:cxnSpLocks/>
            <a:stCxn id="297" idx="3"/>
            <a:endCxn id="299" idx="1"/>
          </p:cNvCxnSpPr>
          <p:nvPr/>
        </p:nvCxnSpPr>
        <p:spPr>
          <a:xfrm>
            <a:off x="10621835" y="5280150"/>
            <a:ext cx="333685" cy="6376"/>
          </a:xfrm>
          <a:prstGeom prst="straightConnector1">
            <a:avLst/>
          </a:prstGeom>
          <a:noFill/>
          <a:ln w="9525" cap="flat" cmpd="sng">
            <a:solidFill>
              <a:srgbClr val="595959"/>
            </a:solidFill>
            <a:prstDash val="solid"/>
            <a:round/>
            <a:headEnd type="none" w="med" len="med"/>
            <a:tailEnd type="triangle" w="med" len="med"/>
          </a:ln>
        </p:spPr>
      </p:cxnSp>
      <p:cxnSp>
        <p:nvCxnSpPr>
          <p:cNvPr id="305" name="Google Shape;120;p13">
            <a:extLst>
              <a:ext uri="{FF2B5EF4-FFF2-40B4-BE49-F238E27FC236}">
                <a16:creationId xmlns:a16="http://schemas.microsoft.com/office/drawing/2014/main" id="{A093D3E6-1351-E737-13A6-61963B513C14}"/>
              </a:ext>
            </a:extLst>
          </p:cNvPr>
          <p:cNvCxnSpPr>
            <a:cxnSpLocks/>
            <a:stCxn id="296" idx="3"/>
            <a:endCxn id="300" idx="1"/>
          </p:cNvCxnSpPr>
          <p:nvPr/>
        </p:nvCxnSpPr>
        <p:spPr>
          <a:xfrm flipV="1">
            <a:off x="10624377" y="5680120"/>
            <a:ext cx="331143" cy="6310"/>
          </a:xfrm>
          <a:prstGeom prst="straightConnector1">
            <a:avLst/>
          </a:prstGeom>
          <a:noFill/>
          <a:ln w="9525" cap="flat" cmpd="sng">
            <a:solidFill>
              <a:srgbClr val="595959"/>
            </a:solidFill>
            <a:prstDash val="solid"/>
            <a:round/>
            <a:headEnd type="none" w="med" len="med"/>
            <a:tailEnd type="triangle" w="med" len="med"/>
          </a:ln>
        </p:spPr>
      </p:cxnSp>
      <p:sp>
        <p:nvSpPr>
          <p:cNvPr id="306" name="Google Shape;84;p13">
            <a:extLst>
              <a:ext uri="{FF2B5EF4-FFF2-40B4-BE49-F238E27FC236}">
                <a16:creationId xmlns:a16="http://schemas.microsoft.com/office/drawing/2014/main" id="{842D94EA-27FC-6745-D33C-612DCD137DB0}"/>
              </a:ext>
            </a:extLst>
          </p:cNvPr>
          <p:cNvSpPr/>
          <p:nvPr/>
        </p:nvSpPr>
        <p:spPr>
          <a:xfrm>
            <a:off x="3059187" y="4803649"/>
            <a:ext cx="7562648" cy="27690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400" dirty="0">
                <a:solidFill>
                  <a:schemeClr val="tx1"/>
                </a:solidFill>
                <a:latin typeface="Times New Roman" panose="02020603050405020304" pitchFamily="18" charset="0"/>
                <a:ea typeface="Times New Roman"/>
                <a:cs typeface="Times New Roman" panose="02020603050405020304" pitchFamily="18" charset="0"/>
                <a:sym typeface="Times New Roman"/>
              </a:rPr>
              <a:t>Deletions of single </a:t>
            </a:r>
            <a:r>
              <a:rPr lang="en" sz="1400" dirty="0">
                <a:solidFill>
                  <a:schemeClr val="tx1"/>
                </a:solidFill>
                <a:latin typeface="Times New Roman" panose="02020603050405020304" pitchFamily="18" charset="0"/>
                <a:ea typeface="Times New Roman"/>
                <a:cs typeface="Times New Roman" panose="02020603050405020304" pitchFamily="18" charset="0"/>
                <a:sym typeface="Times New Roman"/>
              </a:rPr>
              <a:t>e</a:t>
            </a:r>
            <a:r>
              <a:rPr lang="en" sz="1400" b="0" i="0" u="none" strike="noStrike" cap="none" dirty="0">
                <a:solidFill>
                  <a:schemeClr val="tx1"/>
                </a:solidFill>
                <a:latin typeface="Times New Roman" panose="02020603050405020304" pitchFamily="18" charset="0"/>
                <a:ea typeface="Times New Roman"/>
                <a:cs typeface="Times New Roman" panose="02020603050405020304" pitchFamily="18" charset="0"/>
                <a:sym typeface="Times New Roman"/>
              </a:rPr>
              <a:t>xons </a:t>
            </a:r>
            <a:r>
              <a:rPr lang="en-US" sz="1400" dirty="0">
                <a:solidFill>
                  <a:schemeClr val="tx1"/>
                </a:solidFill>
                <a:latin typeface="Times New Roman" panose="02020603050405020304" pitchFamily="18" charset="0"/>
                <a:cs typeface="Times New Roman" panose="02020603050405020304" pitchFamily="18" charset="0"/>
              </a:rPr>
              <a:t>15, 17, 18 in NM_00328.3</a:t>
            </a:r>
            <a:endParaRPr sz="2000" dirty="0">
              <a:solidFill>
                <a:schemeClr val="tx1"/>
              </a:solidFill>
              <a:latin typeface="Times New Roman" panose="02020603050405020304" pitchFamily="18" charset="0"/>
              <a:cs typeface="Times New Roman" panose="02020603050405020304" pitchFamily="18" charset="0"/>
            </a:endParaRPr>
          </a:p>
        </p:txBody>
      </p:sp>
      <p:cxnSp>
        <p:nvCxnSpPr>
          <p:cNvPr id="307" name="Google Shape;105;p13">
            <a:extLst>
              <a:ext uri="{FF2B5EF4-FFF2-40B4-BE49-F238E27FC236}">
                <a16:creationId xmlns:a16="http://schemas.microsoft.com/office/drawing/2014/main" id="{8676290A-E0CE-621E-363A-D30EF9BE584C}"/>
              </a:ext>
            </a:extLst>
          </p:cNvPr>
          <p:cNvCxnSpPr>
            <a:cxnSpLocks/>
            <a:endCxn id="306" idx="1"/>
          </p:cNvCxnSpPr>
          <p:nvPr/>
        </p:nvCxnSpPr>
        <p:spPr>
          <a:xfrm>
            <a:off x="2795059" y="4942099"/>
            <a:ext cx="264128" cy="0"/>
          </a:xfrm>
          <a:prstGeom prst="straightConnector1">
            <a:avLst/>
          </a:prstGeom>
          <a:noFill/>
          <a:ln w="9525" cap="flat" cmpd="sng">
            <a:solidFill>
              <a:srgbClr val="44546A"/>
            </a:solidFill>
            <a:prstDash val="solid"/>
            <a:round/>
            <a:headEnd type="none" w="med" len="med"/>
            <a:tailEnd type="triangle" w="med" len="med"/>
          </a:ln>
        </p:spPr>
      </p:cxnSp>
      <p:sp>
        <p:nvSpPr>
          <p:cNvPr id="308" name="Google Shape;92;p13">
            <a:extLst>
              <a:ext uri="{FF2B5EF4-FFF2-40B4-BE49-F238E27FC236}">
                <a16:creationId xmlns:a16="http://schemas.microsoft.com/office/drawing/2014/main" id="{E7A126C5-BDF3-C15C-1132-D617FF45F748}"/>
              </a:ext>
            </a:extLst>
          </p:cNvPr>
          <p:cNvSpPr/>
          <p:nvPr/>
        </p:nvSpPr>
        <p:spPr>
          <a:xfrm>
            <a:off x="10953563" y="4802509"/>
            <a:ext cx="1281000" cy="27690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 sz="1400" b="0" i="0" u="none" strike="noStrike" cap="none" dirty="0">
                <a:solidFill>
                  <a:schemeClr val="tx1"/>
                </a:solidFill>
                <a:latin typeface="Times New Roman" panose="02020603050405020304" pitchFamily="18" charset="0"/>
                <a:ea typeface="Times New Roman"/>
                <a:cs typeface="Times New Roman" panose="02020603050405020304" pitchFamily="18" charset="0"/>
                <a:sym typeface="Times New Roman"/>
              </a:rPr>
              <a:t>PVS1</a:t>
            </a:r>
            <a:endParaRPr sz="2000" dirty="0">
              <a:solidFill>
                <a:schemeClr val="tx1"/>
              </a:solidFill>
              <a:latin typeface="Times New Roman" panose="02020603050405020304" pitchFamily="18" charset="0"/>
              <a:cs typeface="Times New Roman" panose="02020603050405020304" pitchFamily="18" charset="0"/>
            </a:endParaRPr>
          </a:p>
        </p:txBody>
      </p:sp>
      <p:cxnSp>
        <p:nvCxnSpPr>
          <p:cNvPr id="309" name="Google Shape;118;p13">
            <a:extLst>
              <a:ext uri="{FF2B5EF4-FFF2-40B4-BE49-F238E27FC236}">
                <a16:creationId xmlns:a16="http://schemas.microsoft.com/office/drawing/2014/main" id="{B42B685E-BC2D-3490-4719-5BAE3C566F8C}"/>
              </a:ext>
            </a:extLst>
          </p:cNvPr>
          <p:cNvCxnSpPr>
            <a:cxnSpLocks/>
            <a:stCxn id="306" idx="3"/>
            <a:endCxn id="308" idx="1"/>
          </p:cNvCxnSpPr>
          <p:nvPr/>
        </p:nvCxnSpPr>
        <p:spPr>
          <a:xfrm flipV="1">
            <a:off x="10621835" y="4940959"/>
            <a:ext cx="331728" cy="1140"/>
          </a:xfrm>
          <a:prstGeom prst="straightConnector1">
            <a:avLst/>
          </a:prstGeom>
          <a:noFill/>
          <a:ln w="9525" cap="flat" cmpd="sng">
            <a:solidFill>
              <a:srgbClr val="595959"/>
            </a:solidFill>
            <a:prstDash val="solid"/>
            <a:round/>
            <a:headEnd type="none" w="med" len="med"/>
            <a:tailEnd type="triangle" w="med" len="med"/>
          </a:ln>
        </p:spPr>
      </p:cxnSp>
      <p:grpSp>
        <p:nvGrpSpPr>
          <p:cNvPr id="42" name="Group 41">
            <a:extLst>
              <a:ext uri="{FF2B5EF4-FFF2-40B4-BE49-F238E27FC236}">
                <a16:creationId xmlns:a16="http://schemas.microsoft.com/office/drawing/2014/main" id="{156E68C8-3AC3-64A7-9045-57CECC8AA654}"/>
              </a:ext>
            </a:extLst>
          </p:cNvPr>
          <p:cNvGrpSpPr/>
          <p:nvPr/>
        </p:nvGrpSpPr>
        <p:grpSpPr>
          <a:xfrm>
            <a:off x="3060463" y="5957969"/>
            <a:ext cx="9177274" cy="2040793"/>
            <a:chOff x="12801324" y="10258464"/>
            <a:chExt cx="9177274" cy="2040793"/>
          </a:xfrm>
        </p:grpSpPr>
        <p:sp>
          <p:nvSpPr>
            <p:cNvPr id="27" name="Google Shape;62;p13">
              <a:extLst>
                <a:ext uri="{FF2B5EF4-FFF2-40B4-BE49-F238E27FC236}">
                  <a16:creationId xmlns:a16="http://schemas.microsoft.com/office/drawing/2014/main" id="{B2B01F3B-FA7E-0302-B33F-1338F915E5BE}"/>
                </a:ext>
              </a:extLst>
            </p:cNvPr>
            <p:cNvSpPr/>
            <p:nvPr/>
          </p:nvSpPr>
          <p:spPr>
            <a:xfrm>
              <a:off x="12801324" y="10720807"/>
              <a:ext cx="2904578" cy="1310402"/>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algn="ctr"/>
              <a:r>
                <a:rPr lang="en" sz="1400" dirty="0">
                  <a:solidFill>
                    <a:schemeClr val="tx1"/>
                  </a:solidFill>
                  <a:latin typeface="Times New Roman" panose="02020603050405020304" pitchFamily="18" charset="0"/>
                  <a:ea typeface="Times New Roman"/>
                  <a:cs typeface="Times New Roman" panose="02020603050405020304" pitchFamily="18" charset="0"/>
                  <a:sym typeface="Times New Roman"/>
                </a:rPr>
                <a:t>Role of region in protein function is unknown. </a:t>
              </a:r>
            </a:p>
            <a:p>
              <a:pPr marL="0" marR="0" lvl="0" indent="0" algn="ctr" rtl="0">
                <a:spcBef>
                  <a:spcPts val="0"/>
                </a:spcBef>
                <a:spcAft>
                  <a:spcPts val="0"/>
                </a:spcAft>
                <a:buNone/>
              </a:pPr>
              <a:r>
                <a:rPr lang="en" sz="1400" dirty="0">
                  <a:solidFill>
                    <a:schemeClr val="tx1"/>
                  </a:solidFill>
                  <a:latin typeface="Times New Roman" panose="02020603050405020304" pitchFamily="18" charset="0"/>
                  <a:ea typeface="Times New Roman"/>
                  <a:cs typeface="Times New Roman" panose="02020603050405020304" pitchFamily="18" charset="0"/>
                  <a:sym typeface="Times New Roman"/>
                </a:rPr>
                <a:t>Applies to </a:t>
              </a:r>
              <a:r>
                <a:rPr lang="en-US" sz="1400" dirty="0">
                  <a:solidFill>
                    <a:schemeClr val="tx1"/>
                  </a:solidFill>
                  <a:latin typeface="Times New Roman" panose="02020603050405020304" pitchFamily="18" charset="0"/>
                  <a:cs typeface="Times New Roman" panose="02020603050405020304" pitchFamily="18" charset="0"/>
                </a:rPr>
                <a:t>NM_001034853.2:c.3399-3458</a:t>
              </a:r>
              <a:r>
                <a:rPr lang="en" sz="1400" dirty="0">
                  <a:solidFill>
                    <a:schemeClr val="tx1"/>
                  </a:solidFill>
                  <a:latin typeface="Times New Roman" panose="02020603050405020304" pitchFamily="18" charset="0"/>
                  <a:ea typeface="Times New Roman"/>
                  <a:cs typeface="Times New Roman" panose="02020603050405020304" pitchFamily="18" charset="0"/>
                  <a:sym typeface="Times New Roman"/>
                </a:rPr>
                <a:t> (codons 1132-1152), or 3’ UTR,</a:t>
              </a:r>
            </a:p>
            <a:p>
              <a:pPr marL="0" marR="0" lvl="0" indent="0" algn="ctr" rtl="0">
                <a:spcBef>
                  <a:spcPts val="0"/>
                </a:spcBef>
                <a:spcAft>
                  <a:spcPts val="0"/>
                </a:spcAft>
                <a:buNone/>
              </a:pPr>
              <a:r>
                <a:rPr lang="en" sz="1400" dirty="0">
                  <a:solidFill>
                    <a:schemeClr val="tx1"/>
                  </a:solidFill>
                  <a:latin typeface="Times New Roman" panose="02020603050405020304" pitchFamily="18" charset="0"/>
                  <a:ea typeface="Times New Roman"/>
                  <a:cs typeface="Times New Roman" panose="02020603050405020304" pitchFamily="18" charset="0"/>
                  <a:sym typeface="Times New Roman"/>
                </a:rPr>
                <a:t>NM_00328.3:c.2352-2909 (codons 784-969), or 3’ </a:t>
              </a:r>
              <a:r>
                <a:rPr lang="en" sz="1400" dirty="0" err="1">
                  <a:solidFill>
                    <a:schemeClr val="tx1"/>
                  </a:solidFill>
                  <a:latin typeface="Times New Roman" panose="02020603050405020304" pitchFamily="18" charset="0"/>
                  <a:ea typeface="Times New Roman"/>
                  <a:cs typeface="Times New Roman" panose="02020603050405020304" pitchFamily="18" charset="0"/>
                  <a:sym typeface="Times New Roman"/>
                </a:rPr>
                <a:t>UTR</a:t>
              </a:r>
              <a:r>
                <a:rPr lang="en" sz="1400" baseline="30000" dirty="0" err="1">
                  <a:solidFill>
                    <a:schemeClr val="tx1"/>
                  </a:solidFill>
                  <a:latin typeface="Times New Roman" panose="02020603050405020304" pitchFamily="18" charset="0"/>
                  <a:ea typeface="Times New Roman"/>
                  <a:cs typeface="Times New Roman" panose="02020603050405020304" pitchFamily="18" charset="0"/>
                  <a:sym typeface="Times New Roman"/>
                </a:rPr>
                <a:t>h</a:t>
              </a:r>
              <a:endParaRPr sz="1400" baseline="30000" dirty="0">
                <a:solidFill>
                  <a:schemeClr val="tx1"/>
                </a:solidFill>
                <a:latin typeface="Times New Roman" panose="02020603050405020304" pitchFamily="18" charset="0"/>
                <a:cs typeface="Times New Roman" panose="02020603050405020304" pitchFamily="18" charset="0"/>
              </a:endParaRPr>
            </a:p>
          </p:txBody>
        </p:sp>
        <p:sp>
          <p:nvSpPr>
            <p:cNvPr id="28" name="Google Shape;66;p13">
              <a:extLst>
                <a:ext uri="{FF2B5EF4-FFF2-40B4-BE49-F238E27FC236}">
                  <a16:creationId xmlns:a16="http://schemas.microsoft.com/office/drawing/2014/main" id="{34B5C9CB-E238-E234-1B3E-5E162818E984}"/>
                </a:ext>
              </a:extLst>
            </p:cNvPr>
            <p:cNvSpPr/>
            <p:nvPr/>
          </p:nvSpPr>
          <p:spPr>
            <a:xfrm>
              <a:off x="20697598" y="11170550"/>
              <a:ext cx="1281000" cy="27432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 sz="1400" b="0" i="0" u="none" strike="noStrike" cap="none" dirty="0">
                  <a:solidFill>
                    <a:schemeClr val="tx1"/>
                  </a:solidFill>
                  <a:latin typeface="Times New Roman" panose="02020603050405020304" pitchFamily="18" charset="0"/>
                  <a:ea typeface="Times New Roman"/>
                  <a:cs typeface="Times New Roman" panose="02020603050405020304" pitchFamily="18" charset="0"/>
                  <a:sym typeface="Times New Roman"/>
                </a:rPr>
                <a:t>PVS1_Strong</a:t>
              </a:r>
              <a:endParaRPr sz="2000" dirty="0">
                <a:solidFill>
                  <a:schemeClr val="tx1"/>
                </a:solidFill>
                <a:latin typeface="Times New Roman" panose="02020603050405020304" pitchFamily="18" charset="0"/>
                <a:cs typeface="Times New Roman" panose="02020603050405020304" pitchFamily="18" charset="0"/>
              </a:endParaRPr>
            </a:p>
          </p:txBody>
        </p:sp>
        <p:sp>
          <p:nvSpPr>
            <p:cNvPr id="29" name="Google Shape;67;p13">
              <a:extLst>
                <a:ext uri="{FF2B5EF4-FFF2-40B4-BE49-F238E27FC236}">
                  <a16:creationId xmlns:a16="http://schemas.microsoft.com/office/drawing/2014/main" id="{B29296B0-C5E9-0FF2-E385-4DF2206441D9}"/>
                </a:ext>
              </a:extLst>
            </p:cNvPr>
            <p:cNvSpPr/>
            <p:nvPr/>
          </p:nvSpPr>
          <p:spPr>
            <a:xfrm>
              <a:off x="20547762" y="11748192"/>
              <a:ext cx="1416393" cy="359071"/>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 sz="1400" dirty="0">
                  <a:solidFill>
                    <a:schemeClr val="tx1"/>
                  </a:solidFill>
                  <a:latin typeface="Times New Roman" panose="02020603050405020304" pitchFamily="18" charset="0"/>
                  <a:ea typeface="Times New Roman"/>
                  <a:cs typeface="Times New Roman" panose="02020603050405020304" pitchFamily="18" charset="0"/>
                  <a:sym typeface="Times New Roman"/>
                </a:rPr>
                <a:t>PVS1_Moderate</a:t>
              </a:r>
              <a:endParaRPr sz="2000" dirty="0">
                <a:solidFill>
                  <a:schemeClr val="tx1"/>
                </a:solidFill>
                <a:latin typeface="Times New Roman" panose="02020603050405020304" pitchFamily="18" charset="0"/>
                <a:cs typeface="Times New Roman" panose="02020603050405020304" pitchFamily="18" charset="0"/>
              </a:endParaRPr>
            </a:p>
          </p:txBody>
        </p:sp>
        <p:sp>
          <p:nvSpPr>
            <p:cNvPr id="30" name="Google Shape;68;p13">
              <a:extLst>
                <a:ext uri="{FF2B5EF4-FFF2-40B4-BE49-F238E27FC236}">
                  <a16:creationId xmlns:a16="http://schemas.microsoft.com/office/drawing/2014/main" id="{8B45FB64-6C25-E819-052A-95575214A635}"/>
                </a:ext>
              </a:extLst>
            </p:cNvPr>
            <p:cNvSpPr/>
            <p:nvPr/>
          </p:nvSpPr>
          <p:spPr>
            <a:xfrm>
              <a:off x="16037946" y="10933242"/>
              <a:ext cx="1884095" cy="1366015"/>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lvl="0" indent="0" algn="ctr" rtl="0">
                <a:spcBef>
                  <a:spcPts val="0"/>
                </a:spcBef>
                <a:spcAft>
                  <a:spcPts val="0"/>
                </a:spcAft>
                <a:buNone/>
              </a:pPr>
              <a:r>
                <a:rPr lang="en" sz="1400" dirty="0" err="1">
                  <a:solidFill>
                    <a:schemeClr val="tx1"/>
                  </a:solidFill>
                  <a:latin typeface="Times New Roman" panose="02020603050405020304" pitchFamily="18" charset="0"/>
                  <a:ea typeface="Times New Roman"/>
                  <a:cs typeface="Times New Roman" panose="02020603050405020304" pitchFamily="18" charset="0"/>
                  <a:sym typeface="Times New Roman"/>
                </a:rPr>
                <a:t>LoF</a:t>
              </a:r>
              <a:r>
                <a:rPr lang="en" sz="1400" dirty="0">
                  <a:solidFill>
                    <a:schemeClr val="tx1"/>
                  </a:solidFill>
                  <a:latin typeface="Times New Roman" panose="02020603050405020304" pitchFamily="18" charset="0"/>
                  <a:ea typeface="Times New Roman"/>
                  <a:cs typeface="Times New Roman" panose="02020603050405020304" pitchFamily="18" charset="0"/>
                  <a:sym typeface="Times New Roman"/>
                </a:rPr>
                <a:t> variants in this exon are not frequent in the general population and exon is present in biologically-relevant transcript(s)</a:t>
              </a:r>
              <a:endParaRPr sz="1400" dirty="0">
                <a:solidFill>
                  <a:schemeClr val="tx1"/>
                </a:solidFill>
                <a:latin typeface="Times New Roman" panose="02020603050405020304" pitchFamily="18" charset="0"/>
                <a:ea typeface="Times New Roman"/>
                <a:cs typeface="Times New Roman" panose="02020603050405020304" pitchFamily="18" charset="0"/>
                <a:sym typeface="Times New Roman"/>
              </a:endParaRPr>
            </a:p>
          </p:txBody>
        </p:sp>
        <p:sp>
          <p:nvSpPr>
            <p:cNvPr id="31" name="Google Shape;69;p13">
              <a:extLst>
                <a:ext uri="{FF2B5EF4-FFF2-40B4-BE49-F238E27FC236}">
                  <a16:creationId xmlns:a16="http://schemas.microsoft.com/office/drawing/2014/main" id="{FA8B0EE1-4767-B4CD-8A74-680A51B450C5}"/>
                </a:ext>
              </a:extLst>
            </p:cNvPr>
            <p:cNvSpPr/>
            <p:nvPr/>
          </p:nvSpPr>
          <p:spPr>
            <a:xfrm>
              <a:off x="18374950" y="11050027"/>
              <a:ext cx="1991505" cy="505265"/>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 sz="1400" dirty="0">
                  <a:solidFill>
                    <a:schemeClr val="tx1"/>
                  </a:solidFill>
                  <a:latin typeface="Times New Roman" panose="02020603050405020304" pitchFamily="18" charset="0"/>
                  <a:ea typeface="Times New Roman"/>
                  <a:cs typeface="Times New Roman" panose="02020603050405020304" pitchFamily="18" charset="0"/>
                  <a:sym typeface="Times New Roman"/>
                </a:rPr>
                <a:t>Variant removes </a:t>
              </a:r>
              <a:r>
                <a:rPr lang="en" sz="1400" b="0" i="0" u="none" strike="noStrike" cap="none" dirty="0">
                  <a:solidFill>
                    <a:schemeClr val="tx1"/>
                  </a:solidFill>
                  <a:latin typeface="Times New Roman" panose="02020603050405020304" pitchFamily="18" charset="0"/>
                  <a:ea typeface="Times New Roman"/>
                  <a:cs typeface="Times New Roman" panose="02020603050405020304" pitchFamily="18" charset="0"/>
                  <a:sym typeface="Times New Roman"/>
                </a:rPr>
                <a:t>&gt;10% of protein</a:t>
              </a:r>
              <a:endParaRPr sz="2000" dirty="0">
                <a:solidFill>
                  <a:schemeClr val="tx1"/>
                </a:solidFill>
                <a:latin typeface="Times New Roman" panose="02020603050405020304" pitchFamily="18" charset="0"/>
                <a:cs typeface="Times New Roman" panose="02020603050405020304" pitchFamily="18" charset="0"/>
              </a:endParaRPr>
            </a:p>
          </p:txBody>
        </p:sp>
        <p:sp>
          <p:nvSpPr>
            <p:cNvPr id="32" name="Google Shape;70;p13">
              <a:extLst>
                <a:ext uri="{FF2B5EF4-FFF2-40B4-BE49-F238E27FC236}">
                  <a16:creationId xmlns:a16="http://schemas.microsoft.com/office/drawing/2014/main" id="{F20BAE74-8108-EC94-82CF-475690698044}"/>
                </a:ext>
              </a:extLst>
            </p:cNvPr>
            <p:cNvSpPr/>
            <p:nvPr/>
          </p:nvSpPr>
          <p:spPr>
            <a:xfrm>
              <a:off x="18370144" y="11636107"/>
              <a:ext cx="1991505" cy="66315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 sz="1400" dirty="0">
                  <a:solidFill>
                    <a:schemeClr val="tx1"/>
                  </a:solidFill>
                  <a:latin typeface="Times New Roman" panose="02020603050405020304" pitchFamily="18" charset="0"/>
                  <a:ea typeface="Times New Roman"/>
                  <a:cs typeface="Times New Roman" panose="02020603050405020304" pitchFamily="18" charset="0"/>
                  <a:sym typeface="Times New Roman"/>
                </a:rPr>
                <a:t>NM_00328.3 variants after codon 872 remove &lt;</a:t>
              </a:r>
              <a:r>
                <a:rPr lang="en" sz="1400" b="0" i="0" u="none" strike="noStrike" cap="none" dirty="0">
                  <a:solidFill>
                    <a:schemeClr val="tx1"/>
                  </a:solidFill>
                  <a:latin typeface="Times New Roman" panose="02020603050405020304" pitchFamily="18" charset="0"/>
                  <a:ea typeface="Times New Roman"/>
                  <a:cs typeface="Times New Roman" panose="02020603050405020304" pitchFamily="18" charset="0"/>
                  <a:sym typeface="Times New Roman"/>
                </a:rPr>
                <a:t>10% of p</a:t>
              </a:r>
              <a:r>
                <a:rPr lang="en" sz="1400" dirty="0">
                  <a:solidFill>
                    <a:schemeClr val="tx1"/>
                  </a:solidFill>
                  <a:latin typeface="Times New Roman" panose="02020603050405020304" pitchFamily="18" charset="0"/>
                  <a:ea typeface="Times New Roman"/>
                  <a:cs typeface="Times New Roman" panose="02020603050405020304" pitchFamily="18" charset="0"/>
                  <a:sym typeface="Times New Roman"/>
                </a:rPr>
                <a:t>rotein </a:t>
              </a:r>
              <a:endParaRPr sz="2000" dirty="0">
                <a:solidFill>
                  <a:schemeClr val="tx1"/>
                </a:solidFill>
                <a:latin typeface="Times New Roman" panose="02020603050405020304" pitchFamily="18" charset="0"/>
                <a:cs typeface="Times New Roman" panose="02020603050405020304" pitchFamily="18" charset="0"/>
              </a:endParaRPr>
            </a:p>
          </p:txBody>
        </p:sp>
        <p:cxnSp>
          <p:nvCxnSpPr>
            <p:cNvPr id="33" name="Google Shape;71;p13">
              <a:extLst>
                <a:ext uri="{FF2B5EF4-FFF2-40B4-BE49-F238E27FC236}">
                  <a16:creationId xmlns:a16="http://schemas.microsoft.com/office/drawing/2014/main" id="{9B66117C-BD50-31D8-C376-F1351DC51007}"/>
                </a:ext>
              </a:extLst>
            </p:cNvPr>
            <p:cNvCxnSpPr>
              <a:cxnSpLocks/>
              <a:stCxn id="30" idx="3"/>
              <a:endCxn id="31" idx="1"/>
            </p:cNvCxnSpPr>
            <p:nvPr/>
          </p:nvCxnSpPr>
          <p:spPr>
            <a:xfrm flipV="1">
              <a:off x="17922041" y="11302660"/>
              <a:ext cx="452909" cy="313590"/>
            </a:xfrm>
            <a:prstGeom prst="straightConnector1">
              <a:avLst/>
            </a:prstGeom>
            <a:noFill/>
            <a:ln w="9525" cap="flat" cmpd="sng">
              <a:solidFill>
                <a:srgbClr val="44546A"/>
              </a:solidFill>
              <a:prstDash val="solid"/>
              <a:round/>
              <a:headEnd type="none" w="med" len="med"/>
              <a:tailEnd type="triangle" w="med" len="med"/>
            </a:ln>
          </p:spPr>
        </p:cxnSp>
        <p:cxnSp>
          <p:nvCxnSpPr>
            <p:cNvPr id="34" name="Google Shape;72;p13">
              <a:extLst>
                <a:ext uri="{FF2B5EF4-FFF2-40B4-BE49-F238E27FC236}">
                  <a16:creationId xmlns:a16="http://schemas.microsoft.com/office/drawing/2014/main" id="{22A2C4C6-88DE-7609-EFD6-54675E61EBC3}"/>
                </a:ext>
              </a:extLst>
            </p:cNvPr>
            <p:cNvCxnSpPr>
              <a:cxnSpLocks/>
              <a:stCxn id="30" idx="3"/>
              <a:endCxn id="32" idx="1"/>
            </p:cNvCxnSpPr>
            <p:nvPr/>
          </p:nvCxnSpPr>
          <p:spPr>
            <a:xfrm>
              <a:off x="17922041" y="11616250"/>
              <a:ext cx="448103" cy="351432"/>
            </a:xfrm>
            <a:prstGeom prst="straightConnector1">
              <a:avLst/>
            </a:prstGeom>
            <a:noFill/>
            <a:ln w="9525" cap="flat" cmpd="sng">
              <a:solidFill>
                <a:srgbClr val="44546A"/>
              </a:solidFill>
              <a:prstDash val="solid"/>
              <a:round/>
              <a:headEnd type="none" w="med" len="med"/>
              <a:tailEnd type="triangle" w="med" len="med"/>
            </a:ln>
          </p:spPr>
        </p:cxnSp>
        <p:cxnSp>
          <p:nvCxnSpPr>
            <p:cNvPr id="35" name="Google Shape;80;p13">
              <a:extLst>
                <a:ext uri="{FF2B5EF4-FFF2-40B4-BE49-F238E27FC236}">
                  <a16:creationId xmlns:a16="http://schemas.microsoft.com/office/drawing/2014/main" id="{43CC5070-EE21-3730-0C17-D9FDF073A002}"/>
                </a:ext>
              </a:extLst>
            </p:cNvPr>
            <p:cNvCxnSpPr>
              <a:cxnSpLocks/>
              <a:stCxn id="27" idx="3"/>
              <a:endCxn id="30" idx="1"/>
            </p:cNvCxnSpPr>
            <p:nvPr/>
          </p:nvCxnSpPr>
          <p:spPr>
            <a:xfrm>
              <a:off x="15705902" y="11376008"/>
              <a:ext cx="332044" cy="240242"/>
            </a:xfrm>
            <a:prstGeom prst="straightConnector1">
              <a:avLst/>
            </a:prstGeom>
            <a:noFill/>
            <a:ln w="9525" cap="flat" cmpd="sng">
              <a:solidFill>
                <a:srgbClr val="44546A"/>
              </a:solidFill>
              <a:prstDash val="solid"/>
              <a:round/>
              <a:headEnd type="none" w="med" len="med"/>
              <a:tailEnd type="triangle" w="med" len="med"/>
            </a:ln>
          </p:spPr>
        </p:cxnSp>
        <p:sp>
          <p:nvSpPr>
            <p:cNvPr id="36" name="Google Shape;63;p13">
              <a:extLst>
                <a:ext uri="{FF2B5EF4-FFF2-40B4-BE49-F238E27FC236}">
                  <a16:creationId xmlns:a16="http://schemas.microsoft.com/office/drawing/2014/main" id="{AC703677-4FF4-5B89-7736-DE3CF433659A}"/>
                </a:ext>
              </a:extLst>
            </p:cNvPr>
            <p:cNvSpPr/>
            <p:nvPr/>
          </p:nvSpPr>
          <p:spPr>
            <a:xfrm>
              <a:off x="16037947" y="10258464"/>
              <a:ext cx="4327608" cy="616377"/>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 sz="1400" dirty="0" err="1">
                  <a:solidFill>
                    <a:schemeClr val="tx1"/>
                  </a:solidFill>
                  <a:latin typeface="Times New Roman" panose="02020603050405020304" pitchFamily="18" charset="0"/>
                  <a:ea typeface="Times New Roman"/>
                  <a:cs typeface="Times New Roman" panose="02020603050405020304" pitchFamily="18" charset="0"/>
                  <a:sym typeface="Times New Roman"/>
                </a:rPr>
                <a:t>LoF</a:t>
              </a:r>
              <a:r>
                <a:rPr lang="en" sz="1400" dirty="0">
                  <a:solidFill>
                    <a:schemeClr val="tx1"/>
                  </a:solidFill>
                  <a:latin typeface="Times New Roman" panose="02020603050405020304" pitchFamily="18" charset="0"/>
                  <a:ea typeface="Times New Roman"/>
                  <a:cs typeface="Times New Roman" panose="02020603050405020304" pitchFamily="18" charset="0"/>
                  <a:sym typeface="Times New Roman"/>
                </a:rPr>
                <a:t> variants in this exon are frequent in the general population and/or exon is absent from biologically-relevant transcript(s)</a:t>
              </a:r>
              <a:endParaRPr sz="2000" dirty="0">
                <a:solidFill>
                  <a:schemeClr val="tx1"/>
                </a:solidFill>
                <a:latin typeface="Times New Roman" panose="02020603050405020304" pitchFamily="18" charset="0"/>
                <a:cs typeface="Times New Roman" panose="02020603050405020304" pitchFamily="18" charset="0"/>
              </a:endParaRPr>
            </a:p>
          </p:txBody>
        </p:sp>
        <p:sp>
          <p:nvSpPr>
            <p:cNvPr id="37" name="Google Shape;65;p13">
              <a:extLst>
                <a:ext uri="{FF2B5EF4-FFF2-40B4-BE49-F238E27FC236}">
                  <a16:creationId xmlns:a16="http://schemas.microsoft.com/office/drawing/2014/main" id="{7F815F4F-89EC-1F01-1A9E-765D15DD79CC}"/>
                </a:ext>
              </a:extLst>
            </p:cNvPr>
            <p:cNvSpPr/>
            <p:nvPr/>
          </p:nvSpPr>
          <p:spPr>
            <a:xfrm>
              <a:off x="20697598" y="10407604"/>
              <a:ext cx="1281000" cy="27432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 sz="1400" b="0" i="0" u="none" strike="noStrike" cap="none" dirty="0">
                  <a:solidFill>
                    <a:schemeClr val="tx1"/>
                  </a:solidFill>
                  <a:latin typeface="Times New Roman" panose="02020603050405020304" pitchFamily="18" charset="0"/>
                  <a:ea typeface="Times New Roman"/>
                  <a:cs typeface="Times New Roman" panose="02020603050405020304" pitchFamily="18" charset="0"/>
                  <a:sym typeface="Times New Roman"/>
                </a:rPr>
                <a:t>N/A</a:t>
              </a:r>
              <a:endParaRPr sz="2000" dirty="0">
                <a:solidFill>
                  <a:schemeClr val="tx1"/>
                </a:solidFill>
                <a:latin typeface="Times New Roman" panose="02020603050405020304" pitchFamily="18" charset="0"/>
                <a:cs typeface="Times New Roman" panose="02020603050405020304" pitchFamily="18" charset="0"/>
              </a:endParaRPr>
            </a:p>
          </p:txBody>
        </p:sp>
        <p:cxnSp>
          <p:nvCxnSpPr>
            <p:cNvPr id="38" name="Google Shape;79;p13">
              <a:extLst>
                <a:ext uri="{FF2B5EF4-FFF2-40B4-BE49-F238E27FC236}">
                  <a16:creationId xmlns:a16="http://schemas.microsoft.com/office/drawing/2014/main" id="{A985995C-D4EC-1B0A-4FD0-125569CB4CDB}"/>
                </a:ext>
              </a:extLst>
            </p:cNvPr>
            <p:cNvCxnSpPr>
              <a:cxnSpLocks/>
              <a:stCxn id="27" idx="3"/>
              <a:endCxn id="36" idx="1"/>
            </p:cNvCxnSpPr>
            <p:nvPr/>
          </p:nvCxnSpPr>
          <p:spPr>
            <a:xfrm flipV="1">
              <a:off x="15705902" y="10566653"/>
              <a:ext cx="332045" cy="809355"/>
            </a:xfrm>
            <a:prstGeom prst="straightConnector1">
              <a:avLst/>
            </a:prstGeom>
            <a:noFill/>
            <a:ln w="9525" cap="flat" cmpd="sng">
              <a:solidFill>
                <a:srgbClr val="44546A"/>
              </a:solidFill>
              <a:prstDash val="solid"/>
              <a:round/>
              <a:headEnd type="none" w="med" len="med"/>
              <a:tailEnd type="triangle" w="med" len="med"/>
            </a:ln>
          </p:spPr>
        </p:cxnSp>
        <p:cxnSp>
          <p:nvCxnSpPr>
            <p:cNvPr id="39" name="Google Shape;115;p13">
              <a:extLst>
                <a:ext uri="{FF2B5EF4-FFF2-40B4-BE49-F238E27FC236}">
                  <a16:creationId xmlns:a16="http://schemas.microsoft.com/office/drawing/2014/main" id="{76DF510E-C27C-230E-6303-B572055530F1}"/>
                </a:ext>
              </a:extLst>
            </p:cNvPr>
            <p:cNvCxnSpPr>
              <a:cxnSpLocks/>
              <a:endCxn id="37" idx="1"/>
            </p:cNvCxnSpPr>
            <p:nvPr/>
          </p:nvCxnSpPr>
          <p:spPr>
            <a:xfrm flipV="1">
              <a:off x="20365554" y="10544764"/>
              <a:ext cx="332044" cy="0"/>
            </a:xfrm>
            <a:prstGeom prst="straightConnector1">
              <a:avLst/>
            </a:prstGeom>
            <a:noFill/>
            <a:ln w="9525" cap="flat" cmpd="sng">
              <a:solidFill>
                <a:srgbClr val="595959"/>
              </a:solidFill>
              <a:prstDash val="solid"/>
              <a:round/>
              <a:headEnd type="none" w="med" len="med"/>
              <a:tailEnd type="triangle" w="med" len="med"/>
            </a:ln>
          </p:spPr>
        </p:cxnSp>
        <p:cxnSp>
          <p:nvCxnSpPr>
            <p:cNvPr id="40" name="Google Shape;116;p13">
              <a:extLst>
                <a:ext uri="{FF2B5EF4-FFF2-40B4-BE49-F238E27FC236}">
                  <a16:creationId xmlns:a16="http://schemas.microsoft.com/office/drawing/2014/main" id="{BA0FB7ED-F8D3-5A75-6879-9FF87F439D82}"/>
                </a:ext>
              </a:extLst>
            </p:cNvPr>
            <p:cNvCxnSpPr>
              <a:cxnSpLocks/>
              <a:endCxn id="28" idx="1"/>
            </p:cNvCxnSpPr>
            <p:nvPr/>
          </p:nvCxnSpPr>
          <p:spPr>
            <a:xfrm flipV="1">
              <a:off x="20366455" y="11307710"/>
              <a:ext cx="331143" cy="0"/>
            </a:xfrm>
            <a:prstGeom prst="straightConnector1">
              <a:avLst/>
            </a:prstGeom>
            <a:noFill/>
            <a:ln w="9525" cap="flat" cmpd="sng">
              <a:solidFill>
                <a:srgbClr val="595959"/>
              </a:solidFill>
              <a:prstDash val="solid"/>
              <a:round/>
              <a:headEnd type="none" w="med" len="med"/>
              <a:tailEnd type="triangle" w="med" len="med"/>
            </a:ln>
          </p:spPr>
        </p:cxnSp>
        <p:cxnSp>
          <p:nvCxnSpPr>
            <p:cNvPr id="41" name="Google Shape;117;p13">
              <a:extLst>
                <a:ext uri="{FF2B5EF4-FFF2-40B4-BE49-F238E27FC236}">
                  <a16:creationId xmlns:a16="http://schemas.microsoft.com/office/drawing/2014/main" id="{2B838AF8-98DA-6F0D-E011-C186C3708114}"/>
                </a:ext>
              </a:extLst>
            </p:cNvPr>
            <p:cNvCxnSpPr>
              <a:cxnSpLocks/>
              <a:endCxn id="29" idx="1"/>
            </p:cNvCxnSpPr>
            <p:nvPr/>
          </p:nvCxnSpPr>
          <p:spPr>
            <a:xfrm flipV="1">
              <a:off x="20209249" y="11927728"/>
              <a:ext cx="338513" cy="0"/>
            </a:xfrm>
            <a:prstGeom prst="straightConnector1">
              <a:avLst/>
            </a:prstGeom>
            <a:noFill/>
            <a:ln w="9525" cap="flat" cmpd="sng">
              <a:solidFill>
                <a:srgbClr val="595959"/>
              </a:solidFill>
              <a:prstDash val="solid"/>
              <a:round/>
              <a:headEnd type="none" w="med" len="med"/>
              <a:tailEnd type="triangle" w="med" len="med"/>
            </a:ln>
          </p:spPr>
        </p:cxnSp>
      </p:grpSp>
      <p:sp>
        <p:nvSpPr>
          <p:cNvPr id="2" name="TextBox 1">
            <a:extLst>
              <a:ext uri="{FF2B5EF4-FFF2-40B4-BE49-F238E27FC236}">
                <a16:creationId xmlns:a16="http://schemas.microsoft.com/office/drawing/2014/main" id="{67A2D74E-8137-A460-8643-EF533A94F890}"/>
              </a:ext>
            </a:extLst>
          </p:cNvPr>
          <p:cNvSpPr txBox="1"/>
          <p:nvPr/>
        </p:nvSpPr>
        <p:spPr>
          <a:xfrm>
            <a:off x="4300871" y="204879"/>
            <a:ext cx="3082895" cy="369332"/>
          </a:xfrm>
          <a:prstGeom prst="rect">
            <a:avLst/>
          </a:prstGeom>
          <a:noFill/>
        </p:spPr>
        <p:txBody>
          <a:bodyPr wrap="none" rtlCol="0">
            <a:spAutoFit/>
          </a:bodyPr>
          <a:lstStyle/>
          <a:p>
            <a:r>
              <a:rPr lang="en-US" sz="1800" b="1" dirty="0"/>
              <a:t>RPGR PVS1 Decision Tree</a:t>
            </a:r>
          </a:p>
        </p:txBody>
      </p:sp>
      <p:sp>
        <p:nvSpPr>
          <p:cNvPr id="3" name="TextBox 2">
            <a:extLst>
              <a:ext uri="{FF2B5EF4-FFF2-40B4-BE49-F238E27FC236}">
                <a16:creationId xmlns:a16="http://schemas.microsoft.com/office/drawing/2014/main" id="{E3A76A21-B950-BF56-C960-E2FD1AEF3077}"/>
              </a:ext>
            </a:extLst>
          </p:cNvPr>
          <p:cNvSpPr txBox="1"/>
          <p:nvPr/>
        </p:nvSpPr>
        <p:spPr>
          <a:xfrm>
            <a:off x="490446" y="10858214"/>
            <a:ext cx="11371353" cy="3754874"/>
          </a:xfrm>
          <a:prstGeom prst="rect">
            <a:avLst/>
          </a:prstGeom>
          <a:noFill/>
        </p:spPr>
        <p:txBody>
          <a:bodyPr wrap="square" rtlCol="0">
            <a:spAutoFit/>
          </a:bodyPr>
          <a:lstStyle/>
          <a:p>
            <a:endParaRPr lang="en-US" dirty="0">
              <a:solidFill>
                <a:schemeClr val="tx1"/>
              </a:solidFill>
              <a:latin typeface="+mn-lt"/>
            </a:endParaRPr>
          </a:p>
          <a:p>
            <a:r>
              <a:rPr lang="en-US" b="1" dirty="0">
                <a:solidFill>
                  <a:schemeClr val="tx1"/>
                </a:solidFill>
                <a:latin typeface="+mn-lt"/>
              </a:rPr>
              <a:t>RPGR PVS1 Decision Tree</a:t>
            </a:r>
            <a:r>
              <a:rPr lang="en-US" dirty="0">
                <a:solidFill>
                  <a:schemeClr val="tx1"/>
                </a:solidFill>
                <a:latin typeface="+mn-lt"/>
              </a:rPr>
              <a:t>. This is taken from Figure 1 in SVI recommendations for PVS1 interpretation (</a:t>
            </a:r>
            <a:r>
              <a:rPr lang="en-US" dirty="0" err="1">
                <a:solidFill>
                  <a:schemeClr val="tx1"/>
                </a:solidFill>
                <a:latin typeface="+mn-lt"/>
              </a:rPr>
              <a:t>Tayoun</a:t>
            </a:r>
            <a:r>
              <a:rPr lang="en-US" dirty="0">
                <a:solidFill>
                  <a:schemeClr val="tx1"/>
                </a:solidFill>
                <a:latin typeface="+mn-lt"/>
              </a:rPr>
              <a:t> et al., 2018). See also RPGR PVS1 (RNA) Decision Tree.  (a) This criterion should not be applied in combination with </a:t>
            </a:r>
            <a:r>
              <a:rPr lang="en-US" i="1" dirty="0">
                <a:solidFill>
                  <a:schemeClr val="tx1"/>
                </a:solidFill>
                <a:latin typeface="+mn-lt"/>
              </a:rPr>
              <a:t>in silico </a:t>
            </a:r>
            <a:r>
              <a:rPr lang="en-US" dirty="0">
                <a:solidFill>
                  <a:schemeClr val="tx1"/>
                </a:solidFill>
                <a:latin typeface="+mn-lt"/>
              </a:rPr>
              <a:t>splicing predictions (PP3). Additionally, splice site variants must have no detectable nearby (+/- 20nts) strong consensus splice sequence that may constitute in-frame splicing. (b) NMD prediction based on the premature termination codon not occurring in the 3’ most exon or in the 3’ most 50bp of the penultimate exon</a:t>
            </a:r>
            <a:r>
              <a:rPr lang="en-US" sz="1400" dirty="0">
                <a:solidFill>
                  <a:schemeClr val="tx1"/>
                </a:solidFill>
                <a:latin typeface="+mn-lt"/>
                <a:cs typeface="Times New Roman" panose="02020603050405020304" pitchFamily="18" charset="0"/>
              </a:rPr>
              <a:t>. </a:t>
            </a:r>
            <a:r>
              <a:rPr lang="en-US" dirty="0">
                <a:solidFill>
                  <a:schemeClr val="tx1"/>
                </a:solidFill>
                <a:latin typeface="+mn-lt"/>
              </a:rPr>
              <a:t>(c) Relevant domain indicated by experimental evidence proving a critical role of the domain and/or presence of non-truncating pathogenic variants in the region. (d) For a full gene deletion of a known </a:t>
            </a:r>
            <a:r>
              <a:rPr lang="en-US" dirty="0" err="1">
                <a:solidFill>
                  <a:schemeClr val="tx1"/>
                </a:solidFill>
                <a:latin typeface="+mn-lt"/>
              </a:rPr>
              <a:t>haploinsufficient</a:t>
            </a:r>
            <a:r>
              <a:rPr lang="en-US" dirty="0">
                <a:solidFill>
                  <a:schemeClr val="tx1"/>
                </a:solidFill>
                <a:latin typeface="+mn-lt"/>
              </a:rPr>
              <a:t> gene, a pathogenic classification is warranted (in the absence of conflicting data) even though application of PVS1 alone would not reach a pathogenic classification using the combining rules in Richards et al., (2017). For a full gene deletion of RPGR in a male, a pathogenic classification is warranted. NMD, nonsense-mediated decay; </a:t>
            </a:r>
            <a:r>
              <a:rPr lang="en-US" dirty="0" err="1">
                <a:solidFill>
                  <a:schemeClr val="tx1"/>
                </a:solidFill>
                <a:latin typeface="+mn-lt"/>
              </a:rPr>
              <a:t>LoF</a:t>
            </a:r>
            <a:r>
              <a:rPr lang="en-US" dirty="0">
                <a:solidFill>
                  <a:schemeClr val="tx1"/>
                </a:solidFill>
                <a:latin typeface="+mn-lt"/>
              </a:rPr>
              <a:t>, loss of function. Additional notes providing genomic coordinates include (e) </a:t>
            </a:r>
            <a:r>
              <a:rPr lang="en-US" sz="1400" dirty="0">
                <a:solidFill>
                  <a:schemeClr val="tx1"/>
                </a:solidFill>
                <a:latin typeface="+mn-lt"/>
                <a:ea typeface="Times New Roman"/>
                <a:cs typeface="Times New Roman" panose="02020603050405020304" pitchFamily="18" charset="0"/>
                <a:sym typeface="Times New Roman"/>
              </a:rPr>
              <a:t>V</a:t>
            </a:r>
            <a:r>
              <a:rPr lang="en-US" sz="1400" b="0" i="0" u="none" strike="noStrike" cap="none" dirty="0">
                <a:solidFill>
                  <a:schemeClr val="tx1"/>
                </a:solidFill>
                <a:latin typeface="+mn-lt"/>
                <a:ea typeface="Times New Roman"/>
                <a:cs typeface="Times New Roman" panose="02020603050405020304" pitchFamily="18" charset="0"/>
                <a:sym typeface="Times New Roman"/>
              </a:rPr>
              <a:t>ariants that terminate in codons 2-619 </a:t>
            </a:r>
            <a:r>
              <a:rPr lang="en-US" sz="1400" dirty="0">
                <a:solidFill>
                  <a:schemeClr val="tx1"/>
                </a:solidFill>
                <a:latin typeface="+mn-lt"/>
                <a:ea typeface="Times New Roman"/>
                <a:cs typeface="Times New Roman" panose="02020603050405020304" pitchFamily="18" charset="0"/>
                <a:sym typeface="Times New Roman"/>
              </a:rPr>
              <a:t>in transcripts </a:t>
            </a:r>
            <a:r>
              <a:rPr lang="en-US" sz="1400" dirty="0">
                <a:solidFill>
                  <a:schemeClr val="tx1"/>
                </a:solidFill>
                <a:latin typeface="+mn-lt"/>
                <a:cs typeface="Times New Roman" panose="02020603050405020304" pitchFamily="18" charset="0"/>
              </a:rPr>
              <a:t>NM_001034853.2:c.4-1704</a:t>
            </a:r>
            <a:r>
              <a:rPr lang="en-US" sz="1400" dirty="0">
                <a:solidFill>
                  <a:schemeClr val="tx1"/>
                </a:solidFill>
                <a:latin typeface="+mn-lt"/>
                <a:ea typeface="Times New Roman"/>
                <a:cs typeface="Times New Roman" panose="02020603050405020304" pitchFamily="18" charset="0"/>
                <a:sym typeface="Times New Roman"/>
              </a:rPr>
              <a:t> and </a:t>
            </a:r>
            <a:r>
              <a:rPr lang="en-US" sz="1400" dirty="0">
                <a:solidFill>
                  <a:schemeClr val="tx1"/>
                </a:solidFill>
                <a:latin typeface="+mn-lt"/>
                <a:cs typeface="Times New Roman" panose="02020603050405020304" pitchFamily="18" charset="0"/>
              </a:rPr>
              <a:t>NM_00328.3:c.</a:t>
            </a:r>
            <a:r>
              <a:rPr lang="en-US" dirty="0">
                <a:solidFill>
                  <a:schemeClr val="tx1"/>
                </a:solidFill>
                <a:latin typeface="+mn-lt"/>
                <a:cs typeface="Times New Roman" panose="02020603050405020304" pitchFamily="18" charset="0"/>
              </a:rPr>
              <a:t>4-1704 </a:t>
            </a:r>
            <a:r>
              <a:rPr lang="en-US" sz="1400" dirty="0">
                <a:solidFill>
                  <a:schemeClr val="tx1"/>
                </a:solidFill>
                <a:latin typeface="+mn-lt"/>
                <a:ea typeface="Times New Roman"/>
                <a:cs typeface="Times New Roman" panose="02020603050405020304" pitchFamily="18" charset="0"/>
                <a:sym typeface="Times New Roman"/>
              </a:rPr>
              <a:t>(genomic regions 38,287,910 to 38,327,367) are expected to produce transcripts that will undergo NMD</a:t>
            </a:r>
            <a:r>
              <a:rPr lang="en-US" dirty="0">
                <a:solidFill>
                  <a:schemeClr val="tx1"/>
                </a:solidFill>
                <a:latin typeface="+mn-lt"/>
              </a:rPr>
              <a:t>. (f) </a:t>
            </a:r>
            <a:r>
              <a:rPr lang="en-US" sz="1400" dirty="0">
                <a:solidFill>
                  <a:schemeClr val="tx1"/>
                </a:solidFill>
                <a:latin typeface="+mn-lt"/>
                <a:ea typeface="Times New Roman"/>
                <a:cs typeface="Times New Roman" panose="02020603050405020304" pitchFamily="18" charset="0"/>
                <a:sym typeface="Times New Roman"/>
              </a:rPr>
              <a:t>V</a:t>
            </a:r>
            <a:r>
              <a:rPr lang="en-US" sz="1400" b="0" i="0" u="none" strike="noStrike" cap="none" dirty="0">
                <a:solidFill>
                  <a:schemeClr val="tx1"/>
                </a:solidFill>
                <a:latin typeface="+mn-lt"/>
                <a:ea typeface="Times New Roman"/>
                <a:cs typeface="Times New Roman" panose="02020603050405020304" pitchFamily="18" charset="0"/>
                <a:sym typeface="Times New Roman"/>
              </a:rPr>
              <a:t>ariants that terminate in codons 619-783 </a:t>
            </a:r>
            <a:r>
              <a:rPr lang="en-US" sz="1400" dirty="0">
                <a:solidFill>
                  <a:schemeClr val="tx1"/>
                </a:solidFill>
                <a:latin typeface="+mn-lt"/>
                <a:ea typeface="Times New Roman"/>
                <a:cs typeface="Times New Roman" panose="02020603050405020304" pitchFamily="18" charset="0"/>
                <a:sym typeface="Times New Roman"/>
              </a:rPr>
              <a:t>in transcript </a:t>
            </a:r>
            <a:r>
              <a:rPr lang="en-US" sz="1400" dirty="0">
                <a:solidFill>
                  <a:schemeClr val="tx1"/>
                </a:solidFill>
                <a:latin typeface="+mn-lt"/>
                <a:cs typeface="Times New Roman" panose="02020603050405020304" pitchFamily="18" charset="0"/>
              </a:rPr>
              <a:t>NM_00328.3:c.1705-2106 </a:t>
            </a:r>
            <a:r>
              <a:rPr lang="en-US" sz="1400" dirty="0">
                <a:solidFill>
                  <a:schemeClr val="tx1"/>
                </a:solidFill>
                <a:latin typeface="+mn-lt"/>
                <a:ea typeface="Times New Roman"/>
                <a:cs typeface="Times New Roman" panose="02020603050405020304" pitchFamily="18" charset="0"/>
                <a:sym typeface="Times New Roman"/>
              </a:rPr>
              <a:t>(hg38 genomic regions 38,273,435 to 38,287,910) are expected to produce transcripts that will undergo NMD</a:t>
            </a:r>
            <a:r>
              <a:rPr lang="en-US" dirty="0">
                <a:solidFill>
                  <a:schemeClr val="tx1"/>
                </a:solidFill>
                <a:latin typeface="+mn-lt"/>
              </a:rPr>
              <a:t>. (g) </a:t>
            </a:r>
            <a:r>
              <a:rPr lang="en-US" sz="1400" dirty="0">
                <a:solidFill>
                  <a:schemeClr val="tx1"/>
                </a:solidFill>
                <a:latin typeface="+mn-lt"/>
                <a:ea typeface="Times New Roman"/>
                <a:cs typeface="Times New Roman" panose="02020603050405020304" pitchFamily="18" charset="0"/>
                <a:sym typeface="Times New Roman"/>
              </a:rPr>
              <a:t>Variants in transcript </a:t>
            </a:r>
            <a:r>
              <a:rPr lang="en-US" sz="1400" dirty="0">
                <a:solidFill>
                  <a:schemeClr val="tx1"/>
                </a:solidFill>
                <a:latin typeface="+mn-lt"/>
                <a:cs typeface="Times New Roman" panose="02020603050405020304" pitchFamily="18" charset="0"/>
              </a:rPr>
              <a:t>NM_001034853.2:c.1705-3398</a:t>
            </a:r>
            <a:r>
              <a:rPr lang="en-US" sz="1400" dirty="0">
                <a:solidFill>
                  <a:schemeClr val="tx1"/>
                </a:solidFill>
                <a:latin typeface="+mn-lt"/>
                <a:ea typeface="Times New Roman"/>
                <a:cs typeface="Times New Roman" panose="02020603050405020304" pitchFamily="18" charset="0"/>
                <a:sym typeface="Times New Roman"/>
              </a:rPr>
              <a:t> (codons 619-1132, hg38 genomic regions 38,287,910 to 38,285,759) are predicted to disrupt the glutamylation in ORF 15 a region that is critical to protein function </a:t>
            </a:r>
            <a:r>
              <a:rPr lang="en-US" sz="1400" baseline="30000" dirty="0">
                <a:solidFill>
                  <a:schemeClr val="tx1"/>
                </a:solidFill>
                <a:latin typeface="+mn-lt"/>
                <a:ea typeface="Times New Roman"/>
                <a:cs typeface="Times New Roman" panose="02020603050405020304" pitchFamily="18" charset="0"/>
                <a:sym typeface="Times New Roman"/>
              </a:rPr>
              <a:t>c</a:t>
            </a:r>
            <a:r>
              <a:rPr lang="en-US" dirty="0">
                <a:solidFill>
                  <a:schemeClr val="tx1"/>
                </a:solidFill>
                <a:latin typeface="+mn-lt"/>
              </a:rPr>
              <a:t>. (h) </a:t>
            </a:r>
            <a:r>
              <a:rPr lang="en-US" sz="1400" dirty="0">
                <a:solidFill>
                  <a:schemeClr val="tx1"/>
                </a:solidFill>
                <a:latin typeface="+mn-lt"/>
                <a:ea typeface="Times New Roman"/>
                <a:cs typeface="Times New Roman" panose="02020603050405020304" pitchFamily="18" charset="0"/>
                <a:sym typeface="Times New Roman"/>
              </a:rPr>
              <a:t>Role of region in protein function is unknown. Transcript </a:t>
            </a:r>
            <a:r>
              <a:rPr lang="en-US" sz="1400" dirty="0">
                <a:solidFill>
                  <a:schemeClr val="tx1"/>
                </a:solidFill>
                <a:latin typeface="+mn-lt"/>
                <a:cs typeface="Times New Roman" panose="02020603050405020304" pitchFamily="18" charset="0"/>
              </a:rPr>
              <a:t>NM_001034853.2:c.3399-3458</a:t>
            </a:r>
            <a:r>
              <a:rPr lang="en-US" sz="1400" dirty="0">
                <a:solidFill>
                  <a:schemeClr val="tx1"/>
                </a:solidFill>
                <a:latin typeface="+mn-lt"/>
                <a:ea typeface="Times New Roman"/>
                <a:cs typeface="Times New Roman" panose="02020603050405020304" pitchFamily="18" charset="0"/>
                <a:sym typeface="Times New Roman"/>
              </a:rPr>
              <a:t> (codons 1132-1152) and 3’ UTR. Transcript NM_00328.3:c.2352-2909 (codons 584-969), and 3’ UTR.</a:t>
            </a:r>
            <a:r>
              <a:rPr lang="en-US" dirty="0">
                <a:solidFill>
                  <a:schemeClr val="tx1"/>
                </a:solidFill>
                <a:latin typeface="+mn-lt"/>
              </a:rPr>
              <a:t> (</a:t>
            </a:r>
            <a:r>
              <a:rPr lang="en-US" dirty="0" err="1">
                <a:solidFill>
                  <a:schemeClr val="tx1"/>
                </a:solidFill>
                <a:latin typeface="+mn-lt"/>
              </a:rPr>
              <a:t>i</a:t>
            </a:r>
            <a:r>
              <a:rPr lang="en-US" dirty="0">
                <a:solidFill>
                  <a:schemeClr val="tx1"/>
                </a:solidFill>
                <a:latin typeface="+mn-lt"/>
              </a:rPr>
              <a:t>) </a:t>
            </a:r>
            <a:r>
              <a:rPr lang="en-US" sz="1400" dirty="0">
                <a:solidFill>
                  <a:schemeClr val="tx1"/>
                </a:solidFill>
                <a:latin typeface="+mn-lt"/>
                <a:ea typeface="Times New Roman"/>
                <a:cs typeface="Times New Roman" panose="02020603050405020304" pitchFamily="18" charset="0"/>
                <a:sym typeface="Times New Roman"/>
              </a:rPr>
              <a:t>Variants that skip exon 2 which has a defined pathogenic missense variant (PMID37352859) or skip or alter the RCC1 domain in exons 3, 4, 5, 6, 7, 8, 9 or 10 affect regions critical to protein function</a:t>
            </a:r>
            <a:r>
              <a:rPr lang="en-US" sz="1400" baseline="30000" dirty="0">
                <a:solidFill>
                  <a:schemeClr val="tx1"/>
                </a:solidFill>
                <a:latin typeface="+mn-lt"/>
                <a:ea typeface="Times New Roman"/>
                <a:cs typeface="Times New Roman" panose="02020603050405020304" pitchFamily="18" charset="0"/>
                <a:sym typeface="Times New Roman"/>
              </a:rPr>
              <a:t> c</a:t>
            </a:r>
            <a:r>
              <a:rPr lang="en-US" dirty="0">
                <a:solidFill>
                  <a:schemeClr val="tx1"/>
                </a:solidFill>
                <a:latin typeface="+mn-lt"/>
              </a:rPr>
              <a:t>. </a:t>
            </a:r>
            <a:endParaRPr lang="en-US" baseline="30000" dirty="0">
              <a:solidFill>
                <a:schemeClr val="tx1"/>
              </a:solidFill>
              <a:latin typeface="+mn-lt"/>
            </a:endParaRPr>
          </a:p>
        </p:txBody>
      </p:sp>
    </p:spTree>
    <p:extLst>
      <p:ext uri="{BB962C8B-B14F-4D97-AF65-F5344CB8AC3E}">
        <p14:creationId xmlns:p14="http://schemas.microsoft.com/office/powerpoint/2010/main" val="26047727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59">
          <a:extLst>
            <a:ext uri="{FF2B5EF4-FFF2-40B4-BE49-F238E27FC236}">
              <a16:creationId xmlns:a16="http://schemas.microsoft.com/office/drawing/2014/main" id="{7C3BEF4E-FD26-E0C6-C3D9-6864978CDAB3}"/>
            </a:ext>
          </a:extLst>
        </p:cNvPr>
        <p:cNvGrpSpPr/>
        <p:nvPr/>
      </p:nvGrpSpPr>
      <p:grpSpPr>
        <a:xfrm>
          <a:off x="0" y="0"/>
          <a:ext cx="0" cy="0"/>
          <a:chOff x="0" y="0"/>
          <a:chExt cx="0" cy="0"/>
        </a:xfrm>
      </p:grpSpPr>
      <p:sp>
        <p:nvSpPr>
          <p:cNvPr id="410" name="Google Shape;66;p1">
            <a:extLst>
              <a:ext uri="{FF2B5EF4-FFF2-40B4-BE49-F238E27FC236}">
                <a16:creationId xmlns:a16="http://schemas.microsoft.com/office/drawing/2014/main" id="{81DF17C1-E466-5F0E-2352-99B699AEF590}"/>
              </a:ext>
            </a:extLst>
          </p:cNvPr>
          <p:cNvSpPr/>
          <p:nvPr/>
        </p:nvSpPr>
        <p:spPr>
          <a:xfrm>
            <a:off x="10534659" y="9452361"/>
            <a:ext cx="1618693" cy="41148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algn="ctr">
              <a:buSzPts val="1200"/>
            </a:pPr>
            <a:r>
              <a:rPr lang="en-US" sz="1200" b="0" i="0" u="none" strike="noStrike" cap="none" dirty="0">
                <a:solidFill>
                  <a:srgbClr val="000000"/>
                </a:solidFill>
                <a:latin typeface="Times New Roman"/>
                <a:ea typeface="Times New Roman"/>
                <a:cs typeface="Times New Roman"/>
                <a:sym typeface="Times New Roman"/>
              </a:rPr>
              <a:t>BP7_S (RNA) + prediction (PP3/BP4)</a:t>
            </a:r>
            <a:endParaRPr sz="1400" b="0" i="0" u="none" strike="noStrike" cap="none" dirty="0">
              <a:solidFill>
                <a:srgbClr val="000000"/>
              </a:solidFill>
              <a:latin typeface="Arial"/>
              <a:ea typeface="Arial"/>
              <a:cs typeface="Arial"/>
              <a:sym typeface="Arial"/>
            </a:endParaRPr>
          </a:p>
        </p:txBody>
      </p:sp>
      <p:sp>
        <p:nvSpPr>
          <p:cNvPr id="282" name="Google Shape;61;p1">
            <a:extLst>
              <a:ext uri="{FF2B5EF4-FFF2-40B4-BE49-F238E27FC236}">
                <a16:creationId xmlns:a16="http://schemas.microsoft.com/office/drawing/2014/main" id="{1EEB25CA-729D-B5CB-4C85-F06629CA6CA5}"/>
              </a:ext>
            </a:extLst>
          </p:cNvPr>
          <p:cNvSpPr/>
          <p:nvPr/>
        </p:nvSpPr>
        <p:spPr>
          <a:xfrm>
            <a:off x="4392227" y="7041911"/>
            <a:ext cx="1311248" cy="1752879"/>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dirty="0">
                <a:latin typeface="Times New Roman"/>
                <a:ea typeface="Times New Roman"/>
                <a:cs typeface="Times New Roman"/>
                <a:sym typeface="Times New Roman"/>
              </a:rPr>
              <a:t>PVS1_S, PVS1_M, or PVS1_P (PVS1_Strength) applied</a:t>
            </a:r>
            <a:endParaRPr sz="1400" b="0" i="0" u="none" strike="noStrike" cap="none" dirty="0">
              <a:solidFill>
                <a:srgbClr val="FF0000"/>
              </a:solidFill>
              <a:latin typeface="Arial"/>
              <a:ea typeface="Arial"/>
              <a:cs typeface="Arial"/>
              <a:sym typeface="Arial"/>
            </a:endParaRPr>
          </a:p>
        </p:txBody>
      </p:sp>
      <p:sp>
        <p:nvSpPr>
          <p:cNvPr id="60" name="Google Shape;60;p1">
            <a:extLst>
              <a:ext uri="{FF2B5EF4-FFF2-40B4-BE49-F238E27FC236}">
                <a16:creationId xmlns:a16="http://schemas.microsoft.com/office/drawing/2014/main" id="{F83598FA-5EE2-A6FB-D592-CC354FF2230B}"/>
              </a:ext>
            </a:extLst>
          </p:cNvPr>
          <p:cNvSpPr txBox="1"/>
          <p:nvPr/>
        </p:nvSpPr>
        <p:spPr>
          <a:xfrm>
            <a:off x="1592413" y="2793256"/>
            <a:ext cx="1105800" cy="281970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 sz="1200" b="1" i="0" u="none" strike="noStrike" cap="none" dirty="0">
                <a:latin typeface="Times New Roman"/>
                <a:ea typeface="Times New Roman"/>
                <a:cs typeface="Times New Roman"/>
                <a:sym typeface="Times New Roman"/>
              </a:rPr>
              <a:t>Outside donor/acceptor +/- 1,2 dinucleotide positions (</a:t>
            </a:r>
            <a:r>
              <a:rPr lang="en" sz="1200" b="1" i="0" u="none" strike="noStrike" cap="none" dirty="0" err="1">
                <a:latin typeface="Times New Roman"/>
                <a:ea typeface="Times New Roman"/>
                <a:cs typeface="Times New Roman"/>
                <a:sym typeface="Times New Roman"/>
              </a:rPr>
              <a:t>exonic</a:t>
            </a:r>
            <a:r>
              <a:rPr lang="en" sz="1200" b="1" i="0" u="none" strike="noStrike" cap="none" dirty="0">
                <a:latin typeface="Times New Roman"/>
                <a:ea typeface="Times New Roman"/>
                <a:cs typeface="Times New Roman"/>
                <a:sym typeface="Times New Roman"/>
              </a:rPr>
              <a:t> or intronic)</a:t>
            </a:r>
            <a:endParaRPr sz="1400" b="1" i="0" u="none" strike="noStrike" cap="none" dirty="0">
              <a:latin typeface="Arial"/>
              <a:ea typeface="Arial"/>
              <a:cs typeface="Arial"/>
              <a:sym typeface="Arial"/>
            </a:endParaRPr>
          </a:p>
        </p:txBody>
      </p:sp>
      <p:sp>
        <p:nvSpPr>
          <p:cNvPr id="61" name="Google Shape;61;p1">
            <a:extLst>
              <a:ext uri="{FF2B5EF4-FFF2-40B4-BE49-F238E27FC236}">
                <a16:creationId xmlns:a16="http://schemas.microsoft.com/office/drawing/2014/main" id="{8808DC80-30DC-3575-5009-8D42F84964B3}"/>
              </a:ext>
            </a:extLst>
          </p:cNvPr>
          <p:cNvSpPr/>
          <p:nvPr/>
        </p:nvSpPr>
        <p:spPr>
          <a:xfrm>
            <a:off x="4392226" y="2783517"/>
            <a:ext cx="1312149" cy="1793807"/>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dirty="0">
                <a:latin typeface="Times New Roman"/>
                <a:ea typeface="Times New Roman"/>
                <a:cs typeface="Times New Roman"/>
                <a:sym typeface="Times New Roman"/>
              </a:rPr>
              <a:t>PP3 applied </a:t>
            </a:r>
          </a:p>
          <a:p>
            <a:pPr marL="0" marR="0" lvl="0" indent="0" algn="ctr" rtl="0">
              <a:lnSpc>
                <a:spcPct val="100000"/>
              </a:lnSpc>
              <a:spcBef>
                <a:spcPts val="0"/>
              </a:spcBef>
              <a:spcAft>
                <a:spcPts val="0"/>
              </a:spcAft>
              <a:buClr>
                <a:srgbClr val="000000"/>
              </a:buClr>
              <a:buSzPts val="1200"/>
              <a:buFont typeface="Arial"/>
              <a:buNone/>
            </a:pPr>
            <a:r>
              <a:rPr lang="en" sz="1200" b="1" dirty="0">
                <a:solidFill>
                  <a:srgbClr val="00B0F0"/>
                </a:solidFill>
                <a:latin typeface="Times New Roman"/>
                <a:cs typeface="Times New Roman"/>
                <a:sym typeface="Times New Roman"/>
              </a:rPr>
              <a:t>See (a) Flowchart for PP3 and BP4 and (b) Table 2 from Walker et. al., 2023</a:t>
            </a:r>
            <a:endParaRPr sz="1400" b="0" i="0" u="none" strike="noStrike" cap="none" dirty="0">
              <a:solidFill>
                <a:srgbClr val="FF0000"/>
              </a:solidFill>
              <a:latin typeface="Arial"/>
              <a:ea typeface="Arial"/>
              <a:cs typeface="Arial"/>
              <a:sym typeface="Arial"/>
            </a:endParaRPr>
          </a:p>
        </p:txBody>
      </p:sp>
      <p:sp>
        <p:nvSpPr>
          <p:cNvPr id="63" name="Google Shape;63;p1">
            <a:extLst>
              <a:ext uri="{FF2B5EF4-FFF2-40B4-BE49-F238E27FC236}">
                <a16:creationId xmlns:a16="http://schemas.microsoft.com/office/drawing/2014/main" id="{6C7534E9-8BEC-8FE6-BCCA-2DBF20A0D7E7}"/>
              </a:ext>
            </a:extLst>
          </p:cNvPr>
          <p:cNvSpPr/>
          <p:nvPr/>
        </p:nvSpPr>
        <p:spPr>
          <a:xfrm>
            <a:off x="5964241" y="2783500"/>
            <a:ext cx="4572000" cy="274320"/>
          </a:xfrm>
          <a:prstGeom prst="rect">
            <a:avLst/>
          </a:prstGeom>
          <a:solidFill>
            <a:schemeClr val="lt1"/>
          </a:solid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 sz="1200" b="0" i="0" u="none" strike="noStrike" cap="none" dirty="0">
                <a:solidFill>
                  <a:srgbClr val="000000"/>
                </a:solidFill>
                <a:latin typeface="Times New Roman"/>
                <a:ea typeface="Times New Roman"/>
                <a:cs typeface="Times New Roman"/>
                <a:sym typeface="Times New Roman"/>
              </a:rPr>
              <a:t>No appropriate comparison P/LP variant in this splice region</a:t>
            </a:r>
            <a:endParaRPr sz="1400" b="0" i="0" u="none" strike="noStrike" cap="none" dirty="0">
              <a:solidFill>
                <a:srgbClr val="000000"/>
              </a:solidFill>
              <a:latin typeface="Arial"/>
              <a:ea typeface="Arial"/>
              <a:cs typeface="Arial"/>
              <a:sym typeface="Arial"/>
            </a:endParaRPr>
          </a:p>
        </p:txBody>
      </p:sp>
      <p:sp>
        <p:nvSpPr>
          <p:cNvPr id="64" name="Google Shape;64;p1">
            <a:extLst>
              <a:ext uri="{FF2B5EF4-FFF2-40B4-BE49-F238E27FC236}">
                <a16:creationId xmlns:a16="http://schemas.microsoft.com/office/drawing/2014/main" id="{6159BB75-796B-B1A3-E320-CCF488CE9E66}"/>
              </a:ext>
            </a:extLst>
          </p:cNvPr>
          <p:cNvSpPr/>
          <p:nvPr/>
        </p:nvSpPr>
        <p:spPr>
          <a:xfrm>
            <a:off x="5964241" y="3130452"/>
            <a:ext cx="4572000" cy="27432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dirty="0">
                <a:solidFill>
                  <a:srgbClr val="000000"/>
                </a:solidFill>
                <a:latin typeface="Times New Roman"/>
                <a:ea typeface="Times New Roman"/>
                <a:cs typeface="Times New Roman"/>
                <a:sym typeface="Times New Roman"/>
              </a:rPr>
              <a:t>P variant at this </a:t>
            </a:r>
            <a:r>
              <a:rPr lang="en-US" sz="1200" b="0" i="0" u="none" strike="noStrike" cap="none" dirty="0" err="1">
                <a:solidFill>
                  <a:srgbClr val="000000"/>
                </a:solidFill>
                <a:latin typeface="Times New Roman"/>
                <a:ea typeface="Times New Roman"/>
                <a:cs typeface="Times New Roman"/>
                <a:sym typeface="Times New Roman"/>
              </a:rPr>
              <a:t>nt</a:t>
            </a:r>
            <a:r>
              <a:rPr lang="en-US" sz="1200" b="0" i="0" u="none" strike="noStrike" cap="none" dirty="0">
                <a:solidFill>
                  <a:srgbClr val="000000"/>
                </a:solidFill>
                <a:latin typeface="Times New Roman"/>
                <a:ea typeface="Times New Roman"/>
                <a:cs typeface="Times New Roman"/>
                <a:sym typeface="Times New Roman"/>
              </a:rPr>
              <a:t> position with same predicted impact</a:t>
            </a:r>
            <a:endParaRPr lang="en-US" sz="1400" b="0" i="0" u="none" strike="noStrike" cap="none" dirty="0">
              <a:solidFill>
                <a:srgbClr val="000000"/>
              </a:solidFill>
              <a:latin typeface="Arial"/>
              <a:ea typeface="Arial"/>
              <a:cs typeface="Arial"/>
              <a:sym typeface="Arial"/>
            </a:endParaRPr>
          </a:p>
        </p:txBody>
      </p:sp>
      <p:sp>
        <p:nvSpPr>
          <p:cNvPr id="65" name="Google Shape;65;p1">
            <a:extLst>
              <a:ext uri="{FF2B5EF4-FFF2-40B4-BE49-F238E27FC236}">
                <a16:creationId xmlns:a16="http://schemas.microsoft.com/office/drawing/2014/main" id="{8F168D4D-B74C-DAB3-F494-C0E97D77D4C9}"/>
              </a:ext>
            </a:extLst>
          </p:cNvPr>
          <p:cNvSpPr/>
          <p:nvPr/>
        </p:nvSpPr>
        <p:spPr>
          <a:xfrm>
            <a:off x="10945100" y="2783500"/>
            <a:ext cx="1188720" cy="27432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 sz="1200" b="0" i="0" u="none" strike="noStrike" cap="none" dirty="0">
                <a:solidFill>
                  <a:srgbClr val="000000"/>
                </a:solidFill>
                <a:latin typeface="Times New Roman"/>
                <a:ea typeface="Times New Roman"/>
                <a:cs typeface="Times New Roman"/>
                <a:sym typeface="Times New Roman"/>
              </a:rPr>
              <a:t>PP3</a:t>
            </a:r>
            <a:endParaRPr sz="1400" b="0" i="0" u="none" strike="noStrike" cap="none" dirty="0">
              <a:solidFill>
                <a:srgbClr val="000000"/>
              </a:solidFill>
              <a:latin typeface="Arial"/>
              <a:ea typeface="Arial"/>
              <a:cs typeface="Arial"/>
              <a:sym typeface="Arial"/>
            </a:endParaRPr>
          </a:p>
        </p:txBody>
      </p:sp>
      <p:sp>
        <p:nvSpPr>
          <p:cNvPr id="66" name="Google Shape;66;p1">
            <a:extLst>
              <a:ext uri="{FF2B5EF4-FFF2-40B4-BE49-F238E27FC236}">
                <a16:creationId xmlns:a16="http://schemas.microsoft.com/office/drawing/2014/main" id="{5DEFB44B-7194-0A05-73BC-EEA05A1AA9CC}"/>
              </a:ext>
            </a:extLst>
          </p:cNvPr>
          <p:cNvSpPr/>
          <p:nvPr/>
        </p:nvSpPr>
        <p:spPr>
          <a:xfrm>
            <a:off x="10945100" y="3159335"/>
            <a:ext cx="1188720" cy="27432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 sz="1200" b="0" i="0" u="none" strike="noStrike" cap="none" dirty="0">
                <a:solidFill>
                  <a:srgbClr val="000000"/>
                </a:solidFill>
                <a:latin typeface="Times New Roman"/>
                <a:ea typeface="Times New Roman"/>
                <a:cs typeface="Times New Roman"/>
                <a:sym typeface="Times New Roman"/>
              </a:rPr>
              <a:t>PP3 + PS1</a:t>
            </a:r>
            <a:endParaRPr sz="1400" b="0" i="0" u="none" strike="noStrike" cap="none" dirty="0">
              <a:solidFill>
                <a:srgbClr val="000000"/>
              </a:solidFill>
              <a:latin typeface="Arial"/>
              <a:ea typeface="Arial"/>
              <a:cs typeface="Arial"/>
              <a:sym typeface="Arial"/>
            </a:endParaRPr>
          </a:p>
        </p:txBody>
      </p:sp>
      <p:sp>
        <p:nvSpPr>
          <p:cNvPr id="67" name="Google Shape;67;p1">
            <a:extLst>
              <a:ext uri="{FF2B5EF4-FFF2-40B4-BE49-F238E27FC236}">
                <a16:creationId xmlns:a16="http://schemas.microsoft.com/office/drawing/2014/main" id="{E4B3E723-0610-1D3B-571C-17472BD2043B}"/>
              </a:ext>
            </a:extLst>
          </p:cNvPr>
          <p:cNvSpPr/>
          <p:nvPr/>
        </p:nvSpPr>
        <p:spPr>
          <a:xfrm>
            <a:off x="5964241" y="3504902"/>
            <a:ext cx="4572000" cy="27432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dirty="0">
                <a:solidFill>
                  <a:srgbClr val="000000"/>
                </a:solidFill>
                <a:latin typeface="Times New Roman"/>
                <a:ea typeface="Times New Roman"/>
                <a:cs typeface="Times New Roman"/>
                <a:sym typeface="Times New Roman"/>
              </a:rPr>
              <a:t>LP variant at this </a:t>
            </a:r>
            <a:r>
              <a:rPr lang="en-US" sz="1200" b="0" i="0" u="none" strike="noStrike" cap="none" dirty="0" err="1">
                <a:solidFill>
                  <a:srgbClr val="000000"/>
                </a:solidFill>
                <a:latin typeface="Times New Roman"/>
                <a:ea typeface="Times New Roman"/>
                <a:cs typeface="Times New Roman"/>
                <a:sym typeface="Times New Roman"/>
              </a:rPr>
              <a:t>nt</a:t>
            </a:r>
            <a:r>
              <a:rPr lang="en-US" sz="1200" b="0" i="0" u="none" strike="noStrike" cap="none" dirty="0">
                <a:solidFill>
                  <a:srgbClr val="000000"/>
                </a:solidFill>
                <a:latin typeface="Times New Roman"/>
                <a:ea typeface="Times New Roman"/>
                <a:cs typeface="Times New Roman"/>
                <a:sym typeface="Times New Roman"/>
              </a:rPr>
              <a:t> position with same predicted impact</a:t>
            </a:r>
            <a:endParaRPr lang="en-US" sz="1400" b="0" i="0" u="none" strike="noStrike" cap="none" dirty="0">
              <a:solidFill>
                <a:srgbClr val="000000"/>
              </a:solidFill>
              <a:latin typeface="Arial"/>
              <a:ea typeface="Arial"/>
              <a:cs typeface="Arial"/>
              <a:sym typeface="Arial"/>
            </a:endParaRPr>
          </a:p>
        </p:txBody>
      </p:sp>
      <p:sp>
        <p:nvSpPr>
          <p:cNvPr id="69" name="Google Shape;69;p1">
            <a:extLst>
              <a:ext uri="{FF2B5EF4-FFF2-40B4-BE49-F238E27FC236}">
                <a16:creationId xmlns:a16="http://schemas.microsoft.com/office/drawing/2014/main" id="{58C24124-1F7B-DC0A-8770-A20615CD2F92}"/>
              </a:ext>
            </a:extLst>
          </p:cNvPr>
          <p:cNvSpPr/>
          <p:nvPr/>
        </p:nvSpPr>
        <p:spPr>
          <a:xfrm>
            <a:off x="5964241" y="3877062"/>
            <a:ext cx="4572000" cy="27432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dirty="0">
                <a:solidFill>
                  <a:srgbClr val="000000"/>
                </a:solidFill>
                <a:latin typeface="Times New Roman"/>
                <a:ea typeface="Times New Roman"/>
                <a:cs typeface="Times New Roman"/>
                <a:sym typeface="Times New Roman"/>
              </a:rPr>
              <a:t>P variant within the same splice region with same predicted impact</a:t>
            </a:r>
            <a:endParaRPr lang="en-US" sz="1400" b="0" i="0" u="none" strike="noStrike" cap="none" dirty="0">
              <a:solidFill>
                <a:srgbClr val="000000"/>
              </a:solidFill>
              <a:latin typeface="Arial"/>
              <a:ea typeface="Arial"/>
              <a:cs typeface="Arial"/>
              <a:sym typeface="Arial"/>
            </a:endParaRPr>
          </a:p>
        </p:txBody>
      </p:sp>
      <p:sp>
        <p:nvSpPr>
          <p:cNvPr id="70" name="Google Shape;70;p1">
            <a:extLst>
              <a:ext uri="{FF2B5EF4-FFF2-40B4-BE49-F238E27FC236}">
                <a16:creationId xmlns:a16="http://schemas.microsoft.com/office/drawing/2014/main" id="{A74FFBDB-F219-29E8-DC64-857BF1E77541}"/>
              </a:ext>
            </a:extLst>
          </p:cNvPr>
          <p:cNvSpPr/>
          <p:nvPr/>
        </p:nvSpPr>
        <p:spPr>
          <a:xfrm>
            <a:off x="10945100" y="3535170"/>
            <a:ext cx="1188720" cy="27432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dirty="0">
                <a:solidFill>
                  <a:srgbClr val="000000"/>
                </a:solidFill>
                <a:latin typeface="Times New Roman"/>
                <a:ea typeface="Times New Roman"/>
                <a:cs typeface="Times New Roman"/>
                <a:sym typeface="Times New Roman"/>
              </a:rPr>
              <a:t>PP3 + PS1_M</a:t>
            </a:r>
            <a:endParaRPr lang="en-US" sz="1400" b="0" i="0" u="none" strike="noStrike" cap="none" dirty="0">
              <a:solidFill>
                <a:srgbClr val="000000"/>
              </a:solidFill>
              <a:latin typeface="Arial"/>
              <a:ea typeface="Arial"/>
              <a:cs typeface="Arial"/>
              <a:sym typeface="Arial"/>
            </a:endParaRPr>
          </a:p>
        </p:txBody>
      </p:sp>
      <p:sp>
        <p:nvSpPr>
          <p:cNvPr id="71" name="Google Shape;71;p1">
            <a:extLst>
              <a:ext uri="{FF2B5EF4-FFF2-40B4-BE49-F238E27FC236}">
                <a16:creationId xmlns:a16="http://schemas.microsoft.com/office/drawing/2014/main" id="{8BE7197A-B65E-B729-4B21-0812EE2E31CB}"/>
              </a:ext>
            </a:extLst>
          </p:cNvPr>
          <p:cNvSpPr/>
          <p:nvPr/>
        </p:nvSpPr>
        <p:spPr>
          <a:xfrm>
            <a:off x="10945100" y="3911005"/>
            <a:ext cx="1188720" cy="27432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dirty="0">
                <a:solidFill>
                  <a:srgbClr val="000000"/>
                </a:solidFill>
                <a:latin typeface="Times New Roman"/>
                <a:ea typeface="Times New Roman"/>
                <a:cs typeface="Times New Roman"/>
                <a:sym typeface="Times New Roman"/>
              </a:rPr>
              <a:t>PP3 + PS1_M</a:t>
            </a:r>
            <a:endParaRPr lang="en-US" sz="1400" b="0" i="0" u="none" strike="noStrike" cap="none" dirty="0">
              <a:solidFill>
                <a:srgbClr val="000000"/>
              </a:solidFill>
              <a:latin typeface="Arial"/>
              <a:ea typeface="Arial"/>
              <a:cs typeface="Arial"/>
              <a:sym typeface="Arial"/>
            </a:endParaRPr>
          </a:p>
        </p:txBody>
      </p:sp>
      <p:sp>
        <p:nvSpPr>
          <p:cNvPr id="72" name="Google Shape;72;p1">
            <a:extLst>
              <a:ext uri="{FF2B5EF4-FFF2-40B4-BE49-F238E27FC236}">
                <a16:creationId xmlns:a16="http://schemas.microsoft.com/office/drawing/2014/main" id="{03739504-35DA-E9AE-FCF6-8F01AD9DE980}"/>
              </a:ext>
            </a:extLst>
          </p:cNvPr>
          <p:cNvSpPr/>
          <p:nvPr/>
        </p:nvSpPr>
        <p:spPr>
          <a:xfrm>
            <a:off x="10796107" y="4286839"/>
            <a:ext cx="1337713" cy="27432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dirty="0">
                <a:solidFill>
                  <a:srgbClr val="000000"/>
                </a:solidFill>
                <a:latin typeface="Times New Roman"/>
                <a:ea typeface="Times New Roman"/>
                <a:cs typeface="Times New Roman"/>
                <a:sym typeface="Times New Roman"/>
              </a:rPr>
              <a:t>PP3 + PS1_</a:t>
            </a:r>
            <a:r>
              <a:rPr lang="en-US" sz="1200" b="0" i="0" u="none" strike="noStrike" cap="none" dirty="0">
                <a:solidFill>
                  <a:srgbClr val="0070C0"/>
                </a:solidFill>
                <a:latin typeface="Times New Roman"/>
                <a:ea typeface="Times New Roman"/>
                <a:cs typeface="Times New Roman"/>
                <a:sym typeface="Times New Roman"/>
              </a:rPr>
              <a:t>Supp</a:t>
            </a:r>
            <a:r>
              <a:rPr lang="en-US" sz="1200" b="0" i="0" u="none" strike="noStrike" cap="none" dirty="0">
                <a:solidFill>
                  <a:srgbClr val="000000"/>
                </a:solidFill>
                <a:latin typeface="Times New Roman"/>
                <a:ea typeface="Times New Roman"/>
                <a:cs typeface="Times New Roman"/>
                <a:sym typeface="Times New Roman"/>
              </a:rPr>
              <a:t>.</a:t>
            </a:r>
            <a:endParaRPr lang="en-US" sz="1400" b="0" i="0" u="none" strike="noStrike" cap="none" dirty="0">
              <a:solidFill>
                <a:srgbClr val="000000"/>
              </a:solidFill>
              <a:latin typeface="Arial"/>
              <a:ea typeface="Arial"/>
              <a:cs typeface="Arial"/>
              <a:sym typeface="Arial"/>
            </a:endParaRPr>
          </a:p>
        </p:txBody>
      </p:sp>
      <p:sp>
        <p:nvSpPr>
          <p:cNvPr id="73" name="Google Shape;73;p1">
            <a:extLst>
              <a:ext uri="{FF2B5EF4-FFF2-40B4-BE49-F238E27FC236}">
                <a16:creationId xmlns:a16="http://schemas.microsoft.com/office/drawing/2014/main" id="{E09E599F-1CE5-FF4B-29FA-DE2B230CB14B}"/>
              </a:ext>
            </a:extLst>
          </p:cNvPr>
          <p:cNvSpPr/>
          <p:nvPr/>
        </p:nvSpPr>
        <p:spPr>
          <a:xfrm>
            <a:off x="9236252" y="4636488"/>
            <a:ext cx="2913595" cy="27432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 sz="1200" b="0" i="0" u="none" strike="noStrike" cap="none" dirty="0">
                <a:solidFill>
                  <a:srgbClr val="000000"/>
                </a:solidFill>
                <a:latin typeface="Times New Roman"/>
                <a:ea typeface="Times New Roman"/>
                <a:cs typeface="Times New Roman"/>
                <a:sym typeface="Times New Roman"/>
              </a:rPr>
              <a:t>N/A (consider protein impact if relevant)</a:t>
            </a:r>
            <a:endParaRPr sz="1400" b="0" i="0" u="none" strike="noStrike" cap="none" dirty="0">
              <a:solidFill>
                <a:srgbClr val="000000"/>
              </a:solidFill>
              <a:latin typeface="Arial"/>
              <a:ea typeface="Arial"/>
              <a:cs typeface="Arial"/>
              <a:sym typeface="Arial"/>
            </a:endParaRPr>
          </a:p>
        </p:txBody>
      </p:sp>
      <p:cxnSp>
        <p:nvCxnSpPr>
          <p:cNvPr id="79" name="Google Shape;79;p1">
            <a:extLst>
              <a:ext uri="{FF2B5EF4-FFF2-40B4-BE49-F238E27FC236}">
                <a16:creationId xmlns:a16="http://schemas.microsoft.com/office/drawing/2014/main" id="{536D03EF-C685-1F3A-D135-0262C621F7F0}"/>
              </a:ext>
            </a:extLst>
          </p:cNvPr>
          <p:cNvCxnSpPr>
            <a:cxnSpLocks/>
            <a:stCxn id="59" idx="3"/>
            <a:endCxn id="61" idx="1"/>
          </p:cNvCxnSpPr>
          <p:nvPr/>
        </p:nvCxnSpPr>
        <p:spPr>
          <a:xfrm flipV="1">
            <a:off x="4043366" y="3680421"/>
            <a:ext cx="348860" cy="522685"/>
          </a:xfrm>
          <a:prstGeom prst="straightConnector1">
            <a:avLst/>
          </a:prstGeom>
          <a:noFill/>
          <a:ln w="9525" cap="flat" cmpd="sng">
            <a:solidFill>
              <a:srgbClr val="44546A"/>
            </a:solidFill>
            <a:prstDash val="solid"/>
            <a:round/>
            <a:headEnd type="none" w="sm" len="sm"/>
            <a:tailEnd type="triangle" w="med" len="med"/>
          </a:ln>
        </p:spPr>
      </p:cxnSp>
      <p:cxnSp>
        <p:nvCxnSpPr>
          <p:cNvPr id="80" name="Google Shape;80;p1">
            <a:extLst>
              <a:ext uri="{FF2B5EF4-FFF2-40B4-BE49-F238E27FC236}">
                <a16:creationId xmlns:a16="http://schemas.microsoft.com/office/drawing/2014/main" id="{440BA09A-6F42-8FB2-58F6-003CBD73220F}"/>
              </a:ext>
            </a:extLst>
          </p:cNvPr>
          <p:cNvCxnSpPr>
            <a:cxnSpLocks/>
            <a:stCxn id="59" idx="3"/>
            <a:endCxn id="45" idx="1"/>
          </p:cNvCxnSpPr>
          <p:nvPr/>
        </p:nvCxnSpPr>
        <p:spPr>
          <a:xfrm>
            <a:off x="4043366" y="4203106"/>
            <a:ext cx="348860" cy="570013"/>
          </a:xfrm>
          <a:prstGeom prst="straightConnector1">
            <a:avLst/>
          </a:prstGeom>
          <a:noFill/>
          <a:ln w="9525" cap="flat" cmpd="sng">
            <a:solidFill>
              <a:srgbClr val="44546A"/>
            </a:solidFill>
            <a:prstDash val="solid"/>
            <a:round/>
            <a:headEnd type="none" w="sm" len="sm"/>
            <a:tailEnd type="triangle" w="med" len="med"/>
          </a:ln>
        </p:spPr>
      </p:cxnSp>
      <p:cxnSp>
        <p:nvCxnSpPr>
          <p:cNvPr id="81" name="Google Shape;81;p1">
            <a:extLst>
              <a:ext uri="{FF2B5EF4-FFF2-40B4-BE49-F238E27FC236}">
                <a16:creationId xmlns:a16="http://schemas.microsoft.com/office/drawing/2014/main" id="{3B9F39E3-E524-11B6-6947-5C549A5A36D2}"/>
              </a:ext>
            </a:extLst>
          </p:cNvPr>
          <p:cNvCxnSpPr>
            <a:cxnSpLocks/>
            <a:stCxn id="61" idx="3"/>
            <a:endCxn id="63" idx="1"/>
          </p:cNvCxnSpPr>
          <p:nvPr/>
        </p:nvCxnSpPr>
        <p:spPr>
          <a:xfrm flipV="1">
            <a:off x="5704375" y="2920660"/>
            <a:ext cx="259866" cy="759761"/>
          </a:xfrm>
          <a:prstGeom prst="straightConnector1">
            <a:avLst/>
          </a:prstGeom>
          <a:noFill/>
          <a:ln w="9525" cap="flat" cmpd="sng">
            <a:solidFill>
              <a:srgbClr val="44546A"/>
            </a:solidFill>
            <a:prstDash val="solid"/>
            <a:round/>
            <a:headEnd type="none" w="sm" len="sm"/>
            <a:tailEnd type="triangle" w="med" len="med"/>
          </a:ln>
        </p:spPr>
      </p:cxnSp>
      <p:cxnSp>
        <p:nvCxnSpPr>
          <p:cNvPr id="82" name="Google Shape;82;p1">
            <a:extLst>
              <a:ext uri="{FF2B5EF4-FFF2-40B4-BE49-F238E27FC236}">
                <a16:creationId xmlns:a16="http://schemas.microsoft.com/office/drawing/2014/main" id="{093D1524-9CE2-9582-8933-A9EB2CF8788F}"/>
              </a:ext>
            </a:extLst>
          </p:cNvPr>
          <p:cNvCxnSpPr>
            <a:cxnSpLocks/>
            <a:stCxn id="61" idx="3"/>
            <a:endCxn id="64" idx="1"/>
          </p:cNvCxnSpPr>
          <p:nvPr/>
        </p:nvCxnSpPr>
        <p:spPr>
          <a:xfrm flipV="1">
            <a:off x="5704375" y="3267612"/>
            <a:ext cx="259866" cy="412809"/>
          </a:xfrm>
          <a:prstGeom prst="straightConnector1">
            <a:avLst/>
          </a:prstGeom>
          <a:noFill/>
          <a:ln w="9525" cap="flat" cmpd="sng">
            <a:solidFill>
              <a:srgbClr val="44546A"/>
            </a:solidFill>
            <a:prstDash val="solid"/>
            <a:round/>
            <a:headEnd type="none" w="sm" len="sm"/>
            <a:tailEnd type="triangle" w="med" len="med"/>
          </a:ln>
        </p:spPr>
      </p:cxnSp>
      <p:cxnSp>
        <p:nvCxnSpPr>
          <p:cNvPr id="83" name="Google Shape;83;p1">
            <a:extLst>
              <a:ext uri="{FF2B5EF4-FFF2-40B4-BE49-F238E27FC236}">
                <a16:creationId xmlns:a16="http://schemas.microsoft.com/office/drawing/2014/main" id="{8F0B2297-62CD-EA79-4514-7D36F6606B21}"/>
              </a:ext>
            </a:extLst>
          </p:cNvPr>
          <p:cNvCxnSpPr>
            <a:cxnSpLocks/>
            <a:stCxn id="61" idx="3"/>
            <a:endCxn id="67" idx="1"/>
          </p:cNvCxnSpPr>
          <p:nvPr/>
        </p:nvCxnSpPr>
        <p:spPr>
          <a:xfrm flipV="1">
            <a:off x="5704375" y="3642062"/>
            <a:ext cx="259866" cy="38359"/>
          </a:xfrm>
          <a:prstGeom prst="straightConnector1">
            <a:avLst/>
          </a:prstGeom>
          <a:noFill/>
          <a:ln w="9525" cap="flat" cmpd="sng">
            <a:solidFill>
              <a:srgbClr val="44546A"/>
            </a:solidFill>
            <a:prstDash val="solid"/>
            <a:round/>
            <a:headEnd type="none" w="sm" len="sm"/>
            <a:tailEnd type="triangle" w="med" len="med"/>
          </a:ln>
        </p:spPr>
      </p:cxnSp>
      <p:cxnSp>
        <p:nvCxnSpPr>
          <p:cNvPr id="85" name="Google Shape;85;p1">
            <a:extLst>
              <a:ext uri="{FF2B5EF4-FFF2-40B4-BE49-F238E27FC236}">
                <a16:creationId xmlns:a16="http://schemas.microsoft.com/office/drawing/2014/main" id="{27455D6F-E999-3A0A-0A36-21E16EE5DE9F}"/>
              </a:ext>
            </a:extLst>
          </p:cNvPr>
          <p:cNvCxnSpPr>
            <a:cxnSpLocks/>
            <a:stCxn id="61" idx="3"/>
            <a:endCxn id="69" idx="1"/>
          </p:cNvCxnSpPr>
          <p:nvPr/>
        </p:nvCxnSpPr>
        <p:spPr>
          <a:xfrm>
            <a:off x="5704375" y="3680421"/>
            <a:ext cx="259866" cy="333801"/>
          </a:xfrm>
          <a:prstGeom prst="straightConnector1">
            <a:avLst/>
          </a:prstGeom>
          <a:noFill/>
          <a:ln w="9525" cap="flat" cmpd="sng">
            <a:solidFill>
              <a:srgbClr val="44546A"/>
            </a:solidFill>
            <a:prstDash val="solid"/>
            <a:round/>
            <a:headEnd type="none" w="sm" len="sm"/>
            <a:tailEnd type="triangle" w="med" len="med"/>
          </a:ln>
        </p:spPr>
      </p:cxnSp>
      <p:cxnSp>
        <p:nvCxnSpPr>
          <p:cNvPr id="86" name="Google Shape;86;p1">
            <a:extLst>
              <a:ext uri="{FF2B5EF4-FFF2-40B4-BE49-F238E27FC236}">
                <a16:creationId xmlns:a16="http://schemas.microsoft.com/office/drawing/2014/main" id="{0E8C816C-5DA1-3002-68B9-FF99645C13DF}"/>
              </a:ext>
            </a:extLst>
          </p:cNvPr>
          <p:cNvCxnSpPr>
            <a:cxnSpLocks/>
            <a:stCxn id="61" idx="3"/>
          </p:cNvCxnSpPr>
          <p:nvPr/>
        </p:nvCxnSpPr>
        <p:spPr>
          <a:xfrm>
            <a:off x="5704375" y="3680421"/>
            <a:ext cx="259866" cy="735122"/>
          </a:xfrm>
          <a:prstGeom prst="straightConnector1">
            <a:avLst/>
          </a:prstGeom>
          <a:noFill/>
          <a:ln w="9525" cap="flat" cmpd="sng">
            <a:solidFill>
              <a:srgbClr val="44546A"/>
            </a:solidFill>
            <a:prstDash val="solid"/>
            <a:round/>
            <a:headEnd type="none" w="sm" len="sm"/>
            <a:tailEnd type="triangle" w="med" len="med"/>
          </a:ln>
        </p:spPr>
      </p:cxnSp>
      <p:cxnSp>
        <p:nvCxnSpPr>
          <p:cNvPr id="118" name="Google Shape;118;p1">
            <a:extLst>
              <a:ext uri="{FF2B5EF4-FFF2-40B4-BE49-F238E27FC236}">
                <a16:creationId xmlns:a16="http://schemas.microsoft.com/office/drawing/2014/main" id="{9578DF92-FA18-C895-9DAD-A107BDCF9EA9}"/>
              </a:ext>
            </a:extLst>
          </p:cNvPr>
          <p:cNvCxnSpPr>
            <a:stCxn id="63" idx="3"/>
            <a:endCxn id="65" idx="1"/>
          </p:cNvCxnSpPr>
          <p:nvPr/>
        </p:nvCxnSpPr>
        <p:spPr>
          <a:xfrm>
            <a:off x="10536241" y="2920660"/>
            <a:ext cx="408859" cy="0"/>
          </a:xfrm>
          <a:prstGeom prst="straightConnector1">
            <a:avLst/>
          </a:prstGeom>
          <a:noFill/>
          <a:ln w="9525" cap="flat" cmpd="sng">
            <a:solidFill>
              <a:srgbClr val="595959"/>
            </a:solidFill>
            <a:prstDash val="solid"/>
            <a:round/>
            <a:headEnd type="none" w="sm" len="sm"/>
            <a:tailEnd type="triangle" w="med" len="med"/>
          </a:ln>
        </p:spPr>
      </p:cxnSp>
      <p:cxnSp>
        <p:nvCxnSpPr>
          <p:cNvPr id="119" name="Google Shape;119;p1">
            <a:extLst>
              <a:ext uri="{FF2B5EF4-FFF2-40B4-BE49-F238E27FC236}">
                <a16:creationId xmlns:a16="http://schemas.microsoft.com/office/drawing/2014/main" id="{B16C4C53-6835-96EF-14C5-F9B34FDE51F9}"/>
              </a:ext>
            </a:extLst>
          </p:cNvPr>
          <p:cNvCxnSpPr>
            <a:cxnSpLocks/>
            <a:stCxn id="64" idx="3"/>
            <a:endCxn id="66" idx="1"/>
          </p:cNvCxnSpPr>
          <p:nvPr/>
        </p:nvCxnSpPr>
        <p:spPr>
          <a:xfrm>
            <a:off x="10536241" y="3267612"/>
            <a:ext cx="408859" cy="0"/>
          </a:xfrm>
          <a:prstGeom prst="straightConnector1">
            <a:avLst/>
          </a:prstGeom>
          <a:noFill/>
          <a:ln w="9525" cap="flat" cmpd="sng">
            <a:solidFill>
              <a:srgbClr val="595959"/>
            </a:solidFill>
            <a:prstDash val="solid"/>
            <a:round/>
            <a:headEnd type="none" w="sm" len="sm"/>
            <a:tailEnd type="triangle" w="med" len="med"/>
          </a:ln>
        </p:spPr>
      </p:cxnSp>
      <p:cxnSp>
        <p:nvCxnSpPr>
          <p:cNvPr id="120" name="Google Shape;120;p1">
            <a:extLst>
              <a:ext uri="{FF2B5EF4-FFF2-40B4-BE49-F238E27FC236}">
                <a16:creationId xmlns:a16="http://schemas.microsoft.com/office/drawing/2014/main" id="{DBA1D11B-9044-BAAE-9E2E-674757AF9D13}"/>
              </a:ext>
            </a:extLst>
          </p:cNvPr>
          <p:cNvCxnSpPr>
            <a:stCxn id="67" idx="3"/>
            <a:endCxn id="70" idx="1"/>
          </p:cNvCxnSpPr>
          <p:nvPr/>
        </p:nvCxnSpPr>
        <p:spPr>
          <a:xfrm>
            <a:off x="10536241" y="3642062"/>
            <a:ext cx="408859" cy="0"/>
          </a:xfrm>
          <a:prstGeom prst="straightConnector1">
            <a:avLst/>
          </a:prstGeom>
          <a:noFill/>
          <a:ln w="9525" cap="flat" cmpd="sng">
            <a:solidFill>
              <a:srgbClr val="595959"/>
            </a:solidFill>
            <a:prstDash val="solid"/>
            <a:round/>
            <a:headEnd type="none" w="sm" len="sm"/>
            <a:tailEnd type="triangle" w="med" len="med"/>
          </a:ln>
        </p:spPr>
      </p:cxnSp>
      <p:cxnSp>
        <p:nvCxnSpPr>
          <p:cNvPr id="121" name="Google Shape;121;p1">
            <a:extLst>
              <a:ext uri="{FF2B5EF4-FFF2-40B4-BE49-F238E27FC236}">
                <a16:creationId xmlns:a16="http://schemas.microsoft.com/office/drawing/2014/main" id="{7EC91B80-2EFA-692E-03B0-7541DCA07C43}"/>
              </a:ext>
            </a:extLst>
          </p:cNvPr>
          <p:cNvCxnSpPr>
            <a:cxnSpLocks/>
            <a:stCxn id="69" idx="3"/>
            <a:endCxn id="71" idx="1"/>
          </p:cNvCxnSpPr>
          <p:nvPr/>
        </p:nvCxnSpPr>
        <p:spPr>
          <a:xfrm>
            <a:off x="10536241" y="4014222"/>
            <a:ext cx="408859" cy="0"/>
          </a:xfrm>
          <a:prstGeom prst="straightConnector1">
            <a:avLst/>
          </a:prstGeom>
          <a:noFill/>
          <a:ln w="9525" cap="flat" cmpd="sng">
            <a:solidFill>
              <a:srgbClr val="595959"/>
            </a:solidFill>
            <a:prstDash val="solid"/>
            <a:round/>
            <a:headEnd type="none" w="sm" len="sm"/>
            <a:tailEnd type="triangle" w="med" len="med"/>
          </a:ln>
        </p:spPr>
      </p:cxnSp>
      <p:cxnSp>
        <p:nvCxnSpPr>
          <p:cNvPr id="122" name="Google Shape;122;p1">
            <a:extLst>
              <a:ext uri="{FF2B5EF4-FFF2-40B4-BE49-F238E27FC236}">
                <a16:creationId xmlns:a16="http://schemas.microsoft.com/office/drawing/2014/main" id="{3E66E8DA-7882-61CF-CAA7-6BC10E6D9F68}"/>
              </a:ext>
            </a:extLst>
          </p:cNvPr>
          <p:cNvCxnSpPr>
            <a:cxnSpLocks/>
            <a:stCxn id="8" idx="3"/>
            <a:endCxn id="72" idx="1"/>
          </p:cNvCxnSpPr>
          <p:nvPr/>
        </p:nvCxnSpPr>
        <p:spPr>
          <a:xfrm flipV="1">
            <a:off x="10536241" y="4423999"/>
            <a:ext cx="259866" cy="3273"/>
          </a:xfrm>
          <a:prstGeom prst="straightConnector1">
            <a:avLst/>
          </a:prstGeom>
          <a:noFill/>
          <a:ln w="9525" cap="flat" cmpd="sng">
            <a:solidFill>
              <a:srgbClr val="595959"/>
            </a:solidFill>
            <a:prstDash val="solid"/>
            <a:round/>
            <a:headEnd type="none" w="sm" len="sm"/>
            <a:tailEnd type="triangle" w="med" len="med"/>
          </a:ln>
        </p:spPr>
      </p:cxnSp>
      <p:cxnSp>
        <p:nvCxnSpPr>
          <p:cNvPr id="123" name="Google Shape;123;p1">
            <a:extLst>
              <a:ext uri="{FF2B5EF4-FFF2-40B4-BE49-F238E27FC236}">
                <a16:creationId xmlns:a16="http://schemas.microsoft.com/office/drawing/2014/main" id="{7CA86058-E47B-1097-4513-B843F6D2F365}"/>
              </a:ext>
            </a:extLst>
          </p:cNvPr>
          <p:cNvCxnSpPr>
            <a:cxnSpLocks/>
            <a:stCxn id="45" idx="3"/>
            <a:endCxn id="73" idx="1"/>
          </p:cNvCxnSpPr>
          <p:nvPr/>
        </p:nvCxnSpPr>
        <p:spPr>
          <a:xfrm>
            <a:off x="8364915" y="4773119"/>
            <a:ext cx="871337" cy="529"/>
          </a:xfrm>
          <a:prstGeom prst="straightConnector1">
            <a:avLst/>
          </a:prstGeom>
          <a:noFill/>
          <a:ln w="9525" cap="flat" cmpd="sng">
            <a:solidFill>
              <a:srgbClr val="595959"/>
            </a:solidFill>
            <a:prstDash val="solid"/>
            <a:round/>
            <a:headEnd type="none" w="sm" len="sm"/>
            <a:tailEnd type="triangle" w="med" len="med"/>
          </a:ln>
        </p:spPr>
      </p:cxnSp>
      <p:sp>
        <p:nvSpPr>
          <p:cNvPr id="131" name="Google Shape;131;p1">
            <a:extLst>
              <a:ext uri="{FF2B5EF4-FFF2-40B4-BE49-F238E27FC236}">
                <a16:creationId xmlns:a16="http://schemas.microsoft.com/office/drawing/2014/main" id="{A7E93324-9651-ADE9-0FA7-7A5C90169BF1}"/>
              </a:ext>
            </a:extLst>
          </p:cNvPr>
          <p:cNvSpPr txBox="1"/>
          <p:nvPr/>
        </p:nvSpPr>
        <p:spPr>
          <a:xfrm>
            <a:off x="234482" y="9452361"/>
            <a:ext cx="1108116" cy="4158296"/>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1" i="0" u="none" strike="noStrike" cap="none" dirty="0">
                <a:latin typeface="Times New Roman"/>
                <a:ea typeface="Times New Roman"/>
                <a:cs typeface="Times New Roman"/>
                <a:sym typeface="Times New Roman"/>
              </a:rPr>
              <a:t>RNA/Splicing Data</a:t>
            </a:r>
          </a:p>
          <a:p>
            <a:pPr marL="0" marR="0" lvl="0" indent="0" algn="ctr" rtl="0">
              <a:lnSpc>
                <a:spcPct val="100000"/>
              </a:lnSpc>
              <a:spcBef>
                <a:spcPts val="0"/>
              </a:spcBef>
              <a:spcAft>
                <a:spcPts val="0"/>
              </a:spcAft>
              <a:buClr>
                <a:srgbClr val="000000"/>
              </a:buClr>
              <a:buSzPts val="1200"/>
              <a:buFont typeface="Arial"/>
              <a:buNone/>
            </a:pPr>
            <a:endParaRPr lang="en-US" sz="1200" b="1" dirty="0">
              <a:latin typeface="Times New Roman"/>
              <a:ea typeface="Times New Roman"/>
              <a:cs typeface="Times New Roman"/>
              <a:sym typeface="Times New Roman"/>
            </a:endParaRPr>
          </a:p>
          <a:p>
            <a:pPr marL="0" marR="0" lvl="0" indent="0" algn="ctr" rtl="0">
              <a:lnSpc>
                <a:spcPct val="100000"/>
              </a:lnSpc>
              <a:spcBef>
                <a:spcPts val="0"/>
              </a:spcBef>
              <a:spcAft>
                <a:spcPts val="0"/>
              </a:spcAft>
              <a:buClr>
                <a:srgbClr val="000000"/>
              </a:buClr>
              <a:buSzPts val="1200"/>
              <a:buFont typeface="Arial"/>
              <a:buNone/>
            </a:pPr>
            <a:r>
              <a:rPr lang="en-US" sz="1200" b="1" i="0" u="none" strike="noStrike" cap="none" dirty="0">
                <a:latin typeface="Times New Roman"/>
                <a:ea typeface="Times New Roman"/>
                <a:cs typeface="Times New Roman"/>
                <a:sym typeface="Times New Roman"/>
              </a:rPr>
              <a:t>To categorize splicing data consider multiple factors including assay / technique, RNA source, and gene-specific knowledge.</a:t>
            </a:r>
          </a:p>
          <a:p>
            <a:pPr marL="0" marR="0" lvl="0" indent="0" algn="ctr" rtl="0">
              <a:lnSpc>
                <a:spcPct val="100000"/>
              </a:lnSpc>
              <a:spcBef>
                <a:spcPts val="0"/>
              </a:spcBef>
              <a:spcAft>
                <a:spcPts val="0"/>
              </a:spcAft>
              <a:buClr>
                <a:srgbClr val="000000"/>
              </a:buClr>
              <a:buSzPts val="1200"/>
              <a:buFont typeface="Arial"/>
              <a:buNone/>
            </a:pPr>
            <a:endParaRPr lang="en-US" sz="1200" b="1" dirty="0">
              <a:latin typeface="Times New Roman"/>
              <a:ea typeface="Times New Roman"/>
              <a:cs typeface="Times New Roman"/>
              <a:sym typeface="Times New Roman"/>
            </a:endParaRPr>
          </a:p>
          <a:p>
            <a:pPr marL="0" marR="0" lvl="0" indent="0" algn="ctr" rtl="0">
              <a:lnSpc>
                <a:spcPct val="100000"/>
              </a:lnSpc>
              <a:spcBef>
                <a:spcPts val="0"/>
              </a:spcBef>
              <a:spcAft>
                <a:spcPts val="0"/>
              </a:spcAft>
              <a:buClr>
                <a:srgbClr val="000000"/>
              </a:buClr>
              <a:buSzPts val="1200"/>
              <a:buFont typeface="Arial"/>
              <a:buNone/>
            </a:pPr>
            <a:r>
              <a:rPr lang="en-US" sz="1200" b="1" dirty="0">
                <a:solidFill>
                  <a:srgbClr val="009ACC"/>
                </a:solidFill>
                <a:latin typeface="Times New Roman"/>
                <a:ea typeface="Times New Roman"/>
                <a:cs typeface="Times New Roman"/>
                <a:sym typeface="Times New Roman"/>
              </a:rPr>
              <a:t>See (c): RPGR Rule Table for PVS1 (RNA)</a:t>
            </a:r>
            <a:endParaRPr sz="1000" b="0" i="0" u="none" strike="noStrike" cap="none" dirty="0">
              <a:solidFill>
                <a:srgbClr val="009ACC"/>
              </a:solidFill>
              <a:latin typeface="Times New Roman"/>
              <a:ea typeface="Times New Roman"/>
              <a:cs typeface="Times New Roman"/>
              <a:sym typeface="Times New Roman"/>
            </a:endParaRPr>
          </a:p>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latin typeface="Arial"/>
              <a:ea typeface="Arial"/>
              <a:cs typeface="Arial"/>
              <a:sym typeface="Arial"/>
            </a:endParaRPr>
          </a:p>
        </p:txBody>
      </p:sp>
      <p:sp>
        <p:nvSpPr>
          <p:cNvPr id="133" name="Google Shape;133;p1">
            <a:extLst>
              <a:ext uri="{FF2B5EF4-FFF2-40B4-BE49-F238E27FC236}">
                <a16:creationId xmlns:a16="http://schemas.microsoft.com/office/drawing/2014/main" id="{DF3513D4-5436-D04B-3517-B8CFB25CCCE1}"/>
              </a:ext>
            </a:extLst>
          </p:cNvPr>
          <p:cNvSpPr/>
          <p:nvPr/>
        </p:nvSpPr>
        <p:spPr>
          <a:xfrm>
            <a:off x="1592413" y="11389740"/>
            <a:ext cx="1105775" cy="222546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dirty="0">
                <a:latin typeface="Times New Roman"/>
                <a:ea typeface="Times New Roman"/>
                <a:cs typeface="Times New Roman"/>
                <a:sym typeface="Times New Roman"/>
              </a:rPr>
              <a:t>Variant-specific impact (compared to controls)</a:t>
            </a:r>
          </a:p>
          <a:p>
            <a:pPr marL="0" marR="0" lvl="0" indent="0" algn="ctr" rtl="0">
              <a:lnSpc>
                <a:spcPct val="100000"/>
              </a:lnSpc>
              <a:spcBef>
                <a:spcPts val="0"/>
              </a:spcBef>
              <a:spcAft>
                <a:spcPts val="0"/>
              </a:spcAft>
              <a:buClr>
                <a:srgbClr val="000000"/>
              </a:buClr>
              <a:buSzPts val="1200"/>
              <a:buFont typeface="Arial"/>
              <a:buNone/>
            </a:pPr>
            <a:endParaRPr lang="en-US" sz="1200" dirty="0">
              <a:latin typeface="Times New Roman"/>
              <a:cs typeface="Times New Roman"/>
              <a:sym typeface="Times New Roman"/>
            </a:endParaRPr>
          </a:p>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dirty="0">
                <a:latin typeface="Times New Roman"/>
                <a:ea typeface="Arial"/>
                <a:cs typeface="Times New Roman"/>
                <a:sym typeface="Times New Roman"/>
              </a:rPr>
              <a:t>Use PVS1 rule table OBSERVED RNA impact</a:t>
            </a:r>
            <a:endParaRPr sz="1400" b="0" i="0" u="none" strike="noStrike" cap="none" dirty="0">
              <a:latin typeface="Arial"/>
              <a:ea typeface="Arial"/>
              <a:cs typeface="Arial"/>
              <a:sym typeface="Arial"/>
            </a:endParaRPr>
          </a:p>
        </p:txBody>
      </p:sp>
      <p:sp>
        <p:nvSpPr>
          <p:cNvPr id="138" name="Google Shape;138;p1">
            <a:extLst>
              <a:ext uri="{FF2B5EF4-FFF2-40B4-BE49-F238E27FC236}">
                <a16:creationId xmlns:a16="http://schemas.microsoft.com/office/drawing/2014/main" id="{740515C8-6B22-12D5-3794-C3CF06E91F18}"/>
              </a:ext>
            </a:extLst>
          </p:cNvPr>
          <p:cNvSpPr/>
          <p:nvPr/>
        </p:nvSpPr>
        <p:spPr>
          <a:xfrm>
            <a:off x="2950288" y="11407153"/>
            <a:ext cx="1319713" cy="2203503"/>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 sz="1200" b="0" i="0" u="none" strike="noStrike" cap="none" dirty="0">
                <a:latin typeface="Times New Roman"/>
                <a:ea typeface="Times New Roman"/>
                <a:cs typeface="Times New Roman"/>
                <a:sym typeface="Times New Roman"/>
              </a:rPr>
              <a:t>PVS1_Strength assigned to at least 1 transcript</a:t>
            </a:r>
            <a:endParaRPr sz="1400" b="0" i="0" u="none" strike="noStrike" cap="none" dirty="0">
              <a:latin typeface="Arial"/>
              <a:ea typeface="Arial"/>
              <a:cs typeface="Arial"/>
              <a:sym typeface="Arial"/>
            </a:endParaRPr>
          </a:p>
        </p:txBody>
      </p:sp>
      <p:sp>
        <p:nvSpPr>
          <p:cNvPr id="168" name="Google Shape;168;p1">
            <a:extLst>
              <a:ext uri="{FF2B5EF4-FFF2-40B4-BE49-F238E27FC236}">
                <a16:creationId xmlns:a16="http://schemas.microsoft.com/office/drawing/2014/main" id="{32F3D1AB-9BAA-7D6F-05D0-A4C60E59CBE0}"/>
              </a:ext>
            </a:extLst>
          </p:cNvPr>
          <p:cNvSpPr/>
          <p:nvPr/>
        </p:nvSpPr>
        <p:spPr>
          <a:xfrm>
            <a:off x="1592413" y="9452361"/>
            <a:ext cx="1105800" cy="175311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dirty="0">
                <a:latin typeface="Times New Roman"/>
                <a:ea typeface="Times New Roman"/>
                <a:cs typeface="Times New Roman"/>
                <a:sym typeface="Times New Roman"/>
              </a:rPr>
              <a:t>No variant-specific observed impact</a:t>
            </a:r>
            <a:endParaRPr sz="1400" b="0" i="0" u="none" strike="noStrike" cap="none" dirty="0">
              <a:latin typeface="Arial"/>
              <a:ea typeface="Arial"/>
              <a:cs typeface="Arial"/>
              <a:sym typeface="Arial"/>
            </a:endParaRPr>
          </a:p>
        </p:txBody>
      </p:sp>
      <p:cxnSp>
        <p:nvCxnSpPr>
          <p:cNvPr id="172" name="Google Shape;172;p1">
            <a:extLst>
              <a:ext uri="{FF2B5EF4-FFF2-40B4-BE49-F238E27FC236}">
                <a16:creationId xmlns:a16="http://schemas.microsoft.com/office/drawing/2014/main" id="{CF62F418-2208-01B1-57A8-B9BD64DB818F}"/>
              </a:ext>
            </a:extLst>
          </p:cNvPr>
          <p:cNvCxnSpPr>
            <a:cxnSpLocks/>
            <a:endCxn id="133" idx="1"/>
          </p:cNvCxnSpPr>
          <p:nvPr/>
        </p:nvCxnSpPr>
        <p:spPr>
          <a:xfrm>
            <a:off x="1340282" y="11205471"/>
            <a:ext cx="252131" cy="1296999"/>
          </a:xfrm>
          <a:prstGeom prst="straightConnector1">
            <a:avLst/>
          </a:prstGeom>
          <a:noFill/>
          <a:ln w="9525" cap="flat" cmpd="sng">
            <a:solidFill>
              <a:srgbClr val="44546A"/>
            </a:solidFill>
            <a:prstDash val="solid"/>
            <a:round/>
            <a:headEnd type="none" w="sm" len="sm"/>
            <a:tailEnd type="triangle" w="med" len="med"/>
          </a:ln>
        </p:spPr>
      </p:cxnSp>
      <p:cxnSp>
        <p:nvCxnSpPr>
          <p:cNvPr id="178" name="Google Shape;178;p1">
            <a:extLst>
              <a:ext uri="{FF2B5EF4-FFF2-40B4-BE49-F238E27FC236}">
                <a16:creationId xmlns:a16="http://schemas.microsoft.com/office/drawing/2014/main" id="{A8961CFD-C864-6341-F369-CF3FAB81B94B}"/>
              </a:ext>
            </a:extLst>
          </p:cNvPr>
          <p:cNvCxnSpPr>
            <a:cxnSpLocks/>
            <a:stCxn id="133" idx="3"/>
            <a:endCxn id="138" idx="1"/>
          </p:cNvCxnSpPr>
          <p:nvPr/>
        </p:nvCxnSpPr>
        <p:spPr>
          <a:xfrm>
            <a:off x="2698188" y="12502470"/>
            <a:ext cx="252100" cy="6435"/>
          </a:xfrm>
          <a:prstGeom prst="straightConnector1">
            <a:avLst/>
          </a:prstGeom>
          <a:noFill/>
          <a:ln w="9525" cap="flat" cmpd="sng">
            <a:solidFill>
              <a:srgbClr val="44546A"/>
            </a:solidFill>
            <a:prstDash val="solid"/>
            <a:round/>
            <a:headEnd type="none" w="sm" len="sm"/>
            <a:tailEnd type="triangle" w="med" len="med"/>
          </a:ln>
        </p:spPr>
      </p:cxnSp>
      <p:cxnSp>
        <p:nvCxnSpPr>
          <p:cNvPr id="180" name="Google Shape;180;p1">
            <a:extLst>
              <a:ext uri="{FF2B5EF4-FFF2-40B4-BE49-F238E27FC236}">
                <a16:creationId xmlns:a16="http://schemas.microsoft.com/office/drawing/2014/main" id="{0BCC7911-589D-07F8-9E64-5F7A35102265}"/>
              </a:ext>
            </a:extLst>
          </p:cNvPr>
          <p:cNvCxnSpPr>
            <a:cxnSpLocks/>
          </p:cNvCxnSpPr>
          <p:nvPr/>
        </p:nvCxnSpPr>
        <p:spPr>
          <a:xfrm flipV="1">
            <a:off x="4270001" y="12093528"/>
            <a:ext cx="324588" cy="860851"/>
          </a:xfrm>
          <a:prstGeom prst="straightConnector1">
            <a:avLst/>
          </a:prstGeom>
          <a:noFill/>
          <a:ln w="9525" cap="flat" cmpd="sng">
            <a:solidFill>
              <a:srgbClr val="44546A"/>
            </a:solidFill>
            <a:prstDash val="solid"/>
            <a:round/>
            <a:headEnd type="none" w="sm" len="sm"/>
            <a:tailEnd type="triangle" w="med" len="med"/>
          </a:ln>
        </p:spPr>
      </p:cxnSp>
      <p:sp>
        <p:nvSpPr>
          <p:cNvPr id="203" name="Google Shape;203;p1">
            <a:extLst>
              <a:ext uri="{FF2B5EF4-FFF2-40B4-BE49-F238E27FC236}">
                <a16:creationId xmlns:a16="http://schemas.microsoft.com/office/drawing/2014/main" id="{461178C3-DF1A-1EDB-E4B7-A808535DFEA4}"/>
              </a:ext>
            </a:extLst>
          </p:cNvPr>
          <p:cNvSpPr/>
          <p:nvPr/>
        </p:nvSpPr>
        <p:spPr>
          <a:xfrm>
            <a:off x="4627359" y="11405762"/>
            <a:ext cx="5031171" cy="1167812"/>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1" i="0" u="none" strike="noStrike" cap="none" dirty="0">
                <a:solidFill>
                  <a:srgbClr val="000000"/>
                </a:solidFill>
                <a:latin typeface="Times New Roman"/>
                <a:ea typeface="Times New Roman"/>
                <a:cs typeface="Times New Roman"/>
                <a:sym typeface="Times New Roman"/>
              </a:rPr>
              <a:t>Proportion of alternative transcript/s (inferred to be) predicted </a:t>
            </a:r>
          </a:p>
          <a:p>
            <a:pPr marL="0" marR="0" lvl="0" indent="0" algn="ctr" rtl="0">
              <a:lnSpc>
                <a:spcPct val="100000"/>
              </a:lnSpc>
              <a:spcBef>
                <a:spcPts val="0"/>
              </a:spcBef>
              <a:spcAft>
                <a:spcPts val="0"/>
              </a:spcAft>
              <a:buClr>
                <a:srgbClr val="000000"/>
              </a:buClr>
              <a:buSzPts val="1200"/>
              <a:buFont typeface="Arial"/>
              <a:buNone/>
            </a:pPr>
            <a:r>
              <a:rPr lang="en-US" sz="1200" b="1" i="0" u="none" strike="noStrike" cap="none" dirty="0">
                <a:solidFill>
                  <a:srgbClr val="000000"/>
                </a:solidFill>
                <a:latin typeface="Times New Roman"/>
                <a:ea typeface="Times New Roman"/>
                <a:cs typeface="Times New Roman"/>
                <a:sym typeface="Times New Roman"/>
              </a:rPr>
              <a:t>by variant allele </a:t>
            </a:r>
            <a:r>
              <a:rPr lang="en-US" sz="1200" b="0" i="0" u="none" strike="noStrike" cap="none" dirty="0">
                <a:solidFill>
                  <a:srgbClr val="000000"/>
                </a:solidFill>
                <a:latin typeface="Times New Roman"/>
                <a:ea typeface="Times New Roman"/>
                <a:cs typeface="Times New Roman"/>
                <a:sym typeface="Times New Roman"/>
              </a:rPr>
              <a:t>(e)</a:t>
            </a:r>
          </a:p>
          <a:p>
            <a:pPr marL="0" marR="0" lvl="0" indent="0" algn="ctr" rtl="0">
              <a:lnSpc>
                <a:spcPct val="100000"/>
              </a:lnSpc>
              <a:spcBef>
                <a:spcPts val="0"/>
              </a:spcBef>
              <a:spcAft>
                <a:spcPts val="0"/>
              </a:spcAft>
              <a:buClr>
                <a:srgbClr val="000000"/>
              </a:buClr>
              <a:buSzPts val="1200"/>
              <a:buFont typeface="Arial"/>
              <a:buNone/>
            </a:pPr>
            <a:r>
              <a:rPr lang="en-US" sz="1200" dirty="0">
                <a:latin typeface="Times New Roman"/>
                <a:ea typeface="Times New Roman"/>
                <a:cs typeface="Times New Roman"/>
                <a:sym typeface="Times New Roman"/>
              </a:rPr>
              <a:t>If background rate is considered to be low-moderate levels suggestive of being tolerated, consider reducing PVS1 (RNA) codes by an additional level</a:t>
            </a:r>
            <a:endParaRPr sz="1200" b="0" i="0" u="none" strike="noStrike" cap="none" dirty="0">
              <a:solidFill>
                <a:srgbClr val="000000"/>
              </a:solidFill>
              <a:latin typeface="Times New Roman"/>
              <a:ea typeface="Times New Roman"/>
              <a:cs typeface="Times New Roman"/>
              <a:sym typeface="Times New Roman"/>
            </a:endParaRPr>
          </a:p>
        </p:txBody>
      </p:sp>
      <p:sp>
        <p:nvSpPr>
          <p:cNvPr id="204" name="Google Shape;204;p1">
            <a:extLst>
              <a:ext uri="{FF2B5EF4-FFF2-40B4-BE49-F238E27FC236}">
                <a16:creationId xmlns:a16="http://schemas.microsoft.com/office/drawing/2014/main" id="{EF4644AC-444B-4688-A906-78FB818374E8}"/>
              </a:ext>
            </a:extLst>
          </p:cNvPr>
          <p:cNvSpPr/>
          <p:nvPr/>
        </p:nvSpPr>
        <p:spPr>
          <a:xfrm>
            <a:off x="9944427" y="12245284"/>
            <a:ext cx="2208603" cy="622995"/>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 sz="1200" b="0" i="0" u="none" strike="noStrike" cap="none" dirty="0">
                <a:solidFill>
                  <a:srgbClr val="000000"/>
                </a:solidFill>
                <a:latin typeface="Times New Roman"/>
                <a:ea typeface="Times New Roman"/>
                <a:cs typeface="Times New Roman"/>
                <a:sym typeface="Times New Roman"/>
              </a:rPr>
              <a:t>Determine PVS1 (RNA) weight from combined analysis (PP3/BP4 not applicable)</a:t>
            </a:r>
            <a:endParaRPr sz="1400" b="0" i="0" u="none" strike="noStrike" cap="none" dirty="0">
              <a:solidFill>
                <a:srgbClr val="000000"/>
              </a:solidFill>
              <a:latin typeface="Arial"/>
              <a:ea typeface="Arial"/>
              <a:cs typeface="Arial"/>
              <a:sym typeface="Arial"/>
            </a:endParaRPr>
          </a:p>
        </p:txBody>
      </p:sp>
      <p:sp>
        <p:nvSpPr>
          <p:cNvPr id="205" name="Google Shape;205;p1">
            <a:extLst>
              <a:ext uri="{FF2B5EF4-FFF2-40B4-BE49-F238E27FC236}">
                <a16:creationId xmlns:a16="http://schemas.microsoft.com/office/drawing/2014/main" id="{E3E5D309-877E-0B52-9401-AF2443813FD9}"/>
              </a:ext>
            </a:extLst>
          </p:cNvPr>
          <p:cNvSpPr/>
          <p:nvPr/>
        </p:nvSpPr>
        <p:spPr>
          <a:xfrm>
            <a:off x="9944426" y="12959886"/>
            <a:ext cx="2208603" cy="622995"/>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dirty="0">
                <a:solidFill>
                  <a:srgbClr val="000000"/>
                </a:solidFill>
                <a:latin typeface="Times New Roman"/>
                <a:ea typeface="Times New Roman"/>
                <a:cs typeface="Times New Roman"/>
                <a:sym typeface="Times New Roman"/>
              </a:rPr>
              <a:t>PVS1 (RNA) or BP7_S (RNA) not applicable (reconsider PVS1 decision tree as appropriate)</a:t>
            </a:r>
            <a:endParaRPr lang="en-US" sz="1400" b="0" i="0" u="none" strike="noStrike" cap="none" dirty="0">
              <a:solidFill>
                <a:srgbClr val="000000"/>
              </a:solidFill>
              <a:latin typeface="Arial"/>
              <a:ea typeface="Arial"/>
              <a:cs typeface="Arial"/>
              <a:sym typeface="Arial"/>
            </a:endParaRPr>
          </a:p>
        </p:txBody>
      </p:sp>
      <p:cxnSp>
        <p:nvCxnSpPr>
          <p:cNvPr id="206" name="Google Shape;206;p1">
            <a:extLst>
              <a:ext uri="{FF2B5EF4-FFF2-40B4-BE49-F238E27FC236}">
                <a16:creationId xmlns:a16="http://schemas.microsoft.com/office/drawing/2014/main" id="{1121E9DD-DBD6-6D51-53E9-5971849D4CF9}"/>
              </a:ext>
            </a:extLst>
          </p:cNvPr>
          <p:cNvCxnSpPr>
            <a:cxnSpLocks/>
            <a:endCxn id="204" idx="1"/>
          </p:cNvCxnSpPr>
          <p:nvPr/>
        </p:nvCxnSpPr>
        <p:spPr>
          <a:xfrm flipV="1">
            <a:off x="9645090" y="12556782"/>
            <a:ext cx="299337" cy="210282"/>
          </a:xfrm>
          <a:prstGeom prst="straightConnector1">
            <a:avLst/>
          </a:prstGeom>
          <a:noFill/>
          <a:ln w="9525" cap="flat" cmpd="sng">
            <a:solidFill>
              <a:srgbClr val="44546A"/>
            </a:solidFill>
            <a:prstDash val="solid"/>
            <a:round/>
            <a:headEnd type="none" w="sm" len="sm"/>
            <a:tailEnd type="triangle" w="med" len="med"/>
          </a:ln>
        </p:spPr>
      </p:cxnSp>
      <p:cxnSp>
        <p:nvCxnSpPr>
          <p:cNvPr id="207" name="Google Shape;207;p1">
            <a:extLst>
              <a:ext uri="{FF2B5EF4-FFF2-40B4-BE49-F238E27FC236}">
                <a16:creationId xmlns:a16="http://schemas.microsoft.com/office/drawing/2014/main" id="{857CC596-7ABD-B338-D161-F92CF6E63CF0}"/>
              </a:ext>
            </a:extLst>
          </p:cNvPr>
          <p:cNvCxnSpPr>
            <a:cxnSpLocks/>
            <a:endCxn id="205" idx="1"/>
          </p:cNvCxnSpPr>
          <p:nvPr/>
        </p:nvCxnSpPr>
        <p:spPr>
          <a:xfrm flipV="1">
            <a:off x="9658641" y="13271384"/>
            <a:ext cx="285785" cy="151524"/>
          </a:xfrm>
          <a:prstGeom prst="straightConnector1">
            <a:avLst/>
          </a:prstGeom>
          <a:noFill/>
          <a:ln w="9525" cap="flat" cmpd="sng">
            <a:solidFill>
              <a:srgbClr val="44546A"/>
            </a:solidFill>
            <a:prstDash val="solid"/>
            <a:round/>
            <a:headEnd type="none" w="sm" len="sm"/>
            <a:tailEnd type="triangle" w="med" len="med"/>
          </a:ln>
        </p:spPr>
      </p:cxnSp>
      <p:sp>
        <p:nvSpPr>
          <p:cNvPr id="8" name="Google Shape;69;p1">
            <a:extLst>
              <a:ext uri="{FF2B5EF4-FFF2-40B4-BE49-F238E27FC236}">
                <a16:creationId xmlns:a16="http://schemas.microsoft.com/office/drawing/2014/main" id="{F85A0F71-C97E-EB74-23DE-B26787759170}"/>
              </a:ext>
            </a:extLst>
          </p:cNvPr>
          <p:cNvSpPr/>
          <p:nvPr/>
        </p:nvSpPr>
        <p:spPr>
          <a:xfrm>
            <a:off x="5964241" y="4290112"/>
            <a:ext cx="4572000" cy="27432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dirty="0">
                <a:solidFill>
                  <a:srgbClr val="000000"/>
                </a:solidFill>
                <a:latin typeface="Times New Roman"/>
                <a:ea typeface="Times New Roman"/>
                <a:cs typeface="Times New Roman"/>
                <a:sym typeface="Times New Roman"/>
              </a:rPr>
              <a:t>LP variant within the same splice region with same predicted impact</a:t>
            </a:r>
            <a:endParaRPr lang="en-US" sz="1400" b="0" i="0" u="none" strike="noStrike" cap="none" dirty="0">
              <a:solidFill>
                <a:srgbClr val="000000"/>
              </a:solidFill>
              <a:latin typeface="Arial"/>
              <a:ea typeface="Arial"/>
              <a:cs typeface="Arial"/>
              <a:sym typeface="Arial"/>
            </a:endParaRPr>
          </a:p>
        </p:txBody>
      </p:sp>
      <p:sp>
        <p:nvSpPr>
          <p:cNvPr id="45" name="Google Shape;61;p1">
            <a:extLst>
              <a:ext uri="{FF2B5EF4-FFF2-40B4-BE49-F238E27FC236}">
                <a16:creationId xmlns:a16="http://schemas.microsoft.com/office/drawing/2014/main" id="{20B3D58F-85A7-EBEE-6C0C-6FC54D5C0393}"/>
              </a:ext>
            </a:extLst>
          </p:cNvPr>
          <p:cNvSpPr/>
          <p:nvPr/>
        </p:nvSpPr>
        <p:spPr>
          <a:xfrm>
            <a:off x="4392226" y="4636488"/>
            <a:ext cx="3972689" cy="273261"/>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dirty="0">
                <a:solidFill>
                  <a:srgbClr val="000000"/>
                </a:solidFill>
                <a:latin typeface="Times New Roman"/>
                <a:ea typeface="Times New Roman"/>
                <a:cs typeface="Times New Roman"/>
                <a:sym typeface="Times New Roman"/>
              </a:rPr>
              <a:t>Not applied (prediction inconclusive)</a:t>
            </a:r>
            <a:endParaRPr sz="1400" b="0" i="0" u="none" strike="noStrike" cap="none" dirty="0">
              <a:solidFill>
                <a:srgbClr val="FF0000"/>
              </a:solidFill>
              <a:latin typeface="Arial"/>
              <a:ea typeface="Arial"/>
              <a:cs typeface="Arial"/>
              <a:sym typeface="Arial"/>
            </a:endParaRPr>
          </a:p>
        </p:txBody>
      </p:sp>
      <p:sp>
        <p:nvSpPr>
          <p:cNvPr id="50" name="Google Shape;61;p1">
            <a:extLst>
              <a:ext uri="{FF2B5EF4-FFF2-40B4-BE49-F238E27FC236}">
                <a16:creationId xmlns:a16="http://schemas.microsoft.com/office/drawing/2014/main" id="{6453BED8-4BE1-6850-EFFA-D164EEDCA465}"/>
              </a:ext>
            </a:extLst>
          </p:cNvPr>
          <p:cNvSpPr/>
          <p:nvPr/>
        </p:nvSpPr>
        <p:spPr>
          <a:xfrm>
            <a:off x="4392226" y="4986816"/>
            <a:ext cx="1312149" cy="630404"/>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dirty="0">
                <a:latin typeface="Times New Roman"/>
                <a:ea typeface="Times New Roman"/>
                <a:cs typeface="Times New Roman"/>
                <a:sym typeface="Times New Roman"/>
              </a:rPr>
              <a:t>BP4 applied</a:t>
            </a:r>
            <a:endParaRPr sz="1400" b="0" i="0" u="none" strike="noStrike" cap="none" dirty="0">
              <a:solidFill>
                <a:srgbClr val="FF0000"/>
              </a:solidFill>
              <a:latin typeface="Arial"/>
              <a:ea typeface="Arial"/>
              <a:cs typeface="Arial"/>
              <a:sym typeface="Arial"/>
            </a:endParaRPr>
          </a:p>
        </p:txBody>
      </p:sp>
      <p:sp>
        <p:nvSpPr>
          <p:cNvPr id="51" name="Google Shape;71;p1">
            <a:extLst>
              <a:ext uri="{FF2B5EF4-FFF2-40B4-BE49-F238E27FC236}">
                <a16:creationId xmlns:a16="http://schemas.microsoft.com/office/drawing/2014/main" id="{4578CC9D-496B-4D1F-8EF1-FA272F401CEE}"/>
              </a:ext>
            </a:extLst>
          </p:cNvPr>
          <p:cNvSpPr/>
          <p:nvPr/>
        </p:nvSpPr>
        <p:spPr>
          <a:xfrm>
            <a:off x="9236252" y="4979471"/>
            <a:ext cx="2913595" cy="27432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dirty="0">
                <a:solidFill>
                  <a:srgbClr val="000000"/>
                </a:solidFill>
                <a:latin typeface="Times New Roman"/>
                <a:ea typeface="Times New Roman"/>
                <a:cs typeface="Times New Roman"/>
                <a:sym typeface="Times New Roman"/>
              </a:rPr>
              <a:t>BP4 + BP7</a:t>
            </a:r>
            <a:endParaRPr lang="en-US" sz="1400" b="0" i="0" u="none" strike="noStrike" cap="none" dirty="0">
              <a:solidFill>
                <a:srgbClr val="000000"/>
              </a:solidFill>
              <a:latin typeface="Arial"/>
              <a:ea typeface="Arial"/>
              <a:cs typeface="Arial"/>
              <a:sym typeface="Arial"/>
            </a:endParaRPr>
          </a:p>
        </p:txBody>
      </p:sp>
      <p:sp>
        <p:nvSpPr>
          <p:cNvPr id="52" name="Google Shape;72;p1">
            <a:extLst>
              <a:ext uri="{FF2B5EF4-FFF2-40B4-BE49-F238E27FC236}">
                <a16:creationId xmlns:a16="http://schemas.microsoft.com/office/drawing/2014/main" id="{6073E627-7325-AC3C-CA03-C4A85AB96646}"/>
              </a:ext>
            </a:extLst>
          </p:cNvPr>
          <p:cNvSpPr/>
          <p:nvPr/>
        </p:nvSpPr>
        <p:spPr>
          <a:xfrm>
            <a:off x="9236252" y="5330989"/>
            <a:ext cx="2913595" cy="27432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dirty="0">
                <a:solidFill>
                  <a:srgbClr val="000000"/>
                </a:solidFill>
                <a:latin typeface="Times New Roman"/>
                <a:ea typeface="Times New Roman"/>
                <a:cs typeface="Times New Roman"/>
                <a:sym typeface="Times New Roman"/>
              </a:rPr>
              <a:t>BP4 (only if protein impact ruled out)</a:t>
            </a:r>
            <a:endParaRPr lang="en-US" sz="1400" b="0" i="0" u="none" strike="noStrike" cap="none" dirty="0">
              <a:solidFill>
                <a:srgbClr val="000000"/>
              </a:solidFill>
              <a:latin typeface="Arial"/>
              <a:ea typeface="Arial"/>
              <a:cs typeface="Arial"/>
              <a:sym typeface="Arial"/>
            </a:endParaRPr>
          </a:p>
        </p:txBody>
      </p:sp>
      <p:cxnSp>
        <p:nvCxnSpPr>
          <p:cNvPr id="53" name="Google Shape;121;p1">
            <a:extLst>
              <a:ext uri="{FF2B5EF4-FFF2-40B4-BE49-F238E27FC236}">
                <a16:creationId xmlns:a16="http://schemas.microsoft.com/office/drawing/2014/main" id="{D8647132-517B-FC25-9D39-4EC30EE77999}"/>
              </a:ext>
            </a:extLst>
          </p:cNvPr>
          <p:cNvCxnSpPr>
            <a:cxnSpLocks/>
            <a:endCxn id="51" idx="1"/>
          </p:cNvCxnSpPr>
          <p:nvPr/>
        </p:nvCxnSpPr>
        <p:spPr>
          <a:xfrm>
            <a:off x="8383500" y="5094598"/>
            <a:ext cx="852752" cy="0"/>
          </a:xfrm>
          <a:prstGeom prst="straightConnector1">
            <a:avLst/>
          </a:prstGeom>
          <a:noFill/>
          <a:ln w="9525" cap="flat" cmpd="sng">
            <a:solidFill>
              <a:srgbClr val="595959"/>
            </a:solidFill>
            <a:prstDash val="solid"/>
            <a:round/>
            <a:headEnd type="none" w="sm" len="sm"/>
            <a:tailEnd type="triangle" w="med" len="med"/>
          </a:ln>
        </p:spPr>
      </p:cxnSp>
      <p:cxnSp>
        <p:nvCxnSpPr>
          <p:cNvPr id="54" name="Google Shape;122;p1">
            <a:extLst>
              <a:ext uri="{FF2B5EF4-FFF2-40B4-BE49-F238E27FC236}">
                <a16:creationId xmlns:a16="http://schemas.microsoft.com/office/drawing/2014/main" id="{27F033B4-3799-4114-ACA6-7F2BB68E45D2}"/>
              </a:ext>
            </a:extLst>
          </p:cNvPr>
          <p:cNvCxnSpPr>
            <a:cxnSpLocks/>
            <a:endCxn id="52" idx="1"/>
          </p:cNvCxnSpPr>
          <p:nvPr/>
        </p:nvCxnSpPr>
        <p:spPr>
          <a:xfrm flipV="1">
            <a:off x="8356567" y="5468149"/>
            <a:ext cx="879685" cy="0"/>
          </a:xfrm>
          <a:prstGeom prst="straightConnector1">
            <a:avLst/>
          </a:prstGeom>
          <a:noFill/>
          <a:ln w="9525" cap="flat" cmpd="sng">
            <a:solidFill>
              <a:srgbClr val="595959"/>
            </a:solidFill>
            <a:prstDash val="solid"/>
            <a:round/>
            <a:headEnd type="none" w="sm" len="sm"/>
            <a:tailEnd type="triangle" w="med" len="med"/>
          </a:ln>
        </p:spPr>
      </p:cxnSp>
      <p:sp>
        <p:nvSpPr>
          <p:cNvPr id="55" name="Google Shape;69;p1">
            <a:extLst>
              <a:ext uri="{FF2B5EF4-FFF2-40B4-BE49-F238E27FC236}">
                <a16:creationId xmlns:a16="http://schemas.microsoft.com/office/drawing/2014/main" id="{DAF73558-AD48-8B8B-F00B-CEBAB7293D2A}"/>
              </a:ext>
            </a:extLst>
          </p:cNvPr>
          <p:cNvSpPr/>
          <p:nvPr/>
        </p:nvSpPr>
        <p:spPr>
          <a:xfrm>
            <a:off x="5980268" y="4979471"/>
            <a:ext cx="2400674" cy="268465"/>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dirty="0">
                <a:solidFill>
                  <a:srgbClr val="000000"/>
                </a:solidFill>
                <a:latin typeface="Times New Roman"/>
                <a:ea typeface="Times New Roman"/>
                <a:cs typeface="Times New Roman"/>
                <a:sym typeface="Times New Roman"/>
              </a:rPr>
              <a:t>Silent / Intronic</a:t>
            </a:r>
            <a:endParaRPr lang="en-US" sz="1400" b="0" i="0" u="none" strike="noStrike" cap="none" dirty="0">
              <a:solidFill>
                <a:srgbClr val="000000"/>
              </a:solidFill>
              <a:latin typeface="Arial"/>
              <a:ea typeface="Arial"/>
              <a:cs typeface="Arial"/>
              <a:sym typeface="Arial"/>
            </a:endParaRPr>
          </a:p>
        </p:txBody>
      </p:sp>
      <p:sp>
        <p:nvSpPr>
          <p:cNvPr id="56" name="Google Shape;69;p1">
            <a:extLst>
              <a:ext uri="{FF2B5EF4-FFF2-40B4-BE49-F238E27FC236}">
                <a16:creationId xmlns:a16="http://schemas.microsoft.com/office/drawing/2014/main" id="{1FE8DD21-E7E0-51B2-CD56-40AB63600748}"/>
              </a:ext>
            </a:extLst>
          </p:cNvPr>
          <p:cNvSpPr/>
          <p:nvPr/>
        </p:nvSpPr>
        <p:spPr>
          <a:xfrm>
            <a:off x="5964241" y="5345618"/>
            <a:ext cx="2400674" cy="268465"/>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dirty="0">
                <a:solidFill>
                  <a:srgbClr val="000000"/>
                </a:solidFill>
                <a:latin typeface="Times New Roman"/>
                <a:ea typeface="Times New Roman"/>
                <a:cs typeface="Times New Roman"/>
                <a:sym typeface="Times New Roman"/>
              </a:rPr>
              <a:t>Other variant types / positions</a:t>
            </a:r>
            <a:endParaRPr lang="en-US" sz="1400" b="0" i="0" u="none" strike="noStrike" cap="none" dirty="0">
              <a:solidFill>
                <a:srgbClr val="000000"/>
              </a:solidFill>
              <a:latin typeface="Arial"/>
              <a:ea typeface="Arial"/>
              <a:cs typeface="Arial"/>
              <a:sym typeface="Arial"/>
            </a:endParaRPr>
          </a:p>
        </p:txBody>
      </p:sp>
      <p:sp>
        <p:nvSpPr>
          <p:cNvPr id="59" name="Google Shape;60;p1">
            <a:extLst>
              <a:ext uri="{FF2B5EF4-FFF2-40B4-BE49-F238E27FC236}">
                <a16:creationId xmlns:a16="http://schemas.microsoft.com/office/drawing/2014/main" id="{941D03BB-72BE-7A84-7EBC-9D035822D973}"/>
              </a:ext>
            </a:extLst>
          </p:cNvPr>
          <p:cNvSpPr txBox="1"/>
          <p:nvPr/>
        </p:nvSpPr>
        <p:spPr>
          <a:xfrm>
            <a:off x="2937566" y="2793256"/>
            <a:ext cx="1105800" cy="281970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 sz="1200" b="1" i="0" u="none" strike="noStrike" cap="none" dirty="0">
                <a:latin typeface="Times New Roman"/>
                <a:ea typeface="Times New Roman"/>
                <a:cs typeface="Times New Roman"/>
                <a:sym typeface="Times New Roman"/>
              </a:rPr>
              <a:t>Splicing tool prediction</a:t>
            </a:r>
          </a:p>
          <a:p>
            <a:pPr marL="0" marR="0" lvl="0" indent="0" algn="ctr" rtl="0">
              <a:lnSpc>
                <a:spcPct val="100000"/>
              </a:lnSpc>
              <a:spcBef>
                <a:spcPts val="0"/>
              </a:spcBef>
              <a:spcAft>
                <a:spcPts val="0"/>
              </a:spcAft>
              <a:buClr>
                <a:srgbClr val="000000"/>
              </a:buClr>
              <a:buSzPts val="1200"/>
              <a:buFont typeface="Arial"/>
              <a:buNone/>
            </a:pPr>
            <a:endParaRPr lang="en" sz="1200" b="1" dirty="0">
              <a:latin typeface="Times New Roman"/>
              <a:cs typeface="Times New Roman"/>
              <a:sym typeface="Times New Roman"/>
            </a:endParaRPr>
          </a:p>
          <a:p>
            <a:pPr marL="0" marR="0" lvl="0" indent="0" algn="ctr" rtl="0">
              <a:lnSpc>
                <a:spcPct val="100000"/>
              </a:lnSpc>
              <a:spcBef>
                <a:spcPts val="0"/>
              </a:spcBef>
              <a:spcAft>
                <a:spcPts val="0"/>
              </a:spcAft>
              <a:buClr>
                <a:srgbClr val="000000"/>
              </a:buClr>
              <a:buSzPts val="1200"/>
              <a:buFont typeface="Arial"/>
              <a:buNone/>
            </a:pPr>
            <a:r>
              <a:rPr lang="en" sz="1200" b="1" dirty="0">
                <a:latin typeface="Times New Roman"/>
                <a:cs typeface="Times New Roman"/>
                <a:sym typeface="Times New Roman"/>
              </a:rPr>
              <a:t>(for missense/in-frame indel variants, also consider relevant predictions of protein impact </a:t>
            </a:r>
            <a:r>
              <a:rPr lang="en" sz="1200" b="1" dirty="0">
                <a:solidFill>
                  <a:srgbClr val="00B0F0"/>
                </a:solidFill>
                <a:latin typeface="Times New Roman"/>
                <a:cs typeface="Times New Roman"/>
                <a:sym typeface="Times New Roman"/>
              </a:rPr>
              <a:t>See (a): Flowchart for PP3 and BP4</a:t>
            </a:r>
            <a:endParaRPr sz="1400" b="1" i="0" u="none" strike="noStrike" cap="none" dirty="0">
              <a:solidFill>
                <a:srgbClr val="00B0F0"/>
              </a:solidFill>
              <a:latin typeface="Arial"/>
              <a:ea typeface="Arial"/>
              <a:cs typeface="Arial"/>
              <a:sym typeface="Arial"/>
            </a:endParaRPr>
          </a:p>
        </p:txBody>
      </p:sp>
      <p:cxnSp>
        <p:nvCxnSpPr>
          <p:cNvPr id="231" name="Google Shape;80;p1">
            <a:extLst>
              <a:ext uri="{FF2B5EF4-FFF2-40B4-BE49-F238E27FC236}">
                <a16:creationId xmlns:a16="http://schemas.microsoft.com/office/drawing/2014/main" id="{8A9A8C1D-DAE4-F489-73BE-3E2C19B59FEC}"/>
              </a:ext>
            </a:extLst>
          </p:cNvPr>
          <p:cNvCxnSpPr>
            <a:cxnSpLocks/>
            <a:stCxn id="59" idx="3"/>
            <a:endCxn id="50" idx="1"/>
          </p:cNvCxnSpPr>
          <p:nvPr/>
        </p:nvCxnSpPr>
        <p:spPr>
          <a:xfrm>
            <a:off x="4043366" y="4203106"/>
            <a:ext cx="348860" cy="1098912"/>
          </a:xfrm>
          <a:prstGeom prst="straightConnector1">
            <a:avLst/>
          </a:prstGeom>
          <a:noFill/>
          <a:ln w="9525" cap="flat" cmpd="sng">
            <a:solidFill>
              <a:srgbClr val="44546A"/>
            </a:solidFill>
            <a:prstDash val="solid"/>
            <a:round/>
            <a:headEnd type="none" w="sm" len="sm"/>
            <a:tailEnd type="triangle" w="med" len="med"/>
          </a:ln>
        </p:spPr>
      </p:cxnSp>
      <p:cxnSp>
        <p:nvCxnSpPr>
          <p:cNvPr id="233" name="Google Shape;80;p1">
            <a:extLst>
              <a:ext uri="{FF2B5EF4-FFF2-40B4-BE49-F238E27FC236}">
                <a16:creationId xmlns:a16="http://schemas.microsoft.com/office/drawing/2014/main" id="{B9BEB2CD-9998-6306-BB3C-4CEBDDDFDDBF}"/>
              </a:ext>
            </a:extLst>
          </p:cNvPr>
          <p:cNvCxnSpPr>
            <a:cxnSpLocks/>
            <a:endCxn id="55" idx="1"/>
          </p:cNvCxnSpPr>
          <p:nvPr/>
        </p:nvCxnSpPr>
        <p:spPr>
          <a:xfrm flipV="1">
            <a:off x="5711939" y="5113704"/>
            <a:ext cx="268329" cy="156057"/>
          </a:xfrm>
          <a:prstGeom prst="straightConnector1">
            <a:avLst/>
          </a:prstGeom>
          <a:noFill/>
          <a:ln w="9525" cap="flat" cmpd="sng">
            <a:solidFill>
              <a:srgbClr val="44546A"/>
            </a:solidFill>
            <a:prstDash val="solid"/>
            <a:round/>
            <a:headEnd type="none" w="sm" len="sm"/>
            <a:tailEnd type="triangle" w="med" len="med"/>
          </a:ln>
        </p:spPr>
      </p:cxnSp>
      <p:cxnSp>
        <p:nvCxnSpPr>
          <p:cNvPr id="235" name="Google Shape;80;p1">
            <a:extLst>
              <a:ext uri="{FF2B5EF4-FFF2-40B4-BE49-F238E27FC236}">
                <a16:creationId xmlns:a16="http://schemas.microsoft.com/office/drawing/2014/main" id="{F1F75DEA-5FD9-E768-1893-2866F2D24DFA}"/>
              </a:ext>
            </a:extLst>
          </p:cNvPr>
          <p:cNvCxnSpPr>
            <a:cxnSpLocks/>
            <a:endCxn id="56" idx="1"/>
          </p:cNvCxnSpPr>
          <p:nvPr/>
        </p:nvCxnSpPr>
        <p:spPr>
          <a:xfrm>
            <a:off x="5704375" y="5277612"/>
            <a:ext cx="259866" cy="202239"/>
          </a:xfrm>
          <a:prstGeom prst="straightConnector1">
            <a:avLst/>
          </a:prstGeom>
          <a:noFill/>
          <a:ln w="9525" cap="flat" cmpd="sng">
            <a:solidFill>
              <a:srgbClr val="44546A"/>
            </a:solidFill>
            <a:prstDash val="solid"/>
            <a:round/>
            <a:headEnd type="none" w="sm" len="sm"/>
            <a:tailEnd type="triangle" w="med" len="med"/>
          </a:ln>
        </p:spPr>
      </p:cxnSp>
      <p:sp>
        <p:nvSpPr>
          <p:cNvPr id="238" name="Google Shape;60;p1">
            <a:extLst>
              <a:ext uri="{FF2B5EF4-FFF2-40B4-BE49-F238E27FC236}">
                <a16:creationId xmlns:a16="http://schemas.microsoft.com/office/drawing/2014/main" id="{EADAF95D-9A26-3921-1167-B1B12657C9B0}"/>
              </a:ext>
            </a:extLst>
          </p:cNvPr>
          <p:cNvSpPr txBox="1"/>
          <p:nvPr/>
        </p:nvSpPr>
        <p:spPr>
          <a:xfrm>
            <a:off x="234482" y="2793256"/>
            <a:ext cx="1105800" cy="6477848"/>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 sz="1200" b="1" i="0" u="none" strike="noStrike" cap="none" dirty="0">
                <a:latin typeface="Times New Roman"/>
                <a:ea typeface="Times New Roman"/>
                <a:cs typeface="Times New Roman"/>
                <a:sym typeface="Times New Roman"/>
              </a:rPr>
              <a:t>Splicing </a:t>
            </a:r>
            <a:r>
              <a:rPr lang="en" sz="1200" b="1" i="0" u="none" strike="noStrike" cap="none" dirty="0" err="1">
                <a:latin typeface="Times New Roman"/>
                <a:ea typeface="Times New Roman"/>
                <a:cs typeface="Times New Roman"/>
                <a:sym typeface="Times New Roman"/>
              </a:rPr>
              <a:t>predicti</a:t>
            </a:r>
            <a:r>
              <a:rPr lang="en-US" sz="1200" b="1" i="0" u="none" strike="noStrike" cap="none" dirty="0">
                <a:latin typeface="Times New Roman"/>
                <a:ea typeface="Times New Roman"/>
                <a:cs typeface="Times New Roman"/>
                <a:sym typeface="Times New Roman"/>
              </a:rPr>
              <a:t>on</a:t>
            </a:r>
            <a:r>
              <a:rPr lang="en" sz="1200" b="1" i="0" u="none" strike="noStrike" cap="none" dirty="0">
                <a:latin typeface="Times New Roman"/>
                <a:ea typeface="Times New Roman"/>
                <a:cs typeface="Times New Roman"/>
                <a:sym typeface="Times New Roman"/>
              </a:rPr>
              <a:t> data only</a:t>
            </a:r>
            <a:endParaRPr sz="1400" b="1" i="0" u="none" strike="noStrike" cap="none" dirty="0">
              <a:latin typeface="Arial"/>
              <a:ea typeface="Arial"/>
              <a:cs typeface="Arial"/>
              <a:sym typeface="Arial"/>
            </a:endParaRPr>
          </a:p>
        </p:txBody>
      </p:sp>
      <p:sp>
        <p:nvSpPr>
          <p:cNvPr id="239" name="Google Shape;60;p1">
            <a:extLst>
              <a:ext uri="{FF2B5EF4-FFF2-40B4-BE49-F238E27FC236}">
                <a16:creationId xmlns:a16="http://schemas.microsoft.com/office/drawing/2014/main" id="{3AAC225A-BF10-A917-DB62-4B234AAF0E4D}"/>
              </a:ext>
            </a:extLst>
          </p:cNvPr>
          <p:cNvSpPr txBox="1"/>
          <p:nvPr/>
        </p:nvSpPr>
        <p:spPr>
          <a:xfrm>
            <a:off x="1592413" y="5758158"/>
            <a:ext cx="1105800" cy="3512946"/>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 sz="1200" b="1" dirty="0">
                <a:latin typeface="Times New Roman"/>
                <a:ea typeface="Times New Roman"/>
                <a:cs typeface="Times New Roman"/>
                <a:sym typeface="Times New Roman"/>
              </a:rPr>
              <a:t>D</a:t>
            </a:r>
            <a:r>
              <a:rPr lang="en" sz="1200" b="1" i="0" u="none" strike="noStrike" cap="none" dirty="0">
                <a:latin typeface="Times New Roman"/>
                <a:ea typeface="Times New Roman"/>
                <a:cs typeface="Times New Roman"/>
                <a:sym typeface="Times New Roman"/>
              </a:rPr>
              <a:t>onor/acceptor +/- 1,2 dinucleotide positions</a:t>
            </a:r>
          </a:p>
          <a:p>
            <a:pPr marL="0" marR="0" lvl="0" indent="0" algn="ctr" rtl="0">
              <a:lnSpc>
                <a:spcPct val="100000"/>
              </a:lnSpc>
              <a:spcBef>
                <a:spcPts val="0"/>
              </a:spcBef>
              <a:spcAft>
                <a:spcPts val="0"/>
              </a:spcAft>
              <a:buClr>
                <a:srgbClr val="000000"/>
              </a:buClr>
              <a:buSzPts val="1200"/>
              <a:buFont typeface="Arial"/>
              <a:buNone/>
            </a:pPr>
            <a:endParaRPr lang="en" sz="1200" b="1" dirty="0">
              <a:solidFill>
                <a:srgbClr val="00B0F0"/>
              </a:solidFill>
              <a:latin typeface="Times New Roman"/>
              <a:ea typeface="Times New Roman"/>
              <a:cs typeface="Times New Roman"/>
              <a:sym typeface="Times New Roman"/>
            </a:endParaRPr>
          </a:p>
          <a:p>
            <a:pPr marL="0" marR="0" lvl="0" indent="0" algn="ctr" rtl="0">
              <a:lnSpc>
                <a:spcPct val="100000"/>
              </a:lnSpc>
              <a:spcBef>
                <a:spcPts val="0"/>
              </a:spcBef>
              <a:spcAft>
                <a:spcPts val="0"/>
              </a:spcAft>
              <a:buClr>
                <a:srgbClr val="000000"/>
              </a:buClr>
              <a:buSzPts val="1200"/>
              <a:buFont typeface="Arial"/>
              <a:buNone/>
            </a:pPr>
            <a:r>
              <a:rPr lang="en" sz="1200" b="1" i="0" u="none" strike="noStrike" cap="none" dirty="0">
                <a:solidFill>
                  <a:srgbClr val="00B0F0"/>
                </a:solidFill>
                <a:latin typeface="Times New Roman"/>
                <a:ea typeface="Times New Roman"/>
                <a:cs typeface="Times New Roman"/>
                <a:sym typeface="Times New Roman"/>
              </a:rPr>
              <a:t>See (c):  RPGR Rule Table for PVS1 (RNA)</a:t>
            </a:r>
          </a:p>
        </p:txBody>
      </p:sp>
      <p:sp>
        <p:nvSpPr>
          <p:cNvPr id="240" name="Google Shape;61;p1">
            <a:extLst>
              <a:ext uri="{FF2B5EF4-FFF2-40B4-BE49-F238E27FC236}">
                <a16:creationId xmlns:a16="http://schemas.microsoft.com/office/drawing/2014/main" id="{30444774-950D-B6BF-B5A2-820877FA3F49}"/>
              </a:ext>
            </a:extLst>
          </p:cNvPr>
          <p:cNvSpPr/>
          <p:nvPr/>
        </p:nvSpPr>
        <p:spPr>
          <a:xfrm>
            <a:off x="4392226" y="5748419"/>
            <a:ext cx="1312149" cy="1233861"/>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dirty="0">
                <a:latin typeface="Times New Roman"/>
                <a:ea typeface="Times New Roman"/>
                <a:cs typeface="Times New Roman"/>
                <a:sym typeface="Times New Roman"/>
              </a:rPr>
              <a:t>PVS1 applied</a:t>
            </a:r>
            <a:endParaRPr sz="1400" b="0" i="0" u="none" strike="noStrike" cap="none" dirty="0">
              <a:solidFill>
                <a:srgbClr val="FF0000"/>
              </a:solidFill>
              <a:latin typeface="Arial"/>
              <a:ea typeface="Arial"/>
              <a:cs typeface="Arial"/>
              <a:sym typeface="Arial"/>
            </a:endParaRPr>
          </a:p>
        </p:txBody>
      </p:sp>
      <p:sp>
        <p:nvSpPr>
          <p:cNvPr id="241" name="Google Shape;63;p1">
            <a:extLst>
              <a:ext uri="{FF2B5EF4-FFF2-40B4-BE49-F238E27FC236}">
                <a16:creationId xmlns:a16="http://schemas.microsoft.com/office/drawing/2014/main" id="{CC0B32A0-374E-5A99-F512-421D4F698E03}"/>
              </a:ext>
            </a:extLst>
          </p:cNvPr>
          <p:cNvSpPr/>
          <p:nvPr/>
        </p:nvSpPr>
        <p:spPr>
          <a:xfrm>
            <a:off x="5964241" y="5748402"/>
            <a:ext cx="4572000" cy="274320"/>
          </a:xfrm>
          <a:prstGeom prst="rect">
            <a:avLst/>
          </a:prstGeom>
          <a:solidFill>
            <a:schemeClr val="lt1"/>
          </a:solid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 sz="1200" b="0" i="0" u="none" strike="noStrike" cap="none" dirty="0">
                <a:solidFill>
                  <a:srgbClr val="000000"/>
                </a:solidFill>
                <a:latin typeface="Times New Roman"/>
                <a:ea typeface="Times New Roman"/>
                <a:cs typeface="Times New Roman"/>
                <a:sym typeface="Times New Roman"/>
              </a:rPr>
              <a:t>No appropriate comparison P/LP variant in this splice region</a:t>
            </a:r>
            <a:endParaRPr sz="1400" b="0" i="0" u="none" strike="noStrike" cap="none" dirty="0">
              <a:solidFill>
                <a:srgbClr val="000000"/>
              </a:solidFill>
              <a:latin typeface="Arial"/>
              <a:ea typeface="Arial"/>
              <a:cs typeface="Arial"/>
              <a:sym typeface="Arial"/>
            </a:endParaRPr>
          </a:p>
        </p:txBody>
      </p:sp>
      <p:sp>
        <p:nvSpPr>
          <p:cNvPr id="242" name="Google Shape;64;p1">
            <a:extLst>
              <a:ext uri="{FF2B5EF4-FFF2-40B4-BE49-F238E27FC236}">
                <a16:creationId xmlns:a16="http://schemas.microsoft.com/office/drawing/2014/main" id="{3E2ACA5B-5241-6E4A-A47A-1D72B5F73A59}"/>
              </a:ext>
            </a:extLst>
          </p:cNvPr>
          <p:cNvSpPr/>
          <p:nvPr/>
        </p:nvSpPr>
        <p:spPr>
          <a:xfrm>
            <a:off x="5972183" y="6117568"/>
            <a:ext cx="4572000" cy="384048"/>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dirty="0">
                <a:solidFill>
                  <a:srgbClr val="000000"/>
                </a:solidFill>
                <a:latin typeface="Times New Roman"/>
                <a:ea typeface="Times New Roman"/>
                <a:cs typeface="Times New Roman"/>
                <a:sym typeface="Times New Roman"/>
              </a:rPr>
              <a:t>P variant at this </a:t>
            </a:r>
            <a:r>
              <a:rPr lang="en-US" sz="1200" b="0" i="0" u="none" strike="noStrike" cap="none" dirty="0" err="1">
                <a:solidFill>
                  <a:srgbClr val="000000"/>
                </a:solidFill>
                <a:latin typeface="Times New Roman"/>
                <a:ea typeface="Times New Roman"/>
                <a:cs typeface="Times New Roman"/>
                <a:sym typeface="Times New Roman"/>
              </a:rPr>
              <a:t>nt</a:t>
            </a:r>
            <a:r>
              <a:rPr lang="en-US" sz="1200" b="0" i="0" u="none" strike="noStrike" cap="none" dirty="0">
                <a:solidFill>
                  <a:srgbClr val="000000"/>
                </a:solidFill>
                <a:latin typeface="Times New Roman"/>
                <a:ea typeface="Times New Roman"/>
                <a:cs typeface="Times New Roman"/>
                <a:sym typeface="Times New Roman"/>
              </a:rPr>
              <a:t> position or in same donor/acceptor +/-1,2 dinucleotide with same predicted impact</a:t>
            </a:r>
            <a:endParaRPr lang="en-US" sz="1400" b="0" i="0" u="none" strike="noStrike" cap="none" dirty="0">
              <a:solidFill>
                <a:srgbClr val="000000"/>
              </a:solidFill>
              <a:latin typeface="Arial"/>
              <a:ea typeface="Arial"/>
              <a:cs typeface="Arial"/>
              <a:sym typeface="Arial"/>
            </a:endParaRPr>
          </a:p>
        </p:txBody>
      </p:sp>
      <p:sp>
        <p:nvSpPr>
          <p:cNvPr id="243" name="Google Shape;65;p1">
            <a:extLst>
              <a:ext uri="{FF2B5EF4-FFF2-40B4-BE49-F238E27FC236}">
                <a16:creationId xmlns:a16="http://schemas.microsoft.com/office/drawing/2014/main" id="{0ACBE3BA-CBFF-033E-12BF-1B33E72019FC}"/>
              </a:ext>
            </a:extLst>
          </p:cNvPr>
          <p:cNvSpPr/>
          <p:nvPr/>
        </p:nvSpPr>
        <p:spPr>
          <a:xfrm>
            <a:off x="10945100" y="5748402"/>
            <a:ext cx="1188720" cy="27432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 sz="1200" b="0" i="0" u="none" strike="noStrike" cap="none" dirty="0">
                <a:solidFill>
                  <a:srgbClr val="000000"/>
                </a:solidFill>
                <a:latin typeface="Times New Roman"/>
                <a:ea typeface="Times New Roman"/>
                <a:cs typeface="Times New Roman"/>
                <a:sym typeface="Times New Roman"/>
              </a:rPr>
              <a:t>PVS1</a:t>
            </a:r>
            <a:endParaRPr sz="1400" b="0" i="0" u="none" strike="noStrike" cap="none" dirty="0">
              <a:solidFill>
                <a:srgbClr val="000000"/>
              </a:solidFill>
              <a:latin typeface="Arial"/>
              <a:ea typeface="Arial"/>
              <a:cs typeface="Arial"/>
              <a:sym typeface="Arial"/>
            </a:endParaRPr>
          </a:p>
        </p:txBody>
      </p:sp>
      <p:sp>
        <p:nvSpPr>
          <p:cNvPr id="244" name="Google Shape;66;p1">
            <a:extLst>
              <a:ext uri="{FF2B5EF4-FFF2-40B4-BE49-F238E27FC236}">
                <a16:creationId xmlns:a16="http://schemas.microsoft.com/office/drawing/2014/main" id="{AFC2AE40-9C6A-CC08-BA58-BFB441F2BEFB}"/>
              </a:ext>
            </a:extLst>
          </p:cNvPr>
          <p:cNvSpPr/>
          <p:nvPr/>
        </p:nvSpPr>
        <p:spPr>
          <a:xfrm>
            <a:off x="10945100" y="6124237"/>
            <a:ext cx="1188720" cy="384048"/>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 sz="1200" b="0" i="0" u="none" strike="noStrike" cap="none" dirty="0">
                <a:solidFill>
                  <a:srgbClr val="0070C0"/>
                </a:solidFill>
                <a:latin typeface="Times New Roman"/>
                <a:ea typeface="Times New Roman"/>
                <a:cs typeface="Times New Roman"/>
                <a:sym typeface="Times New Roman"/>
              </a:rPr>
              <a:t>PVS1 + PS1_Supp.</a:t>
            </a:r>
            <a:endParaRPr sz="1400" b="0" i="0" u="none" strike="noStrike" cap="none" dirty="0">
              <a:solidFill>
                <a:srgbClr val="0070C0"/>
              </a:solidFill>
              <a:latin typeface="Arial"/>
              <a:ea typeface="Arial"/>
              <a:cs typeface="Arial"/>
              <a:sym typeface="Arial"/>
            </a:endParaRPr>
          </a:p>
        </p:txBody>
      </p:sp>
      <p:sp>
        <p:nvSpPr>
          <p:cNvPr id="245" name="Google Shape;67;p1">
            <a:extLst>
              <a:ext uri="{FF2B5EF4-FFF2-40B4-BE49-F238E27FC236}">
                <a16:creationId xmlns:a16="http://schemas.microsoft.com/office/drawing/2014/main" id="{F9FB2880-71F7-71DD-5AF6-24242D4407E1}"/>
              </a:ext>
            </a:extLst>
          </p:cNvPr>
          <p:cNvSpPr/>
          <p:nvPr/>
        </p:nvSpPr>
        <p:spPr>
          <a:xfrm>
            <a:off x="5962659" y="6598232"/>
            <a:ext cx="4572000" cy="384048"/>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dirty="0">
                <a:solidFill>
                  <a:srgbClr val="000000"/>
                </a:solidFill>
                <a:latin typeface="Times New Roman"/>
                <a:ea typeface="Times New Roman"/>
                <a:cs typeface="Times New Roman"/>
                <a:sym typeface="Times New Roman"/>
              </a:rPr>
              <a:t>P / LP variant within the same splice region, but outside donor/acceptor +/-1,2 dinucleotide, with same predicted impact</a:t>
            </a:r>
            <a:endParaRPr lang="en-US" sz="1400" b="0" i="0" u="none" strike="noStrike" cap="none" dirty="0">
              <a:solidFill>
                <a:srgbClr val="000000"/>
              </a:solidFill>
              <a:latin typeface="Arial"/>
              <a:ea typeface="Arial"/>
              <a:cs typeface="Arial"/>
              <a:sym typeface="Arial"/>
            </a:endParaRPr>
          </a:p>
        </p:txBody>
      </p:sp>
      <p:sp>
        <p:nvSpPr>
          <p:cNvPr id="246" name="Google Shape;69;p1">
            <a:extLst>
              <a:ext uri="{FF2B5EF4-FFF2-40B4-BE49-F238E27FC236}">
                <a16:creationId xmlns:a16="http://schemas.microsoft.com/office/drawing/2014/main" id="{9A76986F-2CDB-8164-6116-ADAF7D21EAE2}"/>
              </a:ext>
            </a:extLst>
          </p:cNvPr>
          <p:cNvSpPr/>
          <p:nvPr/>
        </p:nvSpPr>
        <p:spPr>
          <a:xfrm>
            <a:off x="5972183" y="7064583"/>
            <a:ext cx="4572000" cy="27432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dirty="0">
                <a:solidFill>
                  <a:srgbClr val="000000"/>
                </a:solidFill>
                <a:latin typeface="Times New Roman"/>
                <a:ea typeface="Times New Roman"/>
                <a:cs typeface="Times New Roman"/>
                <a:sym typeface="Times New Roman"/>
              </a:rPr>
              <a:t>No appropriate comparison P/LP variant within this splice region</a:t>
            </a:r>
            <a:endParaRPr lang="en-US" sz="1400" b="0" i="0" u="none" strike="noStrike" cap="none" dirty="0">
              <a:solidFill>
                <a:srgbClr val="000000"/>
              </a:solidFill>
              <a:latin typeface="Arial"/>
              <a:ea typeface="Arial"/>
              <a:cs typeface="Arial"/>
              <a:sym typeface="Arial"/>
            </a:endParaRPr>
          </a:p>
        </p:txBody>
      </p:sp>
      <p:sp>
        <p:nvSpPr>
          <p:cNvPr id="247" name="Google Shape;70;p1">
            <a:extLst>
              <a:ext uri="{FF2B5EF4-FFF2-40B4-BE49-F238E27FC236}">
                <a16:creationId xmlns:a16="http://schemas.microsoft.com/office/drawing/2014/main" id="{DC1BA474-9367-29F7-8A4F-B1CBC402D013}"/>
              </a:ext>
            </a:extLst>
          </p:cNvPr>
          <p:cNvSpPr/>
          <p:nvPr/>
        </p:nvSpPr>
        <p:spPr>
          <a:xfrm>
            <a:off x="10945100" y="6617081"/>
            <a:ext cx="1188720" cy="384048"/>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dirty="0">
                <a:solidFill>
                  <a:srgbClr val="0070C0"/>
                </a:solidFill>
                <a:latin typeface="Times New Roman"/>
                <a:ea typeface="Times New Roman"/>
                <a:cs typeface="Times New Roman"/>
                <a:sym typeface="Times New Roman"/>
              </a:rPr>
              <a:t>PVS1 + PS1_Supp.</a:t>
            </a:r>
            <a:endParaRPr lang="en-US" sz="1400" b="0" i="0" u="none" strike="noStrike" cap="none" dirty="0">
              <a:solidFill>
                <a:srgbClr val="0070C0"/>
              </a:solidFill>
              <a:latin typeface="Arial"/>
              <a:ea typeface="Arial"/>
              <a:cs typeface="Arial"/>
              <a:sym typeface="Arial"/>
            </a:endParaRPr>
          </a:p>
        </p:txBody>
      </p:sp>
      <p:sp>
        <p:nvSpPr>
          <p:cNvPr id="248" name="Google Shape;71;p1">
            <a:extLst>
              <a:ext uri="{FF2B5EF4-FFF2-40B4-BE49-F238E27FC236}">
                <a16:creationId xmlns:a16="http://schemas.microsoft.com/office/drawing/2014/main" id="{E93D581F-D729-25C1-7AC6-2526C1BF8C3D}"/>
              </a:ext>
            </a:extLst>
          </p:cNvPr>
          <p:cNvSpPr/>
          <p:nvPr/>
        </p:nvSpPr>
        <p:spPr>
          <a:xfrm>
            <a:off x="10945100" y="7063475"/>
            <a:ext cx="1188720" cy="27432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dirty="0">
                <a:solidFill>
                  <a:srgbClr val="000000"/>
                </a:solidFill>
                <a:latin typeface="Times New Roman"/>
                <a:ea typeface="Times New Roman"/>
                <a:cs typeface="Times New Roman"/>
                <a:sym typeface="Times New Roman"/>
              </a:rPr>
              <a:t>PVS1_Strength</a:t>
            </a:r>
            <a:endParaRPr lang="en-US" sz="1400" b="0" i="0" u="none" strike="noStrike" cap="none" dirty="0">
              <a:solidFill>
                <a:srgbClr val="000000"/>
              </a:solidFill>
              <a:latin typeface="Arial"/>
              <a:ea typeface="Arial"/>
              <a:cs typeface="Arial"/>
              <a:sym typeface="Arial"/>
            </a:endParaRPr>
          </a:p>
        </p:txBody>
      </p:sp>
      <p:cxnSp>
        <p:nvCxnSpPr>
          <p:cNvPr id="251" name="Google Shape;79;p1">
            <a:extLst>
              <a:ext uri="{FF2B5EF4-FFF2-40B4-BE49-F238E27FC236}">
                <a16:creationId xmlns:a16="http://schemas.microsoft.com/office/drawing/2014/main" id="{EAB16550-E9E2-8596-D203-0B151FC37E2B}"/>
              </a:ext>
            </a:extLst>
          </p:cNvPr>
          <p:cNvCxnSpPr>
            <a:cxnSpLocks/>
            <a:stCxn id="273" idx="3"/>
          </p:cNvCxnSpPr>
          <p:nvPr/>
        </p:nvCxnSpPr>
        <p:spPr>
          <a:xfrm flipV="1">
            <a:off x="4043366" y="6598232"/>
            <a:ext cx="348860" cy="924090"/>
          </a:xfrm>
          <a:prstGeom prst="straightConnector1">
            <a:avLst/>
          </a:prstGeom>
          <a:noFill/>
          <a:ln w="9525" cap="flat" cmpd="sng">
            <a:solidFill>
              <a:srgbClr val="44546A"/>
            </a:solidFill>
            <a:prstDash val="solid"/>
            <a:round/>
            <a:headEnd type="none" w="sm" len="sm"/>
            <a:tailEnd type="triangle" w="med" len="med"/>
          </a:ln>
        </p:spPr>
      </p:cxnSp>
      <p:cxnSp>
        <p:nvCxnSpPr>
          <p:cNvPr id="252" name="Google Shape;80;p1">
            <a:extLst>
              <a:ext uri="{FF2B5EF4-FFF2-40B4-BE49-F238E27FC236}">
                <a16:creationId xmlns:a16="http://schemas.microsoft.com/office/drawing/2014/main" id="{FDCA1F95-FF10-4B7C-5859-CE89DCEE961C}"/>
              </a:ext>
            </a:extLst>
          </p:cNvPr>
          <p:cNvCxnSpPr>
            <a:cxnSpLocks/>
            <a:stCxn id="273" idx="3"/>
            <a:endCxn id="282" idx="1"/>
          </p:cNvCxnSpPr>
          <p:nvPr/>
        </p:nvCxnSpPr>
        <p:spPr>
          <a:xfrm>
            <a:off x="4043366" y="7522322"/>
            <a:ext cx="348861" cy="396029"/>
          </a:xfrm>
          <a:prstGeom prst="straightConnector1">
            <a:avLst/>
          </a:prstGeom>
          <a:noFill/>
          <a:ln w="9525" cap="flat" cmpd="sng">
            <a:solidFill>
              <a:srgbClr val="44546A"/>
            </a:solidFill>
            <a:prstDash val="solid"/>
            <a:round/>
            <a:headEnd type="none" w="sm" len="sm"/>
            <a:tailEnd type="triangle" w="med" len="med"/>
          </a:ln>
        </p:spPr>
      </p:cxnSp>
      <p:cxnSp>
        <p:nvCxnSpPr>
          <p:cNvPr id="253" name="Google Shape;81;p1">
            <a:extLst>
              <a:ext uri="{FF2B5EF4-FFF2-40B4-BE49-F238E27FC236}">
                <a16:creationId xmlns:a16="http://schemas.microsoft.com/office/drawing/2014/main" id="{185818BF-6FC8-BE17-54E4-A02E46766BE6}"/>
              </a:ext>
            </a:extLst>
          </p:cNvPr>
          <p:cNvCxnSpPr>
            <a:cxnSpLocks/>
            <a:stCxn id="240" idx="3"/>
            <a:endCxn id="241" idx="1"/>
          </p:cNvCxnSpPr>
          <p:nvPr/>
        </p:nvCxnSpPr>
        <p:spPr>
          <a:xfrm flipV="1">
            <a:off x="5704375" y="5885562"/>
            <a:ext cx="259866" cy="479788"/>
          </a:xfrm>
          <a:prstGeom prst="straightConnector1">
            <a:avLst/>
          </a:prstGeom>
          <a:noFill/>
          <a:ln w="9525" cap="flat" cmpd="sng">
            <a:solidFill>
              <a:srgbClr val="44546A"/>
            </a:solidFill>
            <a:prstDash val="solid"/>
            <a:round/>
            <a:headEnd type="none" w="sm" len="sm"/>
            <a:tailEnd type="triangle" w="med" len="med"/>
          </a:ln>
        </p:spPr>
      </p:cxnSp>
      <p:cxnSp>
        <p:nvCxnSpPr>
          <p:cNvPr id="254" name="Google Shape;82;p1">
            <a:extLst>
              <a:ext uri="{FF2B5EF4-FFF2-40B4-BE49-F238E27FC236}">
                <a16:creationId xmlns:a16="http://schemas.microsoft.com/office/drawing/2014/main" id="{2A5D3254-EB0B-A068-868C-5620D092C9D4}"/>
              </a:ext>
            </a:extLst>
          </p:cNvPr>
          <p:cNvCxnSpPr>
            <a:cxnSpLocks/>
            <a:stCxn id="240" idx="3"/>
            <a:endCxn id="242" idx="1"/>
          </p:cNvCxnSpPr>
          <p:nvPr/>
        </p:nvCxnSpPr>
        <p:spPr>
          <a:xfrm flipV="1">
            <a:off x="5704375" y="6309592"/>
            <a:ext cx="267808" cy="55758"/>
          </a:xfrm>
          <a:prstGeom prst="straightConnector1">
            <a:avLst/>
          </a:prstGeom>
          <a:noFill/>
          <a:ln w="9525" cap="flat" cmpd="sng">
            <a:solidFill>
              <a:srgbClr val="44546A"/>
            </a:solidFill>
            <a:prstDash val="solid"/>
            <a:round/>
            <a:headEnd type="none" w="sm" len="sm"/>
            <a:tailEnd type="triangle" w="med" len="med"/>
          </a:ln>
        </p:spPr>
      </p:cxnSp>
      <p:cxnSp>
        <p:nvCxnSpPr>
          <p:cNvPr id="255" name="Google Shape;83;p1">
            <a:extLst>
              <a:ext uri="{FF2B5EF4-FFF2-40B4-BE49-F238E27FC236}">
                <a16:creationId xmlns:a16="http://schemas.microsoft.com/office/drawing/2014/main" id="{550143C7-401D-5B4E-4238-ABA5926C66FC}"/>
              </a:ext>
            </a:extLst>
          </p:cNvPr>
          <p:cNvCxnSpPr>
            <a:cxnSpLocks/>
            <a:stCxn id="240" idx="3"/>
            <a:endCxn id="245" idx="1"/>
          </p:cNvCxnSpPr>
          <p:nvPr/>
        </p:nvCxnSpPr>
        <p:spPr>
          <a:xfrm>
            <a:off x="5704375" y="6365350"/>
            <a:ext cx="258284" cy="424906"/>
          </a:xfrm>
          <a:prstGeom prst="straightConnector1">
            <a:avLst/>
          </a:prstGeom>
          <a:noFill/>
          <a:ln w="9525" cap="flat" cmpd="sng">
            <a:solidFill>
              <a:srgbClr val="44546A"/>
            </a:solidFill>
            <a:prstDash val="solid"/>
            <a:round/>
            <a:headEnd type="none" w="sm" len="sm"/>
            <a:tailEnd type="triangle" w="med" len="med"/>
          </a:ln>
        </p:spPr>
      </p:cxnSp>
      <p:cxnSp>
        <p:nvCxnSpPr>
          <p:cNvPr id="256" name="Google Shape;85;p1">
            <a:extLst>
              <a:ext uri="{FF2B5EF4-FFF2-40B4-BE49-F238E27FC236}">
                <a16:creationId xmlns:a16="http://schemas.microsoft.com/office/drawing/2014/main" id="{73811528-6531-6C3C-DC54-A9D65BA3DF1A}"/>
              </a:ext>
            </a:extLst>
          </p:cNvPr>
          <p:cNvCxnSpPr>
            <a:cxnSpLocks/>
            <a:stCxn id="282" idx="3"/>
            <a:endCxn id="246" idx="1"/>
          </p:cNvCxnSpPr>
          <p:nvPr/>
        </p:nvCxnSpPr>
        <p:spPr>
          <a:xfrm flipV="1">
            <a:off x="5703475" y="7201743"/>
            <a:ext cx="268708" cy="716608"/>
          </a:xfrm>
          <a:prstGeom prst="straightConnector1">
            <a:avLst/>
          </a:prstGeom>
          <a:noFill/>
          <a:ln w="9525" cap="flat" cmpd="sng">
            <a:solidFill>
              <a:srgbClr val="44546A"/>
            </a:solidFill>
            <a:prstDash val="solid"/>
            <a:round/>
            <a:headEnd type="none" w="sm" len="sm"/>
            <a:tailEnd type="triangle" w="med" len="med"/>
          </a:ln>
        </p:spPr>
      </p:cxnSp>
      <p:cxnSp>
        <p:nvCxnSpPr>
          <p:cNvPr id="257" name="Google Shape;86;p1">
            <a:extLst>
              <a:ext uri="{FF2B5EF4-FFF2-40B4-BE49-F238E27FC236}">
                <a16:creationId xmlns:a16="http://schemas.microsoft.com/office/drawing/2014/main" id="{9465E678-A2C5-7FC8-A7A4-90900ED3B8AC}"/>
              </a:ext>
            </a:extLst>
          </p:cNvPr>
          <p:cNvCxnSpPr>
            <a:cxnSpLocks/>
            <a:stCxn id="282" idx="3"/>
            <a:endCxn id="333" idx="1"/>
          </p:cNvCxnSpPr>
          <p:nvPr/>
        </p:nvCxnSpPr>
        <p:spPr>
          <a:xfrm>
            <a:off x="5703475" y="7918351"/>
            <a:ext cx="259184" cy="184944"/>
          </a:xfrm>
          <a:prstGeom prst="straightConnector1">
            <a:avLst/>
          </a:prstGeom>
          <a:noFill/>
          <a:ln w="9525" cap="flat" cmpd="sng">
            <a:solidFill>
              <a:srgbClr val="44546A"/>
            </a:solidFill>
            <a:prstDash val="solid"/>
            <a:round/>
            <a:headEnd type="none" w="sm" len="sm"/>
            <a:tailEnd type="triangle" w="med" len="med"/>
          </a:ln>
        </p:spPr>
      </p:cxnSp>
      <p:cxnSp>
        <p:nvCxnSpPr>
          <p:cNvPr id="258" name="Google Shape;118;p1">
            <a:extLst>
              <a:ext uri="{FF2B5EF4-FFF2-40B4-BE49-F238E27FC236}">
                <a16:creationId xmlns:a16="http://schemas.microsoft.com/office/drawing/2014/main" id="{57E31603-5845-98B4-DFD5-9AF965E9BE3A}"/>
              </a:ext>
            </a:extLst>
          </p:cNvPr>
          <p:cNvCxnSpPr>
            <a:stCxn id="241" idx="3"/>
            <a:endCxn id="243" idx="1"/>
          </p:cNvCxnSpPr>
          <p:nvPr/>
        </p:nvCxnSpPr>
        <p:spPr>
          <a:xfrm>
            <a:off x="10536241" y="5885562"/>
            <a:ext cx="408859" cy="0"/>
          </a:xfrm>
          <a:prstGeom prst="straightConnector1">
            <a:avLst/>
          </a:prstGeom>
          <a:noFill/>
          <a:ln w="9525" cap="flat" cmpd="sng">
            <a:solidFill>
              <a:srgbClr val="595959"/>
            </a:solidFill>
            <a:prstDash val="solid"/>
            <a:round/>
            <a:headEnd type="none" w="sm" len="sm"/>
            <a:tailEnd type="triangle" w="med" len="med"/>
          </a:ln>
        </p:spPr>
      </p:cxnSp>
      <p:cxnSp>
        <p:nvCxnSpPr>
          <p:cNvPr id="259" name="Google Shape;119;p1">
            <a:extLst>
              <a:ext uri="{FF2B5EF4-FFF2-40B4-BE49-F238E27FC236}">
                <a16:creationId xmlns:a16="http://schemas.microsoft.com/office/drawing/2014/main" id="{C8AA0015-FAE4-0ECF-7E31-92D5C60CC57A}"/>
              </a:ext>
            </a:extLst>
          </p:cNvPr>
          <p:cNvCxnSpPr>
            <a:cxnSpLocks/>
            <a:stCxn id="242" idx="3"/>
            <a:endCxn id="244" idx="1"/>
          </p:cNvCxnSpPr>
          <p:nvPr/>
        </p:nvCxnSpPr>
        <p:spPr>
          <a:xfrm>
            <a:off x="10544183" y="6309592"/>
            <a:ext cx="400917" cy="0"/>
          </a:xfrm>
          <a:prstGeom prst="straightConnector1">
            <a:avLst/>
          </a:prstGeom>
          <a:noFill/>
          <a:ln w="9525" cap="flat" cmpd="sng">
            <a:solidFill>
              <a:srgbClr val="595959"/>
            </a:solidFill>
            <a:prstDash val="solid"/>
            <a:round/>
            <a:headEnd type="none" w="sm" len="sm"/>
            <a:tailEnd type="triangle" w="med" len="med"/>
          </a:ln>
        </p:spPr>
      </p:cxnSp>
      <p:cxnSp>
        <p:nvCxnSpPr>
          <p:cNvPr id="260" name="Google Shape;120;p1">
            <a:extLst>
              <a:ext uri="{FF2B5EF4-FFF2-40B4-BE49-F238E27FC236}">
                <a16:creationId xmlns:a16="http://schemas.microsoft.com/office/drawing/2014/main" id="{D43640FA-74BB-EE14-39C8-9705611D8ED6}"/>
              </a:ext>
            </a:extLst>
          </p:cNvPr>
          <p:cNvCxnSpPr>
            <a:stCxn id="245" idx="3"/>
            <a:endCxn id="247" idx="1"/>
          </p:cNvCxnSpPr>
          <p:nvPr/>
        </p:nvCxnSpPr>
        <p:spPr>
          <a:xfrm>
            <a:off x="10534659" y="6790256"/>
            <a:ext cx="410441" cy="0"/>
          </a:xfrm>
          <a:prstGeom prst="straightConnector1">
            <a:avLst/>
          </a:prstGeom>
          <a:noFill/>
          <a:ln w="9525" cap="flat" cmpd="sng">
            <a:solidFill>
              <a:srgbClr val="595959"/>
            </a:solidFill>
            <a:prstDash val="solid"/>
            <a:round/>
            <a:headEnd type="none" w="sm" len="sm"/>
            <a:tailEnd type="triangle" w="med" len="med"/>
          </a:ln>
        </p:spPr>
      </p:cxnSp>
      <p:cxnSp>
        <p:nvCxnSpPr>
          <p:cNvPr id="261" name="Google Shape;121;p1">
            <a:extLst>
              <a:ext uri="{FF2B5EF4-FFF2-40B4-BE49-F238E27FC236}">
                <a16:creationId xmlns:a16="http://schemas.microsoft.com/office/drawing/2014/main" id="{98F9CC89-9DF0-00F5-3C91-502A8B148B2A}"/>
              </a:ext>
            </a:extLst>
          </p:cNvPr>
          <p:cNvCxnSpPr>
            <a:cxnSpLocks/>
            <a:stCxn id="246" idx="3"/>
            <a:endCxn id="248" idx="1"/>
          </p:cNvCxnSpPr>
          <p:nvPr/>
        </p:nvCxnSpPr>
        <p:spPr>
          <a:xfrm flipV="1">
            <a:off x="10544183" y="7200635"/>
            <a:ext cx="400917" cy="1108"/>
          </a:xfrm>
          <a:prstGeom prst="straightConnector1">
            <a:avLst/>
          </a:prstGeom>
          <a:noFill/>
          <a:ln w="9525" cap="flat" cmpd="sng">
            <a:solidFill>
              <a:srgbClr val="595959"/>
            </a:solidFill>
            <a:prstDash val="solid"/>
            <a:round/>
            <a:headEnd type="none" w="sm" len="sm"/>
            <a:tailEnd type="triangle" w="med" len="med"/>
          </a:ln>
        </p:spPr>
      </p:cxnSp>
      <p:sp>
        <p:nvSpPr>
          <p:cNvPr id="266" name="Google Shape;61;p1">
            <a:extLst>
              <a:ext uri="{FF2B5EF4-FFF2-40B4-BE49-F238E27FC236}">
                <a16:creationId xmlns:a16="http://schemas.microsoft.com/office/drawing/2014/main" id="{EE5CE5CE-3128-9165-4ECF-B79A89E47AA5}"/>
              </a:ext>
            </a:extLst>
          </p:cNvPr>
          <p:cNvSpPr/>
          <p:nvPr/>
        </p:nvSpPr>
        <p:spPr>
          <a:xfrm>
            <a:off x="4392226" y="8871135"/>
            <a:ext cx="1319713" cy="415351"/>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dirty="0">
                <a:latin typeface="Times New Roman"/>
                <a:ea typeface="Times New Roman"/>
                <a:cs typeface="Times New Roman"/>
                <a:sym typeface="Times New Roman"/>
              </a:rPr>
              <a:t>PVS1 not applicable</a:t>
            </a:r>
            <a:endParaRPr sz="1400" b="0" i="0" u="none" strike="noStrike" cap="none" dirty="0">
              <a:solidFill>
                <a:srgbClr val="FF0000"/>
              </a:solidFill>
              <a:latin typeface="Arial"/>
              <a:ea typeface="Arial"/>
              <a:cs typeface="Arial"/>
              <a:sym typeface="Arial"/>
            </a:endParaRPr>
          </a:p>
        </p:txBody>
      </p:sp>
      <p:sp>
        <p:nvSpPr>
          <p:cNvPr id="268" name="Google Shape;72;p1">
            <a:extLst>
              <a:ext uri="{FF2B5EF4-FFF2-40B4-BE49-F238E27FC236}">
                <a16:creationId xmlns:a16="http://schemas.microsoft.com/office/drawing/2014/main" id="{7E4FAA92-B065-5B6B-B50E-F107AE9D410B}"/>
              </a:ext>
            </a:extLst>
          </p:cNvPr>
          <p:cNvSpPr/>
          <p:nvPr/>
        </p:nvSpPr>
        <p:spPr>
          <a:xfrm>
            <a:off x="10961127" y="8905344"/>
            <a:ext cx="1188720" cy="36576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dirty="0">
                <a:solidFill>
                  <a:srgbClr val="000000"/>
                </a:solidFill>
                <a:latin typeface="Times New Roman"/>
                <a:ea typeface="Times New Roman"/>
                <a:cs typeface="Times New Roman"/>
                <a:sym typeface="Times New Roman"/>
              </a:rPr>
              <a:t>Not applied</a:t>
            </a:r>
            <a:endParaRPr lang="en-US" sz="1400" b="0" i="0" u="none" strike="noStrike" cap="none" dirty="0">
              <a:solidFill>
                <a:srgbClr val="000000"/>
              </a:solidFill>
              <a:latin typeface="Arial"/>
              <a:ea typeface="Arial"/>
              <a:cs typeface="Arial"/>
              <a:sym typeface="Arial"/>
            </a:endParaRPr>
          </a:p>
        </p:txBody>
      </p:sp>
      <p:cxnSp>
        <p:nvCxnSpPr>
          <p:cNvPr id="270" name="Google Shape;122;p1">
            <a:extLst>
              <a:ext uri="{FF2B5EF4-FFF2-40B4-BE49-F238E27FC236}">
                <a16:creationId xmlns:a16="http://schemas.microsoft.com/office/drawing/2014/main" id="{DD7B752D-B36A-81FC-7C26-2D5F87065302}"/>
              </a:ext>
            </a:extLst>
          </p:cNvPr>
          <p:cNvCxnSpPr>
            <a:cxnSpLocks/>
            <a:stCxn id="266" idx="3"/>
            <a:endCxn id="268" idx="1"/>
          </p:cNvCxnSpPr>
          <p:nvPr/>
        </p:nvCxnSpPr>
        <p:spPr>
          <a:xfrm>
            <a:off x="5711939" y="9078811"/>
            <a:ext cx="5249188" cy="9413"/>
          </a:xfrm>
          <a:prstGeom prst="straightConnector1">
            <a:avLst/>
          </a:prstGeom>
          <a:noFill/>
          <a:ln w="9525" cap="flat" cmpd="sng">
            <a:solidFill>
              <a:srgbClr val="595959"/>
            </a:solidFill>
            <a:prstDash val="solid"/>
            <a:round/>
            <a:headEnd type="none" w="sm" len="sm"/>
            <a:tailEnd type="triangle" w="med" len="med"/>
          </a:ln>
        </p:spPr>
      </p:cxnSp>
      <p:sp>
        <p:nvSpPr>
          <p:cNvPr id="273" name="Google Shape;60;p1">
            <a:extLst>
              <a:ext uri="{FF2B5EF4-FFF2-40B4-BE49-F238E27FC236}">
                <a16:creationId xmlns:a16="http://schemas.microsoft.com/office/drawing/2014/main" id="{99042B2A-5CDB-831D-CB80-7F77860E646E}"/>
              </a:ext>
            </a:extLst>
          </p:cNvPr>
          <p:cNvSpPr txBox="1"/>
          <p:nvPr/>
        </p:nvSpPr>
        <p:spPr>
          <a:xfrm>
            <a:off x="2937566" y="5758158"/>
            <a:ext cx="1105800" cy="3528328"/>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 sz="1200" b="1" i="0" u="none" strike="noStrike" cap="none" dirty="0">
                <a:latin typeface="Times New Roman"/>
                <a:ea typeface="Times New Roman"/>
                <a:cs typeface="Times New Roman"/>
                <a:sym typeface="Times New Roman"/>
              </a:rPr>
              <a:t>Use PVS1 rule table for PREDICTED impact</a:t>
            </a:r>
            <a:endParaRPr sz="1400" b="1" i="0" u="none" strike="noStrike" cap="none" dirty="0">
              <a:solidFill>
                <a:srgbClr val="00B0F0"/>
              </a:solidFill>
              <a:latin typeface="Arial"/>
              <a:ea typeface="Arial"/>
              <a:cs typeface="Arial"/>
              <a:sym typeface="Arial"/>
            </a:endParaRPr>
          </a:p>
        </p:txBody>
      </p:sp>
      <p:cxnSp>
        <p:nvCxnSpPr>
          <p:cNvPr id="274" name="Google Shape;80;p1">
            <a:extLst>
              <a:ext uri="{FF2B5EF4-FFF2-40B4-BE49-F238E27FC236}">
                <a16:creationId xmlns:a16="http://schemas.microsoft.com/office/drawing/2014/main" id="{6A529AA8-12F0-27DE-944C-D0DC4C80A3C1}"/>
              </a:ext>
            </a:extLst>
          </p:cNvPr>
          <p:cNvCxnSpPr>
            <a:cxnSpLocks/>
            <a:stCxn id="273" idx="3"/>
            <a:endCxn id="266" idx="1"/>
          </p:cNvCxnSpPr>
          <p:nvPr/>
        </p:nvCxnSpPr>
        <p:spPr>
          <a:xfrm>
            <a:off x="4043366" y="7522322"/>
            <a:ext cx="348860" cy="1556489"/>
          </a:xfrm>
          <a:prstGeom prst="straightConnector1">
            <a:avLst/>
          </a:prstGeom>
          <a:noFill/>
          <a:ln w="9525" cap="flat" cmpd="sng">
            <a:solidFill>
              <a:srgbClr val="44546A"/>
            </a:solidFill>
            <a:prstDash val="solid"/>
            <a:round/>
            <a:headEnd type="none" w="sm" len="sm"/>
            <a:tailEnd type="triangle" w="med" len="med"/>
          </a:ln>
        </p:spPr>
      </p:cxnSp>
      <p:sp>
        <p:nvSpPr>
          <p:cNvPr id="332" name="Google Shape;64;p1">
            <a:extLst>
              <a:ext uri="{FF2B5EF4-FFF2-40B4-BE49-F238E27FC236}">
                <a16:creationId xmlns:a16="http://schemas.microsoft.com/office/drawing/2014/main" id="{124CFD5F-5CFE-5CA5-BF9C-969BBC707664}"/>
              </a:ext>
            </a:extLst>
          </p:cNvPr>
          <p:cNvSpPr/>
          <p:nvPr/>
        </p:nvSpPr>
        <p:spPr>
          <a:xfrm>
            <a:off x="5972183" y="7430607"/>
            <a:ext cx="4572000" cy="384048"/>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dirty="0">
                <a:solidFill>
                  <a:srgbClr val="000000"/>
                </a:solidFill>
                <a:latin typeface="Times New Roman"/>
                <a:ea typeface="Times New Roman"/>
                <a:cs typeface="Times New Roman"/>
                <a:sym typeface="Times New Roman"/>
              </a:rPr>
              <a:t>P variant at this </a:t>
            </a:r>
            <a:r>
              <a:rPr lang="en-US" sz="1200" b="0" i="0" u="none" strike="noStrike" cap="none" dirty="0" err="1">
                <a:solidFill>
                  <a:srgbClr val="000000"/>
                </a:solidFill>
                <a:latin typeface="Times New Roman"/>
                <a:ea typeface="Times New Roman"/>
                <a:cs typeface="Times New Roman"/>
                <a:sym typeface="Times New Roman"/>
              </a:rPr>
              <a:t>nt</a:t>
            </a:r>
            <a:r>
              <a:rPr lang="en-US" sz="1200" b="0" i="0" u="none" strike="noStrike" cap="none" dirty="0">
                <a:solidFill>
                  <a:srgbClr val="000000"/>
                </a:solidFill>
                <a:latin typeface="Times New Roman"/>
                <a:ea typeface="Times New Roman"/>
                <a:cs typeface="Times New Roman"/>
                <a:sym typeface="Times New Roman"/>
              </a:rPr>
              <a:t> position or in same donor/acceptor +/-1,2 dinucleotide with same predicted impact</a:t>
            </a:r>
            <a:endParaRPr lang="en-US" sz="1400" b="0" i="0" u="none" strike="noStrike" cap="none" dirty="0">
              <a:solidFill>
                <a:srgbClr val="000000"/>
              </a:solidFill>
              <a:latin typeface="Arial"/>
              <a:ea typeface="Arial"/>
              <a:cs typeface="Arial"/>
              <a:sym typeface="Arial"/>
            </a:endParaRPr>
          </a:p>
        </p:txBody>
      </p:sp>
      <p:sp>
        <p:nvSpPr>
          <p:cNvPr id="333" name="Google Shape;67;p1">
            <a:extLst>
              <a:ext uri="{FF2B5EF4-FFF2-40B4-BE49-F238E27FC236}">
                <a16:creationId xmlns:a16="http://schemas.microsoft.com/office/drawing/2014/main" id="{0DF3728C-CCA9-844D-44BE-8A42CDAF8F50}"/>
              </a:ext>
            </a:extLst>
          </p:cNvPr>
          <p:cNvSpPr/>
          <p:nvPr/>
        </p:nvSpPr>
        <p:spPr>
          <a:xfrm>
            <a:off x="5962659" y="7911271"/>
            <a:ext cx="4572000" cy="384048"/>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dirty="0">
                <a:solidFill>
                  <a:srgbClr val="000000"/>
                </a:solidFill>
                <a:latin typeface="Times New Roman"/>
                <a:ea typeface="Times New Roman"/>
                <a:cs typeface="Times New Roman"/>
                <a:sym typeface="Times New Roman"/>
              </a:rPr>
              <a:t>P variant within the same splice region, but outside donor/acceptor +/-1,2 dinucleotide, with same predicted impact</a:t>
            </a:r>
            <a:endParaRPr lang="en-US" sz="1400" b="0" i="0" u="none" strike="noStrike" cap="none" dirty="0">
              <a:solidFill>
                <a:srgbClr val="000000"/>
              </a:solidFill>
              <a:latin typeface="Arial"/>
              <a:ea typeface="Arial"/>
              <a:cs typeface="Arial"/>
              <a:sym typeface="Arial"/>
            </a:endParaRPr>
          </a:p>
        </p:txBody>
      </p:sp>
      <p:cxnSp>
        <p:nvCxnSpPr>
          <p:cNvPr id="334" name="Google Shape;82;p1">
            <a:extLst>
              <a:ext uri="{FF2B5EF4-FFF2-40B4-BE49-F238E27FC236}">
                <a16:creationId xmlns:a16="http://schemas.microsoft.com/office/drawing/2014/main" id="{6218EC18-BAB0-E2A7-B38D-4211C8DD0A77}"/>
              </a:ext>
            </a:extLst>
          </p:cNvPr>
          <p:cNvCxnSpPr>
            <a:cxnSpLocks/>
            <a:stCxn id="282" idx="3"/>
            <a:endCxn id="332" idx="1"/>
          </p:cNvCxnSpPr>
          <p:nvPr/>
        </p:nvCxnSpPr>
        <p:spPr>
          <a:xfrm flipV="1">
            <a:off x="5703475" y="7622631"/>
            <a:ext cx="268708" cy="295720"/>
          </a:xfrm>
          <a:prstGeom prst="straightConnector1">
            <a:avLst/>
          </a:prstGeom>
          <a:noFill/>
          <a:ln w="9525" cap="flat" cmpd="sng">
            <a:solidFill>
              <a:srgbClr val="44546A"/>
            </a:solidFill>
            <a:prstDash val="solid"/>
            <a:round/>
            <a:headEnd type="none" w="sm" len="sm"/>
            <a:tailEnd type="triangle" w="med" len="med"/>
          </a:ln>
        </p:spPr>
      </p:cxnSp>
      <p:cxnSp>
        <p:nvCxnSpPr>
          <p:cNvPr id="335" name="Google Shape;83;p1">
            <a:extLst>
              <a:ext uri="{FF2B5EF4-FFF2-40B4-BE49-F238E27FC236}">
                <a16:creationId xmlns:a16="http://schemas.microsoft.com/office/drawing/2014/main" id="{CE4D15D5-336A-EED5-2B7E-2816AC5160D9}"/>
              </a:ext>
            </a:extLst>
          </p:cNvPr>
          <p:cNvCxnSpPr>
            <a:cxnSpLocks/>
          </p:cNvCxnSpPr>
          <p:nvPr/>
        </p:nvCxnSpPr>
        <p:spPr>
          <a:xfrm>
            <a:off x="5703475" y="7929430"/>
            <a:ext cx="268708" cy="678667"/>
          </a:xfrm>
          <a:prstGeom prst="straightConnector1">
            <a:avLst/>
          </a:prstGeom>
          <a:noFill/>
          <a:ln w="9525" cap="flat" cmpd="sng">
            <a:solidFill>
              <a:srgbClr val="44546A"/>
            </a:solidFill>
            <a:prstDash val="solid"/>
            <a:round/>
            <a:headEnd type="none" w="sm" len="sm"/>
            <a:tailEnd type="triangle" w="med" len="med"/>
          </a:ln>
        </p:spPr>
      </p:cxnSp>
      <p:sp>
        <p:nvSpPr>
          <p:cNvPr id="336" name="Google Shape;67;p1">
            <a:extLst>
              <a:ext uri="{FF2B5EF4-FFF2-40B4-BE49-F238E27FC236}">
                <a16:creationId xmlns:a16="http://schemas.microsoft.com/office/drawing/2014/main" id="{00FFAF1F-1955-7DAA-D23B-A69F60E8E959}"/>
              </a:ext>
            </a:extLst>
          </p:cNvPr>
          <p:cNvSpPr/>
          <p:nvPr/>
        </p:nvSpPr>
        <p:spPr>
          <a:xfrm>
            <a:off x="5972183" y="8404994"/>
            <a:ext cx="4572000" cy="384048"/>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dirty="0">
                <a:solidFill>
                  <a:srgbClr val="000000"/>
                </a:solidFill>
                <a:latin typeface="Times New Roman"/>
                <a:ea typeface="Times New Roman"/>
                <a:cs typeface="Times New Roman"/>
                <a:sym typeface="Times New Roman"/>
              </a:rPr>
              <a:t>LP variant within the same splice region, but outside donor/acceptor +/-1,2 dinucleotide, with same predicted impact</a:t>
            </a:r>
            <a:endParaRPr lang="en-US" sz="1400" b="0" i="0" u="none" strike="noStrike" cap="none" dirty="0">
              <a:solidFill>
                <a:srgbClr val="000000"/>
              </a:solidFill>
              <a:latin typeface="Arial"/>
              <a:ea typeface="Arial"/>
              <a:cs typeface="Arial"/>
              <a:sym typeface="Arial"/>
            </a:endParaRPr>
          </a:p>
        </p:txBody>
      </p:sp>
      <p:sp>
        <p:nvSpPr>
          <p:cNvPr id="341" name="Google Shape;66;p1">
            <a:extLst>
              <a:ext uri="{FF2B5EF4-FFF2-40B4-BE49-F238E27FC236}">
                <a16:creationId xmlns:a16="http://schemas.microsoft.com/office/drawing/2014/main" id="{40C9E8A0-D0B2-1265-DB1E-DAE6F545C3B5}"/>
              </a:ext>
            </a:extLst>
          </p:cNvPr>
          <p:cNvSpPr/>
          <p:nvPr/>
        </p:nvSpPr>
        <p:spPr>
          <a:xfrm>
            <a:off x="10945100" y="7446679"/>
            <a:ext cx="1188720" cy="384048"/>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algn="ctr">
              <a:buSzPts val="1200"/>
            </a:pPr>
            <a:r>
              <a:rPr lang="en-US" sz="1200" b="0" i="0" u="none" strike="noStrike" cap="none" dirty="0">
                <a:solidFill>
                  <a:srgbClr val="000000"/>
                </a:solidFill>
                <a:latin typeface="Times New Roman"/>
                <a:ea typeface="Times New Roman"/>
                <a:cs typeface="Times New Roman"/>
                <a:sym typeface="Times New Roman"/>
              </a:rPr>
              <a:t>PVS1_Strength</a:t>
            </a:r>
            <a:endParaRPr lang="en-US" sz="1400" b="0" i="0" u="none" strike="noStrike" cap="none" dirty="0">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200"/>
              <a:buFont typeface="Arial"/>
              <a:buNone/>
            </a:pPr>
            <a:r>
              <a:rPr lang="en" sz="1200" b="0" i="0" u="none" strike="noStrike" cap="none" dirty="0">
                <a:solidFill>
                  <a:srgbClr val="000000"/>
                </a:solidFill>
                <a:latin typeface="Times New Roman"/>
                <a:ea typeface="Times New Roman"/>
                <a:cs typeface="Times New Roman"/>
                <a:sym typeface="Times New Roman"/>
              </a:rPr>
              <a:t> + PS1</a:t>
            </a:r>
            <a:endParaRPr sz="1400" b="0" i="0" u="none" strike="noStrike" cap="none" dirty="0">
              <a:solidFill>
                <a:srgbClr val="000000"/>
              </a:solidFill>
              <a:latin typeface="Arial"/>
              <a:ea typeface="Arial"/>
              <a:cs typeface="Arial"/>
              <a:sym typeface="Arial"/>
            </a:endParaRPr>
          </a:p>
        </p:txBody>
      </p:sp>
      <p:sp>
        <p:nvSpPr>
          <p:cNvPr id="342" name="Google Shape;70;p1">
            <a:extLst>
              <a:ext uri="{FF2B5EF4-FFF2-40B4-BE49-F238E27FC236}">
                <a16:creationId xmlns:a16="http://schemas.microsoft.com/office/drawing/2014/main" id="{0ABD87E2-A192-D29B-50DF-EA1A4E3D5B73}"/>
              </a:ext>
            </a:extLst>
          </p:cNvPr>
          <p:cNvSpPr/>
          <p:nvPr/>
        </p:nvSpPr>
        <p:spPr>
          <a:xfrm>
            <a:off x="10945100" y="7939523"/>
            <a:ext cx="1188720" cy="384048"/>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algn="ctr">
              <a:buSzPts val="1200"/>
            </a:pPr>
            <a:r>
              <a:rPr lang="en-US" sz="1200" b="0" i="0" u="none" strike="noStrike" cap="none" dirty="0">
                <a:solidFill>
                  <a:srgbClr val="000000"/>
                </a:solidFill>
                <a:latin typeface="Times New Roman"/>
                <a:ea typeface="Times New Roman"/>
                <a:cs typeface="Times New Roman"/>
                <a:sym typeface="Times New Roman"/>
              </a:rPr>
              <a:t>PVS1_Strength</a:t>
            </a:r>
            <a:endParaRPr lang="en-US" sz="1400" b="0" i="0" u="none" strike="noStrike" cap="none" dirty="0">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dirty="0">
                <a:solidFill>
                  <a:srgbClr val="000000"/>
                </a:solidFill>
                <a:latin typeface="Times New Roman"/>
                <a:ea typeface="Times New Roman"/>
                <a:cs typeface="Times New Roman"/>
                <a:sym typeface="Times New Roman"/>
              </a:rPr>
              <a:t> + PS1_M</a:t>
            </a:r>
            <a:endParaRPr lang="en-US" sz="1400" b="0" i="0" u="none" strike="noStrike" cap="none" dirty="0">
              <a:solidFill>
                <a:srgbClr val="000000"/>
              </a:solidFill>
              <a:latin typeface="Arial"/>
              <a:ea typeface="Arial"/>
              <a:cs typeface="Arial"/>
              <a:sym typeface="Arial"/>
            </a:endParaRPr>
          </a:p>
        </p:txBody>
      </p:sp>
      <p:sp>
        <p:nvSpPr>
          <p:cNvPr id="343" name="Google Shape;71;p1">
            <a:extLst>
              <a:ext uri="{FF2B5EF4-FFF2-40B4-BE49-F238E27FC236}">
                <a16:creationId xmlns:a16="http://schemas.microsoft.com/office/drawing/2014/main" id="{8E9CA57A-EA1A-0610-C057-A755C7CA3AAA}"/>
              </a:ext>
            </a:extLst>
          </p:cNvPr>
          <p:cNvSpPr/>
          <p:nvPr/>
        </p:nvSpPr>
        <p:spPr>
          <a:xfrm>
            <a:off x="10945100" y="8410742"/>
            <a:ext cx="1188720" cy="384048"/>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algn="ctr">
              <a:buSzPts val="1200"/>
            </a:pPr>
            <a:r>
              <a:rPr lang="en-US" sz="1200" b="0" i="0" u="none" strike="noStrike" cap="none" dirty="0">
                <a:solidFill>
                  <a:srgbClr val="0070C0"/>
                </a:solidFill>
                <a:latin typeface="Times New Roman"/>
                <a:ea typeface="Times New Roman"/>
                <a:cs typeface="Times New Roman"/>
                <a:sym typeface="Times New Roman"/>
              </a:rPr>
              <a:t>PVS1_Strength</a:t>
            </a:r>
            <a:endParaRPr lang="en-US" sz="1400" b="0" i="0" u="none" strike="noStrike" cap="none" dirty="0">
              <a:solidFill>
                <a:srgbClr val="0070C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dirty="0">
                <a:solidFill>
                  <a:srgbClr val="0070C0"/>
                </a:solidFill>
                <a:latin typeface="Times New Roman"/>
                <a:ea typeface="Times New Roman"/>
                <a:cs typeface="Times New Roman"/>
                <a:sym typeface="Times New Roman"/>
              </a:rPr>
              <a:t> + PS1_Supp.</a:t>
            </a:r>
            <a:endParaRPr lang="en-US" sz="1400" b="0" i="0" u="none" strike="noStrike" cap="none" dirty="0">
              <a:solidFill>
                <a:srgbClr val="0070C0"/>
              </a:solidFill>
              <a:latin typeface="Arial"/>
              <a:ea typeface="Arial"/>
              <a:cs typeface="Arial"/>
              <a:sym typeface="Arial"/>
            </a:endParaRPr>
          </a:p>
        </p:txBody>
      </p:sp>
      <p:cxnSp>
        <p:nvCxnSpPr>
          <p:cNvPr id="344" name="Google Shape;119;p1">
            <a:extLst>
              <a:ext uri="{FF2B5EF4-FFF2-40B4-BE49-F238E27FC236}">
                <a16:creationId xmlns:a16="http://schemas.microsoft.com/office/drawing/2014/main" id="{F51FF7C0-25EC-48D2-C1E7-78B75E98AB31}"/>
              </a:ext>
            </a:extLst>
          </p:cNvPr>
          <p:cNvCxnSpPr>
            <a:cxnSpLocks/>
            <a:endCxn id="341" idx="1"/>
          </p:cNvCxnSpPr>
          <p:nvPr/>
        </p:nvCxnSpPr>
        <p:spPr>
          <a:xfrm>
            <a:off x="10544183" y="7632034"/>
            <a:ext cx="400917" cy="0"/>
          </a:xfrm>
          <a:prstGeom prst="straightConnector1">
            <a:avLst/>
          </a:prstGeom>
          <a:noFill/>
          <a:ln w="9525" cap="flat" cmpd="sng">
            <a:solidFill>
              <a:srgbClr val="595959"/>
            </a:solidFill>
            <a:prstDash val="solid"/>
            <a:round/>
            <a:headEnd type="none" w="sm" len="sm"/>
            <a:tailEnd type="triangle" w="med" len="med"/>
          </a:ln>
        </p:spPr>
      </p:cxnSp>
      <p:cxnSp>
        <p:nvCxnSpPr>
          <p:cNvPr id="345" name="Google Shape;120;p1">
            <a:extLst>
              <a:ext uri="{FF2B5EF4-FFF2-40B4-BE49-F238E27FC236}">
                <a16:creationId xmlns:a16="http://schemas.microsoft.com/office/drawing/2014/main" id="{51C86D4C-C411-DCB7-8348-F94DF49D54EF}"/>
              </a:ext>
            </a:extLst>
          </p:cNvPr>
          <p:cNvCxnSpPr>
            <a:endCxn id="342" idx="1"/>
          </p:cNvCxnSpPr>
          <p:nvPr/>
        </p:nvCxnSpPr>
        <p:spPr>
          <a:xfrm>
            <a:off x="10534659" y="8112698"/>
            <a:ext cx="410441" cy="0"/>
          </a:xfrm>
          <a:prstGeom prst="straightConnector1">
            <a:avLst/>
          </a:prstGeom>
          <a:noFill/>
          <a:ln w="9525" cap="flat" cmpd="sng">
            <a:solidFill>
              <a:srgbClr val="595959"/>
            </a:solidFill>
            <a:prstDash val="solid"/>
            <a:round/>
            <a:headEnd type="none" w="sm" len="sm"/>
            <a:tailEnd type="triangle" w="med" len="med"/>
          </a:ln>
        </p:spPr>
      </p:cxnSp>
      <p:cxnSp>
        <p:nvCxnSpPr>
          <p:cNvPr id="346" name="Google Shape;121;p1">
            <a:extLst>
              <a:ext uri="{FF2B5EF4-FFF2-40B4-BE49-F238E27FC236}">
                <a16:creationId xmlns:a16="http://schemas.microsoft.com/office/drawing/2014/main" id="{09A8F97D-E11C-5698-F35E-77E4F5073F56}"/>
              </a:ext>
            </a:extLst>
          </p:cNvPr>
          <p:cNvCxnSpPr>
            <a:cxnSpLocks/>
            <a:endCxn id="343" idx="1"/>
          </p:cNvCxnSpPr>
          <p:nvPr/>
        </p:nvCxnSpPr>
        <p:spPr>
          <a:xfrm>
            <a:off x="10544183" y="8549010"/>
            <a:ext cx="400917" cy="0"/>
          </a:xfrm>
          <a:prstGeom prst="straightConnector1">
            <a:avLst/>
          </a:prstGeom>
          <a:noFill/>
          <a:ln w="9525" cap="flat" cmpd="sng">
            <a:solidFill>
              <a:srgbClr val="595959"/>
            </a:solidFill>
            <a:prstDash val="solid"/>
            <a:round/>
            <a:headEnd type="none" w="sm" len="sm"/>
            <a:tailEnd type="triangle" w="med" len="med"/>
          </a:ln>
        </p:spPr>
      </p:cxnSp>
      <p:cxnSp>
        <p:nvCxnSpPr>
          <p:cNvPr id="366" name="Google Shape;83;p1">
            <a:extLst>
              <a:ext uri="{FF2B5EF4-FFF2-40B4-BE49-F238E27FC236}">
                <a16:creationId xmlns:a16="http://schemas.microsoft.com/office/drawing/2014/main" id="{F15B1F96-EF75-E9CE-9C9A-9D8293C5D51D}"/>
              </a:ext>
            </a:extLst>
          </p:cNvPr>
          <p:cNvCxnSpPr>
            <a:cxnSpLocks/>
          </p:cNvCxnSpPr>
          <p:nvPr/>
        </p:nvCxnSpPr>
        <p:spPr>
          <a:xfrm flipV="1">
            <a:off x="2723653" y="7539968"/>
            <a:ext cx="213912" cy="0"/>
          </a:xfrm>
          <a:prstGeom prst="straightConnector1">
            <a:avLst/>
          </a:prstGeom>
          <a:noFill/>
          <a:ln w="9525" cap="flat" cmpd="sng">
            <a:solidFill>
              <a:srgbClr val="44546A"/>
            </a:solidFill>
            <a:prstDash val="solid"/>
            <a:round/>
            <a:headEnd type="none" w="sm" len="sm"/>
            <a:tailEnd type="triangle" w="med" len="med"/>
          </a:ln>
        </p:spPr>
      </p:cxnSp>
      <p:cxnSp>
        <p:nvCxnSpPr>
          <p:cNvPr id="368" name="Google Shape;83;p1">
            <a:extLst>
              <a:ext uri="{FF2B5EF4-FFF2-40B4-BE49-F238E27FC236}">
                <a16:creationId xmlns:a16="http://schemas.microsoft.com/office/drawing/2014/main" id="{0BC63D56-7582-FFAC-81CC-71725BD61FDF}"/>
              </a:ext>
            </a:extLst>
          </p:cNvPr>
          <p:cNvCxnSpPr>
            <a:cxnSpLocks/>
            <a:endCxn id="59" idx="1"/>
          </p:cNvCxnSpPr>
          <p:nvPr/>
        </p:nvCxnSpPr>
        <p:spPr>
          <a:xfrm>
            <a:off x="2698213" y="4203106"/>
            <a:ext cx="239353" cy="0"/>
          </a:xfrm>
          <a:prstGeom prst="straightConnector1">
            <a:avLst/>
          </a:prstGeom>
          <a:noFill/>
          <a:ln w="9525" cap="flat" cmpd="sng">
            <a:solidFill>
              <a:srgbClr val="44546A"/>
            </a:solidFill>
            <a:prstDash val="solid"/>
            <a:round/>
            <a:headEnd type="none" w="sm" len="sm"/>
            <a:tailEnd type="triangle" w="med" len="med"/>
          </a:ln>
        </p:spPr>
      </p:cxnSp>
      <p:cxnSp>
        <p:nvCxnSpPr>
          <p:cNvPr id="370" name="Google Shape;83;p1">
            <a:extLst>
              <a:ext uri="{FF2B5EF4-FFF2-40B4-BE49-F238E27FC236}">
                <a16:creationId xmlns:a16="http://schemas.microsoft.com/office/drawing/2014/main" id="{05A1E194-4C2D-5EC6-E380-A06D9F47C569}"/>
              </a:ext>
            </a:extLst>
          </p:cNvPr>
          <p:cNvCxnSpPr>
            <a:cxnSpLocks/>
          </p:cNvCxnSpPr>
          <p:nvPr/>
        </p:nvCxnSpPr>
        <p:spPr>
          <a:xfrm flipV="1">
            <a:off x="1340282" y="4203106"/>
            <a:ext cx="252131" cy="1545296"/>
          </a:xfrm>
          <a:prstGeom prst="straightConnector1">
            <a:avLst/>
          </a:prstGeom>
          <a:noFill/>
          <a:ln w="9525" cap="flat" cmpd="sng">
            <a:solidFill>
              <a:srgbClr val="44546A"/>
            </a:solidFill>
            <a:prstDash val="solid"/>
            <a:round/>
            <a:headEnd type="none" w="sm" len="sm"/>
            <a:tailEnd type="triangle" w="med" len="med"/>
          </a:ln>
        </p:spPr>
      </p:cxnSp>
      <p:cxnSp>
        <p:nvCxnSpPr>
          <p:cNvPr id="372" name="Google Shape;83;p1">
            <a:extLst>
              <a:ext uri="{FF2B5EF4-FFF2-40B4-BE49-F238E27FC236}">
                <a16:creationId xmlns:a16="http://schemas.microsoft.com/office/drawing/2014/main" id="{256B6E7E-B055-682F-5CDB-EC19C3D951FB}"/>
              </a:ext>
            </a:extLst>
          </p:cNvPr>
          <p:cNvCxnSpPr>
            <a:cxnSpLocks/>
            <a:endCxn id="239" idx="1"/>
          </p:cNvCxnSpPr>
          <p:nvPr/>
        </p:nvCxnSpPr>
        <p:spPr>
          <a:xfrm>
            <a:off x="1342840" y="5728306"/>
            <a:ext cx="249573" cy="1786325"/>
          </a:xfrm>
          <a:prstGeom prst="straightConnector1">
            <a:avLst/>
          </a:prstGeom>
          <a:noFill/>
          <a:ln w="9525" cap="flat" cmpd="sng">
            <a:solidFill>
              <a:srgbClr val="44546A"/>
            </a:solidFill>
            <a:prstDash val="solid"/>
            <a:round/>
            <a:headEnd type="none" w="sm" len="sm"/>
            <a:tailEnd type="triangle" w="med" len="med"/>
          </a:ln>
        </p:spPr>
      </p:cxnSp>
      <p:sp>
        <p:nvSpPr>
          <p:cNvPr id="390" name="Google Shape;71;p1">
            <a:extLst>
              <a:ext uri="{FF2B5EF4-FFF2-40B4-BE49-F238E27FC236}">
                <a16:creationId xmlns:a16="http://schemas.microsoft.com/office/drawing/2014/main" id="{C9EAFFE7-BD86-7CBD-39E1-FD5A51B207A9}"/>
              </a:ext>
            </a:extLst>
          </p:cNvPr>
          <p:cNvSpPr/>
          <p:nvPr/>
        </p:nvSpPr>
        <p:spPr>
          <a:xfrm>
            <a:off x="4392226" y="9452361"/>
            <a:ext cx="1319713" cy="41352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dirty="0">
                <a:latin typeface="Times New Roman"/>
                <a:ea typeface="Times New Roman"/>
                <a:cs typeface="Times New Roman"/>
                <a:sym typeface="Times New Roman"/>
              </a:rPr>
              <a:t>BP7_S (RNA) applied</a:t>
            </a:r>
            <a:endParaRPr lang="en-US" sz="1400" b="0" i="0" u="none" strike="noStrike" cap="none" dirty="0">
              <a:latin typeface="Arial"/>
              <a:ea typeface="Arial"/>
              <a:cs typeface="Arial"/>
              <a:sym typeface="Arial"/>
            </a:endParaRPr>
          </a:p>
        </p:txBody>
      </p:sp>
      <p:sp>
        <p:nvSpPr>
          <p:cNvPr id="391" name="Google Shape;72;p1">
            <a:extLst>
              <a:ext uri="{FF2B5EF4-FFF2-40B4-BE49-F238E27FC236}">
                <a16:creationId xmlns:a16="http://schemas.microsoft.com/office/drawing/2014/main" id="{3C5FE4B7-8391-74D8-CB66-3CE8F3E96E7B}"/>
              </a:ext>
            </a:extLst>
          </p:cNvPr>
          <p:cNvSpPr/>
          <p:nvPr/>
        </p:nvSpPr>
        <p:spPr>
          <a:xfrm>
            <a:off x="4392226" y="10013807"/>
            <a:ext cx="1319713" cy="1085846"/>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dirty="0">
                <a:latin typeface="Times New Roman"/>
                <a:ea typeface="Times New Roman"/>
                <a:cs typeface="Times New Roman"/>
                <a:sym typeface="Times New Roman"/>
              </a:rPr>
              <a:t>Assess pathogenicity using protein pathway</a:t>
            </a:r>
            <a:endParaRPr lang="en-US" sz="1400" b="0" i="0" u="none" strike="noStrike" cap="none" dirty="0">
              <a:latin typeface="Arial"/>
              <a:ea typeface="Arial"/>
              <a:cs typeface="Arial"/>
              <a:sym typeface="Arial"/>
            </a:endParaRPr>
          </a:p>
        </p:txBody>
      </p:sp>
      <p:cxnSp>
        <p:nvCxnSpPr>
          <p:cNvPr id="392" name="Google Shape;121;p1">
            <a:extLst>
              <a:ext uri="{FF2B5EF4-FFF2-40B4-BE49-F238E27FC236}">
                <a16:creationId xmlns:a16="http://schemas.microsoft.com/office/drawing/2014/main" id="{E0E582C7-ACDD-A734-20B8-0BFDD845B438}"/>
              </a:ext>
            </a:extLst>
          </p:cNvPr>
          <p:cNvCxnSpPr>
            <a:cxnSpLocks/>
            <a:stCxn id="394" idx="3"/>
            <a:endCxn id="390" idx="1"/>
          </p:cNvCxnSpPr>
          <p:nvPr/>
        </p:nvCxnSpPr>
        <p:spPr>
          <a:xfrm flipV="1">
            <a:off x="4043366" y="9659121"/>
            <a:ext cx="348860" cy="218311"/>
          </a:xfrm>
          <a:prstGeom prst="straightConnector1">
            <a:avLst/>
          </a:prstGeom>
          <a:noFill/>
          <a:ln w="9525" cap="flat" cmpd="sng">
            <a:solidFill>
              <a:srgbClr val="595959"/>
            </a:solidFill>
            <a:prstDash val="solid"/>
            <a:round/>
            <a:headEnd type="none" w="sm" len="sm"/>
            <a:tailEnd type="triangle" w="med" len="med"/>
          </a:ln>
        </p:spPr>
      </p:cxnSp>
      <p:cxnSp>
        <p:nvCxnSpPr>
          <p:cNvPr id="393" name="Google Shape;122;p1">
            <a:extLst>
              <a:ext uri="{FF2B5EF4-FFF2-40B4-BE49-F238E27FC236}">
                <a16:creationId xmlns:a16="http://schemas.microsoft.com/office/drawing/2014/main" id="{F010F12C-FBB5-9B0F-88D1-776FDBA51C99}"/>
              </a:ext>
            </a:extLst>
          </p:cNvPr>
          <p:cNvCxnSpPr>
            <a:cxnSpLocks/>
            <a:stCxn id="395" idx="3"/>
            <a:endCxn id="391" idx="1"/>
          </p:cNvCxnSpPr>
          <p:nvPr/>
        </p:nvCxnSpPr>
        <p:spPr>
          <a:xfrm flipV="1">
            <a:off x="4043366" y="10556730"/>
            <a:ext cx="348860" cy="246851"/>
          </a:xfrm>
          <a:prstGeom prst="straightConnector1">
            <a:avLst/>
          </a:prstGeom>
          <a:noFill/>
          <a:ln w="9525" cap="flat" cmpd="sng">
            <a:solidFill>
              <a:srgbClr val="595959"/>
            </a:solidFill>
            <a:prstDash val="solid"/>
            <a:round/>
            <a:headEnd type="none" w="sm" len="sm"/>
            <a:tailEnd type="triangle" w="med" len="med"/>
          </a:ln>
        </p:spPr>
      </p:cxnSp>
      <p:sp>
        <p:nvSpPr>
          <p:cNvPr id="394" name="Google Shape;69;p1">
            <a:extLst>
              <a:ext uri="{FF2B5EF4-FFF2-40B4-BE49-F238E27FC236}">
                <a16:creationId xmlns:a16="http://schemas.microsoft.com/office/drawing/2014/main" id="{45320BD1-82C4-941D-C783-0564D74A7977}"/>
              </a:ext>
            </a:extLst>
          </p:cNvPr>
          <p:cNvSpPr/>
          <p:nvPr/>
        </p:nvSpPr>
        <p:spPr>
          <a:xfrm>
            <a:off x="2961291" y="9452361"/>
            <a:ext cx="1082075" cy="850141"/>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dirty="0">
                <a:latin typeface="Times New Roman"/>
                <a:ea typeface="Times New Roman"/>
                <a:cs typeface="Times New Roman"/>
                <a:sym typeface="Times New Roman"/>
              </a:rPr>
              <a:t>Silent / Intronic</a:t>
            </a:r>
            <a:endParaRPr lang="en-US" sz="1400" b="0" i="0" u="none" strike="noStrike" cap="none" dirty="0">
              <a:latin typeface="Arial"/>
              <a:ea typeface="Arial"/>
              <a:cs typeface="Arial"/>
              <a:sym typeface="Arial"/>
            </a:endParaRPr>
          </a:p>
        </p:txBody>
      </p:sp>
      <p:sp>
        <p:nvSpPr>
          <p:cNvPr id="395" name="Google Shape;69;p1">
            <a:extLst>
              <a:ext uri="{FF2B5EF4-FFF2-40B4-BE49-F238E27FC236}">
                <a16:creationId xmlns:a16="http://schemas.microsoft.com/office/drawing/2014/main" id="{DA12C69A-E138-92C1-C3AE-A3939C04BA24}"/>
              </a:ext>
            </a:extLst>
          </p:cNvPr>
          <p:cNvSpPr/>
          <p:nvPr/>
        </p:nvSpPr>
        <p:spPr>
          <a:xfrm>
            <a:off x="2945264" y="10400184"/>
            <a:ext cx="1098102" cy="806793"/>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dirty="0">
                <a:latin typeface="Times New Roman"/>
                <a:ea typeface="Times New Roman"/>
                <a:cs typeface="Times New Roman"/>
                <a:sym typeface="Times New Roman"/>
              </a:rPr>
              <a:t>Other variant types / positions</a:t>
            </a:r>
            <a:endParaRPr lang="en-US" sz="1400" b="0" i="0" u="none" strike="noStrike" cap="none" dirty="0">
              <a:latin typeface="Arial"/>
              <a:ea typeface="Arial"/>
              <a:cs typeface="Arial"/>
              <a:sym typeface="Arial"/>
            </a:endParaRPr>
          </a:p>
        </p:txBody>
      </p:sp>
      <p:cxnSp>
        <p:nvCxnSpPr>
          <p:cNvPr id="396" name="Google Shape;80;p1">
            <a:extLst>
              <a:ext uri="{FF2B5EF4-FFF2-40B4-BE49-F238E27FC236}">
                <a16:creationId xmlns:a16="http://schemas.microsoft.com/office/drawing/2014/main" id="{1A0C7326-21CB-ACBA-7186-AFFF514422FC}"/>
              </a:ext>
            </a:extLst>
          </p:cNvPr>
          <p:cNvCxnSpPr>
            <a:cxnSpLocks/>
            <a:endCxn id="394" idx="1"/>
          </p:cNvCxnSpPr>
          <p:nvPr/>
        </p:nvCxnSpPr>
        <p:spPr>
          <a:xfrm flipV="1">
            <a:off x="2692962" y="9877432"/>
            <a:ext cx="268329" cy="446895"/>
          </a:xfrm>
          <a:prstGeom prst="straightConnector1">
            <a:avLst/>
          </a:prstGeom>
          <a:noFill/>
          <a:ln w="9525" cap="flat" cmpd="sng">
            <a:solidFill>
              <a:srgbClr val="44546A"/>
            </a:solidFill>
            <a:prstDash val="solid"/>
            <a:round/>
            <a:headEnd type="none" w="sm" len="sm"/>
            <a:tailEnd type="triangle" w="med" len="med"/>
          </a:ln>
        </p:spPr>
      </p:cxnSp>
      <p:cxnSp>
        <p:nvCxnSpPr>
          <p:cNvPr id="397" name="Google Shape;80;p1">
            <a:extLst>
              <a:ext uri="{FF2B5EF4-FFF2-40B4-BE49-F238E27FC236}">
                <a16:creationId xmlns:a16="http://schemas.microsoft.com/office/drawing/2014/main" id="{22A0E758-7834-E6BB-9C12-6919DE4C04FF}"/>
              </a:ext>
            </a:extLst>
          </p:cNvPr>
          <p:cNvCxnSpPr>
            <a:cxnSpLocks/>
            <a:endCxn id="395" idx="1"/>
          </p:cNvCxnSpPr>
          <p:nvPr/>
        </p:nvCxnSpPr>
        <p:spPr>
          <a:xfrm>
            <a:off x="2685398" y="10332178"/>
            <a:ext cx="259866" cy="471403"/>
          </a:xfrm>
          <a:prstGeom prst="straightConnector1">
            <a:avLst/>
          </a:prstGeom>
          <a:noFill/>
          <a:ln w="9525" cap="flat" cmpd="sng">
            <a:solidFill>
              <a:srgbClr val="44546A"/>
            </a:solidFill>
            <a:prstDash val="solid"/>
            <a:round/>
            <a:headEnd type="none" w="sm" len="sm"/>
            <a:tailEnd type="triangle" w="med" len="med"/>
          </a:ln>
        </p:spPr>
      </p:cxnSp>
      <p:cxnSp>
        <p:nvCxnSpPr>
          <p:cNvPr id="404" name="Google Shape;86;p1">
            <a:extLst>
              <a:ext uri="{FF2B5EF4-FFF2-40B4-BE49-F238E27FC236}">
                <a16:creationId xmlns:a16="http://schemas.microsoft.com/office/drawing/2014/main" id="{1EDC6FC4-11F3-7A1C-E454-4E1A08FE2F00}"/>
              </a:ext>
            </a:extLst>
          </p:cNvPr>
          <p:cNvCxnSpPr>
            <a:cxnSpLocks/>
            <a:stCxn id="391" idx="3"/>
            <a:endCxn id="406" idx="1"/>
          </p:cNvCxnSpPr>
          <p:nvPr/>
        </p:nvCxnSpPr>
        <p:spPr>
          <a:xfrm flipV="1">
            <a:off x="5711939" y="10549525"/>
            <a:ext cx="279776" cy="7205"/>
          </a:xfrm>
          <a:prstGeom prst="straightConnector1">
            <a:avLst/>
          </a:prstGeom>
          <a:noFill/>
          <a:ln w="9525" cap="flat" cmpd="sng">
            <a:solidFill>
              <a:srgbClr val="44546A"/>
            </a:solidFill>
            <a:prstDash val="solid"/>
            <a:round/>
            <a:headEnd type="none" w="sm" len="sm"/>
            <a:tailEnd type="triangle" w="med" len="med"/>
          </a:ln>
        </p:spPr>
      </p:cxnSp>
      <p:sp>
        <p:nvSpPr>
          <p:cNvPr id="405" name="Google Shape;64;p1">
            <a:extLst>
              <a:ext uri="{FF2B5EF4-FFF2-40B4-BE49-F238E27FC236}">
                <a16:creationId xmlns:a16="http://schemas.microsoft.com/office/drawing/2014/main" id="{A4BD3451-BE56-8DF7-9253-050966AC9BD3}"/>
              </a:ext>
            </a:extLst>
          </p:cNvPr>
          <p:cNvSpPr/>
          <p:nvPr/>
        </p:nvSpPr>
        <p:spPr>
          <a:xfrm>
            <a:off x="5991715" y="9452361"/>
            <a:ext cx="3228510" cy="41148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dirty="0">
                <a:solidFill>
                  <a:srgbClr val="000000"/>
                </a:solidFill>
                <a:latin typeface="Times New Roman"/>
                <a:ea typeface="Times New Roman"/>
                <a:cs typeface="Times New Roman"/>
                <a:sym typeface="Times New Roman"/>
              </a:rPr>
              <a:t>Consider splicing predictive data</a:t>
            </a:r>
            <a:endParaRPr lang="en-US" sz="1400" b="0" i="0" u="none" strike="noStrike" cap="none" dirty="0">
              <a:solidFill>
                <a:srgbClr val="000000"/>
              </a:solidFill>
              <a:latin typeface="Arial"/>
              <a:ea typeface="Arial"/>
              <a:cs typeface="Arial"/>
              <a:sym typeface="Arial"/>
            </a:endParaRPr>
          </a:p>
        </p:txBody>
      </p:sp>
      <p:sp>
        <p:nvSpPr>
          <p:cNvPr id="406" name="Google Shape;67;p1">
            <a:extLst>
              <a:ext uri="{FF2B5EF4-FFF2-40B4-BE49-F238E27FC236}">
                <a16:creationId xmlns:a16="http://schemas.microsoft.com/office/drawing/2014/main" id="{9BA72A5F-F3FC-0687-44E8-73760BCE0D35}"/>
              </a:ext>
            </a:extLst>
          </p:cNvPr>
          <p:cNvSpPr/>
          <p:nvPr/>
        </p:nvSpPr>
        <p:spPr>
          <a:xfrm>
            <a:off x="5991715" y="9999397"/>
            <a:ext cx="2843659" cy="1100256"/>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dirty="0">
                <a:solidFill>
                  <a:srgbClr val="000000"/>
                </a:solidFill>
                <a:latin typeface="Times New Roman"/>
                <a:ea typeface="Times New Roman"/>
                <a:cs typeface="Times New Roman"/>
                <a:sym typeface="Times New Roman"/>
              </a:rPr>
              <a:t>Can the protein impact be ruled out (based on functional and / or clinical data)?</a:t>
            </a:r>
            <a:endParaRPr lang="en-US" sz="1400" b="0" i="0" u="none" strike="noStrike" cap="none" dirty="0">
              <a:solidFill>
                <a:srgbClr val="000000"/>
              </a:solidFill>
              <a:latin typeface="Arial"/>
              <a:ea typeface="Arial"/>
              <a:cs typeface="Arial"/>
              <a:sym typeface="Arial"/>
            </a:endParaRPr>
          </a:p>
        </p:txBody>
      </p:sp>
      <p:cxnSp>
        <p:nvCxnSpPr>
          <p:cNvPr id="407" name="Google Shape;82;p1">
            <a:extLst>
              <a:ext uri="{FF2B5EF4-FFF2-40B4-BE49-F238E27FC236}">
                <a16:creationId xmlns:a16="http://schemas.microsoft.com/office/drawing/2014/main" id="{5FFACF08-A33F-8203-072C-91A4DC18CF07}"/>
              </a:ext>
            </a:extLst>
          </p:cNvPr>
          <p:cNvCxnSpPr>
            <a:cxnSpLocks/>
            <a:stCxn id="390" idx="3"/>
            <a:endCxn id="405" idx="1"/>
          </p:cNvCxnSpPr>
          <p:nvPr/>
        </p:nvCxnSpPr>
        <p:spPr>
          <a:xfrm flipV="1">
            <a:off x="5711939" y="9658101"/>
            <a:ext cx="279776" cy="1020"/>
          </a:xfrm>
          <a:prstGeom prst="straightConnector1">
            <a:avLst/>
          </a:prstGeom>
          <a:noFill/>
          <a:ln w="9525" cap="flat" cmpd="sng">
            <a:solidFill>
              <a:srgbClr val="44546A"/>
            </a:solidFill>
            <a:prstDash val="solid"/>
            <a:round/>
            <a:headEnd type="none" w="sm" len="sm"/>
            <a:tailEnd type="triangle" w="med" len="med"/>
          </a:ln>
        </p:spPr>
      </p:cxnSp>
      <p:cxnSp>
        <p:nvCxnSpPr>
          <p:cNvPr id="408" name="Google Shape;83;p1">
            <a:extLst>
              <a:ext uri="{FF2B5EF4-FFF2-40B4-BE49-F238E27FC236}">
                <a16:creationId xmlns:a16="http://schemas.microsoft.com/office/drawing/2014/main" id="{88F11D37-971A-5203-849F-86BC8EC5CEB9}"/>
              </a:ext>
            </a:extLst>
          </p:cNvPr>
          <p:cNvCxnSpPr>
            <a:cxnSpLocks/>
            <a:stCxn id="406" idx="3"/>
            <a:endCxn id="428" idx="1"/>
          </p:cNvCxnSpPr>
          <p:nvPr/>
        </p:nvCxnSpPr>
        <p:spPr>
          <a:xfrm>
            <a:off x="8835374" y="10549525"/>
            <a:ext cx="284790" cy="228889"/>
          </a:xfrm>
          <a:prstGeom prst="straightConnector1">
            <a:avLst/>
          </a:prstGeom>
          <a:noFill/>
          <a:ln w="9525" cap="flat" cmpd="sng">
            <a:solidFill>
              <a:srgbClr val="44546A"/>
            </a:solidFill>
            <a:prstDash val="solid"/>
            <a:round/>
            <a:headEnd type="none" w="sm" len="sm"/>
            <a:tailEnd type="triangle" w="med" len="med"/>
          </a:ln>
        </p:spPr>
      </p:cxnSp>
      <p:sp>
        <p:nvSpPr>
          <p:cNvPr id="411" name="Google Shape;70;p1">
            <a:extLst>
              <a:ext uri="{FF2B5EF4-FFF2-40B4-BE49-F238E27FC236}">
                <a16:creationId xmlns:a16="http://schemas.microsoft.com/office/drawing/2014/main" id="{ADEA3804-C4A2-A3F3-F455-356730B6E7F2}"/>
              </a:ext>
            </a:extLst>
          </p:cNvPr>
          <p:cNvSpPr/>
          <p:nvPr/>
        </p:nvSpPr>
        <p:spPr>
          <a:xfrm>
            <a:off x="10091279" y="9990749"/>
            <a:ext cx="2062073" cy="384048"/>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algn="ctr">
              <a:buSzPts val="1200"/>
            </a:pPr>
            <a:r>
              <a:rPr lang="en-US" sz="1200" b="0" i="0" u="none" strike="noStrike" cap="none" dirty="0">
                <a:solidFill>
                  <a:srgbClr val="000000"/>
                </a:solidFill>
                <a:latin typeface="Times New Roman"/>
                <a:ea typeface="Times New Roman"/>
                <a:cs typeface="Times New Roman"/>
                <a:sym typeface="Times New Roman"/>
              </a:rPr>
              <a:t>BP7_S (RNA) + prediction (PP3/BP4)</a:t>
            </a:r>
            <a:endParaRPr lang="en-US" sz="1400" b="0" i="0" u="none" strike="noStrike" cap="none" dirty="0">
              <a:solidFill>
                <a:srgbClr val="000000"/>
              </a:solidFill>
              <a:latin typeface="Arial"/>
              <a:ea typeface="Arial"/>
              <a:cs typeface="Arial"/>
              <a:sym typeface="Arial"/>
            </a:endParaRPr>
          </a:p>
        </p:txBody>
      </p:sp>
      <p:sp>
        <p:nvSpPr>
          <p:cNvPr id="412" name="Google Shape;71;p1">
            <a:extLst>
              <a:ext uri="{FF2B5EF4-FFF2-40B4-BE49-F238E27FC236}">
                <a16:creationId xmlns:a16="http://schemas.microsoft.com/office/drawing/2014/main" id="{663411EB-02D6-D3CC-05EB-11940A111A7C}"/>
              </a:ext>
            </a:extLst>
          </p:cNvPr>
          <p:cNvSpPr/>
          <p:nvPr/>
        </p:nvSpPr>
        <p:spPr>
          <a:xfrm>
            <a:off x="10091279" y="10461968"/>
            <a:ext cx="2062073" cy="640031"/>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algn="ctr">
              <a:buSzPts val="1200"/>
            </a:pPr>
            <a:r>
              <a:rPr lang="en-US" sz="1200" b="0" i="0" u="none" strike="noStrike" cap="none" dirty="0">
                <a:solidFill>
                  <a:srgbClr val="000000"/>
                </a:solidFill>
                <a:latin typeface="Times New Roman"/>
                <a:ea typeface="Times New Roman"/>
                <a:cs typeface="Times New Roman"/>
                <a:sym typeface="Times New Roman"/>
              </a:rPr>
              <a:t>Document as “BP7_S (RNA)” Not Met to indicate that data was present and reviewed</a:t>
            </a:r>
            <a:endParaRPr lang="en-US" sz="1400" b="0" i="0" u="none" strike="noStrike" cap="none" dirty="0">
              <a:solidFill>
                <a:srgbClr val="000000"/>
              </a:solidFill>
              <a:latin typeface="Arial"/>
              <a:ea typeface="Arial"/>
              <a:cs typeface="Arial"/>
              <a:sym typeface="Arial"/>
            </a:endParaRPr>
          </a:p>
        </p:txBody>
      </p:sp>
      <p:cxnSp>
        <p:nvCxnSpPr>
          <p:cNvPr id="413" name="Google Shape;119;p1">
            <a:extLst>
              <a:ext uri="{FF2B5EF4-FFF2-40B4-BE49-F238E27FC236}">
                <a16:creationId xmlns:a16="http://schemas.microsoft.com/office/drawing/2014/main" id="{87612620-BD4E-376F-7AA9-84115E77BAC8}"/>
              </a:ext>
            </a:extLst>
          </p:cNvPr>
          <p:cNvCxnSpPr>
            <a:cxnSpLocks/>
            <a:stCxn id="405" idx="3"/>
            <a:endCxn id="410" idx="1"/>
          </p:cNvCxnSpPr>
          <p:nvPr/>
        </p:nvCxnSpPr>
        <p:spPr>
          <a:xfrm>
            <a:off x="9220225" y="9658101"/>
            <a:ext cx="1314434" cy="0"/>
          </a:xfrm>
          <a:prstGeom prst="straightConnector1">
            <a:avLst/>
          </a:prstGeom>
          <a:noFill/>
          <a:ln w="9525" cap="flat" cmpd="sng">
            <a:solidFill>
              <a:srgbClr val="595959"/>
            </a:solidFill>
            <a:prstDash val="solid"/>
            <a:round/>
            <a:headEnd type="none" w="sm" len="sm"/>
            <a:tailEnd type="triangle" w="med" len="med"/>
          </a:ln>
        </p:spPr>
      </p:cxnSp>
      <p:cxnSp>
        <p:nvCxnSpPr>
          <p:cNvPr id="414" name="Google Shape;120;p1">
            <a:extLst>
              <a:ext uri="{FF2B5EF4-FFF2-40B4-BE49-F238E27FC236}">
                <a16:creationId xmlns:a16="http://schemas.microsoft.com/office/drawing/2014/main" id="{FAAEE8E2-A924-A4C6-9234-B010653647A5}"/>
              </a:ext>
            </a:extLst>
          </p:cNvPr>
          <p:cNvCxnSpPr>
            <a:cxnSpLocks/>
          </p:cNvCxnSpPr>
          <p:nvPr/>
        </p:nvCxnSpPr>
        <p:spPr>
          <a:xfrm>
            <a:off x="9635516" y="10233029"/>
            <a:ext cx="455763" cy="0"/>
          </a:xfrm>
          <a:prstGeom prst="straightConnector1">
            <a:avLst/>
          </a:prstGeom>
          <a:noFill/>
          <a:ln w="9525" cap="flat" cmpd="sng">
            <a:solidFill>
              <a:srgbClr val="595959"/>
            </a:solidFill>
            <a:prstDash val="solid"/>
            <a:round/>
            <a:headEnd type="none" w="sm" len="sm"/>
            <a:tailEnd type="triangle" w="med" len="med"/>
          </a:ln>
        </p:spPr>
      </p:cxnSp>
      <p:cxnSp>
        <p:nvCxnSpPr>
          <p:cNvPr id="415" name="Google Shape;121;p1">
            <a:extLst>
              <a:ext uri="{FF2B5EF4-FFF2-40B4-BE49-F238E27FC236}">
                <a16:creationId xmlns:a16="http://schemas.microsoft.com/office/drawing/2014/main" id="{733DC003-0024-6C9F-4D51-29D75E486964}"/>
              </a:ext>
            </a:extLst>
          </p:cNvPr>
          <p:cNvCxnSpPr>
            <a:cxnSpLocks/>
          </p:cNvCxnSpPr>
          <p:nvPr/>
        </p:nvCxnSpPr>
        <p:spPr>
          <a:xfrm>
            <a:off x="9635516" y="10778414"/>
            <a:ext cx="455763" cy="0"/>
          </a:xfrm>
          <a:prstGeom prst="straightConnector1">
            <a:avLst/>
          </a:prstGeom>
          <a:noFill/>
          <a:ln w="9525" cap="flat" cmpd="sng">
            <a:solidFill>
              <a:srgbClr val="595959"/>
            </a:solidFill>
            <a:prstDash val="solid"/>
            <a:round/>
            <a:headEnd type="none" w="sm" len="sm"/>
            <a:tailEnd type="triangle" w="med" len="med"/>
          </a:ln>
        </p:spPr>
      </p:cxnSp>
      <p:sp>
        <p:nvSpPr>
          <p:cNvPr id="427" name="Google Shape;67;p1">
            <a:extLst>
              <a:ext uri="{FF2B5EF4-FFF2-40B4-BE49-F238E27FC236}">
                <a16:creationId xmlns:a16="http://schemas.microsoft.com/office/drawing/2014/main" id="{24777C03-9FD9-FCDB-481C-B0060E86BD16}"/>
              </a:ext>
            </a:extLst>
          </p:cNvPr>
          <p:cNvSpPr/>
          <p:nvPr/>
        </p:nvSpPr>
        <p:spPr>
          <a:xfrm>
            <a:off x="9115150" y="10095517"/>
            <a:ext cx="518179" cy="27432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dirty="0">
                <a:solidFill>
                  <a:srgbClr val="000000"/>
                </a:solidFill>
                <a:latin typeface="Times New Roman"/>
                <a:ea typeface="Times New Roman"/>
                <a:cs typeface="Times New Roman"/>
                <a:sym typeface="Times New Roman"/>
              </a:rPr>
              <a:t>Yes</a:t>
            </a:r>
            <a:endParaRPr lang="en-US" sz="1400" b="0" i="0" u="none" strike="noStrike" cap="none" dirty="0">
              <a:solidFill>
                <a:srgbClr val="000000"/>
              </a:solidFill>
              <a:latin typeface="Arial"/>
              <a:ea typeface="Arial"/>
              <a:cs typeface="Arial"/>
              <a:sym typeface="Arial"/>
            </a:endParaRPr>
          </a:p>
        </p:txBody>
      </p:sp>
      <p:sp>
        <p:nvSpPr>
          <p:cNvPr id="428" name="Google Shape;67;p1">
            <a:extLst>
              <a:ext uri="{FF2B5EF4-FFF2-40B4-BE49-F238E27FC236}">
                <a16:creationId xmlns:a16="http://schemas.microsoft.com/office/drawing/2014/main" id="{746FBC06-9A1B-B055-A92D-532CCF6F4A82}"/>
              </a:ext>
            </a:extLst>
          </p:cNvPr>
          <p:cNvSpPr/>
          <p:nvPr/>
        </p:nvSpPr>
        <p:spPr>
          <a:xfrm>
            <a:off x="9120164" y="10641254"/>
            <a:ext cx="518179" cy="27432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dirty="0">
                <a:solidFill>
                  <a:srgbClr val="000000"/>
                </a:solidFill>
                <a:latin typeface="Times New Roman"/>
                <a:ea typeface="Times New Roman"/>
                <a:cs typeface="Times New Roman"/>
                <a:sym typeface="Times New Roman"/>
              </a:rPr>
              <a:t>No</a:t>
            </a:r>
            <a:endParaRPr lang="en-US" sz="1400" b="0" i="0" u="none" strike="noStrike" cap="none" dirty="0">
              <a:solidFill>
                <a:srgbClr val="000000"/>
              </a:solidFill>
              <a:latin typeface="Arial"/>
              <a:ea typeface="Arial"/>
              <a:cs typeface="Arial"/>
              <a:sym typeface="Arial"/>
            </a:endParaRPr>
          </a:p>
        </p:txBody>
      </p:sp>
      <p:cxnSp>
        <p:nvCxnSpPr>
          <p:cNvPr id="431" name="Google Shape;83;p1">
            <a:extLst>
              <a:ext uri="{FF2B5EF4-FFF2-40B4-BE49-F238E27FC236}">
                <a16:creationId xmlns:a16="http://schemas.microsoft.com/office/drawing/2014/main" id="{A8A5DA33-9D12-EF6E-2F05-F41A345DEF10}"/>
              </a:ext>
            </a:extLst>
          </p:cNvPr>
          <p:cNvCxnSpPr>
            <a:cxnSpLocks/>
            <a:stCxn id="406" idx="3"/>
            <a:endCxn id="427" idx="1"/>
          </p:cNvCxnSpPr>
          <p:nvPr/>
        </p:nvCxnSpPr>
        <p:spPr>
          <a:xfrm flipV="1">
            <a:off x="8835374" y="10232677"/>
            <a:ext cx="279776" cy="316848"/>
          </a:xfrm>
          <a:prstGeom prst="straightConnector1">
            <a:avLst/>
          </a:prstGeom>
          <a:noFill/>
          <a:ln w="9525" cap="flat" cmpd="sng">
            <a:solidFill>
              <a:srgbClr val="44546A"/>
            </a:solidFill>
            <a:prstDash val="solid"/>
            <a:round/>
            <a:headEnd type="none" w="sm" len="sm"/>
            <a:tailEnd type="triangle" w="med" len="med"/>
          </a:ln>
        </p:spPr>
      </p:cxnSp>
      <p:sp>
        <p:nvSpPr>
          <p:cNvPr id="462" name="Google Shape;203;p1">
            <a:extLst>
              <a:ext uri="{FF2B5EF4-FFF2-40B4-BE49-F238E27FC236}">
                <a16:creationId xmlns:a16="http://schemas.microsoft.com/office/drawing/2014/main" id="{91195768-07DF-ECC7-C9C1-2C1312A7627E}"/>
              </a:ext>
            </a:extLst>
          </p:cNvPr>
          <p:cNvSpPr/>
          <p:nvPr/>
        </p:nvSpPr>
        <p:spPr>
          <a:xfrm>
            <a:off x="6158272" y="12584047"/>
            <a:ext cx="3500257" cy="348305"/>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dirty="0">
              <a:solidFill>
                <a:srgbClr val="000000"/>
              </a:solidFill>
              <a:latin typeface="Times New Roman" panose="02020603050405020304" pitchFamily="18" charset="0"/>
              <a:ea typeface="Times New Roman"/>
              <a:cs typeface="Times New Roman" panose="02020603050405020304" pitchFamily="18" charset="0"/>
              <a:sym typeface="Times New Roman"/>
            </a:endParaRPr>
          </a:p>
        </p:txBody>
      </p:sp>
      <p:sp>
        <p:nvSpPr>
          <p:cNvPr id="461" name="Google Shape;203;p1">
            <a:extLst>
              <a:ext uri="{FF2B5EF4-FFF2-40B4-BE49-F238E27FC236}">
                <a16:creationId xmlns:a16="http://schemas.microsoft.com/office/drawing/2014/main" id="{F2C497A4-9E33-00AB-58FA-ABBAB8F95256}"/>
              </a:ext>
            </a:extLst>
          </p:cNvPr>
          <p:cNvSpPr/>
          <p:nvPr/>
        </p:nvSpPr>
        <p:spPr>
          <a:xfrm>
            <a:off x="4630599" y="12581224"/>
            <a:ext cx="1528072" cy="344458"/>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dirty="0">
              <a:latin typeface="Times New Roman" panose="02020603050405020304" pitchFamily="18" charset="0"/>
              <a:ea typeface="Times New Roman"/>
              <a:cs typeface="Times New Roman" panose="02020603050405020304" pitchFamily="18" charset="0"/>
              <a:sym typeface="Times New Roman"/>
            </a:endParaRPr>
          </a:p>
        </p:txBody>
      </p:sp>
      <p:sp>
        <p:nvSpPr>
          <p:cNvPr id="465" name="TextBox 464">
            <a:extLst>
              <a:ext uri="{FF2B5EF4-FFF2-40B4-BE49-F238E27FC236}">
                <a16:creationId xmlns:a16="http://schemas.microsoft.com/office/drawing/2014/main" id="{2219C682-8B42-03F1-343A-5C4BDA66A59F}"/>
              </a:ext>
            </a:extLst>
          </p:cNvPr>
          <p:cNvSpPr txBox="1"/>
          <p:nvPr/>
        </p:nvSpPr>
        <p:spPr>
          <a:xfrm>
            <a:off x="4987880" y="12593605"/>
            <a:ext cx="1220756" cy="307777"/>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Complete</a:t>
            </a:r>
          </a:p>
        </p:txBody>
      </p:sp>
      <p:sp>
        <p:nvSpPr>
          <p:cNvPr id="466" name="TextBox 465">
            <a:extLst>
              <a:ext uri="{FF2B5EF4-FFF2-40B4-BE49-F238E27FC236}">
                <a16:creationId xmlns:a16="http://schemas.microsoft.com/office/drawing/2014/main" id="{21C0BFE6-45C2-BBC3-1034-A4561B3EC523}"/>
              </a:ext>
            </a:extLst>
          </p:cNvPr>
          <p:cNvSpPr txBox="1"/>
          <p:nvPr/>
        </p:nvSpPr>
        <p:spPr>
          <a:xfrm>
            <a:off x="4786675" y="12956137"/>
            <a:ext cx="1809990" cy="307777"/>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Near Complete</a:t>
            </a:r>
          </a:p>
        </p:txBody>
      </p:sp>
      <p:sp>
        <p:nvSpPr>
          <p:cNvPr id="467" name="Google Shape;203;p1">
            <a:extLst>
              <a:ext uri="{FF2B5EF4-FFF2-40B4-BE49-F238E27FC236}">
                <a16:creationId xmlns:a16="http://schemas.microsoft.com/office/drawing/2014/main" id="{E2A68DEE-93C5-02E2-18D9-EDE5291ACA3C}"/>
              </a:ext>
            </a:extLst>
          </p:cNvPr>
          <p:cNvSpPr/>
          <p:nvPr/>
        </p:nvSpPr>
        <p:spPr>
          <a:xfrm>
            <a:off x="4635992" y="12933345"/>
            <a:ext cx="1522280" cy="33190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dirty="0">
              <a:latin typeface="Times New Roman" panose="02020603050405020304" pitchFamily="18" charset="0"/>
              <a:ea typeface="Times New Roman"/>
              <a:cs typeface="Times New Roman" panose="02020603050405020304" pitchFamily="18" charset="0"/>
              <a:sym typeface="Times New Roman"/>
            </a:endParaRPr>
          </a:p>
        </p:txBody>
      </p:sp>
      <p:sp>
        <p:nvSpPr>
          <p:cNvPr id="468" name="Google Shape;203;p1">
            <a:extLst>
              <a:ext uri="{FF2B5EF4-FFF2-40B4-BE49-F238E27FC236}">
                <a16:creationId xmlns:a16="http://schemas.microsoft.com/office/drawing/2014/main" id="{6F79D4C1-DD48-4874-4D3C-5950ED2DCC81}"/>
              </a:ext>
            </a:extLst>
          </p:cNvPr>
          <p:cNvSpPr/>
          <p:nvPr/>
        </p:nvSpPr>
        <p:spPr>
          <a:xfrm>
            <a:off x="6158272" y="12932509"/>
            <a:ext cx="3500258" cy="334724"/>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dirty="0">
              <a:solidFill>
                <a:srgbClr val="000000"/>
              </a:solidFill>
              <a:latin typeface="Times New Roman" panose="02020603050405020304" pitchFamily="18" charset="0"/>
              <a:ea typeface="Times New Roman"/>
              <a:cs typeface="Times New Roman" panose="02020603050405020304" pitchFamily="18" charset="0"/>
              <a:sym typeface="Times New Roman"/>
            </a:endParaRPr>
          </a:p>
        </p:txBody>
      </p:sp>
      <p:sp>
        <p:nvSpPr>
          <p:cNvPr id="470" name="Google Shape;203;p1">
            <a:extLst>
              <a:ext uri="{FF2B5EF4-FFF2-40B4-BE49-F238E27FC236}">
                <a16:creationId xmlns:a16="http://schemas.microsoft.com/office/drawing/2014/main" id="{D9CC2652-5272-36F2-E0A9-DE1D70EEBE0E}"/>
              </a:ext>
            </a:extLst>
          </p:cNvPr>
          <p:cNvSpPr/>
          <p:nvPr/>
        </p:nvSpPr>
        <p:spPr>
          <a:xfrm>
            <a:off x="6158271" y="13274883"/>
            <a:ext cx="3500258" cy="33190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dirty="0">
              <a:solidFill>
                <a:srgbClr val="000000"/>
              </a:solidFill>
              <a:latin typeface="Times New Roman" panose="02020603050405020304" pitchFamily="18" charset="0"/>
              <a:ea typeface="Times New Roman"/>
              <a:cs typeface="Times New Roman" panose="02020603050405020304" pitchFamily="18" charset="0"/>
              <a:sym typeface="Times New Roman"/>
            </a:endParaRPr>
          </a:p>
        </p:txBody>
      </p:sp>
      <p:sp>
        <p:nvSpPr>
          <p:cNvPr id="469" name="Google Shape;203;p1">
            <a:extLst>
              <a:ext uri="{FF2B5EF4-FFF2-40B4-BE49-F238E27FC236}">
                <a16:creationId xmlns:a16="http://schemas.microsoft.com/office/drawing/2014/main" id="{190CC4A9-15E7-63A5-0BA7-F5BC849B361D}"/>
              </a:ext>
            </a:extLst>
          </p:cNvPr>
          <p:cNvSpPr/>
          <p:nvPr/>
        </p:nvSpPr>
        <p:spPr>
          <a:xfrm>
            <a:off x="4630202" y="13272908"/>
            <a:ext cx="1528072" cy="33190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dirty="0">
              <a:latin typeface="Times New Roman" panose="02020603050405020304" pitchFamily="18" charset="0"/>
              <a:ea typeface="Times New Roman"/>
              <a:cs typeface="Times New Roman" panose="02020603050405020304" pitchFamily="18" charset="0"/>
              <a:sym typeface="Times New Roman"/>
            </a:endParaRPr>
          </a:p>
        </p:txBody>
      </p:sp>
      <p:sp>
        <p:nvSpPr>
          <p:cNvPr id="471" name="TextBox 470">
            <a:extLst>
              <a:ext uri="{FF2B5EF4-FFF2-40B4-BE49-F238E27FC236}">
                <a16:creationId xmlns:a16="http://schemas.microsoft.com/office/drawing/2014/main" id="{A05E79F8-D849-8A30-978B-757687FAA4A1}"/>
              </a:ext>
            </a:extLst>
          </p:cNvPr>
          <p:cNvSpPr txBox="1"/>
          <p:nvPr/>
        </p:nvSpPr>
        <p:spPr>
          <a:xfrm>
            <a:off x="4938243" y="13297031"/>
            <a:ext cx="1505815" cy="307777"/>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Incomplete</a:t>
            </a:r>
          </a:p>
        </p:txBody>
      </p:sp>
      <p:sp>
        <p:nvSpPr>
          <p:cNvPr id="472" name="TextBox 471">
            <a:extLst>
              <a:ext uri="{FF2B5EF4-FFF2-40B4-BE49-F238E27FC236}">
                <a16:creationId xmlns:a16="http://schemas.microsoft.com/office/drawing/2014/main" id="{7DAFC3AF-7889-31CE-BD41-552C030065C2}"/>
              </a:ext>
            </a:extLst>
          </p:cNvPr>
          <p:cNvSpPr txBox="1"/>
          <p:nvPr/>
        </p:nvSpPr>
        <p:spPr>
          <a:xfrm>
            <a:off x="6892019" y="12596331"/>
            <a:ext cx="2044859" cy="307777"/>
          </a:xfrm>
          <a:prstGeom prst="rect">
            <a:avLst/>
          </a:prstGeom>
          <a:noFill/>
        </p:spPr>
        <p:txBody>
          <a:bodyPr wrap="square" rtlCol="0">
            <a:spAutoFit/>
          </a:bodyPr>
          <a:lstStyle/>
          <a:p>
            <a:pPr algn="ctr"/>
            <a:r>
              <a:rPr lang="en-US" dirty="0">
                <a:latin typeface="Times New Roman" panose="02020603050405020304" pitchFamily="18" charset="0"/>
                <a:cs typeface="Times New Roman" panose="02020603050405020304" pitchFamily="18" charset="0"/>
              </a:rPr>
              <a:t>Keep strength level</a:t>
            </a:r>
          </a:p>
        </p:txBody>
      </p:sp>
      <p:sp>
        <p:nvSpPr>
          <p:cNvPr id="473" name="TextBox 472">
            <a:extLst>
              <a:ext uri="{FF2B5EF4-FFF2-40B4-BE49-F238E27FC236}">
                <a16:creationId xmlns:a16="http://schemas.microsoft.com/office/drawing/2014/main" id="{C84C109E-C1B1-CD5A-E258-015BAFAB590C}"/>
              </a:ext>
            </a:extLst>
          </p:cNvPr>
          <p:cNvSpPr txBox="1"/>
          <p:nvPr/>
        </p:nvSpPr>
        <p:spPr>
          <a:xfrm>
            <a:off x="6726687" y="12935672"/>
            <a:ext cx="2375523" cy="307777"/>
          </a:xfrm>
          <a:prstGeom prst="rect">
            <a:avLst/>
          </a:prstGeom>
          <a:noFill/>
        </p:spPr>
        <p:txBody>
          <a:bodyPr wrap="square" rtlCol="0">
            <a:spAutoFit/>
          </a:bodyPr>
          <a:lstStyle/>
          <a:p>
            <a:pPr algn="ctr"/>
            <a:r>
              <a:rPr lang="en-US" dirty="0">
                <a:latin typeface="Times New Roman" panose="02020603050405020304" pitchFamily="18" charset="0"/>
                <a:cs typeface="Times New Roman" panose="02020603050405020304" pitchFamily="18" charset="0"/>
              </a:rPr>
              <a:t>Reduce strength by 1 level</a:t>
            </a:r>
          </a:p>
        </p:txBody>
      </p:sp>
      <p:sp>
        <p:nvSpPr>
          <p:cNvPr id="474" name="TextBox 473">
            <a:extLst>
              <a:ext uri="{FF2B5EF4-FFF2-40B4-BE49-F238E27FC236}">
                <a16:creationId xmlns:a16="http://schemas.microsoft.com/office/drawing/2014/main" id="{57BC8AD8-9D2C-E61B-B115-8B02D42530A1}"/>
              </a:ext>
            </a:extLst>
          </p:cNvPr>
          <p:cNvSpPr txBox="1"/>
          <p:nvPr/>
        </p:nvSpPr>
        <p:spPr>
          <a:xfrm>
            <a:off x="6831598" y="13265274"/>
            <a:ext cx="2165700" cy="307777"/>
          </a:xfrm>
          <a:prstGeom prst="rect">
            <a:avLst/>
          </a:prstGeom>
          <a:noFill/>
        </p:spPr>
        <p:txBody>
          <a:bodyPr wrap="square" rtlCol="0">
            <a:spAutoFit/>
          </a:bodyPr>
          <a:lstStyle/>
          <a:p>
            <a:pPr algn="ctr"/>
            <a:r>
              <a:rPr lang="en-US" dirty="0">
                <a:latin typeface="Times New Roman" panose="02020603050405020304" pitchFamily="18" charset="0"/>
                <a:cs typeface="Times New Roman" panose="02020603050405020304" pitchFamily="18" charset="0"/>
              </a:rPr>
              <a:t>Do not apply codes</a:t>
            </a:r>
          </a:p>
        </p:txBody>
      </p:sp>
      <p:cxnSp>
        <p:nvCxnSpPr>
          <p:cNvPr id="476" name="Google Shape;206;p1">
            <a:extLst>
              <a:ext uri="{FF2B5EF4-FFF2-40B4-BE49-F238E27FC236}">
                <a16:creationId xmlns:a16="http://schemas.microsoft.com/office/drawing/2014/main" id="{E1FD830F-7B15-C408-6E7C-A90198B7E3A3}"/>
              </a:ext>
            </a:extLst>
          </p:cNvPr>
          <p:cNvCxnSpPr>
            <a:cxnSpLocks/>
            <a:endCxn id="204" idx="1"/>
          </p:cNvCxnSpPr>
          <p:nvPr/>
        </p:nvCxnSpPr>
        <p:spPr>
          <a:xfrm flipV="1">
            <a:off x="9658240" y="12556782"/>
            <a:ext cx="286187" cy="574597"/>
          </a:xfrm>
          <a:prstGeom prst="straightConnector1">
            <a:avLst/>
          </a:prstGeom>
          <a:noFill/>
          <a:ln w="9525" cap="flat" cmpd="sng">
            <a:solidFill>
              <a:srgbClr val="44546A"/>
            </a:solidFill>
            <a:prstDash val="solid"/>
            <a:round/>
            <a:headEnd type="none" w="sm" len="sm"/>
            <a:tailEnd type="triangle" w="med" len="med"/>
          </a:ln>
        </p:spPr>
      </p:cxnSp>
      <p:sp>
        <p:nvSpPr>
          <p:cNvPr id="487" name="TextBox 486">
            <a:extLst>
              <a:ext uri="{FF2B5EF4-FFF2-40B4-BE49-F238E27FC236}">
                <a16:creationId xmlns:a16="http://schemas.microsoft.com/office/drawing/2014/main" id="{F4FDB25B-86A3-2C1B-6D2F-83A4C7C46A60}"/>
              </a:ext>
            </a:extLst>
          </p:cNvPr>
          <p:cNvSpPr txBox="1"/>
          <p:nvPr/>
        </p:nvSpPr>
        <p:spPr>
          <a:xfrm>
            <a:off x="2830609" y="1375492"/>
            <a:ext cx="6070893" cy="369332"/>
          </a:xfrm>
          <a:prstGeom prst="rect">
            <a:avLst/>
          </a:prstGeom>
          <a:noFill/>
        </p:spPr>
        <p:txBody>
          <a:bodyPr wrap="none" rtlCol="0">
            <a:spAutoFit/>
          </a:bodyPr>
          <a:lstStyle/>
          <a:p>
            <a:r>
              <a:rPr lang="en-US" sz="1800" b="1" dirty="0"/>
              <a:t>RPGR-specific PVS1 (RNA) Decision Tree for Splicing</a:t>
            </a:r>
          </a:p>
        </p:txBody>
      </p:sp>
      <p:cxnSp>
        <p:nvCxnSpPr>
          <p:cNvPr id="2" name="Google Shape;80;p1">
            <a:extLst>
              <a:ext uri="{FF2B5EF4-FFF2-40B4-BE49-F238E27FC236}">
                <a16:creationId xmlns:a16="http://schemas.microsoft.com/office/drawing/2014/main" id="{74A8873E-F68D-5855-1061-28830A28A81A}"/>
              </a:ext>
            </a:extLst>
          </p:cNvPr>
          <p:cNvCxnSpPr>
            <a:cxnSpLocks/>
            <a:endCxn id="168" idx="1"/>
          </p:cNvCxnSpPr>
          <p:nvPr/>
        </p:nvCxnSpPr>
        <p:spPr>
          <a:xfrm flipV="1">
            <a:off x="1342822" y="10328916"/>
            <a:ext cx="249591" cy="899893"/>
          </a:xfrm>
          <a:prstGeom prst="straightConnector1">
            <a:avLst/>
          </a:prstGeom>
          <a:noFill/>
          <a:ln w="9525" cap="flat" cmpd="sng">
            <a:solidFill>
              <a:srgbClr val="44546A"/>
            </a:solidFill>
            <a:prstDash val="solid"/>
            <a:round/>
            <a:headEnd type="none" w="sm" len="sm"/>
            <a:tailEnd type="triangle" w="med" len="med"/>
          </a:ln>
        </p:spPr>
      </p:cxnSp>
    </p:spTree>
    <p:extLst>
      <p:ext uri="{BB962C8B-B14F-4D97-AF65-F5344CB8AC3E}">
        <p14:creationId xmlns:p14="http://schemas.microsoft.com/office/powerpoint/2010/main" val="366197739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CE78789-9886-51E1-6B8A-5F0D533A556A}"/>
              </a:ext>
            </a:extLst>
          </p:cNvPr>
          <p:cNvSpPr txBox="1"/>
          <p:nvPr/>
        </p:nvSpPr>
        <p:spPr>
          <a:xfrm>
            <a:off x="996640" y="738554"/>
            <a:ext cx="5333511" cy="307777"/>
          </a:xfrm>
          <a:prstGeom prst="rect">
            <a:avLst/>
          </a:prstGeom>
          <a:noFill/>
        </p:spPr>
        <p:txBody>
          <a:bodyPr wrap="none" rtlCol="0">
            <a:spAutoFit/>
          </a:bodyPr>
          <a:lstStyle/>
          <a:p>
            <a:r>
              <a:rPr lang="en-US" b="1" dirty="0"/>
              <a:t>(a) </a:t>
            </a:r>
            <a:r>
              <a:rPr lang="en-US" b="1" dirty="0" err="1"/>
              <a:t>SpliceAI</a:t>
            </a:r>
            <a:r>
              <a:rPr lang="en-US" b="1" dirty="0"/>
              <a:t> Flowchart (based on Walker et al., 2023, Figure 4</a:t>
            </a:r>
          </a:p>
        </p:txBody>
      </p:sp>
      <p:sp>
        <p:nvSpPr>
          <p:cNvPr id="4" name="TextBox 3">
            <a:extLst>
              <a:ext uri="{FF2B5EF4-FFF2-40B4-BE49-F238E27FC236}">
                <a16:creationId xmlns:a16="http://schemas.microsoft.com/office/drawing/2014/main" id="{41996322-9F3D-210F-24C9-03303723DF8A}"/>
              </a:ext>
            </a:extLst>
          </p:cNvPr>
          <p:cNvSpPr txBox="1"/>
          <p:nvPr/>
        </p:nvSpPr>
        <p:spPr>
          <a:xfrm>
            <a:off x="996640" y="8080201"/>
            <a:ext cx="3118161" cy="307777"/>
          </a:xfrm>
          <a:prstGeom prst="rect">
            <a:avLst/>
          </a:prstGeom>
          <a:noFill/>
        </p:spPr>
        <p:txBody>
          <a:bodyPr wrap="none" rtlCol="0">
            <a:spAutoFit/>
          </a:bodyPr>
          <a:lstStyle/>
          <a:p>
            <a:r>
              <a:rPr lang="en-US" b="1" dirty="0"/>
              <a:t>(b) Table 2 from Walker et al., 2023</a:t>
            </a:r>
          </a:p>
        </p:txBody>
      </p:sp>
      <p:pic>
        <p:nvPicPr>
          <p:cNvPr id="6" name="Picture 5">
            <a:extLst>
              <a:ext uri="{FF2B5EF4-FFF2-40B4-BE49-F238E27FC236}">
                <a16:creationId xmlns:a16="http://schemas.microsoft.com/office/drawing/2014/main" id="{7A9696F6-61F5-787E-579A-75B50A8AC22C}"/>
              </a:ext>
            </a:extLst>
          </p:cNvPr>
          <p:cNvPicPr>
            <a:picLocks noChangeAspect="1"/>
          </p:cNvPicPr>
          <p:nvPr/>
        </p:nvPicPr>
        <p:blipFill>
          <a:blip r:embed="rId3"/>
          <a:stretch>
            <a:fillRect/>
          </a:stretch>
        </p:blipFill>
        <p:spPr>
          <a:xfrm>
            <a:off x="831654" y="1365759"/>
            <a:ext cx="10681091" cy="5261152"/>
          </a:xfrm>
          <a:prstGeom prst="rect">
            <a:avLst/>
          </a:prstGeom>
        </p:spPr>
      </p:pic>
      <p:grpSp>
        <p:nvGrpSpPr>
          <p:cNvPr id="20" name="Group 19">
            <a:extLst>
              <a:ext uri="{FF2B5EF4-FFF2-40B4-BE49-F238E27FC236}">
                <a16:creationId xmlns:a16="http://schemas.microsoft.com/office/drawing/2014/main" id="{67892426-392D-3546-831B-9951E39E657F}"/>
              </a:ext>
            </a:extLst>
          </p:cNvPr>
          <p:cNvGrpSpPr/>
          <p:nvPr/>
        </p:nvGrpSpPr>
        <p:grpSpPr>
          <a:xfrm>
            <a:off x="3968017" y="5489526"/>
            <a:ext cx="7326775" cy="1634058"/>
            <a:chOff x="4548554" y="4096852"/>
            <a:chExt cx="7326775" cy="1634058"/>
          </a:xfrm>
        </p:grpSpPr>
        <p:sp>
          <p:nvSpPr>
            <p:cNvPr id="9" name="TextBox 8">
              <a:extLst>
                <a:ext uri="{FF2B5EF4-FFF2-40B4-BE49-F238E27FC236}">
                  <a16:creationId xmlns:a16="http://schemas.microsoft.com/office/drawing/2014/main" id="{41DA26E1-2B4F-C46E-62C2-379E680AC3F9}"/>
                </a:ext>
              </a:extLst>
            </p:cNvPr>
            <p:cNvSpPr txBox="1"/>
            <p:nvPr/>
          </p:nvSpPr>
          <p:spPr>
            <a:xfrm>
              <a:off x="5181808" y="4345915"/>
              <a:ext cx="6611105" cy="1384995"/>
            </a:xfrm>
            <a:prstGeom prst="rect">
              <a:avLst/>
            </a:prstGeom>
            <a:noFill/>
          </p:spPr>
          <p:txBody>
            <a:bodyPr wrap="none" rtlCol="0">
              <a:spAutoFit/>
            </a:bodyPr>
            <a:lstStyle/>
            <a:p>
              <a:r>
                <a:rPr lang="en-US" dirty="0">
                  <a:solidFill>
                    <a:srgbClr val="00B0F0"/>
                  </a:solidFill>
                </a:rPr>
                <a:t>Donor and acceptor splice region positions are below and are excluded from BP7:</a:t>
              </a:r>
            </a:p>
            <a:p>
              <a:pPr marL="285750" indent="-285750">
                <a:buFont typeface="Arial" panose="020B0604020202020204" pitchFamily="34" charset="0"/>
                <a:buChar char="•"/>
              </a:pPr>
              <a:r>
                <a:rPr lang="en-US" dirty="0">
                  <a:solidFill>
                    <a:srgbClr val="00B0F0"/>
                  </a:solidFill>
                </a:rPr>
                <a:t>Synonymous substitutions in the first base of an exon</a:t>
              </a:r>
            </a:p>
            <a:p>
              <a:pPr marL="285750" indent="-285750">
                <a:buFont typeface="Arial" panose="020B0604020202020204" pitchFamily="34" charset="0"/>
                <a:buChar char="•"/>
              </a:pPr>
              <a:r>
                <a:rPr lang="en-US" dirty="0">
                  <a:solidFill>
                    <a:srgbClr val="00B0F0"/>
                  </a:solidFill>
                </a:rPr>
                <a:t>Synonymous substitutions in the last three base of an exon</a:t>
              </a:r>
            </a:p>
            <a:p>
              <a:pPr marL="285750" indent="-285750">
                <a:buFont typeface="Arial" panose="020B0604020202020204" pitchFamily="34" charset="0"/>
                <a:buChar char="•"/>
              </a:pPr>
              <a:r>
                <a:rPr lang="en-US" dirty="0">
                  <a:solidFill>
                    <a:srgbClr val="00B0F0"/>
                  </a:solidFill>
                </a:rPr>
                <a:t>+1 through +7 of the donor sequence after an exon</a:t>
              </a:r>
            </a:p>
            <a:p>
              <a:pPr marL="285750" indent="-285750">
                <a:buFont typeface="Arial" panose="020B0604020202020204" pitchFamily="34" charset="0"/>
                <a:buChar char="•"/>
              </a:pPr>
              <a:r>
                <a:rPr lang="en-US" dirty="0">
                  <a:solidFill>
                    <a:srgbClr val="00B0F0"/>
                  </a:solidFill>
                </a:rPr>
                <a:t>-1 through -21 of the acceptor sequence before an exons</a:t>
              </a:r>
            </a:p>
            <a:p>
              <a:endParaRPr lang="en-US" dirty="0">
                <a:solidFill>
                  <a:srgbClr val="00B0F0"/>
                </a:solidFill>
              </a:endParaRPr>
            </a:p>
          </p:txBody>
        </p:sp>
        <p:cxnSp>
          <p:nvCxnSpPr>
            <p:cNvPr id="10" name="Google Shape;79;p1">
              <a:extLst>
                <a:ext uri="{FF2B5EF4-FFF2-40B4-BE49-F238E27FC236}">
                  <a16:creationId xmlns:a16="http://schemas.microsoft.com/office/drawing/2014/main" id="{8D9ED3FD-00B8-8680-EB09-CE7C50550E80}"/>
                </a:ext>
              </a:extLst>
            </p:cNvPr>
            <p:cNvCxnSpPr>
              <a:cxnSpLocks/>
            </p:cNvCxnSpPr>
            <p:nvPr/>
          </p:nvCxnSpPr>
          <p:spPr>
            <a:xfrm>
              <a:off x="4548554" y="4096852"/>
              <a:ext cx="550836" cy="249063"/>
            </a:xfrm>
            <a:prstGeom prst="straightConnector1">
              <a:avLst/>
            </a:prstGeom>
            <a:noFill/>
            <a:ln w="12700" cap="flat" cmpd="sng">
              <a:solidFill>
                <a:srgbClr val="009ACC"/>
              </a:solidFill>
              <a:prstDash val="solid"/>
              <a:round/>
              <a:headEnd type="none" w="med" len="med"/>
              <a:tailEnd type="none" w="med" len="med"/>
            </a:ln>
          </p:spPr>
        </p:cxnSp>
        <p:sp>
          <p:nvSpPr>
            <p:cNvPr id="12" name="Frame 11">
              <a:extLst>
                <a:ext uri="{FF2B5EF4-FFF2-40B4-BE49-F238E27FC236}">
                  <a16:creationId xmlns:a16="http://schemas.microsoft.com/office/drawing/2014/main" id="{22138D20-3C6C-AC60-301D-FBD9222B530C}"/>
                </a:ext>
              </a:extLst>
            </p:cNvPr>
            <p:cNvSpPr/>
            <p:nvPr/>
          </p:nvSpPr>
          <p:spPr>
            <a:xfrm>
              <a:off x="5099390" y="4283953"/>
              <a:ext cx="6775939" cy="1384995"/>
            </a:xfrm>
            <a:prstGeom prst="frame">
              <a:avLst>
                <a:gd name="adj1" fmla="val 1496"/>
              </a:avLst>
            </a:prstGeom>
            <a:solidFill>
              <a:srgbClr val="009ACC"/>
            </a:solidFill>
            <a:ln w="28575">
              <a:solidFill>
                <a:srgbClr val="009AC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pic>
        <p:nvPicPr>
          <p:cNvPr id="19" name="Picture 18">
            <a:extLst>
              <a:ext uri="{FF2B5EF4-FFF2-40B4-BE49-F238E27FC236}">
                <a16:creationId xmlns:a16="http://schemas.microsoft.com/office/drawing/2014/main" id="{AADDE837-E250-81EB-71C3-56C6739FA17E}"/>
              </a:ext>
            </a:extLst>
          </p:cNvPr>
          <p:cNvPicPr>
            <a:picLocks noChangeAspect="1"/>
          </p:cNvPicPr>
          <p:nvPr/>
        </p:nvPicPr>
        <p:blipFill rotWithShape="1">
          <a:blip r:embed="rId4"/>
          <a:srcRect b="59018"/>
          <a:stretch/>
        </p:blipFill>
        <p:spPr>
          <a:xfrm>
            <a:off x="301721" y="7964016"/>
            <a:ext cx="12042679" cy="6408476"/>
          </a:xfrm>
          <a:prstGeom prst="rect">
            <a:avLst/>
          </a:prstGeom>
        </p:spPr>
      </p:pic>
    </p:spTree>
    <p:extLst>
      <p:ext uri="{BB962C8B-B14F-4D97-AF65-F5344CB8AC3E}">
        <p14:creationId xmlns:p14="http://schemas.microsoft.com/office/powerpoint/2010/main" val="81404321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FA898CCE-133C-254A-A2CE-2C3B77CC488C}"/>
              </a:ext>
            </a:extLst>
          </p:cNvPr>
          <p:cNvSpPr txBox="1"/>
          <p:nvPr/>
        </p:nvSpPr>
        <p:spPr>
          <a:xfrm>
            <a:off x="1065857" y="583649"/>
            <a:ext cx="9926125" cy="2677656"/>
          </a:xfrm>
          <a:prstGeom prst="rect">
            <a:avLst/>
          </a:prstGeom>
          <a:noFill/>
        </p:spPr>
        <p:txBody>
          <a:bodyPr wrap="square" rtlCol="0">
            <a:spAutoFit/>
          </a:bodyPr>
          <a:lstStyle/>
          <a:p>
            <a:r>
              <a:rPr lang="en-US" b="1" dirty="0"/>
              <a:t>(c) RPGR PVS1 (RNA)  rule table (for +- 1,2 changes and RNA splicing assays) for in the retinal-specific transcript NM_001034853.2 and broadly expressed transcript NM_00328.3 coordinates are shown, black exons are common to both red is the retinal-specific ORF15 exon and preceding exon 14, blue are splice sites in NM_00328.3 only.</a:t>
            </a:r>
          </a:p>
          <a:p>
            <a:endParaRPr lang="en-US" b="1" dirty="0"/>
          </a:p>
          <a:p>
            <a:r>
              <a:rPr lang="en-US" dirty="0"/>
              <a:t>Based on generic gene schematic (shown below) proposed by Walker et al., 2023 with the following modifications:</a:t>
            </a:r>
          </a:p>
          <a:p>
            <a:pPr marL="342900" indent="-342900">
              <a:buAutoNum type="arabicPeriod"/>
            </a:pPr>
            <a:r>
              <a:rPr lang="en-US" dirty="0"/>
              <a:t>Pathogenic missense variants have been identified in exons 3, 4, 5, 6, 7, 8, 9, 10, 11, 12, 13 and ORF15 which are considered to be ”critical to protein function”, requirement for being more that 10% of total protein length does not apply. </a:t>
            </a:r>
          </a:p>
          <a:p>
            <a:pPr marL="342900" indent="-342900">
              <a:buAutoNum type="arabicPeriod"/>
            </a:pPr>
            <a:r>
              <a:rPr lang="en-US" dirty="0"/>
              <a:t>ATG initiation site is located in exon 1 so 5’ UTR recommendation (A) does not apply.</a:t>
            </a:r>
          </a:p>
          <a:p>
            <a:pPr marL="342900" indent="-342900">
              <a:buAutoNum type="arabicPeriod"/>
            </a:pPr>
            <a:r>
              <a:rPr lang="en-US" dirty="0"/>
              <a:t>No potential ”rescue isoforms” are known.</a:t>
            </a:r>
          </a:p>
          <a:p>
            <a:pPr marL="342900" indent="-342900">
              <a:buAutoNum type="arabicPeriod"/>
            </a:pPr>
            <a:r>
              <a:rPr lang="en-US" dirty="0"/>
              <a:t>Use this table to assign appropriate PVS1 code and rationale:</a:t>
            </a:r>
          </a:p>
          <a:p>
            <a:pPr marL="342900" indent="-342900">
              <a:buAutoNum type="arabicPeriod"/>
            </a:pPr>
            <a:endParaRPr lang="en-US" dirty="0"/>
          </a:p>
          <a:p>
            <a:pPr marL="342900" indent="-342900">
              <a:buAutoNum type="arabicPeriod"/>
            </a:pPr>
            <a:endParaRPr lang="en-US" dirty="0"/>
          </a:p>
        </p:txBody>
      </p:sp>
      <p:graphicFrame>
        <p:nvGraphicFramePr>
          <p:cNvPr id="2" name="Table 1">
            <a:extLst>
              <a:ext uri="{FF2B5EF4-FFF2-40B4-BE49-F238E27FC236}">
                <a16:creationId xmlns:a16="http://schemas.microsoft.com/office/drawing/2014/main" id="{26E37D7C-7F3A-41C7-26EB-F9AD5429DFA7}"/>
              </a:ext>
            </a:extLst>
          </p:cNvPr>
          <p:cNvGraphicFramePr>
            <a:graphicFrameLocks noGrp="1"/>
          </p:cNvGraphicFramePr>
          <p:nvPr>
            <p:extLst>
              <p:ext uri="{D42A27DB-BD31-4B8C-83A1-F6EECF244321}">
                <p14:modId xmlns:p14="http://schemas.microsoft.com/office/powerpoint/2010/main" val="3178395948"/>
              </p:ext>
            </p:extLst>
          </p:nvPr>
        </p:nvGraphicFramePr>
        <p:xfrm>
          <a:off x="927099" y="3464996"/>
          <a:ext cx="10490201" cy="8128000"/>
        </p:xfrm>
        <a:graphic>
          <a:graphicData uri="http://schemas.openxmlformats.org/drawingml/2006/table">
            <a:tbl>
              <a:tblPr>
                <a:tableStyleId>{5C22544A-7EE6-4342-B048-85BDC9FD1C3A}</a:tableStyleId>
              </a:tblPr>
              <a:tblGrid>
                <a:gridCol w="1318390">
                  <a:extLst>
                    <a:ext uri="{9D8B030D-6E8A-4147-A177-3AD203B41FA5}">
                      <a16:colId xmlns:a16="http://schemas.microsoft.com/office/drawing/2014/main" val="947766037"/>
                    </a:ext>
                  </a:extLst>
                </a:gridCol>
                <a:gridCol w="1273215">
                  <a:extLst>
                    <a:ext uri="{9D8B030D-6E8A-4147-A177-3AD203B41FA5}">
                      <a16:colId xmlns:a16="http://schemas.microsoft.com/office/drawing/2014/main" val="3355803369"/>
                    </a:ext>
                  </a:extLst>
                </a:gridCol>
                <a:gridCol w="578734">
                  <a:extLst>
                    <a:ext uri="{9D8B030D-6E8A-4147-A177-3AD203B41FA5}">
                      <a16:colId xmlns:a16="http://schemas.microsoft.com/office/drawing/2014/main" val="3677756065"/>
                    </a:ext>
                  </a:extLst>
                </a:gridCol>
                <a:gridCol w="817462">
                  <a:extLst>
                    <a:ext uri="{9D8B030D-6E8A-4147-A177-3AD203B41FA5}">
                      <a16:colId xmlns:a16="http://schemas.microsoft.com/office/drawing/2014/main" val="1051222423"/>
                    </a:ext>
                  </a:extLst>
                </a:gridCol>
                <a:gridCol w="613064">
                  <a:extLst>
                    <a:ext uri="{9D8B030D-6E8A-4147-A177-3AD203B41FA5}">
                      <a16:colId xmlns:a16="http://schemas.microsoft.com/office/drawing/2014/main" val="4158294434"/>
                    </a:ext>
                  </a:extLst>
                </a:gridCol>
                <a:gridCol w="677964">
                  <a:extLst>
                    <a:ext uri="{9D8B030D-6E8A-4147-A177-3AD203B41FA5}">
                      <a16:colId xmlns:a16="http://schemas.microsoft.com/office/drawing/2014/main" val="1775910855"/>
                    </a:ext>
                  </a:extLst>
                </a:gridCol>
                <a:gridCol w="1034321">
                  <a:extLst>
                    <a:ext uri="{9D8B030D-6E8A-4147-A177-3AD203B41FA5}">
                      <a16:colId xmlns:a16="http://schemas.microsoft.com/office/drawing/2014/main" val="1823912499"/>
                    </a:ext>
                  </a:extLst>
                </a:gridCol>
                <a:gridCol w="899410">
                  <a:extLst>
                    <a:ext uri="{9D8B030D-6E8A-4147-A177-3AD203B41FA5}">
                      <a16:colId xmlns:a16="http://schemas.microsoft.com/office/drawing/2014/main" val="1963075415"/>
                    </a:ext>
                  </a:extLst>
                </a:gridCol>
                <a:gridCol w="764498">
                  <a:extLst>
                    <a:ext uri="{9D8B030D-6E8A-4147-A177-3AD203B41FA5}">
                      <a16:colId xmlns:a16="http://schemas.microsoft.com/office/drawing/2014/main" val="282414715"/>
                    </a:ext>
                  </a:extLst>
                </a:gridCol>
                <a:gridCol w="274980">
                  <a:extLst>
                    <a:ext uri="{9D8B030D-6E8A-4147-A177-3AD203B41FA5}">
                      <a16:colId xmlns:a16="http://schemas.microsoft.com/office/drawing/2014/main" val="603860745"/>
                    </a:ext>
                  </a:extLst>
                </a:gridCol>
                <a:gridCol w="675253">
                  <a:extLst>
                    <a:ext uri="{9D8B030D-6E8A-4147-A177-3AD203B41FA5}">
                      <a16:colId xmlns:a16="http://schemas.microsoft.com/office/drawing/2014/main" val="577636612"/>
                    </a:ext>
                  </a:extLst>
                </a:gridCol>
                <a:gridCol w="963742">
                  <a:extLst>
                    <a:ext uri="{9D8B030D-6E8A-4147-A177-3AD203B41FA5}">
                      <a16:colId xmlns:a16="http://schemas.microsoft.com/office/drawing/2014/main" val="336493498"/>
                    </a:ext>
                  </a:extLst>
                </a:gridCol>
                <a:gridCol w="599168">
                  <a:extLst>
                    <a:ext uri="{9D8B030D-6E8A-4147-A177-3AD203B41FA5}">
                      <a16:colId xmlns:a16="http://schemas.microsoft.com/office/drawing/2014/main" val="2771464718"/>
                    </a:ext>
                  </a:extLst>
                </a:gridCol>
              </a:tblGrid>
              <a:tr h="419100">
                <a:tc>
                  <a:txBody>
                    <a:bodyPr/>
                    <a:lstStyle/>
                    <a:p>
                      <a:pPr algn="l" fontAlgn="b"/>
                      <a:endParaRPr lang="en-US" sz="1050" b="0" i="0" u="none" strike="noStrike">
                        <a:solidFill>
                          <a:srgbClr val="000000"/>
                        </a:solidFill>
                        <a:effectLst/>
                        <a:latin typeface="+mn-lt"/>
                      </a:endParaRPr>
                    </a:p>
                  </a:txBody>
                  <a:tcPr marL="9525" marR="9525" marT="9525" marB="0" anchor="b">
                    <a:noFill/>
                  </a:tcPr>
                </a:tc>
                <a:tc>
                  <a:txBody>
                    <a:bodyPr/>
                    <a:lstStyle/>
                    <a:p>
                      <a:pPr algn="l" fontAlgn="b"/>
                      <a:endParaRPr lang="en-US" sz="1050" b="0" i="0" u="none" strike="noStrike">
                        <a:solidFill>
                          <a:srgbClr val="000000"/>
                        </a:solidFill>
                        <a:effectLst/>
                        <a:latin typeface="+mn-lt"/>
                      </a:endParaRPr>
                    </a:p>
                  </a:txBody>
                  <a:tcPr marL="9525" marR="9525" marT="9525" marB="0" anchor="b">
                    <a:noFill/>
                  </a:tcPr>
                </a:tc>
                <a:tc>
                  <a:txBody>
                    <a:bodyPr/>
                    <a:lstStyle/>
                    <a:p>
                      <a:pPr algn="l" fontAlgn="b"/>
                      <a:endParaRPr lang="en-US" sz="1050" b="0" i="0" u="none" strike="noStrike">
                        <a:solidFill>
                          <a:srgbClr val="000000"/>
                        </a:solidFill>
                        <a:effectLst/>
                        <a:latin typeface="+mn-lt"/>
                      </a:endParaRPr>
                    </a:p>
                  </a:txBody>
                  <a:tcPr marL="9525" marR="9525" marT="9525" marB="0" anchor="b">
                    <a:noFill/>
                  </a:tcPr>
                </a:tc>
                <a:tc>
                  <a:txBody>
                    <a:bodyPr/>
                    <a:lstStyle/>
                    <a:p>
                      <a:pPr algn="l" fontAlgn="b"/>
                      <a:endParaRPr lang="en-US" sz="1050" b="0" i="0" u="none" strike="noStrike" dirty="0">
                        <a:solidFill>
                          <a:srgbClr val="000000"/>
                        </a:solidFill>
                        <a:effectLst/>
                        <a:latin typeface="+mn-lt"/>
                      </a:endParaRPr>
                    </a:p>
                  </a:txBody>
                  <a:tcPr marL="9525" marR="9525" marT="9525" marB="0" anchor="b">
                    <a:noFill/>
                  </a:tcPr>
                </a:tc>
                <a:tc>
                  <a:txBody>
                    <a:bodyPr/>
                    <a:lstStyle/>
                    <a:p>
                      <a:pPr algn="l" fontAlgn="b"/>
                      <a:endParaRPr lang="en-US" sz="1050" b="0" i="0" u="none" strike="noStrike">
                        <a:solidFill>
                          <a:srgbClr val="000000"/>
                        </a:solidFill>
                        <a:effectLst/>
                        <a:latin typeface="+mn-lt"/>
                      </a:endParaRPr>
                    </a:p>
                  </a:txBody>
                  <a:tcPr marL="9525" marR="9525" marT="9525" marB="0" anchor="b">
                    <a:noFill/>
                  </a:tcPr>
                </a:tc>
                <a:tc>
                  <a:txBody>
                    <a:bodyPr/>
                    <a:lstStyle/>
                    <a:p>
                      <a:pPr algn="l" fontAlgn="b"/>
                      <a:endParaRPr lang="en-US" sz="1050" b="0" i="0" u="none" strike="noStrike">
                        <a:solidFill>
                          <a:srgbClr val="000000"/>
                        </a:solidFill>
                        <a:effectLst/>
                        <a:latin typeface="+mn-lt"/>
                      </a:endParaRPr>
                    </a:p>
                  </a:txBody>
                  <a:tcPr marL="9525" marR="9525" marT="9525" marB="0" anchor="b">
                    <a:noFill/>
                  </a:tcPr>
                </a:tc>
                <a:tc>
                  <a:txBody>
                    <a:bodyPr/>
                    <a:lstStyle/>
                    <a:p>
                      <a:pPr algn="r" fontAlgn="b"/>
                      <a:endParaRPr lang="en-US" sz="1050" b="0" i="0" u="none" strike="noStrike">
                        <a:solidFill>
                          <a:srgbClr val="000000"/>
                        </a:solidFill>
                        <a:effectLst/>
                        <a:latin typeface="+mn-lt"/>
                      </a:endParaRPr>
                    </a:p>
                  </a:txBody>
                  <a:tcPr marL="9525" marR="9525" marT="9525" marB="0" anchor="b">
                    <a:noFill/>
                  </a:tcPr>
                </a:tc>
                <a:tc>
                  <a:txBody>
                    <a:bodyPr/>
                    <a:lstStyle/>
                    <a:p>
                      <a:pPr algn="r" fontAlgn="b"/>
                      <a:endParaRPr lang="en-US" sz="1050" b="0" i="0" u="none" strike="noStrike" dirty="0">
                        <a:solidFill>
                          <a:srgbClr val="000000"/>
                        </a:solidFill>
                        <a:effectLst/>
                        <a:latin typeface="+mn-lt"/>
                      </a:endParaRPr>
                    </a:p>
                  </a:txBody>
                  <a:tcPr marL="9525" marR="9525" marT="9525" marB="0" anchor="b">
                    <a:noFill/>
                  </a:tcPr>
                </a:tc>
                <a:tc rowSpan="4" gridSpan="3">
                  <a:txBody>
                    <a:bodyPr/>
                    <a:lstStyle/>
                    <a:p>
                      <a:pPr algn="r" fontAlgn="b"/>
                      <a:r>
                        <a:rPr lang="en-US" sz="1050" u="none" strike="noStrike">
                          <a:effectLst/>
                          <a:latin typeface="+mn-lt"/>
                        </a:rPr>
                        <a:t>Exon skipping leads to preserved reading frame or frameshift (FS) with nonsense mediated decay (NMD)?</a:t>
                      </a:r>
                      <a:endParaRPr lang="en-US" sz="1050" b="0" i="0" u="none" strike="noStrike" dirty="0">
                        <a:solidFill>
                          <a:srgbClr val="000000"/>
                        </a:solidFill>
                        <a:effectLst/>
                        <a:latin typeface="+mn-lt"/>
                      </a:endParaRPr>
                    </a:p>
                  </a:txBody>
                  <a:tcPr marL="9525" marR="9525" marT="9525" marB="0" anchor="b">
                    <a:noFill/>
                  </a:tcPr>
                </a:tc>
                <a:tc rowSpan="4" hMerge="1">
                  <a:txBody>
                    <a:bodyPr/>
                    <a:lstStyle/>
                    <a:p>
                      <a:endParaRPr lang="en-US"/>
                    </a:p>
                  </a:txBody>
                  <a:tcPr/>
                </a:tc>
                <a:tc rowSpan="4" hMerge="1">
                  <a:txBody>
                    <a:bodyPr/>
                    <a:lstStyle/>
                    <a:p>
                      <a:endParaRPr lang="en-US"/>
                    </a:p>
                  </a:txBody>
                  <a:tcPr/>
                </a:tc>
                <a:tc rowSpan="5">
                  <a:txBody>
                    <a:bodyPr/>
                    <a:lstStyle/>
                    <a:p>
                      <a:pPr algn="ctr" fontAlgn="b"/>
                      <a:r>
                        <a:rPr lang="en-US" sz="1050" u="none" strike="noStrike">
                          <a:effectLst/>
                          <a:latin typeface="+mn-lt"/>
                        </a:rPr>
                        <a:t>PFs1 code for +/- 1,2 dinucleotide change and rationale from Walker et al. below</a:t>
                      </a:r>
                      <a:endParaRPr lang="en-US" sz="1050" b="0" i="0" u="none" strike="noStrike">
                        <a:solidFill>
                          <a:srgbClr val="000000"/>
                        </a:solidFill>
                        <a:effectLst/>
                        <a:latin typeface="+mn-lt"/>
                      </a:endParaRPr>
                    </a:p>
                  </a:txBody>
                  <a:tcPr marL="9525" marR="9525" marT="9525" marB="0" anchor="b">
                    <a:noFill/>
                  </a:tcPr>
                </a:tc>
                <a:tc rowSpan="5">
                  <a:txBody>
                    <a:bodyPr/>
                    <a:lstStyle/>
                    <a:p>
                      <a:pPr algn="ctr" fontAlgn="b"/>
                      <a:r>
                        <a:rPr lang="en-US" sz="1050" u="none" strike="noStrike">
                          <a:effectLst/>
                          <a:latin typeface="+mn-lt"/>
                        </a:rPr>
                        <a:t>Exon known to be critical to protein function</a:t>
                      </a:r>
                      <a:endParaRPr lang="en-US" sz="1050" b="0" i="0" u="none" strike="noStrike">
                        <a:solidFill>
                          <a:srgbClr val="000000"/>
                        </a:solidFill>
                        <a:effectLst/>
                        <a:latin typeface="+mn-lt"/>
                      </a:endParaRPr>
                    </a:p>
                  </a:txBody>
                  <a:tcPr marL="9525" marR="9525" marT="9525" marB="0" anchor="b">
                    <a:noFill/>
                  </a:tcPr>
                </a:tc>
                <a:extLst>
                  <a:ext uri="{0D108BD9-81ED-4DB2-BD59-A6C34878D82A}">
                    <a16:rowId xmlns:a16="http://schemas.microsoft.com/office/drawing/2014/main" val="3739969715"/>
                  </a:ext>
                </a:extLst>
              </a:tr>
              <a:tr h="457200">
                <a:tc>
                  <a:txBody>
                    <a:bodyPr/>
                    <a:lstStyle/>
                    <a:p>
                      <a:pPr algn="l" fontAlgn="b"/>
                      <a:endParaRPr lang="en-US" sz="1050" b="0" i="0" u="none" strike="noStrike">
                        <a:solidFill>
                          <a:srgbClr val="000000"/>
                        </a:solidFill>
                        <a:effectLst/>
                        <a:latin typeface="+mn-lt"/>
                      </a:endParaRPr>
                    </a:p>
                  </a:txBody>
                  <a:tcPr marL="9525" marR="9525" marT="9525" marB="0" anchor="b">
                    <a:noFill/>
                  </a:tcPr>
                </a:tc>
                <a:tc>
                  <a:txBody>
                    <a:bodyPr/>
                    <a:lstStyle/>
                    <a:p>
                      <a:pPr algn="l" fontAlgn="b"/>
                      <a:endParaRPr lang="en-US" sz="1050" b="0" i="0" u="none" strike="noStrike">
                        <a:solidFill>
                          <a:srgbClr val="000000"/>
                        </a:solidFill>
                        <a:effectLst/>
                        <a:latin typeface="+mn-lt"/>
                      </a:endParaRPr>
                    </a:p>
                  </a:txBody>
                  <a:tcPr marL="9525" marR="9525" marT="9525" marB="0" anchor="b">
                    <a:noFill/>
                  </a:tcPr>
                </a:tc>
                <a:tc>
                  <a:txBody>
                    <a:bodyPr/>
                    <a:lstStyle/>
                    <a:p>
                      <a:pPr algn="l" fontAlgn="b"/>
                      <a:endParaRPr lang="en-US" sz="1050" b="0" i="0" u="none" strike="noStrike">
                        <a:solidFill>
                          <a:srgbClr val="000000"/>
                        </a:solidFill>
                        <a:effectLst/>
                        <a:latin typeface="+mn-lt"/>
                      </a:endParaRPr>
                    </a:p>
                  </a:txBody>
                  <a:tcPr marL="9525" marR="9525" marT="9525" marB="0" anchor="b">
                    <a:noFill/>
                  </a:tcPr>
                </a:tc>
                <a:tc>
                  <a:txBody>
                    <a:bodyPr/>
                    <a:lstStyle/>
                    <a:p>
                      <a:pPr algn="l" fontAlgn="b"/>
                      <a:endParaRPr lang="en-US" sz="1050" b="0" i="0" u="none" strike="noStrike" dirty="0">
                        <a:solidFill>
                          <a:srgbClr val="000000"/>
                        </a:solidFill>
                        <a:effectLst/>
                        <a:latin typeface="+mn-lt"/>
                      </a:endParaRPr>
                    </a:p>
                  </a:txBody>
                  <a:tcPr marL="9525" marR="9525" marT="9525" marB="0" anchor="b">
                    <a:noFill/>
                  </a:tcPr>
                </a:tc>
                <a:tc>
                  <a:txBody>
                    <a:bodyPr/>
                    <a:lstStyle/>
                    <a:p>
                      <a:pPr algn="l" fontAlgn="b"/>
                      <a:endParaRPr lang="en-US" sz="1050" b="0" i="0" u="none" strike="noStrike">
                        <a:solidFill>
                          <a:srgbClr val="000000"/>
                        </a:solidFill>
                        <a:effectLst/>
                        <a:latin typeface="+mn-lt"/>
                      </a:endParaRPr>
                    </a:p>
                  </a:txBody>
                  <a:tcPr marL="9525" marR="9525" marT="9525" marB="0" anchor="b">
                    <a:noFill/>
                  </a:tcPr>
                </a:tc>
                <a:tc>
                  <a:txBody>
                    <a:bodyPr/>
                    <a:lstStyle/>
                    <a:p>
                      <a:pPr algn="l" fontAlgn="b"/>
                      <a:endParaRPr lang="en-US" sz="1050" b="0" i="0" u="none" strike="noStrike">
                        <a:solidFill>
                          <a:srgbClr val="000000"/>
                        </a:solidFill>
                        <a:effectLst/>
                        <a:latin typeface="+mn-lt"/>
                      </a:endParaRPr>
                    </a:p>
                  </a:txBody>
                  <a:tcPr marL="9525" marR="9525" marT="9525" marB="0" anchor="b">
                    <a:noFill/>
                  </a:tcPr>
                </a:tc>
                <a:tc rowSpan="3" gridSpan="2">
                  <a:txBody>
                    <a:bodyPr/>
                    <a:lstStyle/>
                    <a:p>
                      <a:pPr algn="ctr" fontAlgn="b"/>
                      <a:r>
                        <a:rPr lang="en-US" sz="1050" u="none" strike="noStrike" dirty="0">
                          <a:effectLst/>
                          <a:latin typeface="+mn-lt"/>
                        </a:rPr>
                        <a:t>HG38 coordinates (reverse strand) </a:t>
                      </a:r>
                      <a:endParaRPr lang="en-US" sz="1050" b="0" i="0" u="none" strike="noStrike" dirty="0">
                        <a:solidFill>
                          <a:srgbClr val="000000"/>
                        </a:solidFill>
                        <a:effectLst/>
                        <a:latin typeface="+mn-lt"/>
                      </a:endParaRPr>
                    </a:p>
                  </a:txBody>
                  <a:tcPr marL="9525" marR="9525" marT="9525" marB="0" anchor="b">
                    <a:noFill/>
                  </a:tcPr>
                </a:tc>
                <a:tc rowSpan="3" hMerge="1">
                  <a:txBody>
                    <a:bodyPr/>
                    <a:lstStyle/>
                    <a:p>
                      <a:endParaRPr lang="en-US"/>
                    </a:p>
                  </a:txBody>
                  <a:tcPr/>
                </a:tc>
                <a:tc gridSpan="3" vMerge="1">
                  <a:txBody>
                    <a:bodyPr/>
                    <a:lstStyle/>
                    <a:p>
                      <a:pPr algn="ctr" fontAlgn="b"/>
                      <a:endParaRPr lang="en-US" sz="1050" b="0" i="0" u="none" strike="noStrike" dirty="0">
                        <a:solidFill>
                          <a:srgbClr val="000000"/>
                        </a:solidFill>
                        <a:effectLst/>
                        <a:latin typeface="+mn-lt"/>
                      </a:endParaRPr>
                    </a:p>
                  </a:txBody>
                  <a:tcPr marL="9525" marR="9525" marT="9525" marB="0" anchor="b">
                    <a:noFill/>
                  </a:tcPr>
                </a:tc>
                <a:tc hMerge="1" vMerge="1">
                  <a:txBody>
                    <a:bodyPr/>
                    <a:lstStyle/>
                    <a:p>
                      <a:endParaRPr lang="en-US"/>
                    </a:p>
                  </a:txBody>
                  <a:tcPr/>
                </a:tc>
                <a:tc hMerge="1" vMerge="1">
                  <a:txBody>
                    <a:bodyPr/>
                    <a:lstStyle/>
                    <a:p>
                      <a:endParaRPr lang="en-US"/>
                    </a:p>
                  </a:txBody>
                  <a:tcPr/>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2060980705"/>
                  </a:ext>
                </a:extLst>
              </a:tr>
              <a:tr h="203200">
                <a:tc>
                  <a:txBody>
                    <a:bodyPr/>
                    <a:lstStyle/>
                    <a:p>
                      <a:pPr algn="l" fontAlgn="b"/>
                      <a:endParaRPr lang="en-US" sz="1050" b="0" i="0" u="none" strike="noStrike">
                        <a:solidFill>
                          <a:srgbClr val="000000"/>
                        </a:solidFill>
                        <a:effectLst/>
                        <a:latin typeface="+mn-lt"/>
                      </a:endParaRPr>
                    </a:p>
                  </a:txBody>
                  <a:tcPr marL="9525" marR="9525" marT="9525" marB="0" anchor="b">
                    <a:noFill/>
                  </a:tcPr>
                </a:tc>
                <a:tc>
                  <a:txBody>
                    <a:bodyPr/>
                    <a:lstStyle/>
                    <a:p>
                      <a:pPr algn="r" fontAlgn="b"/>
                      <a:endParaRPr lang="en-US" sz="1050" b="0" i="0" u="none" strike="noStrike">
                        <a:solidFill>
                          <a:srgbClr val="0070C0"/>
                        </a:solidFill>
                        <a:effectLst/>
                        <a:latin typeface="+mn-lt"/>
                      </a:endParaRPr>
                    </a:p>
                  </a:txBody>
                  <a:tcPr marL="9525" marR="9525" marT="9525" marB="0" anchor="b">
                    <a:noFill/>
                  </a:tcPr>
                </a:tc>
                <a:tc gridSpan="2">
                  <a:txBody>
                    <a:bodyPr/>
                    <a:lstStyle/>
                    <a:p>
                      <a:pPr algn="ctr" fontAlgn="b"/>
                      <a:endParaRPr lang="en-US" sz="1050" b="0" i="0" u="none" strike="noStrike">
                        <a:solidFill>
                          <a:srgbClr val="000000"/>
                        </a:solidFill>
                        <a:effectLst/>
                        <a:latin typeface="+mn-lt"/>
                      </a:endParaRPr>
                    </a:p>
                  </a:txBody>
                  <a:tcPr marL="9525" marR="9525" marT="9525" marB="0" anchor="b">
                    <a:noFill/>
                  </a:tcPr>
                </a:tc>
                <a:tc hMerge="1">
                  <a:txBody>
                    <a:bodyPr/>
                    <a:lstStyle/>
                    <a:p>
                      <a:endParaRPr lang="en-US"/>
                    </a:p>
                  </a:txBody>
                  <a:tcPr/>
                </a:tc>
                <a:tc>
                  <a:txBody>
                    <a:bodyPr/>
                    <a:lstStyle/>
                    <a:p>
                      <a:pPr algn="ctr" fontAlgn="b"/>
                      <a:endParaRPr lang="en-US" sz="1050" b="0" i="0" u="none" strike="noStrike">
                        <a:solidFill>
                          <a:srgbClr val="000000"/>
                        </a:solidFill>
                        <a:effectLst/>
                        <a:latin typeface="+mn-lt"/>
                      </a:endParaRPr>
                    </a:p>
                  </a:txBody>
                  <a:tcPr marL="9525" marR="9525" marT="9525" marB="0" anchor="b">
                    <a:noFill/>
                  </a:tcPr>
                </a:tc>
                <a:tc>
                  <a:txBody>
                    <a:bodyPr/>
                    <a:lstStyle/>
                    <a:p>
                      <a:pPr algn="ctr" fontAlgn="b"/>
                      <a:endParaRPr lang="en-US" sz="1050" b="0" i="0" u="none" strike="noStrike" dirty="0">
                        <a:solidFill>
                          <a:srgbClr val="000000"/>
                        </a:solidFill>
                        <a:effectLst/>
                        <a:latin typeface="+mn-lt"/>
                      </a:endParaRPr>
                    </a:p>
                  </a:txBody>
                  <a:tcPr marL="9525" marR="9525" marT="9525" marB="0" anchor="b">
                    <a:noFill/>
                  </a:tcPr>
                </a:tc>
                <a:tc gridSpan="2" vMerge="1">
                  <a:txBody>
                    <a:bodyPr/>
                    <a:lstStyle/>
                    <a:p>
                      <a:endParaRPr lang="en-US"/>
                    </a:p>
                  </a:txBody>
                  <a:tcPr/>
                </a:tc>
                <a:tc hMerge="1" vMerge="1">
                  <a:txBody>
                    <a:bodyPr/>
                    <a:lstStyle/>
                    <a:p>
                      <a:endParaRPr lang="en-US"/>
                    </a:p>
                  </a:txBody>
                  <a:tcPr/>
                </a:tc>
                <a:tc gridSpan="3" vMerge="1">
                  <a:txBody>
                    <a:bodyPr/>
                    <a:lstStyle/>
                    <a:p>
                      <a:endParaRPr lang="en-US"/>
                    </a:p>
                  </a:txBody>
                  <a:tcPr/>
                </a:tc>
                <a:tc hMerge="1" vMerge="1">
                  <a:txBody>
                    <a:bodyPr/>
                    <a:lstStyle/>
                    <a:p>
                      <a:endParaRPr lang="en-US"/>
                    </a:p>
                  </a:txBody>
                  <a:tcPr/>
                </a:tc>
                <a:tc hMerge="1" vMerge="1">
                  <a:txBody>
                    <a:bodyPr/>
                    <a:lstStyle/>
                    <a:p>
                      <a:endParaRPr lang="en-US"/>
                    </a:p>
                  </a:txBody>
                  <a:tcPr/>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4145054036"/>
                  </a:ext>
                </a:extLst>
              </a:tr>
              <a:tr h="203200">
                <a:tc>
                  <a:txBody>
                    <a:bodyPr/>
                    <a:lstStyle/>
                    <a:p>
                      <a:pPr algn="l" fontAlgn="b"/>
                      <a:endParaRPr lang="en-US" sz="1050" b="0" i="0" u="none" strike="noStrike">
                        <a:solidFill>
                          <a:srgbClr val="000000"/>
                        </a:solidFill>
                        <a:effectLst/>
                        <a:latin typeface="+mn-lt"/>
                      </a:endParaRPr>
                    </a:p>
                  </a:txBody>
                  <a:tcPr marL="9525" marR="9525" marT="9525" marB="0" anchor="b">
                    <a:noFill/>
                  </a:tcPr>
                </a:tc>
                <a:tc>
                  <a:txBody>
                    <a:bodyPr/>
                    <a:lstStyle/>
                    <a:p>
                      <a:pPr algn="r" fontAlgn="b"/>
                      <a:r>
                        <a:rPr lang="en-US" sz="1050" u="none" strike="noStrike" dirty="0">
                          <a:solidFill>
                            <a:srgbClr val="0070C0"/>
                          </a:solidFill>
                          <a:effectLst/>
                          <a:latin typeface="+mn-lt"/>
                        </a:rPr>
                        <a:t>NM_000328.3</a:t>
                      </a:r>
                      <a:endParaRPr lang="en-US" sz="1050" b="0" i="0" u="none" strike="noStrike" dirty="0">
                        <a:solidFill>
                          <a:srgbClr val="0070C0"/>
                        </a:solidFill>
                        <a:effectLst/>
                        <a:latin typeface="+mn-lt"/>
                      </a:endParaRPr>
                    </a:p>
                  </a:txBody>
                  <a:tcPr marL="9525" marR="9525" marT="9525" marB="0" anchor="b">
                    <a:noFill/>
                  </a:tcPr>
                </a:tc>
                <a:tc gridSpan="2">
                  <a:txBody>
                    <a:bodyPr/>
                    <a:lstStyle/>
                    <a:p>
                      <a:pPr algn="ctr" fontAlgn="b"/>
                      <a:r>
                        <a:rPr lang="en-US" sz="1050" u="none" strike="noStrike" dirty="0">
                          <a:effectLst/>
                          <a:latin typeface="+mn-lt"/>
                        </a:rPr>
                        <a:t>Transcript Start</a:t>
                      </a:r>
                      <a:endParaRPr lang="en-US" sz="1050" b="0" i="0" u="none" strike="noStrike" dirty="0">
                        <a:solidFill>
                          <a:srgbClr val="000000"/>
                        </a:solidFill>
                        <a:effectLst/>
                        <a:latin typeface="+mn-lt"/>
                      </a:endParaRPr>
                    </a:p>
                  </a:txBody>
                  <a:tcPr marL="9525" marR="9525" marT="9525" marB="0" anchor="b">
                    <a:noFill/>
                  </a:tcPr>
                </a:tc>
                <a:tc hMerge="1">
                  <a:txBody>
                    <a:bodyPr/>
                    <a:lstStyle/>
                    <a:p>
                      <a:endParaRPr lang="en-US"/>
                    </a:p>
                  </a:txBody>
                  <a:tcPr/>
                </a:tc>
                <a:tc gridSpan="2">
                  <a:txBody>
                    <a:bodyPr/>
                    <a:lstStyle/>
                    <a:p>
                      <a:pPr algn="ctr" fontAlgn="b"/>
                      <a:r>
                        <a:rPr lang="en-US" sz="1050" u="none" strike="noStrike">
                          <a:effectLst/>
                          <a:latin typeface="+mn-lt"/>
                        </a:rPr>
                        <a:t>Transcript End</a:t>
                      </a:r>
                      <a:endParaRPr lang="en-US" sz="1050" b="0" i="0" u="none" strike="noStrike">
                        <a:solidFill>
                          <a:srgbClr val="000000"/>
                        </a:solidFill>
                        <a:effectLst/>
                        <a:latin typeface="+mn-lt"/>
                      </a:endParaRPr>
                    </a:p>
                  </a:txBody>
                  <a:tcPr marL="9525" marR="9525" marT="9525" marB="0" anchor="b">
                    <a:noFill/>
                  </a:tcPr>
                </a:tc>
                <a:tc hMerge="1">
                  <a:txBody>
                    <a:bodyPr/>
                    <a:lstStyle/>
                    <a:p>
                      <a:endParaRPr lang="en-US"/>
                    </a:p>
                  </a:txBody>
                  <a:tcPr/>
                </a:tc>
                <a:tc gridSpan="2" vMerge="1">
                  <a:txBody>
                    <a:bodyPr/>
                    <a:lstStyle/>
                    <a:p>
                      <a:endParaRPr lang="en-US"/>
                    </a:p>
                  </a:txBody>
                  <a:tcPr/>
                </a:tc>
                <a:tc hMerge="1" vMerge="1">
                  <a:txBody>
                    <a:bodyPr/>
                    <a:lstStyle/>
                    <a:p>
                      <a:endParaRPr lang="en-US"/>
                    </a:p>
                  </a:txBody>
                  <a:tcPr/>
                </a:tc>
                <a:tc gridSpan="3" vMerge="1">
                  <a:txBody>
                    <a:bodyPr/>
                    <a:lstStyle/>
                    <a:p>
                      <a:endParaRPr lang="en-US"/>
                    </a:p>
                  </a:txBody>
                  <a:tcPr/>
                </a:tc>
                <a:tc hMerge="1" vMerge="1">
                  <a:txBody>
                    <a:bodyPr/>
                    <a:lstStyle/>
                    <a:p>
                      <a:endParaRPr lang="en-US"/>
                    </a:p>
                  </a:txBody>
                  <a:tcPr/>
                </a:tc>
                <a:tc hMerge="1" vMerge="1">
                  <a:txBody>
                    <a:bodyPr/>
                    <a:lstStyle/>
                    <a:p>
                      <a:endParaRPr lang="en-US"/>
                    </a:p>
                  </a:txBody>
                  <a:tcPr/>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172322538"/>
                  </a:ext>
                </a:extLst>
              </a:tr>
              <a:tr h="203200">
                <a:tc>
                  <a:txBody>
                    <a:bodyPr/>
                    <a:lstStyle/>
                    <a:p>
                      <a:pPr algn="l" fontAlgn="b"/>
                      <a:endParaRPr lang="en-US" sz="1050" b="0" i="0" u="none" strike="noStrike">
                        <a:solidFill>
                          <a:srgbClr val="000000"/>
                        </a:solidFill>
                        <a:effectLst/>
                        <a:latin typeface="+mn-lt"/>
                      </a:endParaRPr>
                    </a:p>
                  </a:txBody>
                  <a:tcPr marL="9525" marR="9525" marT="9525" marB="0" anchor="b">
                    <a:noFill/>
                  </a:tcPr>
                </a:tc>
                <a:tc>
                  <a:txBody>
                    <a:bodyPr/>
                    <a:lstStyle/>
                    <a:p>
                      <a:pPr algn="r" fontAlgn="b"/>
                      <a:r>
                        <a:rPr lang="en-US" sz="1050" u="none" strike="noStrike" dirty="0">
                          <a:solidFill>
                            <a:srgbClr val="C00000"/>
                          </a:solidFill>
                          <a:effectLst/>
                          <a:latin typeface="+mn-lt"/>
                        </a:rPr>
                        <a:t>NM_001034853.2</a:t>
                      </a:r>
                      <a:endParaRPr lang="en-US" sz="1050" b="0" i="0" u="none" strike="noStrike" dirty="0">
                        <a:solidFill>
                          <a:srgbClr val="C00000"/>
                        </a:solidFill>
                        <a:effectLst/>
                        <a:latin typeface="+mn-lt"/>
                      </a:endParaRPr>
                    </a:p>
                  </a:txBody>
                  <a:tcPr marL="9525" marR="9525" marT="9525" marB="0" anchor="b">
                    <a:noFill/>
                  </a:tcPr>
                </a:tc>
                <a:tc gridSpan="2">
                  <a:txBody>
                    <a:bodyPr/>
                    <a:lstStyle/>
                    <a:p>
                      <a:pPr algn="ctr" fontAlgn="b"/>
                      <a:r>
                        <a:rPr lang="en-US" sz="1050" u="none" strike="noStrike" dirty="0">
                          <a:effectLst/>
                          <a:latin typeface="+mn-lt"/>
                        </a:rPr>
                        <a:t>3' acceptor position</a:t>
                      </a:r>
                      <a:endParaRPr lang="en-US" sz="1050" b="0" i="0" u="none" strike="noStrike" dirty="0">
                        <a:solidFill>
                          <a:srgbClr val="000000"/>
                        </a:solidFill>
                        <a:effectLst/>
                        <a:latin typeface="+mn-lt"/>
                      </a:endParaRPr>
                    </a:p>
                  </a:txBody>
                  <a:tcPr marL="9525" marR="9525" marT="9525" marB="0" anchor="b">
                    <a:noFill/>
                  </a:tcPr>
                </a:tc>
                <a:tc hMerge="1">
                  <a:txBody>
                    <a:bodyPr/>
                    <a:lstStyle/>
                    <a:p>
                      <a:endParaRPr lang="en-US"/>
                    </a:p>
                  </a:txBody>
                  <a:tcPr/>
                </a:tc>
                <a:tc gridSpan="2">
                  <a:txBody>
                    <a:bodyPr/>
                    <a:lstStyle/>
                    <a:p>
                      <a:pPr algn="ctr" fontAlgn="b"/>
                      <a:r>
                        <a:rPr lang="en-US" sz="1050" u="none" strike="noStrike" dirty="0">
                          <a:effectLst/>
                          <a:latin typeface="+mn-lt"/>
                        </a:rPr>
                        <a:t>5' donor position </a:t>
                      </a:r>
                      <a:endParaRPr lang="en-US" sz="1050" b="0" i="0" u="none" strike="noStrike" dirty="0">
                        <a:solidFill>
                          <a:srgbClr val="000000"/>
                        </a:solidFill>
                        <a:effectLst/>
                        <a:latin typeface="+mn-lt"/>
                      </a:endParaRPr>
                    </a:p>
                  </a:txBody>
                  <a:tcPr marL="9525" marR="9525" marT="9525" marB="0" anchor="b">
                    <a:noFill/>
                  </a:tcPr>
                </a:tc>
                <a:tc hMerge="1">
                  <a:txBody>
                    <a:bodyPr/>
                    <a:lstStyle/>
                    <a:p>
                      <a:endParaRPr lang="en-US"/>
                    </a:p>
                  </a:txBody>
                  <a:tcPr/>
                </a:tc>
                <a:tc>
                  <a:txBody>
                    <a:bodyPr/>
                    <a:lstStyle/>
                    <a:p>
                      <a:pPr algn="r" fontAlgn="b"/>
                      <a:r>
                        <a:rPr lang="en-US" sz="1050" u="none" strike="noStrike" dirty="0">
                          <a:effectLst/>
                          <a:latin typeface="+mn-lt"/>
                        </a:rPr>
                        <a:t>Genome Start</a:t>
                      </a:r>
                      <a:endParaRPr lang="en-US" sz="1050" b="0" i="0" u="none" strike="noStrike" dirty="0">
                        <a:solidFill>
                          <a:srgbClr val="000000"/>
                        </a:solidFill>
                        <a:effectLst/>
                        <a:latin typeface="+mn-lt"/>
                      </a:endParaRPr>
                    </a:p>
                  </a:txBody>
                  <a:tcPr marL="9525" marR="9525" marT="9525" marB="0" anchor="b">
                    <a:noFill/>
                  </a:tcPr>
                </a:tc>
                <a:tc>
                  <a:txBody>
                    <a:bodyPr/>
                    <a:lstStyle/>
                    <a:p>
                      <a:pPr algn="r" fontAlgn="b"/>
                      <a:r>
                        <a:rPr lang="en-US" sz="1050" u="none" strike="noStrike">
                          <a:effectLst/>
                          <a:latin typeface="+mn-lt"/>
                        </a:rPr>
                        <a:t>Genome End</a:t>
                      </a:r>
                      <a:endParaRPr lang="en-US" sz="1050" b="0" i="0" u="none" strike="noStrike">
                        <a:solidFill>
                          <a:srgbClr val="000000"/>
                        </a:solidFill>
                        <a:effectLst/>
                        <a:latin typeface="+mn-lt"/>
                      </a:endParaRPr>
                    </a:p>
                  </a:txBody>
                  <a:tcPr marL="9525" marR="9525" marT="9525" marB="0" anchor="b">
                    <a:noFill/>
                  </a:tcPr>
                </a:tc>
                <a:tc>
                  <a:txBody>
                    <a:bodyPr/>
                    <a:lstStyle/>
                    <a:p>
                      <a:pPr algn="r" fontAlgn="b"/>
                      <a:r>
                        <a:rPr lang="en-US" sz="1050" u="none" strike="noStrike">
                          <a:effectLst/>
                          <a:latin typeface="+mn-lt"/>
                        </a:rPr>
                        <a:t>FS</a:t>
                      </a:r>
                      <a:endParaRPr lang="en-US" sz="1050" b="0" i="0" u="none" strike="noStrike">
                        <a:solidFill>
                          <a:srgbClr val="000000"/>
                        </a:solidFill>
                        <a:effectLst/>
                        <a:latin typeface="+mn-lt"/>
                      </a:endParaRPr>
                    </a:p>
                  </a:txBody>
                  <a:tcPr marL="9525" marR="9525" marT="9525" marB="0" anchor="b">
                    <a:noFill/>
                  </a:tcPr>
                </a:tc>
                <a:tc gridSpan="2">
                  <a:txBody>
                    <a:bodyPr/>
                    <a:lstStyle/>
                    <a:p>
                      <a:pPr algn="r" fontAlgn="b"/>
                      <a:r>
                        <a:rPr lang="en-US" sz="1050" u="none" strike="noStrike">
                          <a:effectLst/>
                          <a:latin typeface="+mn-lt"/>
                        </a:rPr>
                        <a:t>NMD</a:t>
                      </a:r>
                      <a:endParaRPr lang="en-US" sz="1050" b="0" i="0" u="none" strike="noStrike">
                        <a:solidFill>
                          <a:srgbClr val="000000"/>
                        </a:solidFill>
                        <a:effectLst/>
                        <a:latin typeface="+mn-lt"/>
                      </a:endParaRPr>
                    </a:p>
                  </a:txBody>
                  <a:tcPr marL="9525" marR="9525" marT="9525" marB="0" anchor="b">
                    <a:noFill/>
                  </a:tcPr>
                </a:tc>
                <a:tc hMerge="1">
                  <a:txBody>
                    <a:bodyPr/>
                    <a:lstStyle/>
                    <a:p>
                      <a:pPr algn="ctr" fontAlgn="b"/>
                      <a:r>
                        <a:rPr lang="en-US" sz="1050" u="none" strike="noStrike">
                          <a:effectLst/>
                          <a:latin typeface="+mn-lt"/>
                        </a:rPr>
                        <a:t>NMD</a:t>
                      </a:r>
                      <a:endParaRPr lang="en-US" sz="1050" b="0" i="0" u="none" strike="noStrike">
                        <a:solidFill>
                          <a:srgbClr val="000000"/>
                        </a:solidFill>
                        <a:effectLst/>
                        <a:latin typeface="+mn-lt"/>
                      </a:endParaRPr>
                    </a:p>
                  </a:txBody>
                  <a:tcPr marL="9525" marR="9525" marT="9525" marB="0" anchor="b">
                    <a:noFill/>
                  </a:tcPr>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3741053418"/>
                  </a:ext>
                </a:extLst>
              </a:tr>
              <a:tr h="215900">
                <a:tc>
                  <a:txBody>
                    <a:bodyPr/>
                    <a:lstStyle/>
                    <a:p>
                      <a:pPr algn="l" fontAlgn="b"/>
                      <a:endParaRPr lang="en-US" sz="1050" b="0" i="0" u="none" strike="noStrike">
                        <a:solidFill>
                          <a:srgbClr val="000000"/>
                        </a:solidFill>
                        <a:effectLst/>
                        <a:latin typeface="+mn-lt"/>
                      </a:endParaRPr>
                    </a:p>
                  </a:txBody>
                  <a:tcPr marL="9525" marR="9525" marT="9525" marB="0" anchor="b">
                    <a:noFill/>
                  </a:tcPr>
                </a:tc>
                <a:tc>
                  <a:txBody>
                    <a:bodyPr/>
                    <a:lstStyle/>
                    <a:p>
                      <a:pPr algn="r" fontAlgn="b"/>
                      <a:r>
                        <a:rPr lang="en-US" sz="1050" u="none" strike="noStrike">
                          <a:effectLst/>
                          <a:latin typeface="+mn-lt"/>
                        </a:rPr>
                        <a:t>Exon 1</a:t>
                      </a:r>
                      <a:endParaRPr lang="en-US" sz="1050" b="0" i="0" u="none" strike="noStrike">
                        <a:solidFill>
                          <a:srgbClr val="000000"/>
                        </a:solidFill>
                        <a:effectLst/>
                        <a:latin typeface="+mn-lt"/>
                      </a:endParaRPr>
                    </a:p>
                  </a:txBody>
                  <a:tcPr marL="9525" marR="9525" marT="9525" marB="0" anchor="b">
                    <a:noFill/>
                  </a:tcPr>
                </a:tc>
                <a:tc>
                  <a:txBody>
                    <a:bodyPr/>
                    <a:lstStyle/>
                    <a:p>
                      <a:pPr algn="r" fontAlgn="b"/>
                      <a:r>
                        <a:rPr lang="en-US" sz="1050" u="none" strike="noStrike" dirty="0">
                          <a:effectLst/>
                          <a:latin typeface="+mn-lt"/>
                        </a:rPr>
                        <a:t>1</a:t>
                      </a:r>
                      <a:endParaRPr lang="en-US" sz="1050" b="0" i="0" u="none" strike="noStrike" dirty="0">
                        <a:solidFill>
                          <a:srgbClr val="000000"/>
                        </a:solidFill>
                        <a:effectLst/>
                        <a:latin typeface="+mn-lt"/>
                      </a:endParaRPr>
                    </a:p>
                  </a:txBody>
                  <a:tcPr marL="9525" marR="9525" marT="9525" marB="0" anchor="b">
                    <a:noFill/>
                  </a:tcPr>
                </a:tc>
                <a:tc>
                  <a:txBody>
                    <a:bodyPr/>
                    <a:lstStyle/>
                    <a:p>
                      <a:pPr algn="r" fontAlgn="b"/>
                      <a:r>
                        <a:rPr lang="en-US" sz="1050" u="none" strike="noStrike">
                          <a:effectLst/>
                          <a:latin typeface="+mn-lt"/>
                        </a:rPr>
                        <a:t>c.-142</a:t>
                      </a:r>
                      <a:endParaRPr lang="en-US" sz="1050" b="0" i="0" u="none" strike="noStrike">
                        <a:solidFill>
                          <a:srgbClr val="000000"/>
                        </a:solidFill>
                        <a:effectLst/>
                        <a:latin typeface="+mn-lt"/>
                      </a:endParaRPr>
                    </a:p>
                  </a:txBody>
                  <a:tcPr marL="9525" marR="9525" marT="9525" marB="0" anchor="b">
                    <a:noFill/>
                  </a:tcPr>
                </a:tc>
                <a:tc>
                  <a:txBody>
                    <a:bodyPr/>
                    <a:lstStyle/>
                    <a:p>
                      <a:pPr algn="r" fontAlgn="b"/>
                      <a:r>
                        <a:rPr lang="en-US" sz="1050" u="none" strike="noStrike" dirty="0">
                          <a:effectLst/>
                          <a:latin typeface="+mn-lt"/>
                        </a:rPr>
                        <a:t>170</a:t>
                      </a:r>
                      <a:endParaRPr lang="en-US" sz="1050" b="0" i="0" u="none" strike="noStrike" dirty="0">
                        <a:solidFill>
                          <a:srgbClr val="000000"/>
                        </a:solidFill>
                        <a:effectLst/>
                        <a:latin typeface="+mn-lt"/>
                      </a:endParaRPr>
                    </a:p>
                  </a:txBody>
                  <a:tcPr marL="9525" marR="9525" marT="9525" marB="0" anchor="b">
                    <a:noFill/>
                  </a:tcPr>
                </a:tc>
                <a:tc>
                  <a:txBody>
                    <a:bodyPr/>
                    <a:lstStyle/>
                    <a:p>
                      <a:pPr algn="r" fontAlgn="b"/>
                      <a:r>
                        <a:rPr lang="en-US" sz="1050" u="none" strike="noStrike">
                          <a:effectLst/>
                          <a:latin typeface="+mn-lt"/>
                        </a:rPr>
                        <a:t>c.28</a:t>
                      </a:r>
                      <a:endParaRPr lang="en-US" sz="1050" b="0" i="0" u="none" strike="noStrike">
                        <a:solidFill>
                          <a:srgbClr val="000000"/>
                        </a:solidFill>
                        <a:effectLst/>
                        <a:latin typeface="+mn-lt"/>
                      </a:endParaRPr>
                    </a:p>
                  </a:txBody>
                  <a:tcPr marL="9525" marR="9525" marT="9525" marB="0" anchor="b">
                    <a:noFill/>
                  </a:tcPr>
                </a:tc>
                <a:tc>
                  <a:txBody>
                    <a:bodyPr/>
                    <a:lstStyle/>
                    <a:p>
                      <a:pPr algn="r" fontAlgn="b"/>
                      <a:r>
                        <a:rPr lang="en-US" sz="1050" u="none" strike="noStrike" dirty="0">
                          <a:effectLst/>
                          <a:latin typeface="+mn-lt"/>
                        </a:rPr>
                        <a:t>   38,327,509 </a:t>
                      </a:r>
                      <a:endParaRPr lang="en-US" sz="1050" b="0" i="0" u="none" strike="noStrike" dirty="0">
                        <a:solidFill>
                          <a:srgbClr val="000000"/>
                        </a:solidFill>
                        <a:effectLst/>
                        <a:latin typeface="+mn-lt"/>
                        <a:ea typeface="Arial Unicode MS" panose="020B0604020202020204" pitchFamily="34" charset="-128"/>
                      </a:endParaRPr>
                    </a:p>
                  </a:txBody>
                  <a:tcPr marL="9525" marR="9525" marT="9525" marB="0" anchor="b">
                    <a:noFill/>
                  </a:tcPr>
                </a:tc>
                <a:tc>
                  <a:txBody>
                    <a:bodyPr/>
                    <a:lstStyle/>
                    <a:p>
                      <a:pPr algn="r" fontAlgn="b"/>
                      <a:r>
                        <a:rPr lang="en-US" sz="1050" u="none" strike="noStrike">
                          <a:effectLst/>
                          <a:latin typeface="+mn-lt"/>
                        </a:rPr>
                        <a:t>  38,327,340 </a:t>
                      </a:r>
                      <a:endParaRPr lang="en-US" sz="1050" b="0" i="0" u="none" strike="noStrike">
                        <a:solidFill>
                          <a:srgbClr val="000000"/>
                        </a:solidFill>
                        <a:effectLst/>
                        <a:latin typeface="+mn-lt"/>
                        <a:ea typeface="Arial Unicode MS" panose="020B0604020202020204" pitchFamily="34" charset="-128"/>
                      </a:endParaRPr>
                    </a:p>
                  </a:txBody>
                  <a:tcPr marL="9525" marR="9525" marT="9525" marB="0" anchor="b">
                    <a:noFill/>
                  </a:tcPr>
                </a:tc>
                <a:tc>
                  <a:txBody>
                    <a:bodyPr/>
                    <a:lstStyle/>
                    <a:p>
                      <a:pPr algn="r" fontAlgn="b"/>
                      <a:r>
                        <a:rPr lang="en-US" sz="1050" u="none" strike="noStrike">
                          <a:effectLst/>
                          <a:latin typeface="+mn-lt"/>
                        </a:rPr>
                        <a:t> FS </a:t>
                      </a:r>
                      <a:endParaRPr lang="en-US" sz="1050" b="0" i="0" u="none" strike="noStrike">
                        <a:solidFill>
                          <a:srgbClr val="000000"/>
                        </a:solidFill>
                        <a:effectLst/>
                        <a:latin typeface="+mn-lt"/>
                        <a:ea typeface="Arial Unicode MS" panose="020B0604020202020204" pitchFamily="34" charset="-128"/>
                      </a:endParaRPr>
                    </a:p>
                  </a:txBody>
                  <a:tcPr marL="9525" marR="9525" marT="9525" marB="0" anchor="b">
                    <a:noFill/>
                  </a:tcPr>
                </a:tc>
                <a:tc gridSpan="2">
                  <a:txBody>
                    <a:bodyPr/>
                    <a:lstStyle/>
                    <a:p>
                      <a:pPr algn="r" fontAlgn="b"/>
                      <a:r>
                        <a:rPr lang="en-US" sz="1050" u="none" strike="noStrike">
                          <a:effectLst/>
                          <a:latin typeface="+mn-lt"/>
                        </a:rPr>
                        <a:t> NMD </a:t>
                      </a:r>
                      <a:endParaRPr lang="en-US" sz="1050" b="0" i="0" u="none" strike="noStrike">
                        <a:solidFill>
                          <a:srgbClr val="000000"/>
                        </a:solidFill>
                        <a:effectLst/>
                        <a:latin typeface="+mn-lt"/>
                        <a:ea typeface="Arial Unicode MS" panose="020B0604020202020204" pitchFamily="34" charset="-128"/>
                      </a:endParaRPr>
                    </a:p>
                  </a:txBody>
                  <a:tcPr marL="9525" marR="9525" marT="9525" marB="0" anchor="b">
                    <a:noFill/>
                  </a:tcPr>
                </a:tc>
                <a:tc hMerge="1">
                  <a:txBody>
                    <a:bodyPr/>
                    <a:lstStyle/>
                    <a:p>
                      <a:pPr algn="ctr" fontAlgn="b"/>
                      <a:r>
                        <a:rPr lang="en-US" sz="1050" u="none" strike="noStrike">
                          <a:effectLst/>
                          <a:latin typeface="+mn-lt"/>
                        </a:rPr>
                        <a:t> NMD </a:t>
                      </a:r>
                      <a:endParaRPr lang="en-US" sz="1050" b="0" i="0" u="none" strike="noStrike">
                        <a:solidFill>
                          <a:srgbClr val="000000"/>
                        </a:solidFill>
                        <a:effectLst/>
                        <a:latin typeface="+mn-lt"/>
                        <a:ea typeface="Arial Unicode MS" panose="020B0604020202020204" pitchFamily="34" charset="-128"/>
                      </a:endParaRPr>
                    </a:p>
                  </a:txBody>
                  <a:tcPr marL="9525" marR="9525" marT="9525" marB="0" anchor="b">
                    <a:noFill/>
                  </a:tcPr>
                </a:tc>
                <a:tc>
                  <a:txBody>
                    <a:bodyPr/>
                    <a:lstStyle/>
                    <a:p>
                      <a:pPr algn="l" fontAlgn="b"/>
                      <a:r>
                        <a:rPr lang="en-US" sz="1050" u="none" strike="noStrike">
                          <a:effectLst/>
                          <a:latin typeface="+mn-lt"/>
                        </a:rPr>
                        <a:t> PVS1 (B)  </a:t>
                      </a:r>
                      <a:endParaRPr lang="en-US" sz="1050" b="0" i="0" u="none" strike="noStrike">
                        <a:solidFill>
                          <a:srgbClr val="000000"/>
                        </a:solidFill>
                        <a:effectLst/>
                        <a:latin typeface="+mn-lt"/>
                        <a:ea typeface="Arial Unicode MS" panose="020B0604020202020204" pitchFamily="34" charset="-128"/>
                      </a:endParaRPr>
                    </a:p>
                  </a:txBody>
                  <a:tcPr marL="9525" marR="9525" marT="9525" marB="0" anchor="b">
                    <a:noFill/>
                  </a:tcPr>
                </a:tc>
                <a:tc>
                  <a:txBody>
                    <a:bodyPr/>
                    <a:lstStyle/>
                    <a:p>
                      <a:pPr algn="l" fontAlgn="b"/>
                      <a:r>
                        <a:rPr lang="en-US" sz="1050" u="none" strike="noStrike">
                          <a:effectLst/>
                          <a:latin typeface="+mn-lt"/>
                        </a:rPr>
                        <a:t> Yes </a:t>
                      </a:r>
                      <a:endParaRPr lang="en-US" sz="1050" b="0" i="0" u="none" strike="noStrike">
                        <a:solidFill>
                          <a:srgbClr val="000000"/>
                        </a:solidFill>
                        <a:effectLst/>
                        <a:latin typeface="+mn-lt"/>
                        <a:ea typeface="Arial Unicode MS" panose="020B0604020202020204" pitchFamily="34" charset="-128"/>
                      </a:endParaRPr>
                    </a:p>
                  </a:txBody>
                  <a:tcPr marL="9525" marR="9525" marT="9525" marB="0" anchor="b">
                    <a:noFill/>
                  </a:tcPr>
                </a:tc>
                <a:extLst>
                  <a:ext uri="{0D108BD9-81ED-4DB2-BD59-A6C34878D82A}">
                    <a16:rowId xmlns:a16="http://schemas.microsoft.com/office/drawing/2014/main" val="1842974015"/>
                  </a:ext>
                </a:extLst>
              </a:tr>
              <a:tr h="215900">
                <a:tc>
                  <a:txBody>
                    <a:bodyPr/>
                    <a:lstStyle/>
                    <a:p>
                      <a:pPr algn="l" fontAlgn="b"/>
                      <a:endParaRPr lang="en-US" sz="1050" b="0" i="0" u="none" strike="noStrike">
                        <a:solidFill>
                          <a:srgbClr val="000000"/>
                        </a:solidFill>
                        <a:effectLst/>
                        <a:latin typeface="+mn-lt"/>
                      </a:endParaRPr>
                    </a:p>
                  </a:txBody>
                  <a:tcPr marL="9525" marR="9525" marT="9525" marB="0" anchor="b">
                    <a:noFill/>
                  </a:tcPr>
                </a:tc>
                <a:tc>
                  <a:txBody>
                    <a:bodyPr/>
                    <a:lstStyle/>
                    <a:p>
                      <a:pPr algn="r" fontAlgn="b"/>
                      <a:r>
                        <a:rPr lang="en-US" sz="1050" u="none" strike="noStrike">
                          <a:effectLst/>
                          <a:latin typeface="+mn-lt"/>
                        </a:rPr>
                        <a:t>Exon 2</a:t>
                      </a:r>
                      <a:endParaRPr lang="en-US" sz="1050" b="0" i="0" u="none" strike="noStrike">
                        <a:solidFill>
                          <a:srgbClr val="000000"/>
                        </a:solidFill>
                        <a:effectLst/>
                        <a:latin typeface="+mn-lt"/>
                      </a:endParaRPr>
                    </a:p>
                  </a:txBody>
                  <a:tcPr marL="9525" marR="9525" marT="9525" marB="0" anchor="b">
                    <a:noFill/>
                  </a:tcPr>
                </a:tc>
                <a:tc>
                  <a:txBody>
                    <a:bodyPr/>
                    <a:lstStyle/>
                    <a:p>
                      <a:pPr algn="r" fontAlgn="b"/>
                      <a:r>
                        <a:rPr lang="en-US" sz="1050" u="none" strike="noStrike" dirty="0">
                          <a:effectLst/>
                          <a:latin typeface="+mn-lt"/>
                        </a:rPr>
                        <a:t>171</a:t>
                      </a:r>
                      <a:endParaRPr lang="en-US" sz="1050" b="0" i="0" u="none" strike="noStrike" dirty="0">
                        <a:solidFill>
                          <a:srgbClr val="000000"/>
                        </a:solidFill>
                        <a:effectLst/>
                        <a:latin typeface="+mn-lt"/>
                      </a:endParaRPr>
                    </a:p>
                  </a:txBody>
                  <a:tcPr marL="9525" marR="9525" marT="9525" marB="0" anchor="b">
                    <a:noFill/>
                  </a:tcPr>
                </a:tc>
                <a:tc>
                  <a:txBody>
                    <a:bodyPr/>
                    <a:lstStyle/>
                    <a:p>
                      <a:pPr algn="r" fontAlgn="b"/>
                      <a:r>
                        <a:rPr lang="en-US" sz="1050" u="none" strike="noStrike">
                          <a:effectLst/>
                          <a:latin typeface="+mn-lt"/>
                        </a:rPr>
                        <a:t>c.29</a:t>
                      </a:r>
                      <a:endParaRPr lang="en-US" sz="1050" b="0" i="0" u="none" strike="noStrike">
                        <a:solidFill>
                          <a:srgbClr val="000000"/>
                        </a:solidFill>
                        <a:effectLst/>
                        <a:latin typeface="+mn-lt"/>
                      </a:endParaRPr>
                    </a:p>
                  </a:txBody>
                  <a:tcPr marL="9525" marR="9525" marT="9525" marB="0" anchor="b">
                    <a:noFill/>
                  </a:tcPr>
                </a:tc>
                <a:tc>
                  <a:txBody>
                    <a:bodyPr/>
                    <a:lstStyle/>
                    <a:p>
                      <a:pPr algn="r" fontAlgn="b"/>
                      <a:r>
                        <a:rPr lang="en-US" sz="1050" u="none" strike="noStrike" dirty="0">
                          <a:effectLst/>
                          <a:latin typeface="+mn-lt"/>
                        </a:rPr>
                        <a:t>296</a:t>
                      </a:r>
                      <a:endParaRPr lang="en-US" sz="1050" b="0" i="0" u="none" strike="noStrike" dirty="0">
                        <a:solidFill>
                          <a:srgbClr val="000000"/>
                        </a:solidFill>
                        <a:effectLst/>
                        <a:latin typeface="+mn-lt"/>
                      </a:endParaRPr>
                    </a:p>
                  </a:txBody>
                  <a:tcPr marL="9525" marR="9525" marT="9525" marB="0" anchor="b">
                    <a:noFill/>
                  </a:tcPr>
                </a:tc>
                <a:tc>
                  <a:txBody>
                    <a:bodyPr/>
                    <a:lstStyle/>
                    <a:p>
                      <a:pPr algn="r" fontAlgn="b"/>
                      <a:r>
                        <a:rPr lang="en-US" sz="1050" u="none" strike="noStrike">
                          <a:effectLst/>
                          <a:latin typeface="+mn-lt"/>
                        </a:rPr>
                        <a:t>c.154</a:t>
                      </a:r>
                      <a:endParaRPr lang="en-US" sz="1050" b="0" i="0" u="none" strike="noStrike">
                        <a:solidFill>
                          <a:srgbClr val="000000"/>
                        </a:solidFill>
                        <a:effectLst/>
                        <a:latin typeface="+mn-lt"/>
                      </a:endParaRPr>
                    </a:p>
                  </a:txBody>
                  <a:tcPr marL="9525" marR="9525" marT="9525" marB="0" anchor="b">
                    <a:noFill/>
                  </a:tcPr>
                </a:tc>
                <a:tc>
                  <a:txBody>
                    <a:bodyPr/>
                    <a:lstStyle/>
                    <a:p>
                      <a:pPr algn="r" fontAlgn="b"/>
                      <a:r>
                        <a:rPr lang="en-US" sz="1050" u="none" strike="noStrike" dirty="0">
                          <a:effectLst/>
                          <a:latin typeface="+mn-lt"/>
                        </a:rPr>
                        <a:t>   38,323,524 </a:t>
                      </a:r>
                      <a:endParaRPr lang="en-US" sz="1050" b="0" i="0" u="none" strike="noStrike" dirty="0">
                        <a:solidFill>
                          <a:srgbClr val="000000"/>
                        </a:solidFill>
                        <a:effectLst/>
                        <a:latin typeface="+mn-lt"/>
                        <a:ea typeface="Arial Unicode MS" panose="020B0604020202020204" pitchFamily="34" charset="-128"/>
                      </a:endParaRPr>
                    </a:p>
                  </a:txBody>
                  <a:tcPr marL="9525" marR="9525" marT="9525" marB="0" anchor="b">
                    <a:noFill/>
                  </a:tcPr>
                </a:tc>
                <a:tc>
                  <a:txBody>
                    <a:bodyPr/>
                    <a:lstStyle/>
                    <a:p>
                      <a:pPr algn="r" fontAlgn="b"/>
                      <a:r>
                        <a:rPr lang="en-US" sz="1050" u="none" strike="noStrike">
                          <a:effectLst/>
                          <a:latin typeface="+mn-lt"/>
                        </a:rPr>
                        <a:t>  38,323,399 </a:t>
                      </a:r>
                      <a:endParaRPr lang="en-US" sz="1050" b="0" i="0" u="none" strike="noStrike">
                        <a:solidFill>
                          <a:srgbClr val="000000"/>
                        </a:solidFill>
                        <a:effectLst/>
                        <a:latin typeface="+mn-lt"/>
                        <a:ea typeface="Arial Unicode MS" panose="020B0604020202020204" pitchFamily="34" charset="-128"/>
                      </a:endParaRPr>
                    </a:p>
                  </a:txBody>
                  <a:tcPr marL="9525" marR="9525" marT="9525" marB="0" anchor="b">
                    <a:noFill/>
                  </a:tcPr>
                </a:tc>
                <a:tc>
                  <a:txBody>
                    <a:bodyPr/>
                    <a:lstStyle/>
                    <a:p>
                      <a:pPr algn="r" fontAlgn="b"/>
                      <a:r>
                        <a:rPr lang="en-US" sz="1050" u="none" strike="noStrike">
                          <a:effectLst/>
                          <a:latin typeface="+mn-lt"/>
                        </a:rPr>
                        <a:t> in frame </a:t>
                      </a:r>
                      <a:endParaRPr lang="en-US" sz="1050" b="0" i="0" u="none" strike="noStrike">
                        <a:solidFill>
                          <a:srgbClr val="000000"/>
                        </a:solidFill>
                        <a:effectLst/>
                        <a:latin typeface="+mn-lt"/>
                        <a:ea typeface="Arial Unicode MS" panose="020B0604020202020204" pitchFamily="34" charset="-128"/>
                      </a:endParaRPr>
                    </a:p>
                  </a:txBody>
                  <a:tcPr marL="9525" marR="9525" marT="9525" marB="0" anchor="b">
                    <a:noFill/>
                  </a:tcPr>
                </a:tc>
                <a:tc gridSpan="2">
                  <a:txBody>
                    <a:bodyPr/>
                    <a:lstStyle/>
                    <a:p>
                      <a:pPr algn="r" fontAlgn="b"/>
                      <a:r>
                        <a:rPr lang="en-US" sz="1050" u="none" strike="noStrike">
                          <a:effectLst/>
                          <a:latin typeface="+mn-lt"/>
                        </a:rPr>
                        <a:t> No NMD </a:t>
                      </a:r>
                      <a:endParaRPr lang="en-US" sz="1050" b="0" i="0" u="none" strike="noStrike">
                        <a:solidFill>
                          <a:srgbClr val="000000"/>
                        </a:solidFill>
                        <a:effectLst/>
                        <a:latin typeface="+mn-lt"/>
                        <a:ea typeface="Arial Unicode MS" panose="020B0604020202020204" pitchFamily="34" charset="-128"/>
                      </a:endParaRPr>
                    </a:p>
                  </a:txBody>
                  <a:tcPr marL="9525" marR="9525" marT="9525" marB="0" anchor="b">
                    <a:noFill/>
                  </a:tcPr>
                </a:tc>
                <a:tc hMerge="1">
                  <a:txBody>
                    <a:bodyPr/>
                    <a:lstStyle/>
                    <a:p>
                      <a:pPr algn="ctr" fontAlgn="b"/>
                      <a:r>
                        <a:rPr lang="en-US" sz="1050" u="none" strike="noStrike">
                          <a:effectLst/>
                          <a:latin typeface="+mn-lt"/>
                        </a:rPr>
                        <a:t> No NMD </a:t>
                      </a:r>
                      <a:endParaRPr lang="en-US" sz="1050" b="0" i="0" u="none" strike="noStrike">
                        <a:solidFill>
                          <a:srgbClr val="000000"/>
                        </a:solidFill>
                        <a:effectLst/>
                        <a:latin typeface="+mn-lt"/>
                        <a:ea typeface="Arial Unicode MS" panose="020B0604020202020204" pitchFamily="34" charset="-128"/>
                      </a:endParaRPr>
                    </a:p>
                  </a:txBody>
                  <a:tcPr marL="9525" marR="9525" marT="9525" marB="0" anchor="b">
                    <a:noFill/>
                  </a:tcPr>
                </a:tc>
                <a:tc>
                  <a:txBody>
                    <a:bodyPr/>
                    <a:lstStyle/>
                    <a:p>
                      <a:pPr algn="l" fontAlgn="b"/>
                      <a:r>
                        <a:rPr lang="en-US" sz="1050" u="none" strike="noStrike">
                          <a:effectLst/>
                          <a:latin typeface="+mn-lt"/>
                        </a:rPr>
                        <a:t> PVS1 (G) </a:t>
                      </a:r>
                      <a:endParaRPr lang="en-US" sz="1050" b="0" i="0" u="none" strike="noStrike">
                        <a:solidFill>
                          <a:srgbClr val="000000"/>
                        </a:solidFill>
                        <a:effectLst/>
                        <a:latin typeface="+mn-lt"/>
                        <a:ea typeface="Arial Unicode MS" panose="020B0604020202020204" pitchFamily="34" charset="-128"/>
                      </a:endParaRPr>
                    </a:p>
                  </a:txBody>
                  <a:tcPr marL="9525" marR="9525" marT="9525" marB="0" anchor="b">
                    <a:noFill/>
                  </a:tcPr>
                </a:tc>
                <a:tc>
                  <a:txBody>
                    <a:bodyPr/>
                    <a:lstStyle/>
                    <a:p>
                      <a:pPr algn="l" fontAlgn="b"/>
                      <a:r>
                        <a:rPr lang="en-US" sz="1050" u="none" strike="noStrike">
                          <a:effectLst/>
                          <a:latin typeface="+mn-lt"/>
                        </a:rPr>
                        <a:t> No </a:t>
                      </a:r>
                      <a:endParaRPr lang="en-US" sz="1050" b="0" i="0" u="none" strike="noStrike">
                        <a:solidFill>
                          <a:srgbClr val="000000"/>
                        </a:solidFill>
                        <a:effectLst/>
                        <a:latin typeface="+mn-lt"/>
                        <a:ea typeface="Arial Unicode MS" panose="020B0604020202020204" pitchFamily="34" charset="-128"/>
                      </a:endParaRPr>
                    </a:p>
                  </a:txBody>
                  <a:tcPr marL="9525" marR="9525" marT="9525" marB="0" anchor="b">
                    <a:noFill/>
                  </a:tcPr>
                </a:tc>
                <a:extLst>
                  <a:ext uri="{0D108BD9-81ED-4DB2-BD59-A6C34878D82A}">
                    <a16:rowId xmlns:a16="http://schemas.microsoft.com/office/drawing/2014/main" val="4272300809"/>
                  </a:ext>
                </a:extLst>
              </a:tr>
              <a:tr h="215900">
                <a:tc>
                  <a:txBody>
                    <a:bodyPr/>
                    <a:lstStyle/>
                    <a:p>
                      <a:pPr algn="l" fontAlgn="b"/>
                      <a:endParaRPr lang="en-US" sz="1050" b="0" i="0" u="none" strike="noStrike">
                        <a:solidFill>
                          <a:srgbClr val="000000"/>
                        </a:solidFill>
                        <a:effectLst/>
                        <a:latin typeface="+mn-lt"/>
                      </a:endParaRPr>
                    </a:p>
                  </a:txBody>
                  <a:tcPr marL="9525" marR="9525" marT="9525" marB="0" anchor="b">
                    <a:noFill/>
                  </a:tcPr>
                </a:tc>
                <a:tc>
                  <a:txBody>
                    <a:bodyPr/>
                    <a:lstStyle/>
                    <a:p>
                      <a:pPr algn="r" fontAlgn="b"/>
                      <a:r>
                        <a:rPr lang="en-US" sz="1050" u="none" strike="noStrike">
                          <a:effectLst/>
                          <a:latin typeface="+mn-lt"/>
                        </a:rPr>
                        <a:t>Exon 3</a:t>
                      </a:r>
                      <a:endParaRPr lang="en-US" sz="1050" b="0" i="0" u="none" strike="noStrike">
                        <a:solidFill>
                          <a:srgbClr val="000000"/>
                        </a:solidFill>
                        <a:effectLst/>
                        <a:latin typeface="+mn-lt"/>
                      </a:endParaRPr>
                    </a:p>
                  </a:txBody>
                  <a:tcPr marL="9525" marR="9525" marT="9525" marB="0" anchor="b">
                    <a:noFill/>
                  </a:tcPr>
                </a:tc>
                <a:tc>
                  <a:txBody>
                    <a:bodyPr/>
                    <a:lstStyle/>
                    <a:p>
                      <a:pPr algn="r" fontAlgn="b"/>
                      <a:r>
                        <a:rPr lang="en-US" sz="1050" u="none" strike="noStrike" dirty="0">
                          <a:effectLst/>
                          <a:latin typeface="+mn-lt"/>
                        </a:rPr>
                        <a:t>297</a:t>
                      </a:r>
                      <a:endParaRPr lang="en-US" sz="1050" b="0" i="0" u="none" strike="noStrike" dirty="0">
                        <a:solidFill>
                          <a:srgbClr val="000000"/>
                        </a:solidFill>
                        <a:effectLst/>
                        <a:latin typeface="+mn-lt"/>
                        <a:ea typeface="Arial Unicode MS" panose="020B0604020202020204" pitchFamily="34" charset="-128"/>
                      </a:endParaRPr>
                    </a:p>
                  </a:txBody>
                  <a:tcPr marL="9525" marR="9525" marT="9525" marB="0" anchor="b">
                    <a:noFill/>
                  </a:tcPr>
                </a:tc>
                <a:tc>
                  <a:txBody>
                    <a:bodyPr/>
                    <a:lstStyle/>
                    <a:p>
                      <a:pPr algn="r" fontAlgn="b"/>
                      <a:r>
                        <a:rPr lang="en-US" sz="1050" u="none" strike="noStrike">
                          <a:effectLst/>
                          <a:latin typeface="+mn-lt"/>
                        </a:rPr>
                        <a:t>c.155</a:t>
                      </a:r>
                      <a:endParaRPr lang="en-US" sz="1050" b="0" i="0" u="none" strike="noStrike">
                        <a:solidFill>
                          <a:srgbClr val="000000"/>
                        </a:solidFill>
                        <a:effectLst/>
                        <a:latin typeface="+mn-lt"/>
                        <a:ea typeface="Arial Unicode MS" panose="020B0604020202020204" pitchFamily="34" charset="-128"/>
                      </a:endParaRPr>
                    </a:p>
                  </a:txBody>
                  <a:tcPr marL="9525" marR="9525" marT="9525" marB="0" anchor="b">
                    <a:noFill/>
                  </a:tcPr>
                </a:tc>
                <a:tc>
                  <a:txBody>
                    <a:bodyPr/>
                    <a:lstStyle/>
                    <a:p>
                      <a:pPr algn="r" fontAlgn="b"/>
                      <a:r>
                        <a:rPr lang="en-US" sz="1050" u="none" strike="noStrike" dirty="0">
                          <a:effectLst/>
                          <a:latin typeface="+mn-lt"/>
                        </a:rPr>
                        <a:t>389</a:t>
                      </a:r>
                      <a:endParaRPr lang="en-US" sz="1050" b="0" i="0" u="none" strike="noStrike" dirty="0">
                        <a:solidFill>
                          <a:srgbClr val="000000"/>
                        </a:solidFill>
                        <a:effectLst/>
                        <a:latin typeface="+mn-lt"/>
                        <a:ea typeface="Arial Unicode MS" panose="020B0604020202020204" pitchFamily="34" charset="-128"/>
                      </a:endParaRPr>
                    </a:p>
                  </a:txBody>
                  <a:tcPr marL="9525" marR="9525" marT="9525" marB="0" anchor="b">
                    <a:noFill/>
                  </a:tcPr>
                </a:tc>
                <a:tc>
                  <a:txBody>
                    <a:bodyPr/>
                    <a:lstStyle/>
                    <a:p>
                      <a:pPr algn="r" fontAlgn="b"/>
                      <a:r>
                        <a:rPr lang="en-US" sz="1050" u="none" strike="noStrike">
                          <a:effectLst/>
                          <a:latin typeface="+mn-lt"/>
                        </a:rPr>
                        <a:t>c.247</a:t>
                      </a:r>
                      <a:endParaRPr lang="en-US" sz="1050" b="0" i="0" u="none" strike="noStrike">
                        <a:solidFill>
                          <a:srgbClr val="000000"/>
                        </a:solidFill>
                        <a:effectLst/>
                        <a:latin typeface="+mn-lt"/>
                        <a:ea typeface="Arial Unicode MS" panose="020B0604020202020204" pitchFamily="34" charset="-128"/>
                      </a:endParaRPr>
                    </a:p>
                  </a:txBody>
                  <a:tcPr marL="9525" marR="9525" marT="9525" marB="0" anchor="b">
                    <a:noFill/>
                  </a:tcPr>
                </a:tc>
                <a:tc>
                  <a:txBody>
                    <a:bodyPr/>
                    <a:lstStyle/>
                    <a:p>
                      <a:pPr algn="r" fontAlgn="b"/>
                      <a:r>
                        <a:rPr lang="en-US" sz="1050" u="none" strike="noStrike">
                          <a:effectLst/>
                          <a:latin typeface="+mn-lt"/>
                        </a:rPr>
                        <a:t>   38,322,945 </a:t>
                      </a:r>
                      <a:endParaRPr lang="en-US" sz="1050" b="0" i="0" u="none" strike="noStrike">
                        <a:solidFill>
                          <a:srgbClr val="000000"/>
                        </a:solidFill>
                        <a:effectLst/>
                        <a:latin typeface="+mn-lt"/>
                        <a:ea typeface="Arial Unicode MS" panose="020B0604020202020204" pitchFamily="34" charset="-128"/>
                      </a:endParaRPr>
                    </a:p>
                  </a:txBody>
                  <a:tcPr marL="9525" marR="9525" marT="9525" marB="0" anchor="b">
                    <a:noFill/>
                  </a:tcPr>
                </a:tc>
                <a:tc>
                  <a:txBody>
                    <a:bodyPr/>
                    <a:lstStyle/>
                    <a:p>
                      <a:pPr algn="r" fontAlgn="b"/>
                      <a:r>
                        <a:rPr lang="en-US" sz="1050" u="none" strike="noStrike">
                          <a:effectLst/>
                          <a:latin typeface="+mn-lt"/>
                        </a:rPr>
                        <a:t>  38,322,853 </a:t>
                      </a:r>
                      <a:endParaRPr lang="en-US" sz="1050" b="0" i="0" u="none" strike="noStrike">
                        <a:solidFill>
                          <a:srgbClr val="000000"/>
                        </a:solidFill>
                        <a:effectLst/>
                        <a:latin typeface="+mn-lt"/>
                        <a:ea typeface="Arial Unicode MS" panose="020B0604020202020204" pitchFamily="34" charset="-128"/>
                      </a:endParaRPr>
                    </a:p>
                  </a:txBody>
                  <a:tcPr marL="9525" marR="9525" marT="9525" marB="0" anchor="b">
                    <a:noFill/>
                  </a:tcPr>
                </a:tc>
                <a:tc>
                  <a:txBody>
                    <a:bodyPr/>
                    <a:lstStyle/>
                    <a:p>
                      <a:pPr algn="r" fontAlgn="b"/>
                      <a:r>
                        <a:rPr lang="en-US" sz="1050" u="none" strike="noStrike">
                          <a:effectLst/>
                          <a:latin typeface="+mn-lt"/>
                        </a:rPr>
                        <a:t> in frame </a:t>
                      </a:r>
                      <a:endParaRPr lang="en-US" sz="1050" b="0" i="0" u="none" strike="noStrike">
                        <a:solidFill>
                          <a:srgbClr val="000000"/>
                        </a:solidFill>
                        <a:effectLst/>
                        <a:latin typeface="+mn-lt"/>
                        <a:ea typeface="Arial Unicode MS" panose="020B0604020202020204" pitchFamily="34" charset="-128"/>
                      </a:endParaRPr>
                    </a:p>
                  </a:txBody>
                  <a:tcPr marL="9525" marR="9525" marT="9525" marB="0" anchor="b">
                    <a:noFill/>
                  </a:tcPr>
                </a:tc>
                <a:tc gridSpan="2">
                  <a:txBody>
                    <a:bodyPr/>
                    <a:lstStyle/>
                    <a:p>
                      <a:pPr algn="r" fontAlgn="b"/>
                      <a:r>
                        <a:rPr lang="en-US" sz="1050" u="none" strike="noStrike">
                          <a:effectLst/>
                          <a:latin typeface="+mn-lt"/>
                        </a:rPr>
                        <a:t> No NMD </a:t>
                      </a:r>
                      <a:endParaRPr lang="en-US" sz="1050" b="0" i="0" u="none" strike="noStrike">
                        <a:solidFill>
                          <a:srgbClr val="000000"/>
                        </a:solidFill>
                        <a:effectLst/>
                        <a:latin typeface="+mn-lt"/>
                        <a:ea typeface="Arial Unicode MS" panose="020B0604020202020204" pitchFamily="34" charset="-128"/>
                      </a:endParaRPr>
                    </a:p>
                  </a:txBody>
                  <a:tcPr marL="9525" marR="9525" marT="9525" marB="0" anchor="b">
                    <a:noFill/>
                  </a:tcPr>
                </a:tc>
                <a:tc hMerge="1">
                  <a:txBody>
                    <a:bodyPr/>
                    <a:lstStyle/>
                    <a:p>
                      <a:pPr algn="ctr" fontAlgn="b"/>
                      <a:r>
                        <a:rPr lang="en-US" sz="1050" u="none" strike="noStrike">
                          <a:effectLst/>
                          <a:latin typeface="+mn-lt"/>
                        </a:rPr>
                        <a:t> No NMD </a:t>
                      </a:r>
                      <a:endParaRPr lang="en-US" sz="1050" b="0" i="0" u="none" strike="noStrike">
                        <a:solidFill>
                          <a:srgbClr val="000000"/>
                        </a:solidFill>
                        <a:effectLst/>
                        <a:latin typeface="+mn-lt"/>
                        <a:ea typeface="Arial Unicode MS" panose="020B0604020202020204" pitchFamily="34" charset="-128"/>
                      </a:endParaRPr>
                    </a:p>
                  </a:txBody>
                  <a:tcPr marL="9525" marR="9525" marT="9525" marB="0" anchor="b">
                    <a:noFill/>
                  </a:tcPr>
                </a:tc>
                <a:tc>
                  <a:txBody>
                    <a:bodyPr/>
                    <a:lstStyle/>
                    <a:p>
                      <a:pPr algn="l" fontAlgn="b"/>
                      <a:r>
                        <a:rPr lang="en-US" sz="1050" u="none" strike="noStrike">
                          <a:effectLst/>
                          <a:latin typeface="+mn-lt"/>
                        </a:rPr>
                        <a:t> PVS1 (F) </a:t>
                      </a:r>
                      <a:endParaRPr lang="en-US" sz="1050" b="0" i="0" u="none" strike="noStrike">
                        <a:solidFill>
                          <a:srgbClr val="000000"/>
                        </a:solidFill>
                        <a:effectLst/>
                        <a:latin typeface="+mn-lt"/>
                        <a:ea typeface="Arial Unicode MS" panose="020B0604020202020204" pitchFamily="34" charset="-128"/>
                      </a:endParaRPr>
                    </a:p>
                  </a:txBody>
                  <a:tcPr marL="9525" marR="9525" marT="9525" marB="0" anchor="b">
                    <a:noFill/>
                  </a:tcPr>
                </a:tc>
                <a:tc>
                  <a:txBody>
                    <a:bodyPr/>
                    <a:lstStyle/>
                    <a:p>
                      <a:pPr algn="l" fontAlgn="b"/>
                      <a:r>
                        <a:rPr lang="en-US" sz="1050" u="none" strike="noStrike">
                          <a:effectLst/>
                          <a:latin typeface="+mn-lt"/>
                        </a:rPr>
                        <a:t> Yes </a:t>
                      </a:r>
                      <a:endParaRPr lang="en-US" sz="1050" b="0" i="0" u="none" strike="noStrike">
                        <a:solidFill>
                          <a:srgbClr val="000000"/>
                        </a:solidFill>
                        <a:effectLst/>
                        <a:latin typeface="+mn-lt"/>
                        <a:ea typeface="Arial Unicode MS" panose="020B0604020202020204" pitchFamily="34" charset="-128"/>
                      </a:endParaRPr>
                    </a:p>
                  </a:txBody>
                  <a:tcPr marL="9525" marR="9525" marT="9525" marB="0" anchor="b">
                    <a:noFill/>
                  </a:tcPr>
                </a:tc>
                <a:extLst>
                  <a:ext uri="{0D108BD9-81ED-4DB2-BD59-A6C34878D82A}">
                    <a16:rowId xmlns:a16="http://schemas.microsoft.com/office/drawing/2014/main" val="3388516048"/>
                  </a:ext>
                </a:extLst>
              </a:tr>
              <a:tr h="215900">
                <a:tc>
                  <a:txBody>
                    <a:bodyPr/>
                    <a:lstStyle/>
                    <a:p>
                      <a:pPr algn="l" fontAlgn="b"/>
                      <a:endParaRPr lang="en-US" sz="1050" b="0" i="0" u="none" strike="noStrike">
                        <a:solidFill>
                          <a:srgbClr val="000000"/>
                        </a:solidFill>
                        <a:effectLst/>
                        <a:latin typeface="+mn-lt"/>
                      </a:endParaRPr>
                    </a:p>
                  </a:txBody>
                  <a:tcPr marL="9525" marR="9525" marT="9525" marB="0" anchor="b">
                    <a:noFill/>
                  </a:tcPr>
                </a:tc>
                <a:tc>
                  <a:txBody>
                    <a:bodyPr/>
                    <a:lstStyle/>
                    <a:p>
                      <a:pPr algn="r" fontAlgn="b"/>
                      <a:r>
                        <a:rPr lang="en-US" sz="1050" u="none" strike="noStrike">
                          <a:effectLst/>
                          <a:latin typeface="+mn-lt"/>
                        </a:rPr>
                        <a:t>Exon 4</a:t>
                      </a:r>
                      <a:endParaRPr lang="en-US" sz="1050" b="0" i="0" u="none" strike="noStrike">
                        <a:solidFill>
                          <a:srgbClr val="000000"/>
                        </a:solidFill>
                        <a:effectLst/>
                        <a:latin typeface="+mn-lt"/>
                      </a:endParaRPr>
                    </a:p>
                  </a:txBody>
                  <a:tcPr marL="9525" marR="9525" marT="9525" marB="0" anchor="b">
                    <a:noFill/>
                  </a:tcPr>
                </a:tc>
                <a:tc>
                  <a:txBody>
                    <a:bodyPr/>
                    <a:lstStyle/>
                    <a:p>
                      <a:pPr algn="r" fontAlgn="b"/>
                      <a:r>
                        <a:rPr lang="en-US" sz="1050" u="none" strike="noStrike" dirty="0">
                          <a:effectLst/>
                          <a:latin typeface="+mn-lt"/>
                        </a:rPr>
                        <a:t>390</a:t>
                      </a:r>
                      <a:endParaRPr lang="en-US" sz="1050" b="0" i="0" u="none" strike="noStrike" dirty="0">
                        <a:solidFill>
                          <a:srgbClr val="000000"/>
                        </a:solidFill>
                        <a:effectLst/>
                        <a:latin typeface="+mn-lt"/>
                        <a:ea typeface="Arial Unicode MS" panose="020B0604020202020204" pitchFamily="34" charset="-128"/>
                      </a:endParaRPr>
                    </a:p>
                  </a:txBody>
                  <a:tcPr marL="9525" marR="9525" marT="9525" marB="0" anchor="b">
                    <a:noFill/>
                  </a:tcPr>
                </a:tc>
                <a:tc>
                  <a:txBody>
                    <a:bodyPr/>
                    <a:lstStyle/>
                    <a:p>
                      <a:pPr algn="r" fontAlgn="b"/>
                      <a:r>
                        <a:rPr lang="en-US" sz="1050" u="none" strike="noStrike">
                          <a:effectLst/>
                          <a:latin typeface="+mn-lt"/>
                        </a:rPr>
                        <a:t>c.248</a:t>
                      </a:r>
                      <a:endParaRPr lang="en-US" sz="1050" b="0" i="0" u="none" strike="noStrike">
                        <a:solidFill>
                          <a:srgbClr val="000000"/>
                        </a:solidFill>
                        <a:effectLst/>
                        <a:latin typeface="+mn-lt"/>
                        <a:ea typeface="Arial Unicode MS" panose="020B0604020202020204" pitchFamily="34" charset="-128"/>
                      </a:endParaRPr>
                    </a:p>
                  </a:txBody>
                  <a:tcPr marL="9525" marR="9525" marT="9525" marB="0" anchor="b">
                    <a:noFill/>
                  </a:tcPr>
                </a:tc>
                <a:tc>
                  <a:txBody>
                    <a:bodyPr/>
                    <a:lstStyle/>
                    <a:p>
                      <a:pPr algn="r" fontAlgn="b"/>
                      <a:r>
                        <a:rPr lang="en-US" sz="1050" u="none" strike="noStrike" dirty="0">
                          <a:effectLst/>
                          <a:latin typeface="+mn-lt"/>
                        </a:rPr>
                        <a:t>452</a:t>
                      </a:r>
                      <a:endParaRPr lang="en-US" sz="1050" b="0" i="0" u="none" strike="noStrike" dirty="0">
                        <a:solidFill>
                          <a:srgbClr val="000000"/>
                        </a:solidFill>
                        <a:effectLst/>
                        <a:latin typeface="+mn-lt"/>
                        <a:ea typeface="Arial Unicode MS" panose="020B0604020202020204" pitchFamily="34" charset="-128"/>
                      </a:endParaRPr>
                    </a:p>
                  </a:txBody>
                  <a:tcPr marL="9525" marR="9525" marT="9525" marB="0" anchor="b">
                    <a:noFill/>
                  </a:tcPr>
                </a:tc>
                <a:tc>
                  <a:txBody>
                    <a:bodyPr/>
                    <a:lstStyle/>
                    <a:p>
                      <a:pPr algn="r" fontAlgn="b"/>
                      <a:r>
                        <a:rPr lang="en-US" sz="1050" u="none" strike="noStrike">
                          <a:effectLst/>
                          <a:latin typeface="+mn-lt"/>
                        </a:rPr>
                        <a:t>c.310</a:t>
                      </a:r>
                      <a:endParaRPr lang="en-US" sz="1050" b="0" i="0" u="none" strike="noStrike">
                        <a:solidFill>
                          <a:srgbClr val="000000"/>
                        </a:solidFill>
                        <a:effectLst/>
                        <a:latin typeface="+mn-lt"/>
                        <a:ea typeface="Arial Unicode MS" panose="020B0604020202020204" pitchFamily="34" charset="-128"/>
                      </a:endParaRPr>
                    </a:p>
                  </a:txBody>
                  <a:tcPr marL="9525" marR="9525" marT="9525" marB="0" anchor="b">
                    <a:noFill/>
                  </a:tcPr>
                </a:tc>
                <a:tc>
                  <a:txBody>
                    <a:bodyPr/>
                    <a:lstStyle/>
                    <a:p>
                      <a:pPr algn="r" fontAlgn="b"/>
                      <a:r>
                        <a:rPr lang="en-US" sz="1050" u="none" strike="noStrike">
                          <a:effectLst/>
                          <a:latin typeface="+mn-lt"/>
                        </a:rPr>
                        <a:t>   38,321,089 </a:t>
                      </a:r>
                      <a:endParaRPr lang="en-US" sz="1050" b="0" i="0" u="none" strike="noStrike">
                        <a:solidFill>
                          <a:srgbClr val="000000"/>
                        </a:solidFill>
                        <a:effectLst/>
                        <a:latin typeface="+mn-lt"/>
                        <a:ea typeface="Arial Unicode MS" panose="020B0604020202020204" pitchFamily="34" charset="-128"/>
                      </a:endParaRPr>
                    </a:p>
                  </a:txBody>
                  <a:tcPr marL="9525" marR="9525" marT="9525" marB="0" anchor="b">
                    <a:noFill/>
                  </a:tcPr>
                </a:tc>
                <a:tc>
                  <a:txBody>
                    <a:bodyPr/>
                    <a:lstStyle/>
                    <a:p>
                      <a:pPr algn="r" fontAlgn="b"/>
                      <a:r>
                        <a:rPr lang="en-US" sz="1050" u="none" strike="noStrike">
                          <a:effectLst/>
                          <a:latin typeface="+mn-lt"/>
                        </a:rPr>
                        <a:t>  38,321,027 </a:t>
                      </a:r>
                      <a:endParaRPr lang="en-US" sz="1050" b="0" i="0" u="none" strike="noStrike">
                        <a:solidFill>
                          <a:srgbClr val="000000"/>
                        </a:solidFill>
                        <a:effectLst/>
                        <a:latin typeface="+mn-lt"/>
                        <a:ea typeface="Arial Unicode MS" panose="020B0604020202020204" pitchFamily="34" charset="-128"/>
                      </a:endParaRPr>
                    </a:p>
                  </a:txBody>
                  <a:tcPr marL="9525" marR="9525" marT="9525" marB="0" anchor="b">
                    <a:noFill/>
                  </a:tcPr>
                </a:tc>
                <a:tc>
                  <a:txBody>
                    <a:bodyPr/>
                    <a:lstStyle/>
                    <a:p>
                      <a:pPr algn="r" fontAlgn="b"/>
                      <a:r>
                        <a:rPr lang="en-US" sz="1050" u="none" strike="noStrike">
                          <a:effectLst/>
                          <a:latin typeface="+mn-lt"/>
                        </a:rPr>
                        <a:t> in frame </a:t>
                      </a:r>
                      <a:endParaRPr lang="en-US" sz="1050" b="0" i="0" u="none" strike="noStrike">
                        <a:solidFill>
                          <a:srgbClr val="000000"/>
                        </a:solidFill>
                        <a:effectLst/>
                        <a:latin typeface="+mn-lt"/>
                        <a:ea typeface="Arial Unicode MS" panose="020B0604020202020204" pitchFamily="34" charset="-128"/>
                      </a:endParaRPr>
                    </a:p>
                  </a:txBody>
                  <a:tcPr marL="9525" marR="9525" marT="9525" marB="0" anchor="b">
                    <a:noFill/>
                  </a:tcPr>
                </a:tc>
                <a:tc gridSpan="2">
                  <a:txBody>
                    <a:bodyPr/>
                    <a:lstStyle/>
                    <a:p>
                      <a:pPr algn="r" fontAlgn="b"/>
                      <a:r>
                        <a:rPr lang="en-US" sz="1050" u="none" strike="noStrike">
                          <a:effectLst/>
                          <a:latin typeface="+mn-lt"/>
                        </a:rPr>
                        <a:t> No NMD </a:t>
                      </a:r>
                      <a:endParaRPr lang="en-US" sz="1050" b="0" i="0" u="none" strike="noStrike">
                        <a:solidFill>
                          <a:srgbClr val="000000"/>
                        </a:solidFill>
                        <a:effectLst/>
                        <a:latin typeface="+mn-lt"/>
                        <a:ea typeface="Arial Unicode MS" panose="020B0604020202020204" pitchFamily="34" charset="-128"/>
                      </a:endParaRPr>
                    </a:p>
                  </a:txBody>
                  <a:tcPr marL="9525" marR="9525" marT="9525" marB="0" anchor="b">
                    <a:noFill/>
                  </a:tcPr>
                </a:tc>
                <a:tc hMerge="1">
                  <a:txBody>
                    <a:bodyPr/>
                    <a:lstStyle/>
                    <a:p>
                      <a:pPr algn="ctr" fontAlgn="b"/>
                      <a:r>
                        <a:rPr lang="en-US" sz="1050" u="none" strike="noStrike">
                          <a:effectLst/>
                          <a:latin typeface="+mn-lt"/>
                        </a:rPr>
                        <a:t> No NMD </a:t>
                      </a:r>
                      <a:endParaRPr lang="en-US" sz="1050" b="0" i="0" u="none" strike="noStrike">
                        <a:solidFill>
                          <a:srgbClr val="000000"/>
                        </a:solidFill>
                        <a:effectLst/>
                        <a:latin typeface="+mn-lt"/>
                        <a:ea typeface="Arial Unicode MS" panose="020B0604020202020204" pitchFamily="34" charset="-128"/>
                      </a:endParaRPr>
                    </a:p>
                  </a:txBody>
                  <a:tcPr marL="9525" marR="9525" marT="9525" marB="0" anchor="b">
                    <a:noFill/>
                  </a:tcPr>
                </a:tc>
                <a:tc>
                  <a:txBody>
                    <a:bodyPr/>
                    <a:lstStyle/>
                    <a:p>
                      <a:pPr algn="l" fontAlgn="b"/>
                      <a:r>
                        <a:rPr lang="en-US" sz="1050" u="none" strike="noStrike">
                          <a:effectLst/>
                          <a:latin typeface="+mn-lt"/>
                        </a:rPr>
                        <a:t> PVS1 (F) </a:t>
                      </a:r>
                      <a:endParaRPr lang="en-US" sz="1050" b="0" i="0" u="none" strike="noStrike">
                        <a:solidFill>
                          <a:srgbClr val="000000"/>
                        </a:solidFill>
                        <a:effectLst/>
                        <a:latin typeface="+mn-lt"/>
                        <a:ea typeface="Arial Unicode MS" panose="020B0604020202020204" pitchFamily="34" charset="-128"/>
                      </a:endParaRPr>
                    </a:p>
                  </a:txBody>
                  <a:tcPr marL="9525" marR="9525" marT="9525" marB="0" anchor="b">
                    <a:noFill/>
                  </a:tcPr>
                </a:tc>
                <a:tc>
                  <a:txBody>
                    <a:bodyPr/>
                    <a:lstStyle/>
                    <a:p>
                      <a:pPr algn="l" fontAlgn="b"/>
                      <a:r>
                        <a:rPr lang="en-US" sz="1050" u="none" strike="noStrike">
                          <a:effectLst/>
                          <a:latin typeface="+mn-lt"/>
                        </a:rPr>
                        <a:t> Yes </a:t>
                      </a:r>
                      <a:endParaRPr lang="en-US" sz="1050" b="0" i="0" u="none" strike="noStrike">
                        <a:solidFill>
                          <a:srgbClr val="000000"/>
                        </a:solidFill>
                        <a:effectLst/>
                        <a:latin typeface="+mn-lt"/>
                        <a:ea typeface="Arial Unicode MS" panose="020B0604020202020204" pitchFamily="34" charset="-128"/>
                      </a:endParaRPr>
                    </a:p>
                  </a:txBody>
                  <a:tcPr marL="9525" marR="9525" marT="9525" marB="0" anchor="b">
                    <a:noFill/>
                  </a:tcPr>
                </a:tc>
                <a:extLst>
                  <a:ext uri="{0D108BD9-81ED-4DB2-BD59-A6C34878D82A}">
                    <a16:rowId xmlns:a16="http://schemas.microsoft.com/office/drawing/2014/main" val="3650766478"/>
                  </a:ext>
                </a:extLst>
              </a:tr>
              <a:tr h="215900">
                <a:tc>
                  <a:txBody>
                    <a:bodyPr/>
                    <a:lstStyle/>
                    <a:p>
                      <a:pPr algn="l" fontAlgn="b"/>
                      <a:endParaRPr lang="en-US" sz="1050" b="0" i="0" u="none" strike="noStrike">
                        <a:solidFill>
                          <a:srgbClr val="000000"/>
                        </a:solidFill>
                        <a:effectLst/>
                        <a:latin typeface="+mn-lt"/>
                      </a:endParaRPr>
                    </a:p>
                  </a:txBody>
                  <a:tcPr marL="9525" marR="9525" marT="9525" marB="0" anchor="b">
                    <a:noFill/>
                  </a:tcPr>
                </a:tc>
                <a:tc>
                  <a:txBody>
                    <a:bodyPr/>
                    <a:lstStyle/>
                    <a:p>
                      <a:pPr algn="r" fontAlgn="b"/>
                      <a:r>
                        <a:rPr lang="en-US" sz="1050" u="none" strike="noStrike">
                          <a:effectLst/>
                          <a:latin typeface="+mn-lt"/>
                        </a:rPr>
                        <a:t>Exon 5</a:t>
                      </a:r>
                      <a:endParaRPr lang="en-US" sz="1050" b="0" i="0" u="none" strike="noStrike">
                        <a:solidFill>
                          <a:srgbClr val="000000"/>
                        </a:solidFill>
                        <a:effectLst/>
                        <a:latin typeface="+mn-lt"/>
                      </a:endParaRPr>
                    </a:p>
                  </a:txBody>
                  <a:tcPr marL="9525" marR="9525" marT="9525" marB="0" anchor="b">
                    <a:noFill/>
                  </a:tcPr>
                </a:tc>
                <a:tc>
                  <a:txBody>
                    <a:bodyPr/>
                    <a:lstStyle/>
                    <a:p>
                      <a:pPr algn="r" fontAlgn="b"/>
                      <a:r>
                        <a:rPr lang="en-US" sz="1050" u="none" strike="noStrike" dirty="0">
                          <a:effectLst/>
                          <a:latin typeface="+mn-lt"/>
                        </a:rPr>
                        <a:t>453</a:t>
                      </a:r>
                      <a:endParaRPr lang="en-US" sz="1050" b="0" i="0" u="none" strike="noStrike" dirty="0">
                        <a:solidFill>
                          <a:srgbClr val="000000"/>
                        </a:solidFill>
                        <a:effectLst/>
                        <a:latin typeface="+mn-lt"/>
                        <a:ea typeface="Arial Unicode MS" panose="020B0604020202020204" pitchFamily="34" charset="-128"/>
                      </a:endParaRPr>
                    </a:p>
                  </a:txBody>
                  <a:tcPr marL="9525" marR="9525" marT="9525" marB="0" anchor="b">
                    <a:noFill/>
                  </a:tcPr>
                </a:tc>
                <a:tc>
                  <a:txBody>
                    <a:bodyPr/>
                    <a:lstStyle/>
                    <a:p>
                      <a:pPr algn="r" fontAlgn="b"/>
                      <a:r>
                        <a:rPr lang="en-US" sz="1050" u="none" strike="noStrike">
                          <a:effectLst/>
                          <a:latin typeface="+mn-lt"/>
                        </a:rPr>
                        <a:t>c.311</a:t>
                      </a:r>
                      <a:endParaRPr lang="en-US" sz="1050" b="0" i="0" u="none" strike="noStrike">
                        <a:solidFill>
                          <a:srgbClr val="000000"/>
                        </a:solidFill>
                        <a:effectLst/>
                        <a:latin typeface="+mn-lt"/>
                        <a:ea typeface="Arial Unicode MS" panose="020B0604020202020204" pitchFamily="34" charset="-128"/>
                      </a:endParaRPr>
                    </a:p>
                  </a:txBody>
                  <a:tcPr marL="9525" marR="9525" marT="9525" marB="0" anchor="b">
                    <a:noFill/>
                  </a:tcPr>
                </a:tc>
                <a:tc>
                  <a:txBody>
                    <a:bodyPr/>
                    <a:lstStyle/>
                    <a:p>
                      <a:pPr algn="r" fontAlgn="b"/>
                      <a:r>
                        <a:rPr lang="en-US" sz="1050" u="none" strike="noStrike" dirty="0">
                          <a:effectLst/>
                          <a:latin typeface="+mn-lt"/>
                        </a:rPr>
                        <a:t>611</a:t>
                      </a:r>
                      <a:endParaRPr lang="en-US" sz="1050" b="0" i="0" u="none" strike="noStrike" dirty="0">
                        <a:solidFill>
                          <a:srgbClr val="000000"/>
                        </a:solidFill>
                        <a:effectLst/>
                        <a:latin typeface="+mn-lt"/>
                        <a:ea typeface="Arial Unicode MS" panose="020B0604020202020204" pitchFamily="34" charset="-128"/>
                      </a:endParaRPr>
                    </a:p>
                  </a:txBody>
                  <a:tcPr marL="9525" marR="9525" marT="9525" marB="0" anchor="b">
                    <a:noFill/>
                  </a:tcPr>
                </a:tc>
                <a:tc>
                  <a:txBody>
                    <a:bodyPr/>
                    <a:lstStyle/>
                    <a:p>
                      <a:pPr algn="r" fontAlgn="b"/>
                      <a:r>
                        <a:rPr lang="en-US" sz="1050" u="none" strike="noStrike">
                          <a:effectLst/>
                          <a:latin typeface="+mn-lt"/>
                        </a:rPr>
                        <a:t>c.469</a:t>
                      </a:r>
                      <a:endParaRPr lang="en-US" sz="1050" b="0" i="0" u="none" strike="noStrike">
                        <a:solidFill>
                          <a:srgbClr val="000000"/>
                        </a:solidFill>
                        <a:effectLst/>
                        <a:latin typeface="+mn-lt"/>
                        <a:ea typeface="Arial Unicode MS" panose="020B0604020202020204" pitchFamily="34" charset="-128"/>
                      </a:endParaRPr>
                    </a:p>
                  </a:txBody>
                  <a:tcPr marL="9525" marR="9525" marT="9525" marB="0" anchor="b">
                    <a:noFill/>
                  </a:tcPr>
                </a:tc>
                <a:tc>
                  <a:txBody>
                    <a:bodyPr/>
                    <a:lstStyle/>
                    <a:p>
                      <a:pPr algn="r" fontAlgn="b"/>
                      <a:r>
                        <a:rPr lang="en-US" sz="1050" u="none" strike="noStrike" dirty="0">
                          <a:effectLst/>
                          <a:latin typeface="+mn-lt"/>
                        </a:rPr>
                        <a:t>   38,318,987 </a:t>
                      </a:r>
                      <a:endParaRPr lang="en-US" sz="1050" b="0" i="0" u="none" strike="noStrike" dirty="0">
                        <a:solidFill>
                          <a:srgbClr val="000000"/>
                        </a:solidFill>
                        <a:effectLst/>
                        <a:latin typeface="+mn-lt"/>
                        <a:ea typeface="Arial Unicode MS" panose="020B0604020202020204" pitchFamily="34" charset="-128"/>
                      </a:endParaRPr>
                    </a:p>
                  </a:txBody>
                  <a:tcPr marL="9525" marR="9525" marT="9525" marB="0" anchor="b">
                    <a:noFill/>
                  </a:tcPr>
                </a:tc>
                <a:tc>
                  <a:txBody>
                    <a:bodyPr/>
                    <a:lstStyle/>
                    <a:p>
                      <a:pPr algn="r" fontAlgn="b"/>
                      <a:r>
                        <a:rPr lang="en-US" sz="1050" u="none" strike="noStrike">
                          <a:effectLst/>
                          <a:latin typeface="+mn-lt"/>
                        </a:rPr>
                        <a:t>  38,318,829 </a:t>
                      </a:r>
                      <a:endParaRPr lang="en-US" sz="1050" b="0" i="0" u="none" strike="noStrike">
                        <a:solidFill>
                          <a:srgbClr val="000000"/>
                        </a:solidFill>
                        <a:effectLst/>
                        <a:latin typeface="+mn-lt"/>
                        <a:ea typeface="Arial Unicode MS" panose="020B0604020202020204" pitchFamily="34" charset="-128"/>
                      </a:endParaRPr>
                    </a:p>
                  </a:txBody>
                  <a:tcPr marL="9525" marR="9525" marT="9525" marB="0" anchor="b">
                    <a:noFill/>
                  </a:tcPr>
                </a:tc>
                <a:tc>
                  <a:txBody>
                    <a:bodyPr/>
                    <a:lstStyle/>
                    <a:p>
                      <a:pPr algn="r" fontAlgn="b"/>
                      <a:r>
                        <a:rPr lang="en-US" sz="1050" u="none" strike="noStrike">
                          <a:effectLst/>
                          <a:latin typeface="+mn-lt"/>
                        </a:rPr>
                        <a:t> in frame </a:t>
                      </a:r>
                      <a:endParaRPr lang="en-US" sz="1050" b="0" i="0" u="none" strike="noStrike">
                        <a:solidFill>
                          <a:srgbClr val="000000"/>
                        </a:solidFill>
                        <a:effectLst/>
                        <a:latin typeface="+mn-lt"/>
                        <a:ea typeface="Arial Unicode MS" panose="020B0604020202020204" pitchFamily="34" charset="-128"/>
                      </a:endParaRPr>
                    </a:p>
                  </a:txBody>
                  <a:tcPr marL="9525" marR="9525" marT="9525" marB="0" anchor="b">
                    <a:noFill/>
                  </a:tcPr>
                </a:tc>
                <a:tc gridSpan="2">
                  <a:txBody>
                    <a:bodyPr/>
                    <a:lstStyle/>
                    <a:p>
                      <a:pPr algn="r" fontAlgn="b"/>
                      <a:r>
                        <a:rPr lang="en-US" sz="1050" u="none" strike="noStrike">
                          <a:effectLst/>
                          <a:latin typeface="+mn-lt"/>
                        </a:rPr>
                        <a:t> No NMD </a:t>
                      </a:r>
                      <a:endParaRPr lang="en-US" sz="1050" b="0" i="0" u="none" strike="noStrike">
                        <a:solidFill>
                          <a:srgbClr val="000000"/>
                        </a:solidFill>
                        <a:effectLst/>
                        <a:latin typeface="+mn-lt"/>
                        <a:ea typeface="Arial Unicode MS" panose="020B0604020202020204" pitchFamily="34" charset="-128"/>
                      </a:endParaRPr>
                    </a:p>
                  </a:txBody>
                  <a:tcPr marL="9525" marR="9525" marT="9525" marB="0" anchor="b">
                    <a:noFill/>
                  </a:tcPr>
                </a:tc>
                <a:tc hMerge="1">
                  <a:txBody>
                    <a:bodyPr/>
                    <a:lstStyle/>
                    <a:p>
                      <a:pPr algn="ctr" fontAlgn="b"/>
                      <a:r>
                        <a:rPr lang="en-US" sz="1050" u="none" strike="noStrike">
                          <a:effectLst/>
                          <a:latin typeface="+mn-lt"/>
                        </a:rPr>
                        <a:t> No NMD </a:t>
                      </a:r>
                      <a:endParaRPr lang="en-US" sz="1050" b="0" i="0" u="none" strike="noStrike">
                        <a:solidFill>
                          <a:srgbClr val="000000"/>
                        </a:solidFill>
                        <a:effectLst/>
                        <a:latin typeface="+mn-lt"/>
                        <a:ea typeface="Arial Unicode MS" panose="020B0604020202020204" pitchFamily="34" charset="-128"/>
                      </a:endParaRPr>
                    </a:p>
                  </a:txBody>
                  <a:tcPr marL="9525" marR="9525" marT="9525" marB="0" anchor="b">
                    <a:noFill/>
                  </a:tcPr>
                </a:tc>
                <a:tc>
                  <a:txBody>
                    <a:bodyPr/>
                    <a:lstStyle/>
                    <a:p>
                      <a:pPr algn="l" fontAlgn="b"/>
                      <a:r>
                        <a:rPr lang="en-US" sz="1050" u="none" strike="noStrike">
                          <a:effectLst/>
                          <a:latin typeface="+mn-lt"/>
                        </a:rPr>
                        <a:t> PVS1 (F) </a:t>
                      </a:r>
                      <a:endParaRPr lang="en-US" sz="1050" b="0" i="0" u="none" strike="noStrike">
                        <a:solidFill>
                          <a:srgbClr val="000000"/>
                        </a:solidFill>
                        <a:effectLst/>
                        <a:latin typeface="+mn-lt"/>
                        <a:ea typeface="Arial Unicode MS" panose="020B0604020202020204" pitchFamily="34" charset="-128"/>
                      </a:endParaRPr>
                    </a:p>
                  </a:txBody>
                  <a:tcPr marL="9525" marR="9525" marT="9525" marB="0" anchor="b">
                    <a:noFill/>
                  </a:tcPr>
                </a:tc>
                <a:tc>
                  <a:txBody>
                    <a:bodyPr/>
                    <a:lstStyle/>
                    <a:p>
                      <a:pPr algn="l" fontAlgn="b"/>
                      <a:r>
                        <a:rPr lang="en-US" sz="1050" u="none" strike="noStrike">
                          <a:effectLst/>
                          <a:latin typeface="+mn-lt"/>
                        </a:rPr>
                        <a:t> Yes </a:t>
                      </a:r>
                      <a:endParaRPr lang="en-US" sz="1050" b="0" i="0" u="none" strike="noStrike">
                        <a:solidFill>
                          <a:srgbClr val="000000"/>
                        </a:solidFill>
                        <a:effectLst/>
                        <a:latin typeface="+mn-lt"/>
                        <a:ea typeface="Arial Unicode MS" panose="020B0604020202020204" pitchFamily="34" charset="-128"/>
                      </a:endParaRPr>
                    </a:p>
                  </a:txBody>
                  <a:tcPr marL="9525" marR="9525" marT="9525" marB="0" anchor="b">
                    <a:noFill/>
                  </a:tcPr>
                </a:tc>
                <a:extLst>
                  <a:ext uri="{0D108BD9-81ED-4DB2-BD59-A6C34878D82A}">
                    <a16:rowId xmlns:a16="http://schemas.microsoft.com/office/drawing/2014/main" val="25289989"/>
                  </a:ext>
                </a:extLst>
              </a:tr>
              <a:tr h="215900">
                <a:tc>
                  <a:txBody>
                    <a:bodyPr/>
                    <a:lstStyle/>
                    <a:p>
                      <a:pPr algn="l" fontAlgn="b"/>
                      <a:endParaRPr lang="en-US" sz="1050" b="0" i="0" u="none" strike="noStrike">
                        <a:solidFill>
                          <a:srgbClr val="000000"/>
                        </a:solidFill>
                        <a:effectLst/>
                        <a:latin typeface="+mn-lt"/>
                      </a:endParaRPr>
                    </a:p>
                  </a:txBody>
                  <a:tcPr marL="9525" marR="9525" marT="9525" marB="0" anchor="b">
                    <a:noFill/>
                  </a:tcPr>
                </a:tc>
                <a:tc>
                  <a:txBody>
                    <a:bodyPr/>
                    <a:lstStyle/>
                    <a:p>
                      <a:pPr algn="r" fontAlgn="b"/>
                      <a:r>
                        <a:rPr lang="en-US" sz="1050" u="none" strike="noStrike">
                          <a:effectLst/>
                          <a:latin typeface="+mn-lt"/>
                        </a:rPr>
                        <a:t>Exon 6 </a:t>
                      </a:r>
                      <a:endParaRPr lang="en-US" sz="1050" b="0" i="0" u="none" strike="noStrike">
                        <a:solidFill>
                          <a:srgbClr val="000000"/>
                        </a:solidFill>
                        <a:effectLst/>
                        <a:latin typeface="+mn-lt"/>
                      </a:endParaRPr>
                    </a:p>
                  </a:txBody>
                  <a:tcPr marL="9525" marR="9525" marT="9525" marB="0" anchor="b">
                    <a:noFill/>
                  </a:tcPr>
                </a:tc>
                <a:tc>
                  <a:txBody>
                    <a:bodyPr/>
                    <a:lstStyle/>
                    <a:p>
                      <a:pPr algn="r" fontAlgn="b"/>
                      <a:r>
                        <a:rPr lang="en-US" sz="1050" u="none" strike="noStrike" dirty="0">
                          <a:effectLst/>
                          <a:latin typeface="+mn-lt"/>
                        </a:rPr>
                        <a:t>612</a:t>
                      </a:r>
                      <a:endParaRPr lang="en-US" sz="1050" b="0" i="0" u="none" strike="noStrike" dirty="0">
                        <a:solidFill>
                          <a:srgbClr val="000000"/>
                        </a:solidFill>
                        <a:effectLst/>
                        <a:latin typeface="+mn-lt"/>
                        <a:ea typeface="Arial Unicode MS" panose="020B0604020202020204" pitchFamily="34" charset="-128"/>
                      </a:endParaRPr>
                    </a:p>
                  </a:txBody>
                  <a:tcPr marL="9525" marR="9525" marT="9525" marB="0" anchor="b">
                    <a:noFill/>
                  </a:tcPr>
                </a:tc>
                <a:tc>
                  <a:txBody>
                    <a:bodyPr/>
                    <a:lstStyle/>
                    <a:p>
                      <a:pPr algn="r" fontAlgn="b"/>
                      <a:r>
                        <a:rPr lang="en-US" sz="1050" u="none" strike="noStrike">
                          <a:effectLst/>
                          <a:latin typeface="+mn-lt"/>
                        </a:rPr>
                        <a:t>c.470</a:t>
                      </a:r>
                      <a:endParaRPr lang="en-US" sz="1050" b="0" i="0" u="none" strike="noStrike">
                        <a:solidFill>
                          <a:srgbClr val="000000"/>
                        </a:solidFill>
                        <a:effectLst/>
                        <a:latin typeface="+mn-lt"/>
                        <a:ea typeface="Arial Unicode MS" panose="020B0604020202020204" pitchFamily="34" charset="-128"/>
                      </a:endParaRPr>
                    </a:p>
                  </a:txBody>
                  <a:tcPr marL="9525" marR="9525" marT="9525" marB="0" anchor="b">
                    <a:noFill/>
                  </a:tcPr>
                </a:tc>
                <a:tc>
                  <a:txBody>
                    <a:bodyPr/>
                    <a:lstStyle/>
                    <a:p>
                      <a:pPr algn="r" fontAlgn="b"/>
                      <a:r>
                        <a:rPr lang="en-US" sz="1050" u="none" strike="noStrike" dirty="0">
                          <a:effectLst/>
                          <a:latin typeface="+mn-lt"/>
                        </a:rPr>
                        <a:t>761</a:t>
                      </a:r>
                      <a:endParaRPr lang="en-US" sz="1050" b="0" i="0" u="none" strike="noStrike" dirty="0">
                        <a:solidFill>
                          <a:srgbClr val="000000"/>
                        </a:solidFill>
                        <a:effectLst/>
                        <a:latin typeface="+mn-lt"/>
                        <a:ea typeface="Arial Unicode MS" panose="020B0604020202020204" pitchFamily="34" charset="-128"/>
                      </a:endParaRPr>
                    </a:p>
                  </a:txBody>
                  <a:tcPr marL="9525" marR="9525" marT="9525" marB="0" anchor="b">
                    <a:noFill/>
                  </a:tcPr>
                </a:tc>
                <a:tc>
                  <a:txBody>
                    <a:bodyPr/>
                    <a:lstStyle/>
                    <a:p>
                      <a:pPr algn="r" fontAlgn="b"/>
                      <a:r>
                        <a:rPr lang="en-US" sz="1050" u="none" strike="noStrike">
                          <a:effectLst/>
                          <a:latin typeface="+mn-lt"/>
                        </a:rPr>
                        <a:t>c.619</a:t>
                      </a:r>
                      <a:endParaRPr lang="en-US" sz="1050" b="0" i="0" u="none" strike="noStrike">
                        <a:solidFill>
                          <a:srgbClr val="000000"/>
                        </a:solidFill>
                        <a:effectLst/>
                        <a:latin typeface="+mn-lt"/>
                        <a:ea typeface="Arial Unicode MS" panose="020B0604020202020204" pitchFamily="34" charset="-128"/>
                      </a:endParaRPr>
                    </a:p>
                  </a:txBody>
                  <a:tcPr marL="9525" marR="9525" marT="9525" marB="0" anchor="b">
                    <a:noFill/>
                  </a:tcPr>
                </a:tc>
                <a:tc>
                  <a:txBody>
                    <a:bodyPr/>
                    <a:lstStyle/>
                    <a:p>
                      <a:pPr algn="r" fontAlgn="b"/>
                      <a:r>
                        <a:rPr lang="en-US" sz="1050" u="none" strike="noStrike">
                          <a:effectLst/>
                          <a:latin typeface="+mn-lt"/>
                        </a:rPr>
                        <a:t>   38,317,465 </a:t>
                      </a:r>
                      <a:endParaRPr lang="en-US" sz="1050" b="0" i="0" u="none" strike="noStrike">
                        <a:solidFill>
                          <a:srgbClr val="000000"/>
                        </a:solidFill>
                        <a:effectLst/>
                        <a:latin typeface="+mn-lt"/>
                        <a:ea typeface="Arial Unicode MS" panose="020B0604020202020204" pitchFamily="34" charset="-128"/>
                      </a:endParaRPr>
                    </a:p>
                  </a:txBody>
                  <a:tcPr marL="9525" marR="9525" marT="9525" marB="0" anchor="b">
                    <a:noFill/>
                  </a:tcPr>
                </a:tc>
                <a:tc>
                  <a:txBody>
                    <a:bodyPr/>
                    <a:lstStyle/>
                    <a:p>
                      <a:pPr algn="r" fontAlgn="b"/>
                      <a:r>
                        <a:rPr lang="en-US" sz="1050" u="none" strike="noStrike">
                          <a:effectLst/>
                          <a:latin typeface="+mn-lt"/>
                        </a:rPr>
                        <a:t>  38,317,316 </a:t>
                      </a:r>
                      <a:endParaRPr lang="en-US" sz="1050" b="0" i="0" u="none" strike="noStrike">
                        <a:solidFill>
                          <a:srgbClr val="000000"/>
                        </a:solidFill>
                        <a:effectLst/>
                        <a:latin typeface="+mn-lt"/>
                        <a:ea typeface="Arial Unicode MS" panose="020B0604020202020204" pitchFamily="34" charset="-128"/>
                      </a:endParaRPr>
                    </a:p>
                  </a:txBody>
                  <a:tcPr marL="9525" marR="9525" marT="9525" marB="0" anchor="b">
                    <a:noFill/>
                  </a:tcPr>
                </a:tc>
                <a:tc>
                  <a:txBody>
                    <a:bodyPr/>
                    <a:lstStyle/>
                    <a:p>
                      <a:pPr algn="r" fontAlgn="b"/>
                      <a:r>
                        <a:rPr lang="en-US" sz="1050" u="none" strike="noStrike">
                          <a:effectLst/>
                          <a:latin typeface="+mn-lt"/>
                        </a:rPr>
                        <a:t> in frame </a:t>
                      </a:r>
                      <a:endParaRPr lang="en-US" sz="1050" b="0" i="0" u="none" strike="noStrike">
                        <a:solidFill>
                          <a:srgbClr val="000000"/>
                        </a:solidFill>
                        <a:effectLst/>
                        <a:latin typeface="+mn-lt"/>
                        <a:ea typeface="Arial Unicode MS" panose="020B0604020202020204" pitchFamily="34" charset="-128"/>
                      </a:endParaRPr>
                    </a:p>
                  </a:txBody>
                  <a:tcPr marL="9525" marR="9525" marT="9525" marB="0" anchor="b">
                    <a:noFill/>
                  </a:tcPr>
                </a:tc>
                <a:tc gridSpan="2">
                  <a:txBody>
                    <a:bodyPr/>
                    <a:lstStyle/>
                    <a:p>
                      <a:pPr algn="r" fontAlgn="b"/>
                      <a:r>
                        <a:rPr lang="en-US" sz="1050" u="none" strike="noStrike">
                          <a:effectLst/>
                          <a:latin typeface="+mn-lt"/>
                        </a:rPr>
                        <a:t> No NMD </a:t>
                      </a:r>
                      <a:endParaRPr lang="en-US" sz="1050" b="0" i="0" u="none" strike="noStrike">
                        <a:solidFill>
                          <a:srgbClr val="000000"/>
                        </a:solidFill>
                        <a:effectLst/>
                        <a:latin typeface="+mn-lt"/>
                        <a:ea typeface="Arial Unicode MS" panose="020B0604020202020204" pitchFamily="34" charset="-128"/>
                      </a:endParaRPr>
                    </a:p>
                  </a:txBody>
                  <a:tcPr marL="9525" marR="9525" marT="9525" marB="0" anchor="b">
                    <a:noFill/>
                  </a:tcPr>
                </a:tc>
                <a:tc hMerge="1">
                  <a:txBody>
                    <a:bodyPr/>
                    <a:lstStyle/>
                    <a:p>
                      <a:pPr algn="ctr" fontAlgn="b"/>
                      <a:r>
                        <a:rPr lang="en-US" sz="1050" u="none" strike="noStrike">
                          <a:effectLst/>
                          <a:latin typeface="+mn-lt"/>
                        </a:rPr>
                        <a:t> No NMD </a:t>
                      </a:r>
                      <a:endParaRPr lang="en-US" sz="1050" b="0" i="0" u="none" strike="noStrike">
                        <a:solidFill>
                          <a:srgbClr val="000000"/>
                        </a:solidFill>
                        <a:effectLst/>
                        <a:latin typeface="+mn-lt"/>
                        <a:ea typeface="Arial Unicode MS" panose="020B0604020202020204" pitchFamily="34" charset="-128"/>
                      </a:endParaRPr>
                    </a:p>
                  </a:txBody>
                  <a:tcPr marL="9525" marR="9525" marT="9525" marB="0" anchor="b">
                    <a:noFill/>
                  </a:tcPr>
                </a:tc>
                <a:tc>
                  <a:txBody>
                    <a:bodyPr/>
                    <a:lstStyle/>
                    <a:p>
                      <a:pPr algn="l" fontAlgn="b"/>
                      <a:r>
                        <a:rPr lang="en-US" sz="1050" u="none" strike="noStrike">
                          <a:effectLst/>
                          <a:latin typeface="+mn-lt"/>
                        </a:rPr>
                        <a:t> PVS1 (F) </a:t>
                      </a:r>
                      <a:endParaRPr lang="en-US" sz="1050" b="0" i="0" u="none" strike="noStrike">
                        <a:solidFill>
                          <a:srgbClr val="000000"/>
                        </a:solidFill>
                        <a:effectLst/>
                        <a:latin typeface="+mn-lt"/>
                        <a:ea typeface="Arial Unicode MS" panose="020B0604020202020204" pitchFamily="34" charset="-128"/>
                      </a:endParaRPr>
                    </a:p>
                  </a:txBody>
                  <a:tcPr marL="9525" marR="9525" marT="9525" marB="0" anchor="b">
                    <a:noFill/>
                  </a:tcPr>
                </a:tc>
                <a:tc>
                  <a:txBody>
                    <a:bodyPr/>
                    <a:lstStyle/>
                    <a:p>
                      <a:pPr algn="l" fontAlgn="b"/>
                      <a:r>
                        <a:rPr lang="en-US" sz="1050" u="none" strike="noStrike">
                          <a:effectLst/>
                          <a:latin typeface="+mn-lt"/>
                        </a:rPr>
                        <a:t> Yes </a:t>
                      </a:r>
                      <a:endParaRPr lang="en-US" sz="1050" b="0" i="0" u="none" strike="noStrike">
                        <a:solidFill>
                          <a:srgbClr val="000000"/>
                        </a:solidFill>
                        <a:effectLst/>
                        <a:latin typeface="+mn-lt"/>
                        <a:ea typeface="Arial Unicode MS" panose="020B0604020202020204" pitchFamily="34" charset="-128"/>
                      </a:endParaRPr>
                    </a:p>
                  </a:txBody>
                  <a:tcPr marL="9525" marR="9525" marT="9525" marB="0" anchor="b">
                    <a:noFill/>
                  </a:tcPr>
                </a:tc>
                <a:extLst>
                  <a:ext uri="{0D108BD9-81ED-4DB2-BD59-A6C34878D82A}">
                    <a16:rowId xmlns:a16="http://schemas.microsoft.com/office/drawing/2014/main" val="3935303997"/>
                  </a:ext>
                </a:extLst>
              </a:tr>
              <a:tr h="215900">
                <a:tc>
                  <a:txBody>
                    <a:bodyPr/>
                    <a:lstStyle/>
                    <a:p>
                      <a:pPr algn="l" fontAlgn="b"/>
                      <a:endParaRPr lang="en-US" sz="1050" b="0" i="0" u="none" strike="noStrike">
                        <a:solidFill>
                          <a:srgbClr val="000000"/>
                        </a:solidFill>
                        <a:effectLst/>
                        <a:latin typeface="+mn-lt"/>
                      </a:endParaRPr>
                    </a:p>
                  </a:txBody>
                  <a:tcPr marL="9525" marR="9525" marT="9525" marB="0" anchor="b">
                    <a:noFill/>
                  </a:tcPr>
                </a:tc>
                <a:tc>
                  <a:txBody>
                    <a:bodyPr/>
                    <a:lstStyle/>
                    <a:p>
                      <a:pPr algn="r" fontAlgn="b"/>
                      <a:r>
                        <a:rPr lang="en-US" sz="1050" u="none" strike="noStrike">
                          <a:effectLst/>
                          <a:latin typeface="+mn-lt"/>
                        </a:rPr>
                        <a:t>Exon 7</a:t>
                      </a:r>
                      <a:endParaRPr lang="en-US" sz="1050" b="0" i="0" u="none" strike="noStrike">
                        <a:solidFill>
                          <a:srgbClr val="000000"/>
                        </a:solidFill>
                        <a:effectLst/>
                        <a:latin typeface="+mn-lt"/>
                      </a:endParaRPr>
                    </a:p>
                  </a:txBody>
                  <a:tcPr marL="9525" marR="9525" marT="9525" marB="0" anchor="b">
                    <a:noFill/>
                  </a:tcPr>
                </a:tc>
                <a:tc>
                  <a:txBody>
                    <a:bodyPr/>
                    <a:lstStyle/>
                    <a:p>
                      <a:pPr algn="r" fontAlgn="b"/>
                      <a:r>
                        <a:rPr lang="en-US" sz="1050" u="none" strike="noStrike" dirty="0">
                          <a:effectLst/>
                          <a:latin typeface="+mn-lt"/>
                        </a:rPr>
                        <a:t>762</a:t>
                      </a:r>
                      <a:endParaRPr lang="en-US" sz="1050" b="0" i="0" u="none" strike="noStrike" dirty="0">
                        <a:solidFill>
                          <a:srgbClr val="000000"/>
                        </a:solidFill>
                        <a:effectLst/>
                        <a:latin typeface="+mn-lt"/>
                        <a:ea typeface="Arial Unicode MS" panose="020B0604020202020204" pitchFamily="34" charset="-128"/>
                      </a:endParaRPr>
                    </a:p>
                  </a:txBody>
                  <a:tcPr marL="9525" marR="9525" marT="9525" marB="0" anchor="b">
                    <a:noFill/>
                  </a:tcPr>
                </a:tc>
                <a:tc>
                  <a:txBody>
                    <a:bodyPr/>
                    <a:lstStyle/>
                    <a:p>
                      <a:pPr algn="r" fontAlgn="b"/>
                      <a:r>
                        <a:rPr lang="en-US" sz="1050" u="none" strike="noStrike">
                          <a:effectLst/>
                          <a:latin typeface="+mn-lt"/>
                        </a:rPr>
                        <a:t>c.620</a:t>
                      </a:r>
                      <a:endParaRPr lang="en-US" sz="1050" b="0" i="0" u="none" strike="noStrike">
                        <a:solidFill>
                          <a:srgbClr val="000000"/>
                        </a:solidFill>
                        <a:effectLst/>
                        <a:latin typeface="+mn-lt"/>
                        <a:ea typeface="Arial Unicode MS" panose="020B0604020202020204" pitchFamily="34" charset="-128"/>
                      </a:endParaRPr>
                    </a:p>
                  </a:txBody>
                  <a:tcPr marL="9525" marR="9525" marT="9525" marB="0" anchor="b">
                    <a:noFill/>
                  </a:tcPr>
                </a:tc>
                <a:tc>
                  <a:txBody>
                    <a:bodyPr/>
                    <a:lstStyle/>
                    <a:p>
                      <a:pPr algn="r" fontAlgn="b"/>
                      <a:r>
                        <a:rPr lang="en-US" sz="1050" u="none" strike="noStrike" dirty="0">
                          <a:effectLst/>
                          <a:latin typeface="+mn-lt"/>
                        </a:rPr>
                        <a:t>920</a:t>
                      </a:r>
                      <a:endParaRPr lang="en-US" sz="1050" b="0" i="0" u="none" strike="noStrike" dirty="0">
                        <a:solidFill>
                          <a:srgbClr val="000000"/>
                        </a:solidFill>
                        <a:effectLst/>
                        <a:latin typeface="+mn-lt"/>
                        <a:ea typeface="Arial Unicode MS" panose="020B0604020202020204" pitchFamily="34" charset="-128"/>
                      </a:endParaRPr>
                    </a:p>
                  </a:txBody>
                  <a:tcPr marL="9525" marR="9525" marT="9525" marB="0" anchor="b">
                    <a:noFill/>
                  </a:tcPr>
                </a:tc>
                <a:tc>
                  <a:txBody>
                    <a:bodyPr/>
                    <a:lstStyle/>
                    <a:p>
                      <a:pPr algn="r" fontAlgn="b"/>
                      <a:r>
                        <a:rPr lang="en-US" sz="1050" u="none" strike="noStrike">
                          <a:effectLst/>
                          <a:latin typeface="+mn-lt"/>
                        </a:rPr>
                        <a:t>c.778</a:t>
                      </a:r>
                      <a:endParaRPr lang="en-US" sz="1050" b="0" i="0" u="none" strike="noStrike">
                        <a:solidFill>
                          <a:srgbClr val="000000"/>
                        </a:solidFill>
                        <a:effectLst/>
                        <a:latin typeface="+mn-lt"/>
                        <a:ea typeface="Arial Unicode MS" panose="020B0604020202020204" pitchFamily="34" charset="-128"/>
                      </a:endParaRPr>
                    </a:p>
                  </a:txBody>
                  <a:tcPr marL="9525" marR="9525" marT="9525" marB="0" anchor="b">
                    <a:noFill/>
                  </a:tcPr>
                </a:tc>
                <a:tc>
                  <a:txBody>
                    <a:bodyPr/>
                    <a:lstStyle/>
                    <a:p>
                      <a:pPr algn="r" fontAlgn="b"/>
                      <a:r>
                        <a:rPr lang="en-US" sz="1050" u="none" strike="noStrike" dirty="0">
                          <a:effectLst/>
                          <a:latin typeface="+mn-lt"/>
                        </a:rPr>
                        <a:t>   38,310,773 </a:t>
                      </a:r>
                      <a:endParaRPr lang="en-US" sz="1050" b="0" i="0" u="none" strike="noStrike" dirty="0">
                        <a:solidFill>
                          <a:srgbClr val="000000"/>
                        </a:solidFill>
                        <a:effectLst/>
                        <a:latin typeface="+mn-lt"/>
                        <a:ea typeface="Arial Unicode MS" panose="020B0604020202020204" pitchFamily="34" charset="-128"/>
                      </a:endParaRPr>
                    </a:p>
                  </a:txBody>
                  <a:tcPr marL="9525" marR="9525" marT="9525" marB="0" anchor="b">
                    <a:noFill/>
                  </a:tcPr>
                </a:tc>
                <a:tc>
                  <a:txBody>
                    <a:bodyPr/>
                    <a:lstStyle/>
                    <a:p>
                      <a:pPr algn="r" fontAlgn="b"/>
                      <a:r>
                        <a:rPr lang="en-US" sz="1050" u="none" strike="noStrike">
                          <a:effectLst/>
                          <a:latin typeface="+mn-lt"/>
                        </a:rPr>
                        <a:t>  38,310,615 </a:t>
                      </a:r>
                      <a:endParaRPr lang="en-US" sz="1050" b="0" i="0" u="none" strike="noStrike">
                        <a:solidFill>
                          <a:srgbClr val="000000"/>
                        </a:solidFill>
                        <a:effectLst/>
                        <a:latin typeface="+mn-lt"/>
                        <a:ea typeface="Arial Unicode MS" panose="020B0604020202020204" pitchFamily="34" charset="-128"/>
                      </a:endParaRPr>
                    </a:p>
                  </a:txBody>
                  <a:tcPr marL="9525" marR="9525" marT="9525" marB="0" anchor="b">
                    <a:noFill/>
                  </a:tcPr>
                </a:tc>
                <a:tc>
                  <a:txBody>
                    <a:bodyPr/>
                    <a:lstStyle/>
                    <a:p>
                      <a:pPr algn="r" fontAlgn="b"/>
                      <a:r>
                        <a:rPr lang="en-US" sz="1050" u="none" strike="noStrike">
                          <a:effectLst/>
                          <a:latin typeface="+mn-lt"/>
                        </a:rPr>
                        <a:t> in frame </a:t>
                      </a:r>
                      <a:endParaRPr lang="en-US" sz="1050" b="0" i="0" u="none" strike="noStrike">
                        <a:solidFill>
                          <a:srgbClr val="000000"/>
                        </a:solidFill>
                        <a:effectLst/>
                        <a:latin typeface="+mn-lt"/>
                        <a:ea typeface="Arial Unicode MS" panose="020B0604020202020204" pitchFamily="34" charset="-128"/>
                      </a:endParaRPr>
                    </a:p>
                  </a:txBody>
                  <a:tcPr marL="9525" marR="9525" marT="9525" marB="0" anchor="b">
                    <a:noFill/>
                  </a:tcPr>
                </a:tc>
                <a:tc gridSpan="2">
                  <a:txBody>
                    <a:bodyPr/>
                    <a:lstStyle/>
                    <a:p>
                      <a:pPr algn="r" fontAlgn="b"/>
                      <a:r>
                        <a:rPr lang="en-US" sz="1050" u="none" strike="noStrike">
                          <a:effectLst/>
                          <a:latin typeface="+mn-lt"/>
                        </a:rPr>
                        <a:t> No NMD </a:t>
                      </a:r>
                      <a:endParaRPr lang="en-US" sz="1050" b="0" i="0" u="none" strike="noStrike">
                        <a:solidFill>
                          <a:srgbClr val="000000"/>
                        </a:solidFill>
                        <a:effectLst/>
                        <a:latin typeface="+mn-lt"/>
                        <a:ea typeface="Arial Unicode MS" panose="020B0604020202020204" pitchFamily="34" charset="-128"/>
                      </a:endParaRPr>
                    </a:p>
                  </a:txBody>
                  <a:tcPr marL="9525" marR="9525" marT="9525" marB="0" anchor="b">
                    <a:noFill/>
                  </a:tcPr>
                </a:tc>
                <a:tc hMerge="1">
                  <a:txBody>
                    <a:bodyPr/>
                    <a:lstStyle/>
                    <a:p>
                      <a:pPr algn="ctr" fontAlgn="b"/>
                      <a:r>
                        <a:rPr lang="en-US" sz="1050" u="none" strike="noStrike">
                          <a:effectLst/>
                          <a:latin typeface="+mn-lt"/>
                        </a:rPr>
                        <a:t> No NMD </a:t>
                      </a:r>
                      <a:endParaRPr lang="en-US" sz="1050" b="0" i="0" u="none" strike="noStrike">
                        <a:solidFill>
                          <a:srgbClr val="000000"/>
                        </a:solidFill>
                        <a:effectLst/>
                        <a:latin typeface="+mn-lt"/>
                        <a:ea typeface="Arial Unicode MS" panose="020B0604020202020204" pitchFamily="34" charset="-128"/>
                      </a:endParaRPr>
                    </a:p>
                  </a:txBody>
                  <a:tcPr marL="9525" marR="9525" marT="9525" marB="0" anchor="b">
                    <a:noFill/>
                  </a:tcPr>
                </a:tc>
                <a:tc>
                  <a:txBody>
                    <a:bodyPr/>
                    <a:lstStyle/>
                    <a:p>
                      <a:pPr algn="l" fontAlgn="b"/>
                      <a:r>
                        <a:rPr lang="en-US" sz="1050" u="none" strike="noStrike">
                          <a:effectLst/>
                          <a:latin typeface="+mn-lt"/>
                        </a:rPr>
                        <a:t> PVS1 (F) </a:t>
                      </a:r>
                      <a:endParaRPr lang="en-US" sz="1050" b="0" i="0" u="none" strike="noStrike">
                        <a:solidFill>
                          <a:srgbClr val="000000"/>
                        </a:solidFill>
                        <a:effectLst/>
                        <a:latin typeface="+mn-lt"/>
                        <a:ea typeface="Arial Unicode MS" panose="020B0604020202020204" pitchFamily="34" charset="-128"/>
                      </a:endParaRPr>
                    </a:p>
                  </a:txBody>
                  <a:tcPr marL="9525" marR="9525" marT="9525" marB="0" anchor="b">
                    <a:noFill/>
                  </a:tcPr>
                </a:tc>
                <a:tc>
                  <a:txBody>
                    <a:bodyPr/>
                    <a:lstStyle/>
                    <a:p>
                      <a:pPr algn="l" fontAlgn="b"/>
                      <a:r>
                        <a:rPr lang="en-US" sz="1050" u="none" strike="noStrike">
                          <a:effectLst/>
                          <a:latin typeface="+mn-lt"/>
                        </a:rPr>
                        <a:t> Yes </a:t>
                      </a:r>
                      <a:endParaRPr lang="en-US" sz="1050" b="0" i="0" u="none" strike="noStrike">
                        <a:solidFill>
                          <a:srgbClr val="000000"/>
                        </a:solidFill>
                        <a:effectLst/>
                        <a:latin typeface="+mn-lt"/>
                        <a:ea typeface="Arial Unicode MS" panose="020B0604020202020204" pitchFamily="34" charset="-128"/>
                      </a:endParaRPr>
                    </a:p>
                  </a:txBody>
                  <a:tcPr marL="9525" marR="9525" marT="9525" marB="0" anchor="b">
                    <a:noFill/>
                  </a:tcPr>
                </a:tc>
                <a:extLst>
                  <a:ext uri="{0D108BD9-81ED-4DB2-BD59-A6C34878D82A}">
                    <a16:rowId xmlns:a16="http://schemas.microsoft.com/office/drawing/2014/main" val="2044287376"/>
                  </a:ext>
                </a:extLst>
              </a:tr>
              <a:tr h="215900">
                <a:tc>
                  <a:txBody>
                    <a:bodyPr/>
                    <a:lstStyle/>
                    <a:p>
                      <a:pPr algn="l" fontAlgn="b"/>
                      <a:endParaRPr lang="en-US" sz="1050" b="0" i="0" u="none" strike="noStrike">
                        <a:solidFill>
                          <a:srgbClr val="000000"/>
                        </a:solidFill>
                        <a:effectLst/>
                        <a:latin typeface="+mn-lt"/>
                      </a:endParaRPr>
                    </a:p>
                  </a:txBody>
                  <a:tcPr marL="9525" marR="9525" marT="9525" marB="0" anchor="b">
                    <a:noFill/>
                  </a:tcPr>
                </a:tc>
                <a:tc>
                  <a:txBody>
                    <a:bodyPr/>
                    <a:lstStyle/>
                    <a:p>
                      <a:pPr algn="r" fontAlgn="b"/>
                      <a:r>
                        <a:rPr lang="en-US" sz="1050" u="none" strike="noStrike">
                          <a:effectLst/>
                          <a:latin typeface="+mn-lt"/>
                        </a:rPr>
                        <a:t>Exon 8</a:t>
                      </a:r>
                      <a:endParaRPr lang="en-US" sz="1050" b="0" i="0" u="none" strike="noStrike">
                        <a:solidFill>
                          <a:srgbClr val="000000"/>
                        </a:solidFill>
                        <a:effectLst/>
                        <a:latin typeface="+mn-lt"/>
                      </a:endParaRPr>
                    </a:p>
                  </a:txBody>
                  <a:tcPr marL="9525" marR="9525" marT="9525" marB="0" anchor="b">
                    <a:noFill/>
                  </a:tcPr>
                </a:tc>
                <a:tc>
                  <a:txBody>
                    <a:bodyPr/>
                    <a:lstStyle/>
                    <a:p>
                      <a:pPr algn="r" fontAlgn="b"/>
                      <a:r>
                        <a:rPr lang="en-US" sz="1050" u="none" strike="noStrike" dirty="0">
                          <a:effectLst/>
                          <a:latin typeface="+mn-lt"/>
                        </a:rPr>
                        <a:t>921</a:t>
                      </a:r>
                      <a:endParaRPr lang="en-US" sz="1050" b="0" i="0" u="none" strike="noStrike" dirty="0">
                        <a:solidFill>
                          <a:srgbClr val="000000"/>
                        </a:solidFill>
                        <a:effectLst/>
                        <a:latin typeface="+mn-lt"/>
                        <a:ea typeface="Arial Unicode MS" panose="020B0604020202020204" pitchFamily="34" charset="-128"/>
                      </a:endParaRPr>
                    </a:p>
                  </a:txBody>
                  <a:tcPr marL="9525" marR="9525" marT="9525" marB="0" anchor="b">
                    <a:noFill/>
                  </a:tcPr>
                </a:tc>
                <a:tc>
                  <a:txBody>
                    <a:bodyPr/>
                    <a:lstStyle/>
                    <a:p>
                      <a:pPr algn="r" fontAlgn="b"/>
                      <a:r>
                        <a:rPr lang="en-US" sz="1050" u="none" strike="noStrike">
                          <a:effectLst/>
                          <a:latin typeface="+mn-lt"/>
                        </a:rPr>
                        <a:t>c.779</a:t>
                      </a:r>
                      <a:endParaRPr lang="en-US" sz="1050" b="0" i="0" u="none" strike="noStrike">
                        <a:solidFill>
                          <a:srgbClr val="000000"/>
                        </a:solidFill>
                        <a:effectLst/>
                        <a:latin typeface="+mn-lt"/>
                        <a:ea typeface="Arial Unicode MS" panose="020B0604020202020204" pitchFamily="34" charset="-128"/>
                      </a:endParaRPr>
                    </a:p>
                  </a:txBody>
                  <a:tcPr marL="9525" marR="9525" marT="9525" marB="0" anchor="b">
                    <a:noFill/>
                  </a:tcPr>
                </a:tc>
                <a:tc>
                  <a:txBody>
                    <a:bodyPr/>
                    <a:lstStyle/>
                    <a:p>
                      <a:pPr algn="r" fontAlgn="b"/>
                      <a:r>
                        <a:rPr lang="en-US" sz="1050" u="none" strike="noStrike" dirty="0">
                          <a:effectLst/>
                          <a:latin typeface="+mn-lt"/>
                        </a:rPr>
                        <a:t>1076</a:t>
                      </a:r>
                      <a:endParaRPr lang="en-US" sz="1050" b="0" i="0" u="none" strike="noStrike" dirty="0">
                        <a:solidFill>
                          <a:srgbClr val="000000"/>
                        </a:solidFill>
                        <a:effectLst/>
                        <a:latin typeface="+mn-lt"/>
                        <a:ea typeface="Arial Unicode MS" panose="020B0604020202020204" pitchFamily="34" charset="-128"/>
                      </a:endParaRPr>
                    </a:p>
                  </a:txBody>
                  <a:tcPr marL="9525" marR="9525" marT="9525" marB="0" anchor="b">
                    <a:noFill/>
                  </a:tcPr>
                </a:tc>
                <a:tc>
                  <a:txBody>
                    <a:bodyPr/>
                    <a:lstStyle/>
                    <a:p>
                      <a:pPr algn="r" fontAlgn="b"/>
                      <a:r>
                        <a:rPr lang="en-US" sz="1050" u="none" strike="noStrike">
                          <a:effectLst/>
                          <a:latin typeface="+mn-lt"/>
                        </a:rPr>
                        <a:t>c.934</a:t>
                      </a:r>
                      <a:endParaRPr lang="en-US" sz="1050" b="0" i="0" u="none" strike="noStrike">
                        <a:solidFill>
                          <a:srgbClr val="000000"/>
                        </a:solidFill>
                        <a:effectLst/>
                        <a:latin typeface="+mn-lt"/>
                        <a:ea typeface="Arial Unicode MS" panose="020B0604020202020204" pitchFamily="34" charset="-128"/>
                      </a:endParaRPr>
                    </a:p>
                  </a:txBody>
                  <a:tcPr marL="9525" marR="9525" marT="9525" marB="0" anchor="b">
                    <a:noFill/>
                  </a:tcPr>
                </a:tc>
                <a:tc>
                  <a:txBody>
                    <a:bodyPr/>
                    <a:lstStyle/>
                    <a:p>
                      <a:pPr algn="r" fontAlgn="b"/>
                      <a:r>
                        <a:rPr lang="en-US" sz="1050" u="none" strike="noStrike">
                          <a:effectLst/>
                          <a:latin typeface="+mn-lt"/>
                        </a:rPr>
                        <a:t>   38,304,790 </a:t>
                      </a:r>
                      <a:endParaRPr lang="en-US" sz="1050" b="0" i="0" u="none" strike="noStrike">
                        <a:solidFill>
                          <a:srgbClr val="000000"/>
                        </a:solidFill>
                        <a:effectLst/>
                        <a:latin typeface="+mn-lt"/>
                        <a:ea typeface="Arial Unicode MS" panose="020B0604020202020204" pitchFamily="34" charset="-128"/>
                      </a:endParaRPr>
                    </a:p>
                  </a:txBody>
                  <a:tcPr marL="9525" marR="9525" marT="9525" marB="0" anchor="b">
                    <a:noFill/>
                  </a:tcPr>
                </a:tc>
                <a:tc>
                  <a:txBody>
                    <a:bodyPr/>
                    <a:lstStyle/>
                    <a:p>
                      <a:pPr algn="r" fontAlgn="b"/>
                      <a:r>
                        <a:rPr lang="en-US" sz="1050" u="none" strike="noStrike">
                          <a:effectLst/>
                          <a:latin typeface="+mn-lt"/>
                        </a:rPr>
                        <a:t>  38,304,635 </a:t>
                      </a:r>
                      <a:endParaRPr lang="en-US" sz="1050" b="0" i="0" u="none" strike="noStrike">
                        <a:solidFill>
                          <a:srgbClr val="000000"/>
                        </a:solidFill>
                        <a:effectLst/>
                        <a:latin typeface="+mn-lt"/>
                        <a:ea typeface="Arial Unicode MS" panose="020B0604020202020204" pitchFamily="34" charset="-128"/>
                      </a:endParaRPr>
                    </a:p>
                  </a:txBody>
                  <a:tcPr marL="9525" marR="9525" marT="9525" marB="0" anchor="b">
                    <a:noFill/>
                  </a:tcPr>
                </a:tc>
                <a:tc>
                  <a:txBody>
                    <a:bodyPr/>
                    <a:lstStyle/>
                    <a:p>
                      <a:pPr algn="r" fontAlgn="b"/>
                      <a:r>
                        <a:rPr lang="en-US" sz="1050" u="none" strike="noStrike">
                          <a:effectLst/>
                          <a:latin typeface="+mn-lt"/>
                        </a:rPr>
                        <a:t> in frame </a:t>
                      </a:r>
                      <a:endParaRPr lang="en-US" sz="1050" b="0" i="0" u="none" strike="noStrike">
                        <a:solidFill>
                          <a:srgbClr val="000000"/>
                        </a:solidFill>
                        <a:effectLst/>
                        <a:latin typeface="+mn-lt"/>
                        <a:ea typeface="Arial Unicode MS" panose="020B0604020202020204" pitchFamily="34" charset="-128"/>
                      </a:endParaRPr>
                    </a:p>
                  </a:txBody>
                  <a:tcPr marL="9525" marR="9525" marT="9525" marB="0" anchor="b">
                    <a:noFill/>
                  </a:tcPr>
                </a:tc>
                <a:tc gridSpan="2">
                  <a:txBody>
                    <a:bodyPr/>
                    <a:lstStyle/>
                    <a:p>
                      <a:pPr algn="r" fontAlgn="b"/>
                      <a:r>
                        <a:rPr lang="en-US" sz="1050" u="none" strike="noStrike">
                          <a:effectLst/>
                          <a:latin typeface="+mn-lt"/>
                        </a:rPr>
                        <a:t> No NMD </a:t>
                      </a:r>
                      <a:endParaRPr lang="en-US" sz="1050" b="0" i="0" u="none" strike="noStrike">
                        <a:solidFill>
                          <a:srgbClr val="000000"/>
                        </a:solidFill>
                        <a:effectLst/>
                        <a:latin typeface="+mn-lt"/>
                        <a:ea typeface="Arial Unicode MS" panose="020B0604020202020204" pitchFamily="34" charset="-128"/>
                      </a:endParaRPr>
                    </a:p>
                  </a:txBody>
                  <a:tcPr marL="9525" marR="9525" marT="9525" marB="0" anchor="b">
                    <a:noFill/>
                  </a:tcPr>
                </a:tc>
                <a:tc hMerge="1">
                  <a:txBody>
                    <a:bodyPr/>
                    <a:lstStyle/>
                    <a:p>
                      <a:pPr algn="ctr" fontAlgn="b"/>
                      <a:r>
                        <a:rPr lang="en-US" sz="1050" u="none" strike="noStrike">
                          <a:effectLst/>
                          <a:latin typeface="+mn-lt"/>
                        </a:rPr>
                        <a:t> No NMD </a:t>
                      </a:r>
                      <a:endParaRPr lang="en-US" sz="1050" b="0" i="0" u="none" strike="noStrike">
                        <a:solidFill>
                          <a:srgbClr val="000000"/>
                        </a:solidFill>
                        <a:effectLst/>
                        <a:latin typeface="+mn-lt"/>
                        <a:ea typeface="Arial Unicode MS" panose="020B0604020202020204" pitchFamily="34" charset="-128"/>
                      </a:endParaRPr>
                    </a:p>
                  </a:txBody>
                  <a:tcPr marL="9525" marR="9525" marT="9525" marB="0" anchor="b">
                    <a:noFill/>
                  </a:tcPr>
                </a:tc>
                <a:tc>
                  <a:txBody>
                    <a:bodyPr/>
                    <a:lstStyle/>
                    <a:p>
                      <a:pPr algn="l" fontAlgn="b"/>
                      <a:r>
                        <a:rPr lang="en-US" sz="1050" u="none" strike="noStrike">
                          <a:effectLst/>
                          <a:latin typeface="+mn-lt"/>
                        </a:rPr>
                        <a:t> PVS1 (F) </a:t>
                      </a:r>
                      <a:endParaRPr lang="en-US" sz="1050" b="0" i="0" u="none" strike="noStrike">
                        <a:solidFill>
                          <a:srgbClr val="000000"/>
                        </a:solidFill>
                        <a:effectLst/>
                        <a:latin typeface="+mn-lt"/>
                        <a:ea typeface="Arial Unicode MS" panose="020B0604020202020204" pitchFamily="34" charset="-128"/>
                      </a:endParaRPr>
                    </a:p>
                  </a:txBody>
                  <a:tcPr marL="9525" marR="9525" marT="9525" marB="0" anchor="b">
                    <a:noFill/>
                  </a:tcPr>
                </a:tc>
                <a:tc>
                  <a:txBody>
                    <a:bodyPr/>
                    <a:lstStyle/>
                    <a:p>
                      <a:pPr algn="l" fontAlgn="b"/>
                      <a:r>
                        <a:rPr lang="en-US" sz="1050" u="none" strike="noStrike">
                          <a:effectLst/>
                          <a:latin typeface="+mn-lt"/>
                        </a:rPr>
                        <a:t> Yes </a:t>
                      </a:r>
                      <a:endParaRPr lang="en-US" sz="1050" b="0" i="0" u="none" strike="noStrike">
                        <a:solidFill>
                          <a:srgbClr val="000000"/>
                        </a:solidFill>
                        <a:effectLst/>
                        <a:latin typeface="+mn-lt"/>
                        <a:ea typeface="Arial Unicode MS" panose="020B0604020202020204" pitchFamily="34" charset="-128"/>
                      </a:endParaRPr>
                    </a:p>
                  </a:txBody>
                  <a:tcPr marL="9525" marR="9525" marT="9525" marB="0" anchor="b">
                    <a:noFill/>
                  </a:tcPr>
                </a:tc>
                <a:extLst>
                  <a:ext uri="{0D108BD9-81ED-4DB2-BD59-A6C34878D82A}">
                    <a16:rowId xmlns:a16="http://schemas.microsoft.com/office/drawing/2014/main" val="72305162"/>
                  </a:ext>
                </a:extLst>
              </a:tr>
              <a:tr h="215900">
                <a:tc>
                  <a:txBody>
                    <a:bodyPr/>
                    <a:lstStyle/>
                    <a:p>
                      <a:pPr algn="l" fontAlgn="b"/>
                      <a:endParaRPr lang="en-US" sz="1050" b="0" i="0" u="none" strike="noStrike">
                        <a:solidFill>
                          <a:srgbClr val="000000"/>
                        </a:solidFill>
                        <a:effectLst/>
                        <a:latin typeface="+mn-lt"/>
                      </a:endParaRPr>
                    </a:p>
                  </a:txBody>
                  <a:tcPr marL="9525" marR="9525" marT="9525" marB="0" anchor="b">
                    <a:noFill/>
                  </a:tcPr>
                </a:tc>
                <a:tc>
                  <a:txBody>
                    <a:bodyPr/>
                    <a:lstStyle/>
                    <a:p>
                      <a:pPr algn="r" fontAlgn="b"/>
                      <a:r>
                        <a:rPr lang="en-US" sz="1050" u="none" strike="noStrike">
                          <a:effectLst/>
                          <a:latin typeface="+mn-lt"/>
                        </a:rPr>
                        <a:t>Exon 9</a:t>
                      </a:r>
                      <a:endParaRPr lang="en-US" sz="1050" b="0" i="0" u="none" strike="noStrike">
                        <a:solidFill>
                          <a:srgbClr val="000000"/>
                        </a:solidFill>
                        <a:effectLst/>
                        <a:latin typeface="+mn-lt"/>
                      </a:endParaRPr>
                    </a:p>
                  </a:txBody>
                  <a:tcPr marL="9525" marR="9525" marT="9525" marB="0" anchor="b">
                    <a:noFill/>
                  </a:tcPr>
                </a:tc>
                <a:tc>
                  <a:txBody>
                    <a:bodyPr/>
                    <a:lstStyle/>
                    <a:p>
                      <a:pPr algn="r" fontAlgn="b"/>
                      <a:r>
                        <a:rPr lang="en-US" sz="1050" u="none" strike="noStrike" dirty="0">
                          <a:effectLst/>
                          <a:latin typeface="+mn-lt"/>
                        </a:rPr>
                        <a:t>1077</a:t>
                      </a:r>
                      <a:endParaRPr lang="en-US" sz="1050" b="0" i="0" u="none" strike="noStrike" dirty="0">
                        <a:solidFill>
                          <a:srgbClr val="000000"/>
                        </a:solidFill>
                        <a:effectLst/>
                        <a:latin typeface="+mn-lt"/>
                        <a:ea typeface="Arial Unicode MS" panose="020B0604020202020204" pitchFamily="34" charset="-128"/>
                      </a:endParaRPr>
                    </a:p>
                  </a:txBody>
                  <a:tcPr marL="9525" marR="9525" marT="9525" marB="0" anchor="b">
                    <a:noFill/>
                  </a:tcPr>
                </a:tc>
                <a:tc>
                  <a:txBody>
                    <a:bodyPr/>
                    <a:lstStyle/>
                    <a:p>
                      <a:pPr algn="r" fontAlgn="b"/>
                      <a:r>
                        <a:rPr lang="en-US" sz="1050" u="none" strike="noStrike">
                          <a:effectLst/>
                          <a:latin typeface="+mn-lt"/>
                        </a:rPr>
                        <a:t>c.935</a:t>
                      </a:r>
                      <a:endParaRPr lang="en-US" sz="1050" b="0" i="0" u="none" strike="noStrike">
                        <a:solidFill>
                          <a:srgbClr val="000000"/>
                        </a:solidFill>
                        <a:effectLst/>
                        <a:latin typeface="+mn-lt"/>
                        <a:ea typeface="Arial Unicode MS" panose="020B0604020202020204" pitchFamily="34" charset="-128"/>
                      </a:endParaRPr>
                    </a:p>
                  </a:txBody>
                  <a:tcPr marL="9525" marR="9525" marT="9525" marB="0" anchor="b">
                    <a:noFill/>
                  </a:tcPr>
                </a:tc>
                <a:tc>
                  <a:txBody>
                    <a:bodyPr/>
                    <a:lstStyle/>
                    <a:p>
                      <a:pPr algn="r" fontAlgn="b"/>
                      <a:r>
                        <a:rPr lang="en-US" sz="1050" u="none" strike="noStrike" dirty="0">
                          <a:effectLst/>
                          <a:latin typeface="+mn-lt"/>
                        </a:rPr>
                        <a:t>1201</a:t>
                      </a:r>
                      <a:endParaRPr lang="en-US" sz="1050" b="0" i="0" u="none" strike="noStrike" dirty="0">
                        <a:solidFill>
                          <a:srgbClr val="000000"/>
                        </a:solidFill>
                        <a:effectLst/>
                        <a:latin typeface="+mn-lt"/>
                        <a:ea typeface="Arial Unicode MS" panose="020B0604020202020204" pitchFamily="34" charset="-128"/>
                      </a:endParaRPr>
                    </a:p>
                  </a:txBody>
                  <a:tcPr marL="9525" marR="9525" marT="9525" marB="0" anchor="b">
                    <a:noFill/>
                  </a:tcPr>
                </a:tc>
                <a:tc>
                  <a:txBody>
                    <a:bodyPr/>
                    <a:lstStyle/>
                    <a:p>
                      <a:pPr algn="r" fontAlgn="b"/>
                      <a:r>
                        <a:rPr lang="en-US" sz="1050" u="none" strike="noStrike">
                          <a:effectLst/>
                          <a:latin typeface="+mn-lt"/>
                        </a:rPr>
                        <a:t>c.1059</a:t>
                      </a:r>
                      <a:endParaRPr lang="en-US" sz="1050" b="0" i="0" u="none" strike="noStrike">
                        <a:solidFill>
                          <a:srgbClr val="000000"/>
                        </a:solidFill>
                        <a:effectLst/>
                        <a:latin typeface="+mn-lt"/>
                        <a:ea typeface="Arial Unicode MS" panose="020B0604020202020204" pitchFamily="34" charset="-128"/>
                      </a:endParaRPr>
                    </a:p>
                  </a:txBody>
                  <a:tcPr marL="9525" marR="9525" marT="9525" marB="0" anchor="b">
                    <a:noFill/>
                  </a:tcPr>
                </a:tc>
                <a:tc>
                  <a:txBody>
                    <a:bodyPr/>
                    <a:lstStyle/>
                    <a:p>
                      <a:pPr algn="r" fontAlgn="b"/>
                      <a:r>
                        <a:rPr lang="en-US" sz="1050" u="none" strike="noStrike">
                          <a:effectLst/>
                          <a:latin typeface="+mn-lt"/>
                        </a:rPr>
                        <a:t>   38,301,371 </a:t>
                      </a:r>
                      <a:endParaRPr lang="en-US" sz="1050" b="0" i="0" u="none" strike="noStrike">
                        <a:solidFill>
                          <a:srgbClr val="000000"/>
                        </a:solidFill>
                        <a:effectLst/>
                        <a:latin typeface="+mn-lt"/>
                        <a:ea typeface="Arial Unicode MS" panose="020B0604020202020204" pitchFamily="34" charset="-128"/>
                      </a:endParaRPr>
                    </a:p>
                  </a:txBody>
                  <a:tcPr marL="9525" marR="9525" marT="9525" marB="0" anchor="b">
                    <a:noFill/>
                  </a:tcPr>
                </a:tc>
                <a:tc>
                  <a:txBody>
                    <a:bodyPr/>
                    <a:lstStyle/>
                    <a:p>
                      <a:pPr algn="r" fontAlgn="b"/>
                      <a:r>
                        <a:rPr lang="en-US" sz="1050" u="none" strike="noStrike">
                          <a:effectLst/>
                          <a:latin typeface="+mn-lt"/>
                        </a:rPr>
                        <a:t>  38,301,247 </a:t>
                      </a:r>
                      <a:endParaRPr lang="en-US" sz="1050" b="0" i="0" u="none" strike="noStrike">
                        <a:solidFill>
                          <a:srgbClr val="000000"/>
                        </a:solidFill>
                        <a:effectLst/>
                        <a:latin typeface="+mn-lt"/>
                        <a:ea typeface="Arial Unicode MS" panose="020B0604020202020204" pitchFamily="34" charset="-128"/>
                      </a:endParaRPr>
                    </a:p>
                  </a:txBody>
                  <a:tcPr marL="9525" marR="9525" marT="9525" marB="0" anchor="b">
                    <a:noFill/>
                  </a:tcPr>
                </a:tc>
                <a:tc>
                  <a:txBody>
                    <a:bodyPr/>
                    <a:lstStyle/>
                    <a:p>
                      <a:pPr algn="r" fontAlgn="b"/>
                      <a:r>
                        <a:rPr lang="en-US" sz="1050" u="none" strike="noStrike">
                          <a:effectLst/>
                          <a:latin typeface="+mn-lt"/>
                        </a:rPr>
                        <a:t> FS </a:t>
                      </a:r>
                      <a:endParaRPr lang="en-US" sz="1050" b="0" i="0" u="none" strike="noStrike">
                        <a:solidFill>
                          <a:srgbClr val="000000"/>
                        </a:solidFill>
                        <a:effectLst/>
                        <a:latin typeface="+mn-lt"/>
                        <a:ea typeface="Arial Unicode MS" panose="020B0604020202020204" pitchFamily="34" charset="-128"/>
                      </a:endParaRPr>
                    </a:p>
                  </a:txBody>
                  <a:tcPr marL="9525" marR="9525" marT="9525" marB="0" anchor="b">
                    <a:noFill/>
                  </a:tcPr>
                </a:tc>
                <a:tc gridSpan="2">
                  <a:txBody>
                    <a:bodyPr/>
                    <a:lstStyle/>
                    <a:p>
                      <a:pPr algn="r" fontAlgn="b"/>
                      <a:r>
                        <a:rPr lang="en-US" sz="1050" u="none" strike="noStrike" dirty="0">
                          <a:effectLst/>
                          <a:latin typeface="+mn-lt"/>
                        </a:rPr>
                        <a:t> NMD </a:t>
                      </a:r>
                      <a:endParaRPr lang="en-US" sz="1050" b="0" i="0" u="none" strike="noStrike" dirty="0">
                        <a:solidFill>
                          <a:srgbClr val="000000"/>
                        </a:solidFill>
                        <a:effectLst/>
                        <a:latin typeface="+mn-lt"/>
                        <a:ea typeface="Arial Unicode MS" panose="020B0604020202020204" pitchFamily="34" charset="-128"/>
                      </a:endParaRPr>
                    </a:p>
                  </a:txBody>
                  <a:tcPr marL="9525" marR="9525" marT="9525" marB="0" anchor="b">
                    <a:noFill/>
                  </a:tcPr>
                </a:tc>
                <a:tc hMerge="1">
                  <a:txBody>
                    <a:bodyPr/>
                    <a:lstStyle/>
                    <a:p>
                      <a:pPr algn="ctr" fontAlgn="b"/>
                      <a:r>
                        <a:rPr lang="en-US" sz="1050" u="none" strike="noStrike">
                          <a:effectLst/>
                          <a:latin typeface="+mn-lt"/>
                        </a:rPr>
                        <a:t> NMD </a:t>
                      </a:r>
                      <a:endParaRPr lang="en-US" sz="1050" b="0" i="0" u="none" strike="noStrike">
                        <a:solidFill>
                          <a:srgbClr val="000000"/>
                        </a:solidFill>
                        <a:effectLst/>
                        <a:latin typeface="+mn-lt"/>
                        <a:ea typeface="Arial Unicode MS" panose="020B0604020202020204" pitchFamily="34" charset="-128"/>
                      </a:endParaRPr>
                    </a:p>
                  </a:txBody>
                  <a:tcPr marL="9525" marR="9525" marT="9525" marB="0" anchor="b">
                    <a:noFill/>
                  </a:tcPr>
                </a:tc>
                <a:tc>
                  <a:txBody>
                    <a:bodyPr/>
                    <a:lstStyle/>
                    <a:p>
                      <a:pPr algn="l" fontAlgn="b"/>
                      <a:r>
                        <a:rPr lang="en-US" sz="1050" u="none" strike="noStrike">
                          <a:effectLst/>
                          <a:latin typeface="+mn-lt"/>
                        </a:rPr>
                        <a:t> PVS1 (C) </a:t>
                      </a:r>
                      <a:endParaRPr lang="en-US" sz="1050" b="0" i="0" u="none" strike="noStrike">
                        <a:solidFill>
                          <a:srgbClr val="000000"/>
                        </a:solidFill>
                        <a:effectLst/>
                        <a:latin typeface="+mn-lt"/>
                        <a:ea typeface="Arial Unicode MS" panose="020B0604020202020204" pitchFamily="34" charset="-128"/>
                      </a:endParaRPr>
                    </a:p>
                  </a:txBody>
                  <a:tcPr marL="9525" marR="9525" marT="9525" marB="0" anchor="b">
                    <a:noFill/>
                  </a:tcPr>
                </a:tc>
                <a:tc>
                  <a:txBody>
                    <a:bodyPr/>
                    <a:lstStyle/>
                    <a:p>
                      <a:pPr algn="l" fontAlgn="b"/>
                      <a:r>
                        <a:rPr lang="en-US" sz="1050" u="none" strike="noStrike">
                          <a:effectLst/>
                          <a:latin typeface="+mn-lt"/>
                        </a:rPr>
                        <a:t> Yes </a:t>
                      </a:r>
                      <a:endParaRPr lang="en-US" sz="1050" b="0" i="0" u="none" strike="noStrike">
                        <a:solidFill>
                          <a:srgbClr val="000000"/>
                        </a:solidFill>
                        <a:effectLst/>
                        <a:latin typeface="+mn-lt"/>
                        <a:ea typeface="Arial Unicode MS" panose="020B0604020202020204" pitchFamily="34" charset="-128"/>
                      </a:endParaRPr>
                    </a:p>
                  </a:txBody>
                  <a:tcPr marL="9525" marR="9525" marT="9525" marB="0" anchor="b">
                    <a:noFill/>
                  </a:tcPr>
                </a:tc>
                <a:extLst>
                  <a:ext uri="{0D108BD9-81ED-4DB2-BD59-A6C34878D82A}">
                    <a16:rowId xmlns:a16="http://schemas.microsoft.com/office/drawing/2014/main" val="607100076"/>
                  </a:ext>
                </a:extLst>
              </a:tr>
              <a:tr h="215900">
                <a:tc>
                  <a:txBody>
                    <a:bodyPr/>
                    <a:lstStyle/>
                    <a:p>
                      <a:pPr algn="l" fontAlgn="b"/>
                      <a:endParaRPr lang="en-US" sz="1050" b="0" i="0" u="none" strike="noStrike">
                        <a:solidFill>
                          <a:srgbClr val="000000"/>
                        </a:solidFill>
                        <a:effectLst/>
                        <a:latin typeface="+mn-lt"/>
                      </a:endParaRPr>
                    </a:p>
                  </a:txBody>
                  <a:tcPr marL="9525" marR="9525" marT="9525" marB="0" anchor="b">
                    <a:noFill/>
                  </a:tcPr>
                </a:tc>
                <a:tc>
                  <a:txBody>
                    <a:bodyPr/>
                    <a:lstStyle/>
                    <a:p>
                      <a:pPr algn="r" fontAlgn="b"/>
                      <a:r>
                        <a:rPr lang="en-US" sz="1050" u="none" strike="noStrike">
                          <a:effectLst/>
                          <a:latin typeface="+mn-lt"/>
                        </a:rPr>
                        <a:t>Exon 10</a:t>
                      </a:r>
                      <a:endParaRPr lang="en-US" sz="1050" b="0" i="0" u="none" strike="noStrike">
                        <a:solidFill>
                          <a:srgbClr val="000000"/>
                        </a:solidFill>
                        <a:effectLst/>
                        <a:latin typeface="+mn-lt"/>
                      </a:endParaRPr>
                    </a:p>
                  </a:txBody>
                  <a:tcPr marL="9525" marR="9525" marT="9525" marB="0" anchor="b">
                    <a:noFill/>
                  </a:tcPr>
                </a:tc>
                <a:tc>
                  <a:txBody>
                    <a:bodyPr/>
                    <a:lstStyle/>
                    <a:p>
                      <a:pPr algn="r" fontAlgn="b"/>
                      <a:r>
                        <a:rPr lang="en-US" sz="1050" u="none" strike="noStrike" dirty="0">
                          <a:effectLst/>
                          <a:latin typeface="+mn-lt"/>
                        </a:rPr>
                        <a:t>1202</a:t>
                      </a:r>
                      <a:endParaRPr lang="en-US" sz="1050" b="0" i="0" u="none" strike="noStrike" dirty="0">
                        <a:solidFill>
                          <a:srgbClr val="000000"/>
                        </a:solidFill>
                        <a:effectLst/>
                        <a:latin typeface="+mn-lt"/>
                        <a:ea typeface="Arial Unicode MS" panose="020B0604020202020204" pitchFamily="34" charset="-128"/>
                      </a:endParaRPr>
                    </a:p>
                  </a:txBody>
                  <a:tcPr marL="9525" marR="9525" marT="9525" marB="0" anchor="b">
                    <a:noFill/>
                  </a:tcPr>
                </a:tc>
                <a:tc>
                  <a:txBody>
                    <a:bodyPr/>
                    <a:lstStyle/>
                    <a:p>
                      <a:pPr algn="r" fontAlgn="b"/>
                      <a:r>
                        <a:rPr lang="en-US" sz="1050" u="none" strike="noStrike">
                          <a:effectLst/>
                          <a:latin typeface="+mn-lt"/>
                        </a:rPr>
                        <a:t>c.1060</a:t>
                      </a:r>
                      <a:endParaRPr lang="en-US" sz="1050" b="0" i="0" u="none" strike="noStrike">
                        <a:solidFill>
                          <a:srgbClr val="000000"/>
                        </a:solidFill>
                        <a:effectLst/>
                        <a:latin typeface="+mn-lt"/>
                        <a:ea typeface="Arial Unicode MS" panose="020B0604020202020204" pitchFamily="34" charset="-128"/>
                      </a:endParaRPr>
                    </a:p>
                  </a:txBody>
                  <a:tcPr marL="9525" marR="9525" marT="9525" marB="0" anchor="b">
                    <a:noFill/>
                  </a:tcPr>
                </a:tc>
                <a:tc>
                  <a:txBody>
                    <a:bodyPr/>
                    <a:lstStyle/>
                    <a:p>
                      <a:pPr algn="r" fontAlgn="b"/>
                      <a:r>
                        <a:rPr lang="en-US" sz="1050" u="none" strike="noStrike" dirty="0">
                          <a:effectLst/>
                          <a:latin typeface="+mn-lt"/>
                        </a:rPr>
                        <a:t>1387</a:t>
                      </a:r>
                      <a:endParaRPr lang="en-US" sz="1050" b="0" i="0" u="none" strike="noStrike" dirty="0">
                        <a:solidFill>
                          <a:srgbClr val="000000"/>
                        </a:solidFill>
                        <a:effectLst/>
                        <a:latin typeface="+mn-lt"/>
                        <a:ea typeface="Arial Unicode MS" panose="020B0604020202020204" pitchFamily="34" charset="-128"/>
                      </a:endParaRPr>
                    </a:p>
                  </a:txBody>
                  <a:tcPr marL="9525" marR="9525" marT="9525" marB="0" anchor="b">
                    <a:noFill/>
                  </a:tcPr>
                </a:tc>
                <a:tc>
                  <a:txBody>
                    <a:bodyPr/>
                    <a:lstStyle/>
                    <a:p>
                      <a:pPr algn="r" fontAlgn="b"/>
                      <a:r>
                        <a:rPr lang="en-US" sz="1050" u="none" strike="noStrike">
                          <a:effectLst/>
                          <a:latin typeface="+mn-lt"/>
                        </a:rPr>
                        <a:t>c.1245</a:t>
                      </a:r>
                      <a:endParaRPr lang="en-US" sz="1050" b="0" i="0" u="none" strike="noStrike">
                        <a:solidFill>
                          <a:srgbClr val="000000"/>
                        </a:solidFill>
                        <a:effectLst/>
                        <a:latin typeface="+mn-lt"/>
                        <a:ea typeface="Arial Unicode MS" panose="020B0604020202020204" pitchFamily="34" charset="-128"/>
                      </a:endParaRPr>
                    </a:p>
                  </a:txBody>
                  <a:tcPr marL="9525" marR="9525" marT="9525" marB="0" anchor="b">
                    <a:noFill/>
                  </a:tcPr>
                </a:tc>
                <a:tc>
                  <a:txBody>
                    <a:bodyPr/>
                    <a:lstStyle/>
                    <a:p>
                      <a:pPr algn="r" fontAlgn="b"/>
                      <a:r>
                        <a:rPr lang="en-US" sz="1050" u="none" strike="noStrike" dirty="0">
                          <a:effectLst/>
                          <a:latin typeface="+mn-lt"/>
                        </a:rPr>
                        <a:t>   38,299,141 </a:t>
                      </a:r>
                      <a:endParaRPr lang="en-US" sz="1050" b="0" i="0" u="none" strike="noStrike" dirty="0">
                        <a:solidFill>
                          <a:srgbClr val="000000"/>
                        </a:solidFill>
                        <a:effectLst/>
                        <a:latin typeface="+mn-lt"/>
                        <a:ea typeface="Arial Unicode MS" panose="020B0604020202020204" pitchFamily="34" charset="-128"/>
                      </a:endParaRPr>
                    </a:p>
                  </a:txBody>
                  <a:tcPr marL="9525" marR="9525" marT="9525" marB="0" anchor="b">
                    <a:noFill/>
                  </a:tcPr>
                </a:tc>
                <a:tc>
                  <a:txBody>
                    <a:bodyPr/>
                    <a:lstStyle/>
                    <a:p>
                      <a:pPr algn="r" fontAlgn="b"/>
                      <a:r>
                        <a:rPr lang="en-US" sz="1050" u="none" strike="noStrike">
                          <a:effectLst/>
                          <a:latin typeface="+mn-lt"/>
                        </a:rPr>
                        <a:t>  38,298,956 </a:t>
                      </a:r>
                      <a:endParaRPr lang="en-US" sz="1050" b="0" i="0" u="none" strike="noStrike">
                        <a:solidFill>
                          <a:srgbClr val="000000"/>
                        </a:solidFill>
                        <a:effectLst/>
                        <a:latin typeface="+mn-lt"/>
                        <a:ea typeface="Arial Unicode MS" panose="020B0604020202020204" pitchFamily="34" charset="-128"/>
                      </a:endParaRPr>
                    </a:p>
                  </a:txBody>
                  <a:tcPr marL="9525" marR="9525" marT="9525" marB="0" anchor="b">
                    <a:noFill/>
                  </a:tcPr>
                </a:tc>
                <a:tc>
                  <a:txBody>
                    <a:bodyPr/>
                    <a:lstStyle/>
                    <a:p>
                      <a:pPr algn="r" fontAlgn="b"/>
                      <a:r>
                        <a:rPr lang="en-US" sz="1050" u="none" strike="noStrike">
                          <a:effectLst/>
                          <a:latin typeface="+mn-lt"/>
                        </a:rPr>
                        <a:t> in frame </a:t>
                      </a:r>
                      <a:endParaRPr lang="en-US" sz="1050" b="0" i="0" u="none" strike="noStrike">
                        <a:solidFill>
                          <a:srgbClr val="000000"/>
                        </a:solidFill>
                        <a:effectLst/>
                        <a:latin typeface="+mn-lt"/>
                        <a:ea typeface="Arial Unicode MS" panose="020B0604020202020204" pitchFamily="34" charset="-128"/>
                      </a:endParaRPr>
                    </a:p>
                  </a:txBody>
                  <a:tcPr marL="9525" marR="9525" marT="9525" marB="0" anchor="b">
                    <a:noFill/>
                  </a:tcPr>
                </a:tc>
                <a:tc gridSpan="2">
                  <a:txBody>
                    <a:bodyPr/>
                    <a:lstStyle/>
                    <a:p>
                      <a:pPr algn="r" fontAlgn="b"/>
                      <a:r>
                        <a:rPr lang="en-US" sz="1050" u="none" strike="noStrike">
                          <a:effectLst/>
                          <a:latin typeface="+mn-lt"/>
                        </a:rPr>
                        <a:t> No NMD </a:t>
                      </a:r>
                      <a:endParaRPr lang="en-US" sz="1050" b="0" i="0" u="none" strike="noStrike">
                        <a:solidFill>
                          <a:srgbClr val="000000"/>
                        </a:solidFill>
                        <a:effectLst/>
                        <a:latin typeface="+mn-lt"/>
                        <a:ea typeface="Arial Unicode MS" panose="020B0604020202020204" pitchFamily="34" charset="-128"/>
                      </a:endParaRPr>
                    </a:p>
                  </a:txBody>
                  <a:tcPr marL="9525" marR="9525" marT="9525" marB="0" anchor="b">
                    <a:noFill/>
                  </a:tcPr>
                </a:tc>
                <a:tc hMerge="1">
                  <a:txBody>
                    <a:bodyPr/>
                    <a:lstStyle/>
                    <a:p>
                      <a:pPr algn="ctr" fontAlgn="b"/>
                      <a:r>
                        <a:rPr lang="en-US" sz="1050" u="none" strike="noStrike">
                          <a:effectLst/>
                          <a:latin typeface="+mn-lt"/>
                        </a:rPr>
                        <a:t> No NMD </a:t>
                      </a:r>
                      <a:endParaRPr lang="en-US" sz="1050" b="0" i="0" u="none" strike="noStrike">
                        <a:solidFill>
                          <a:srgbClr val="000000"/>
                        </a:solidFill>
                        <a:effectLst/>
                        <a:latin typeface="+mn-lt"/>
                        <a:ea typeface="Arial Unicode MS" panose="020B0604020202020204" pitchFamily="34" charset="-128"/>
                      </a:endParaRPr>
                    </a:p>
                  </a:txBody>
                  <a:tcPr marL="9525" marR="9525" marT="9525" marB="0" anchor="b">
                    <a:noFill/>
                  </a:tcPr>
                </a:tc>
                <a:tc>
                  <a:txBody>
                    <a:bodyPr/>
                    <a:lstStyle/>
                    <a:p>
                      <a:pPr algn="l" fontAlgn="b"/>
                      <a:r>
                        <a:rPr lang="en-US" sz="1050" u="none" strike="noStrike">
                          <a:effectLst/>
                          <a:latin typeface="+mn-lt"/>
                        </a:rPr>
                        <a:t> PVS1 (F) </a:t>
                      </a:r>
                      <a:endParaRPr lang="en-US" sz="1050" b="0" i="0" u="none" strike="noStrike">
                        <a:solidFill>
                          <a:srgbClr val="000000"/>
                        </a:solidFill>
                        <a:effectLst/>
                        <a:latin typeface="+mn-lt"/>
                        <a:ea typeface="Arial Unicode MS" panose="020B0604020202020204" pitchFamily="34" charset="-128"/>
                      </a:endParaRPr>
                    </a:p>
                  </a:txBody>
                  <a:tcPr marL="9525" marR="9525" marT="9525" marB="0" anchor="b">
                    <a:noFill/>
                  </a:tcPr>
                </a:tc>
                <a:tc>
                  <a:txBody>
                    <a:bodyPr/>
                    <a:lstStyle/>
                    <a:p>
                      <a:pPr algn="l" fontAlgn="b"/>
                      <a:r>
                        <a:rPr lang="en-US" sz="1050" u="none" strike="noStrike">
                          <a:effectLst/>
                          <a:latin typeface="+mn-lt"/>
                        </a:rPr>
                        <a:t> Yes </a:t>
                      </a:r>
                      <a:endParaRPr lang="en-US" sz="1050" b="0" i="0" u="none" strike="noStrike">
                        <a:solidFill>
                          <a:srgbClr val="000000"/>
                        </a:solidFill>
                        <a:effectLst/>
                        <a:latin typeface="+mn-lt"/>
                        <a:ea typeface="Arial Unicode MS" panose="020B0604020202020204" pitchFamily="34" charset="-128"/>
                      </a:endParaRPr>
                    </a:p>
                  </a:txBody>
                  <a:tcPr marL="9525" marR="9525" marT="9525" marB="0" anchor="b">
                    <a:noFill/>
                  </a:tcPr>
                </a:tc>
                <a:extLst>
                  <a:ext uri="{0D108BD9-81ED-4DB2-BD59-A6C34878D82A}">
                    <a16:rowId xmlns:a16="http://schemas.microsoft.com/office/drawing/2014/main" val="1661634234"/>
                  </a:ext>
                </a:extLst>
              </a:tr>
              <a:tr h="215900">
                <a:tc>
                  <a:txBody>
                    <a:bodyPr/>
                    <a:lstStyle/>
                    <a:p>
                      <a:pPr algn="l" fontAlgn="b"/>
                      <a:endParaRPr lang="en-US" sz="1050" b="0" i="0" u="none" strike="noStrike">
                        <a:solidFill>
                          <a:srgbClr val="000000"/>
                        </a:solidFill>
                        <a:effectLst/>
                        <a:latin typeface="+mn-lt"/>
                      </a:endParaRPr>
                    </a:p>
                  </a:txBody>
                  <a:tcPr marL="9525" marR="9525" marT="9525" marB="0" anchor="b">
                    <a:noFill/>
                  </a:tcPr>
                </a:tc>
                <a:tc>
                  <a:txBody>
                    <a:bodyPr/>
                    <a:lstStyle/>
                    <a:p>
                      <a:pPr algn="r" fontAlgn="b"/>
                      <a:r>
                        <a:rPr lang="en-US" sz="1050" u="none" strike="noStrike">
                          <a:effectLst/>
                          <a:latin typeface="+mn-lt"/>
                        </a:rPr>
                        <a:t>Exon 11</a:t>
                      </a:r>
                      <a:endParaRPr lang="en-US" sz="1050" b="0" i="0" u="none" strike="noStrike">
                        <a:solidFill>
                          <a:srgbClr val="000000"/>
                        </a:solidFill>
                        <a:effectLst/>
                        <a:latin typeface="+mn-lt"/>
                      </a:endParaRPr>
                    </a:p>
                  </a:txBody>
                  <a:tcPr marL="9525" marR="9525" marT="9525" marB="0" anchor="b">
                    <a:noFill/>
                  </a:tcPr>
                </a:tc>
                <a:tc>
                  <a:txBody>
                    <a:bodyPr/>
                    <a:lstStyle/>
                    <a:p>
                      <a:pPr algn="r" fontAlgn="b"/>
                      <a:r>
                        <a:rPr lang="en-US" sz="1050" u="none" strike="noStrike" dirty="0">
                          <a:effectLst/>
                          <a:latin typeface="+mn-lt"/>
                        </a:rPr>
                        <a:t>1388</a:t>
                      </a:r>
                      <a:endParaRPr lang="en-US" sz="1050" b="0" i="0" u="none" strike="noStrike" dirty="0">
                        <a:solidFill>
                          <a:srgbClr val="000000"/>
                        </a:solidFill>
                        <a:effectLst/>
                        <a:latin typeface="+mn-lt"/>
                        <a:ea typeface="Arial Unicode MS" panose="020B0604020202020204" pitchFamily="34" charset="-128"/>
                      </a:endParaRPr>
                    </a:p>
                  </a:txBody>
                  <a:tcPr marL="9525" marR="9525" marT="9525" marB="0" anchor="b">
                    <a:noFill/>
                  </a:tcPr>
                </a:tc>
                <a:tc>
                  <a:txBody>
                    <a:bodyPr/>
                    <a:lstStyle/>
                    <a:p>
                      <a:pPr algn="r" fontAlgn="b"/>
                      <a:r>
                        <a:rPr lang="en-US" sz="1050" u="none" strike="noStrike">
                          <a:effectLst/>
                          <a:latin typeface="+mn-lt"/>
                        </a:rPr>
                        <a:t>c.1246</a:t>
                      </a:r>
                      <a:endParaRPr lang="en-US" sz="1050" b="0" i="0" u="none" strike="noStrike">
                        <a:solidFill>
                          <a:srgbClr val="000000"/>
                        </a:solidFill>
                        <a:effectLst/>
                        <a:latin typeface="+mn-lt"/>
                        <a:ea typeface="Arial Unicode MS" panose="020B0604020202020204" pitchFamily="34" charset="-128"/>
                      </a:endParaRPr>
                    </a:p>
                  </a:txBody>
                  <a:tcPr marL="9525" marR="9525" marT="9525" marB="0" anchor="b">
                    <a:noFill/>
                  </a:tcPr>
                </a:tc>
                <a:tc>
                  <a:txBody>
                    <a:bodyPr/>
                    <a:lstStyle/>
                    <a:p>
                      <a:pPr algn="r" fontAlgn="b"/>
                      <a:r>
                        <a:rPr lang="en-US" sz="1050" u="none" strike="noStrike" dirty="0">
                          <a:effectLst/>
                          <a:latin typeface="+mn-lt"/>
                        </a:rPr>
                        <a:t>1556</a:t>
                      </a:r>
                      <a:endParaRPr lang="en-US" sz="1050" b="0" i="0" u="none" strike="noStrike" dirty="0">
                        <a:solidFill>
                          <a:srgbClr val="000000"/>
                        </a:solidFill>
                        <a:effectLst/>
                        <a:latin typeface="+mn-lt"/>
                        <a:ea typeface="Arial Unicode MS" panose="020B0604020202020204" pitchFamily="34" charset="-128"/>
                      </a:endParaRPr>
                    </a:p>
                  </a:txBody>
                  <a:tcPr marL="9525" marR="9525" marT="9525" marB="0" anchor="b">
                    <a:noFill/>
                  </a:tcPr>
                </a:tc>
                <a:tc>
                  <a:txBody>
                    <a:bodyPr/>
                    <a:lstStyle/>
                    <a:p>
                      <a:pPr algn="r" fontAlgn="b"/>
                      <a:r>
                        <a:rPr lang="en-US" sz="1050" u="none" strike="noStrike">
                          <a:effectLst/>
                          <a:latin typeface="+mn-lt"/>
                        </a:rPr>
                        <a:t>c.1414</a:t>
                      </a:r>
                      <a:endParaRPr lang="en-US" sz="1050" b="0" i="0" u="none" strike="noStrike">
                        <a:solidFill>
                          <a:srgbClr val="000000"/>
                        </a:solidFill>
                        <a:effectLst/>
                        <a:latin typeface="+mn-lt"/>
                        <a:ea typeface="Arial Unicode MS" panose="020B0604020202020204" pitchFamily="34" charset="-128"/>
                      </a:endParaRPr>
                    </a:p>
                  </a:txBody>
                  <a:tcPr marL="9525" marR="9525" marT="9525" marB="0" anchor="b">
                    <a:noFill/>
                  </a:tcPr>
                </a:tc>
                <a:tc>
                  <a:txBody>
                    <a:bodyPr/>
                    <a:lstStyle/>
                    <a:p>
                      <a:pPr algn="r" fontAlgn="b"/>
                      <a:r>
                        <a:rPr lang="en-US" sz="1050" u="none" strike="noStrike">
                          <a:effectLst/>
                          <a:latin typeface="+mn-lt"/>
                        </a:rPr>
                        <a:t>   38,297,452 </a:t>
                      </a:r>
                      <a:endParaRPr lang="en-US" sz="1050" b="0" i="0" u="none" strike="noStrike">
                        <a:solidFill>
                          <a:srgbClr val="000000"/>
                        </a:solidFill>
                        <a:effectLst/>
                        <a:latin typeface="+mn-lt"/>
                        <a:ea typeface="Arial Unicode MS" panose="020B0604020202020204" pitchFamily="34" charset="-128"/>
                      </a:endParaRPr>
                    </a:p>
                  </a:txBody>
                  <a:tcPr marL="9525" marR="9525" marT="9525" marB="0" anchor="b">
                    <a:noFill/>
                  </a:tcPr>
                </a:tc>
                <a:tc>
                  <a:txBody>
                    <a:bodyPr/>
                    <a:lstStyle/>
                    <a:p>
                      <a:pPr algn="r" fontAlgn="b"/>
                      <a:r>
                        <a:rPr lang="en-US" sz="1050" u="none" strike="noStrike">
                          <a:effectLst/>
                          <a:latin typeface="+mn-lt"/>
                        </a:rPr>
                        <a:t>  38,297,284 </a:t>
                      </a:r>
                      <a:endParaRPr lang="en-US" sz="1050" b="0" i="0" u="none" strike="noStrike">
                        <a:solidFill>
                          <a:srgbClr val="000000"/>
                        </a:solidFill>
                        <a:effectLst/>
                        <a:latin typeface="+mn-lt"/>
                        <a:ea typeface="Arial Unicode MS" panose="020B0604020202020204" pitchFamily="34" charset="-128"/>
                      </a:endParaRPr>
                    </a:p>
                  </a:txBody>
                  <a:tcPr marL="9525" marR="9525" marT="9525" marB="0" anchor="b">
                    <a:noFill/>
                  </a:tcPr>
                </a:tc>
                <a:tc>
                  <a:txBody>
                    <a:bodyPr/>
                    <a:lstStyle/>
                    <a:p>
                      <a:pPr algn="r" fontAlgn="b"/>
                      <a:r>
                        <a:rPr lang="en-US" sz="1050" u="none" strike="noStrike">
                          <a:effectLst/>
                          <a:latin typeface="+mn-lt"/>
                        </a:rPr>
                        <a:t> FS </a:t>
                      </a:r>
                      <a:endParaRPr lang="en-US" sz="1050" b="0" i="0" u="none" strike="noStrike">
                        <a:solidFill>
                          <a:srgbClr val="000000"/>
                        </a:solidFill>
                        <a:effectLst/>
                        <a:latin typeface="+mn-lt"/>
                        <a:ea typeface="Arial Unicode MS" panose="020B0604020202020204" pitchFamily="34" charset="-128"/>
                      </a:endParaRPr>
                    </a:p>
                  </a:txBody>
                  <a:tcPr marL="9525" marR="9525" marT="9525" marB="0" anchor="b">
                    <a:noFill/>
                  </a:tcPr>
                </a:tc>
                <a:tc gridSpan="2">
                  <a:txBody>
                    <a:bodyPr/>
                    <a:lstStyle/>
                    <a:p>
                      <a:pPr algn="r" fontAlgn="b"/>
                      <a:r>
                        <a:rPr lang="en-US" sz="1050" u="none" strike="noStrike">
                          <a:effectLst/>
                          <a:latin typeface="+mn-lt"/>
                        </a:rPr>
                        <a:t> NMD </a:t>
                      </a:r>
                      <a:endParaRPr lang="en-US" sz="1050" b="0" i="0" u="none" strike="noStrike">
                        <a:solidFill>
                          <a:srgbClr val="000000"/>
                        </a:solidFill>
                        <a:effectLst/>
                        <a:latin typeface="+mn-lt"/>
                        <a:ea typeface="Arial Unicode MS" panose="020B0604020202020204" pitchFamily="34" charset="-128"/>
                      </a:endParaRPr>
                    </a:p>
                  </a:txBody>
                  <a:tcPr marL="9525" marR="9525" marT="9525" marB="0" anchor="b">
                    <a:noFill/>
                  </a:tcPr>
                </a:tc>
                <a:tc hMerge="1">
                  <a:txBody>
                    <a:bodyPr/>
                    <a:lstStyle/>
                    <a:p>
                      <a:pPr algn="ctr" fontAlgn="b"/>
                      <a:r>
                        <a:rPr lang="en-US" sz="1050" u="none" strike="noStrike">
                          <a:effectLst/>
                          <a:latin typeface="+mn-lt"/>
                        </a:rPr>
                        <a:t> NMD </a:t>
                      </a:r>
                      <a:endParaRPr lang="en-US" sz="1050" b="0" i="0" u="none" strike="noStrike">
                        <a:solidFill>
                          <a:srgbClr val="000000"/>
                        </a:solidFill>
                        <a:effectLst/>
                        <a:latin typeface="+mn-lt"/>
                        <a:ea typeface="Arial Unicode MS" panose="020B0604020202020204" pitchFamily="34" charset="-128"/>
                      </a:endParaRPr>
                    </a:p>
                  </a:txBody>
                  <a:tcPr marL="9525" marR="9525" marT="9525" marB="0" anchor="b">
                    <a:noFill/>
                  </a:tcPr>
                </a:tc>
                <a:tc>
                  <a:txBody>
                    <a:bodyPr/>
                    <a:lstStyle/>
                    <a:p>
                      <a:pPr algn="l" fontAlgn="b"/>
                      <a:r>
                        <a:rPr lang="en-US" sz="1050" u="none" strike="noStrike">
                          <a:effectLst/>
                          <a:latin typeface="+mn-lt"/>
                        </a:rPr>
                        <a:t> PVS1 (C) </a:t>
                      </a:r>
                      <a:endParaRPr lang="en-US" sz="1050" b="0" i="0" u="none" strike="noStrike">
                        <a:solidFill>
                          <a:srgbClr val="000000"/>
                        </a:solidFill>
                        <a:effectLst/>
                        <a:latin typeface="+mn-lt"/>
                        <a:ea typeface="Arial Unicode MS" panose="020B0604020202020204" pitchFamily="34" charset="-128"/>
                      </a:endParaRPr>
                    </a:p>
                  </a:txBody>
                  <a:tcPr marL="9525" marR="9525" marT="9525" marB="0" anchor="b">
                    <a:noFill/>
                  </a:tcPr>
                </a:tc>
                <a:tc>
                  <a:txBody>
                    <a:bodyPr/>
                    <a:lstStyle/>
                    <a:p>
                      <a:pPr algn="l" fontAlgn="b"/>
                      <a:r>
                        <a:rPr lang="en-US" sz="1050" u="none" strike="noStrike">
                          <a:effectLst/>
                          <a:latin typeface="+mn-lt"/>
                        </a:rPr>
                        <a:t> Yes </a:t>
                      </a:r>
                      <a:endParaRPr lang="en-US" sz="1050" b="0" i="0" u="none" strike="noStrike">
                        <a:solidFill>
                          <a:srgbClr val="000000"/>
                        </a:solidFill>
                        <a:effectLst/>
                        <a:latin typeface="+mn-lt"/>
                        <a:ea typeface="Arial Unicode MS" panose="020B0604020202020204" pitchFamily="34" charset="-128"/>
                      </a:endParaRPr>
                    </a:p>
                  </a:txBody>
                  <a:tcPr marL="9525" marR="9525" marT="9525" marB="0" anchor="b">
                    <a:noFill/>
                  </a:tcPr>
                </a:tc>
                <a:extLst>
                  <a:ext uri="{0D108BD9-81ED-4DB2-BD59-A6C34878D82A}">
                    <a16:rowId xmlns:a16="http://schemas.microsoft.com/office/drawing/2014/main" val="857060503"/>
                  </a:ext>
                </a:extLst>
              </a:tr>
              <a:tr h="215900">
                <a:tc>
                  <a:txBody>
                    <a:bodyPr/>
                    <a:lstStyle/>
                    <a:p>
                      <a:pPr algn="l" fontAlgn="b"/>
                      <a:endParaRPr lang="en-US" sz="1050" b="0" i="0" u="none" strike="noStrike">
                        <a:solidFill>
                          <a:srgbClr val="000000"/>
                        </a:solidFill>
                        <a:effectLst/>
                        <a:latin typeface="+mn-lt"/>
                      </a:endParaRPr>
                    </a:p>
                  </a:txBody>
                  <a:tcPr marL="9525" marR="9525" marT="9525" marB="0" anchor="b">
                    <a:noFill/>
                  </a:tcPr>
                </a:tc>
                <a:tc>
                  <a:txBody>
                    <a:bodyPr/>
                    <a:lstStyle/>
                    <a:p>
                      <a:pPr algn="r" fontAlgn="b"/>
                      <a:r>
                        <a:rPr lang="en-US" sz="1050" u="none" strike="noStrike">
                          <a:effectLst/>
                          <a:latin typeface="+mn-lt"/>
                        </a:rPr>
                        <a:t>Exon 12</a:t>
                      </a:r>
                      <a:endParaRPr lang="en-US" sz="1050" b="0" i="0" u="none" strike="noStrike">
                        <a:solidFill>
                          <a:srgbClr val="000000"/>
                        </a:solidFill>
                        <a:effectLst/>
                        <a:latin typeface="+mn-lt"/>
                      </a:endParaRPr>
                    </a:p>
                  </a:txBody>
                  <a:tcPr marL="9525" marR="9525" marT="9525" marB="0" anchor="b">
                    <a:noFill/>
                  </a:tcPr>
                </a:tc>
                <a:tc>
                  <a:txBody>
                    <a:bodyPr/>
                    <a:lstStyle/>
                    <a:p>
                      <a:pPr algn="r" fontAlgn="b"/>
                      <a:r>
                        <a:rPr lang="en-US" sz="1050" u="none" strike="noStrike" dirty="0">
                          <a:effectLst/>
                          <a:latin typeface="+mn-lt"/>
                        </a:rPr>
                        <a:t>1557</a:t>
                      </a:r>
                      <a:endParaRPr lang="en-US" sz="1050" b="0" i="0" u="none" strike="noStrike" dirty="0">
                        <a:solidFill>
                          <a:srgbClr val="000000"/>
                        </a:solidFill>
                        <a:effectLst/>
                        <a:latin typeface="+mn-lt"/>
                        <a:ea typeface="Arial Unicode MS" panose="020B0604020202020204" pitchFamily="34" charset="-128"/>
                      </a:endParaRPr>
                    </a:p>
                  </a:txBody>
                  <a:tcPr marL="9525" marR="9525" marT="9525" marB="0" anchor="b">
                    <a:noFill/>
                  </a:tcPr>
                </a:tc>
                <a:tc>
                  <a:txBody>
                    <a:bodyPr/>
                    <a:lstStyle/>
                    <a:p>
                      <a:pPr algn="r" fontAlgn="b"/>
                      <a:r>
                        <a:rPr lang="en-US" sz="1050" u="none" strike="noStrike">
                          <a:effectLst/>
                          <a:latin typeface="+mn-lt"/>
                        </a:rPr>
                        <a:t>c.1415</a:t>
                      </a:r>
                      <a:endParaRPr lang="en-US" sz="1050" b="0" i="0" u="none" strike="noStrike">
                        <a:solidFill>
                          <a:srgbClr val="000000"/>
                        </a:solidFill>
                        <a:effectLst/>
                        <a:latin typeface="+mn-lt"/>
                        <a:ea typeface="Arial Unicode MS" panose="020B0604020202020204" pitchFamily="34" charset="-128"/>
                      </a:endParaRPr>
                    </a:p>
                  </a:txBody>
                  <a:tcPr marL="9525" marR="9525" marT="9525" marB="0" anchor="b">
                    <a:noFill/>
                  </a:tcPr>
                </a:tc>
                <a:tc>
                  <a:txBody>
                    <a:bodyPr/>
                    <a:lstStyle/>
                    <a:p>
                      <a:pPr algn="r" fontAlgn="b"/>
                      <a:r>
                        <a:rPr lang="en-US" sz="1050" u="none" strike="noStrike" dirty="0">
                          <a:effectLst/>
                          <a:latin typeface="+mn-lt"/>
                        </a:rPr>
                        <a:t>1648</a:t>
                      </a:r>
                      <a:endParaRPr lang="en-US" sz="1050" b="0" i="0" u="none" strike="noStrike" dirty="0">
                        <a:solidFill>
                          <a:srgbClr val="000000"/>
                        </a:solidFill>
                        <a:effectLst/>
                        <a:latin typeface="+mn-lt"/>
                        <a:ea typeface="Arial Unicode MS" panose="020B0604020202020204" pitchFamily="34" charset="-128"/>
                      </a:endParaRPr>
                    </a:p>
                  </a:txBody>
                  <a:tcPr marL="9525" marR="9525" marT="9525" marB="0" anchor="b">
                    <a:noFill/>
                  </a:tcPr>
                </a:tc>
                <a:tc>
                  <a:txBody>
                    <a:bodyPr/>
                    <a:lstStyle/>
                    <a:p>
                      <a:pPr algn="r" fontAlgn="b"/>
                      <a:r>
                        <a:rPr lang="en-US" sz="1050" u="none" strike="noStrike">
                          <a:effectLst/>
                          <a:latin typeface="+mn-lt"/>
                        </a:rPr>
                        <a:t>c.1506</a:t>
                      </a:r>
                      <a:endParaRPr lang="en-US" sz="1050" b="0" i="0" u="none" strike="noStrike">
                        <a:solidFill>
                          <a:srgbClr val="000000"/>
                        </a:solidFill>
                        <a:effectLst/>
                        <a:latin typeface="+mn-lt"/>
                        <a:ea typeface="Arial Unicode MS" panose="020B0604020202020204" pitchFamily="34" charset="-128"/>
                      </a:endParaRPr>
                    </a:p>
                  </a:txBody>
                  <a:tcPr marL="9525" marR="9525" marT="9525" marB="0" anchor="b">
                    <a:noFill/>
                  </a:tcPr>
                </a:tc>
                <a:tc>
                  <a:txBody>
                    <a:bodyPr/>
                    <a:lstStyle/>
                    <a:p>
                      <a:pPr algn="r" fontAlgn="b"/>
                      <a:r>
                        <a:rPr lang="en-US" sz="1050" u="none" strike="noStrike">
                          <a:effectLst/>
                          <a:latin typeface="+mn-lt"/>
                        </a:rPr>
                        <a:t>   38,291,484 </a:t>
                      </a:r>
                      <a:endParaRPr lang="en-US" sz="1050" b="0" i="0" u="none" strike="noStrike">
                        <a:solidFill>
                          <a:srgbClr val="000000"/>
                        </a:solidFill>
                        <a:effectLst/>
                        <a:latin typeface="+mn-lt"/>
                        <a:ea typeface="Arial Unicode MS" panose="020B0604020202020204" pitchFamily="34" charset="-128"/>
                      </a:endParaRPr>
                    </a:p>
                  </a:txBody>
                  <a:tcPr marL="9525" marR="9525" marT="9525" marB="0" anchor="b">
                    <a:noFill/>
                  </a:tcPr>
                </a:tc>
                <a:tc>
                  <a:txBody>
                    <a:bodyPr/>
                    <a:lstStyle/>
                    <a:p>
                      <a:pPr algn="r" fontAlgn="b"/>
                      <a:r>
                        <a:rPr lang="en-US" sz="1050" u="none" strike="noStrike">
                          <a:effectLst/>
                          <a:latin typeface="+mn-lt"/>
                        </a:rPr>
                        <a:t>  38,291,393 </a:t>
                      </a:r>
                      <a:endParaRPr lang="en-US" sz="1050" b="0" i="0" u="none" strike="noStrike">
                        <a:solidFill>
                          <a:srgbClr val="000000"/>
                        </a:solidFill>
                        <a:effectLst/>
                        <a:latin typeface="+mn-lt"/>
                        <a:ea typeface="Arial Unicode MS" panose="020B0604020202020204" pitchFamily="34" charset="-128"/>
                      </a:endParaRPr>
                    </a:p>
                  </a:txBody>
                  <a:tcPr marL="9525" marR="9525" marT="9525" marB="0" anchor="b">
                    <a:noFill/>
                  </a:tcPr>
                </a:tc>
                <a:tc>
                  <a:txBody>
                    <a:bodyPr/>
                    <a:lstStyle/>
                    <a:p>
                      <a:pPr algn="r" fontAlgn="b"/>
                      <a:r>
                        <a:rPr lang="en-US" sz="1050" u="none" strike="noStrike">
                          <a:effectLst/>
                          <a:latin typeface="+mn-lt"/>
                        </a:rPr>
                        <a:t> FS </a:t>
                      </a:r>
                      <a:endParaRPr lang="en-US" sz="1050" b="0" i="0" u="none" strike="noStrike">
                        <a:solidFill>
                          <a:srgbClr val="000000"/>
                        </a:solidFill>
                        <a:effectLst/>
                        <a:latin typeface="+mn-lt"/>
                        <a:ea typeface="Arial Unicode MS" panose="020B0604020202020204" pitchFamily="34" charset="-128"/>
                      </a:endParaRPr>
                    </a:p>
                  </a:txBody>
                  <a:tcPr marL="9525" marR="9525" marT="9525" marB="0" anchor="b">
                    <a:noFill/>
                  </a:tcPr>
                </a:tc>
                <a:tc gridSpan="2">
                  <a:txBody>
                    <a:bodyPr/>
                    <a:lstStyle/>
                    <a:p>
                      <a:pPr algn="r" fontAlgn="b"/>
                      <a:r>
                        <a:rPr lang="en-US" sz="1050" u="none" strike="noStrike">
                          <a:effectLst/>
                          <a:latin typeface="+mn-lt"/>
                        </a:rPr>
                        <a:t> NMD </a:t>
                      </a:r>
                      <a:endParaRPr lang="en-US" sz="1050" b="0" i="0" u="none" strike="noStrike">
                        <a:solidFill>
                          <a:srgbClr val="000000"/>
                        </a:solidFill>
                        <a:effectLst/>
                        <a:latin typeface="+mn-lt"/>
                        <a:ea typeface="Arial Unicode MS" panose="020B0604020202020204" pitchFamily="34" charset="-128"/>
                      </a:endParaRPr>
                    </a:p>
                  </a:txBody>
                  <a:tcPr marL="9525" marR="9525" marT="9525" marB="0" anchor="b">
                    <a:noFill/>
                  </a:tcPr>
                </a:tc>
                <a:tc hMerge="1">
                  <a:txBody>
                    <a:bodyPr/>
                    <a:lstStyle/>
                    <a:p>
                      <a:pPr algn="ctr" fontAlgn="b"/>
                      <a:r>
                        <a:rPr lang="en-US" sz="1050" u="none" strike="noStrike">
                          <a:effectLst/>
                          <a:latin typeface="+mn-lt"/>
                        </a:rPr>
                        <a:t> NMD </a:t>
                      </a:r>
                      <a:endParaRPr lang="en-US" sz="1050" b="0" i="0" u="none" strike="noStrike">
                        <a:solidFill>
                          <a:srgbClr val="000000"/>
                        </a:solidFill>
                        <a:effectLst/>
                        <a:latin typeface="+mn-lt"/>
                        <a:ea typeface="Arial Unicode MS" panose="020B0604020202020204" pitchFamily="34" charset="-128"/>
                      </a:endParaRPr>
                    </a:p>
                  </a:txBody>
                  <a:tcPr marL="9525" marR="9525" marT="9525" marB="0" anchor="b">
                    <a:noFill/>
                  </a:tcPr>
                </a:tc>
                <a:tc>
                  <a:txBody>
                    <a:bodyPr/>
                    <a:lstStyle/>
                    <a:p>
                      <a:pPr algn="l" fontAlgn="b"/>
                      <a:r>
                        <a:rPr lang="en-US" sz="1050" u="none" strike="noStrike">
                          <a:effectLst/>
                          <a:latin typeface="+mn-lt"/>
                        </a:rPr>
                        <a:t> PVS1 (C) </a:t>
                      </a:r>
                      <a:endParaRPr lang="en-US" sz="1050" b="0" i="0" u="none" strike="noStrike">
                        <a:solidFill>
                          <a:srgbClr val="000000"/>
                        </a:solidFill>
                        <a:effectLst/>
                        <a:latin typeface="+mn-lt"/>
                        <a:ea typeface="Arial Unicode MS" panose="020B0604020202020204" pitchFamily="34" charset="-128"/>
                      </a:endParaRPr>
                    </a:p>
                  </a:txBody>
                  <a:tcPr marL="9525" marR="9525" marT="9525" marB="0" anchor="b">
                    <a:noFill/>
                  </a:tcPr>
                </a:tc>
                <a:tc>
                  <a:txBody>
                    <a:bodyPr/>
                    <a:lstStyle/>
                    <a:p>
                      <a:pPr algn="l" fontAlgn="b"/>
                      <a:r>
                        <a:rPr lang="en-US" sz="1050" u="none" strike="noStrike">
                          <a:effectLst/>
                          <a:latin typeface="+mn-lt"/>
                        </a:rPr>
                        <a:t> Yes </a:t>
                      </a:r>
                      <a:endParaRPr lang="en-US" sz="1050" b="0" i="0" u="none" strike="noStrike">
                        <a:solidFill>
                          <a:srgbClr val="000000"/>
                        </a:solidFill>
                        <a:effectLst/>
                        <a:latin typeface="+mn-lt"/>
                        <a:ea typeface="Arial Unicode MS" panose="020B0604020202020204" pitchFamily="34" charset="-128"/>
                      </a:endParaRPr>
                    </a:p>
                  </a:txBody>
                  <a:tcPr marL="9525" marR="9525" marT="9525" marB="0" anchor="b">
                    <a:noFill/>
                  </a:tcPr>
                </a:tc>
                <a:extLst>
                  <a:ext uri="{0D108BD9-81ED-4DB2-BD59-A6C34878D82A}">
                    <a16:rowId xmlns:a16="http://schemas.microsoft.com/office/drawing/2014/main" val="3105187530"/>
                  </a:ext>
                </a:extLst>
              </a:tr>
              <a:tr h="215900">
                <a:tc>
                  <a:txBody>
                    <a:bodyPr/>
                    <a:lstStyle/>
                    <a:p>
                      <a:pPr algn="l" fontAlgn="b"/>
                      <a:endParaRPr lang="en-US" sz="1050" b="0" i="0" u="none" strike="noStrike">
                        <a:solidFill>
                          <a:srgbClr val="000000"/>
                        </a:solidFill>
                        <a:effectLst/>
                        <a:latin typeface="+mn-lt"/>
                      </a:endParaRPr>
                    </a:p>
                  </a:txBody>
                  <a:tcPr marL="9525" marR="9525" marT="9525" marB="0" anchor="b">
                    <a:noFill/>
                  </a:tcPr>
                </a:tc>
                <a:tc>
                  <a:txBody>
                    <a:bodyPr/>
                    <a:lstStyle/>
                    <a:p>
                      <a:pPr algn="r" fontAlgn="b"/>
                      <a:r>
                        <a:rPr lang="en-US" sz="1050" u="none" strike="noStrike">
                          <a:effectLst/>
                          <a:latin typeface="+mn-lt"/>
                        </a:rPr>
                        <a:t>Exon 13</a:t>
                      </a:r>
                      <a:endParaRPr lang="en-US" sz="1050" b="0" i="0" u="none" strike="noStrike">
                        <a:solidFill>
                          <a:srgbClr val="000000"/>
                        </a:solidFill>
                        <a:effectLst/>
                        <a:latin typeface="+mn-lt"/>
                      </a:endParaRPr>
                    </a:p>
                  </a:txBody>
                  <a:tcPr marL="9525" marR="9525" marT="9525" marB="0" anchor="b">
                    <a:noFill/>
                  </a:tcPr>
                </a:tc>
                <a:tc>
                  <a:txBody>
                    <a:bodyPr/>
                    <a:lstStyle/>
                    <a:p>
                      <a:pPr algn="r" fontAlgn="b"/>
                      <a:r>
                        <a:rPr lang="en-US" sz="1050" u="none" strike="noStrike" dirty="0">
                          <a:effectLst/>
                          <a:latin typeface="+mn-lt"/>
                        </a:rPr>
                        <a:t>1649</a:t>
                      </a:r>
                      <a:endParaRPr lang="en-US" sz="1050" b="0" i="0" u="none" strike="noStrike" dirty="0">
                        <a:solidFill>
                          <a:srgbClr val="000000"/>
                        </a:solidFill>
                        <a:effectLst/>
                        <a:latin typeface="+mn-lt"/>
                        <a:ea typeface="Arial Unicode MS" panose="020B0604020202020204" pitchFamily="34" charset="-128"/>
                      </a:endParaRPr>
                    </a:p>
                  </a:txBody>
                  <a:tcPr marL="9525" marR="9525" marT="9525" marB="0" anchor="b">
                    <a:noFill/>
                  </a:tcPr>
                </a:tc>
                <a:tc>
                  <a:txBody>
                    <a:bodyPr/>
                    <a:lstStyle/>
                    <a:p>
                      <a:pPr algn="r" fontAlgn="b"/>
                      <a:r>
                        <a:rPr lang="en-US" sz="1050" u="none" strike="noStrike">
                          <a:effectLst/>
                          <a:latin typeface="+mn-lt"/>
                        </a:rPr>
                        <a:t>c.1507</a:t>
                      </a:r>
                      <a:endParaRPr lang="en-US" sz="1050" b="0" i="0" u="none" strike="noStrike">
                        <a:solidFill>
                          <a:srgbClr val="000000"/>
                        </a:solidFill>
                        <a:effectLst/>
                        <a:latin typeface="+mn-lt"/>
                        <a:ea typeface="Arial Unicode MS" panose="020B0604020202020204" pitchFamily="34" charset="-128"/>
                      </a:endParaRPr>
                    </a:p>
                  </a:txBody>
                  <a:tcPr marL="9525" marR="9525" marT="9525" marB="0" anchor="b">
                    <a:noFill/>
                  </a:tcPr>
                </a:tc>
                <a:tc>
                  <a:txBody>
                    <a:bodyPr/>
                    <a:lstStyle/>
                    <a:p>
                      <a:pPr algn="r" fontAlgn="b"/>
                      <a:r>
                        <a:rPr lang="en-US" sz="1050" u="none" strike="noStrike" dirty="0">
                          <a:effectLst/>
                          <a:latin typeface="+mn-lt"/>
                        </a:rPr>
                        <a:t>1714</a:t>
                      </a:r>
                      <a:endParaRPr lang="en-US" sz="1050" b="0" i="0" u="none" strike="noStrike" dirty="0">
                        <a:solidFill>
                          <a:srgbClr val="000000"/>
                        </a:solidFill>
                        <a:effectLst/>
                        <a:latin typeface="+mn-lt"/>
                        <a:ea typeface="Arial Unicode MS" panose="020B0604020202020204" pitchFamily="34" charset="-128"/>
                      </a:endParaRPr>
                    </a:p>
                  </a:txBody>
                  <a:tcPr marL="9525" marR="9525" marT="9525" marB="0" anchor="b">
                    <a:noFill/>
                  </a:tcPr>
                </a:tc>
                <a:tc>
                  <a:txBody>
                    <a:bodyPr/>
                    <a:lstStyle/>
                    <a:p>
                      <a:pPr algn="r" fontAlgn="b"/>
                      <a:r>
                        <a:rPr lang="en-US" sz="1050" u="none" strike="noStrike">
                          <a:effectLst/>
                          <a:latin typeface="+mn-lt"/>
                        </a:rPr>
                        <a:t>c.1572</a:t>
                      </a:r>
                      <a:endParaRPr lang="en-US" sz="1050" b="0" i="0" u="none" strike="noStrike">
                        <a:solidFill>
                          <a:srgbClr val="000000"/>
                        </a:solidFill>
                        <a:effectLst/>
                        <a:latin typeface="+mn-lt"/>
                        <a:ea typeface="Arial Unicode MS" panose="020B0604020202020204" pitchFamily="34" charset="-128"/>
                      </a:endParaRPr>
                    </a:p>
                  </a:txBody>
                  <a:tcPr marL="9525" marR="9525" marT="9525" marB="0" anchor="b">
                    <a:noFill/>
                  </a:tcPr>
                </a:tc>
                <a:tc>
                  <a:txBody>
                    <a:bodyPr/>
                    <a:lstStyle/>
                    <a:p>
                      <a:pPr algn="r" fontAlgn="b"/>
                      <a:r>
                        <a:rPr lang="en-US" sz="1050" u="none" strike="noStrike" dirty="0">
                          <a:effectLst/>
                          <a:latin typeface="+mn-lt"/>
                        </a:rPr>
                        <a:t>   38,291,024 </a:t>
                      </a:r>
                      <a:endParaRPr lang="en-US" sz="1050" b="0" i="0" u="none" strike="noStrike" dirty="0">
                        <a:solidFill>
                          <a:srgbClr val="000000"/>
                        </a:solidFill>
                        <a:effectLst/>
                        <a:latin typeface="+mn-lt"/>
                        <a:ea typeface="Arial Unicode MS" panose="020B0604020202020204" pitchFamily="34" charset="-128"/>
                      </a:endParaRPr>
                    </a:p>
                  </a:txBody>
                  <a:tcPr marL="9525" marR="9525" marT="9525" marB="0" anchor="b">
                    <a:noFill/>
                  </a:tcPr>
                </a:tc>
                <a:tc>
                  <a:txBody>
                    <a:bodyPr/>
                    <a:lstStyle/>
                    <a:p>
                      <a:pPr algn="r" fontAlgn="b"/>
                      <a:r>
                        <a:rPr lang="en-US" sz="1050" u="none" strike="noStrike">
                          <a:effectLst/>
                          <a:latin typeface="+mn-lt"/>
                        </a:rPr>
                        <a:t>  38,290,959 </a:t>
                      </a:r>
                      <a:endParaRPr lang="en-US" sz="1050" b="0" i="0" u="none" strike="noStrike">
                        <a:solidFill>
                          <a:srgbClr val="000000"/>
                        </a:solidFill>
                        <a:effectLst/>
                        <a:latin typeface="+mn-lt"/>
                        <a:ea typeface="Arial Unicode MS" panose="020B0604020202020204" pitchFamily="34" charset="-128"/>
                      </a:endParaRPr>
                    </a:p>
                  </a:txBody>
                  <a:tcPr marL="9525" marR="9525" marT="9525" marB="0" anchor="b">
                    <a:noFill/>
                  </a:tcPr>
                </a:tc>
                <a:tc>
                  <a:txBody>
                    <a:bodyPr/>
                    <a:lstStyle/>
                    <a:p>
                      <a:pPr algn="r" fontAlgn="b"/>
                      <a:r>
                        <a:rPr lang="en-US" sz="1050" u="none" strike="noStrike">
                          <a:effectLst/>
                          <a:latin typeface="+mn-lt"/>
                        </a:rPr>
                        <a:t> in frame </a:t>
                      </a:r>
                      <a:endParaRPr lang="en-US" sz="1050" b="0" i="0" u="none" strike="noStrike">
                        <a:solidFill>
                          <a:srgbClr val="000000"/>
                        </a:solidFill>
                        <a:effectLst/>
                        <a:latin typeface="+mn-lt"/>
                        <a:ea typeface="Arial Unicode MS" panose="020B0604020202020204" pitchFamily="34" charset="-128"/>
                      </a:endParaRPr>
                    </a:p>
                  </a:txBody>
                  <a:tcPr marL="9525" marR="9525" marT="9525" marB="0" anchor="b">
                    <a:noFill/>
                  </a:tcPr>
                </a:tc>
                <a:tc gridSpan="2">
                  <a:txBody>
                    <a:bodyPr/>
                    <a:lstStyle/>
                    <a:p>
                      <a:pPr algn="r" fontAlgn="b"/>
                      <a:r>
                        <a:rPr lang="en-US" sz="1050" u="none" strike="noStrike">
                          <a:effectLst/>
                          <a:latin typeface="+mn-lt"/>
                        </a:rPr>
                        <a:t> No NMD </a:t>
                      </a:r>
                      <a:endParaRPr lang="en-US" sz="1050" b="0" i="0" u="none" strike="noStrike">
                        <a:solidFill>
                          <a:srgbClr val="000000"/>
                        </a:solidFill>
                        <a:effectLst/>
                        <a:latin typeface="+mn-lt"/>
                        <a:ea typeface="Arial Unicode MS" panose="020B0604020202020204" pitchFamily="34" charset="-128"/>
                      </a:endParaRPr>
                    </a:p>
                  </a:txBody>
                  <a:tcPr marL="9525" marR="9525" marT="9525" marB="0" anchor="b">
                    <a:noFill/>
                  </a:tcPr>
                </a:tc>
                <a:tc hMerge="1">
                  <a:txBody>
                    <a:bodyPr/>
                    <a:lstStyle/>
                    <a:p>
                      <a:pPr algn="ctr" fontAlgn="b"/>
                      <a:r>
                        <a:rPr lang="en-US" sz="1050" u="none" strike="noStrike">
                          <a:effectLst/>
                          <a:latin typeface="+mn-lt"/>
                        </a:rPr>
                        <a:t> No NMD </a:t>
                      </a:r>
                      <a:endParaRPr lang="en-US" sz="1050" b="0" i="0" u="none" strike="noStrike">
                        <a:solidFill>
                          <a:srgbClr val="000000"/>
                        </a:solidFill>
                        <a:effectLst/>
                        <a:latin typeface="+mn-lt"/>
                        <a:ea typeface="Arial Unicode MS" panose="020B0604020202020204" pitchFamily="34" charset="-128"/>
                      </a:endParaRPr>
                    </a:p>
                  </a:txBody>
                  <a:tcPr marL="9525" marR="9525" marT="9525" marB="0" anchor="b">
                    <a:noFill/>
                  </a:tcPr>
                </a:tc>
                <a:tc>
                  <a:txBody>
                    <a:bodyPr/>
                    <a:lstStyle/>
                    <a:p>
                      <a:pPr algn="l" fontAlgn="b"/>
                      <a:r>
                        <a:rPr lang="en-US" sz="1050" u="none" strike="noStrike">
                          <a:effectLst/>
                          <a:latin typeface="+mn-lt"/>
                        </a:rPr>
                        <a:t> PVS1 (G) </a:t>
                      </a:r>
                      <a:endParaRPr lang="en-US" sz="1050" b="0" i="0" u="none" strike="noStrike">
                        <a:solidFill>
                          <a:srgbClr val="000000"/>
                        </a:solidFill>
                        <a:effectLst/>
                        <a:latin typeface="+mn-lt"/>
                        <a:ea typeface="Arial Unicode MS" panose="020B0604020202020204" pitchFamily="34" charset="-128"/>
                      </a:endParaRPr>
                    </a:p>
                  </a:txBody>
                  <a:tcPr marL="9525" marR="9525" marT="9525" marB="0" anchor="b">
                    <a:noFill/>
                  </a:tcPr>
                </a:tc>
                <a:tc>
                  <a:txBody>
                    <a:bodyPr/>
                    <a:lstStyle/>
                    <a:p>
                      <a:pPr algn="l" fontAlgn="b"/>
                      <a:r>
                        <a:rPr lang="en-US" sz="1050" u="none" strike="noStrike">
                          <a:effectLst/>
                          <a:latin typeface="+mn-lt"/>
                        </a:rPr>
                        <a:t> Yes </a:t>
                      </a:r>
                      <a:endParaRPr lang="en-US" sz="1050" b="0" i="0" u="none" strike="noStrike">
                        <a:solidFill>
                          <a:srgbClr val="000000"/>
                        </a:solidFill>
                        <a:effectLst/>
                        <a:latin typeface="+mn-lt"/>
                        <a:ea typeface="Arial Unicode MS" panose="020B0604020202020204" pitchFamily="34" charset="-128"/>
                      </a:endParaRPr>
                    </a:p>
                  </a:txBody>
                  <a:tcPr marL="9525" marR="9525" marT="9525" marB="0" anchor="b">
                    <a:noFill/>
                  </a:tcPr>
                </a:tc>
                <a:extLst>
                  <a:ext uri="{0D108BD9-81ED-4DB2-BD59-A6C34878D82A}">
                    <a16:rowId xmlns:a16="http://schemas.microsoft.com/office/drawing/2014/main" val="3071143212"/>
                  </a:ext>
                </a:extLst>
              </a:tr>
              <a:tr h="215900">
                <a:tc>
                  <a:txBody>
                    <a:bodyPr/>
                    <a:lstStyle/>
                    <a:p>
                      <a:pPr algn="r" fontAlgn="b"/>
                      <a:r>
                        <a:rPr lang="en-US" sz="1050" u="none" strike="noStrike" dirty="0">
                          <a:solidFill>
                            <a:srgbClr val="C00000"/>
                          </a:solidFill>
                          <a:effectLst/>
                          <a:latin typeface="+mn-lt"/>
                        </a:rPr>
                        <a:t>NM_001034853.2</a:t>
                      </a:r>
                      <a:endParaRPr lang="en-US" sz="1050" b="0" i="0" u="none" strike="noStrike" dirty="0">
                        <a:solidFill>
                          <a:srgbClr val="C00000"/>
                        </a:solidFill>
                        <a:effectLst/>
                        <a:latin typeface="+mn-lt"/>
                      </a:endParaRPr>
                    </a:p>
                  </a:txBody>
                  <a:tcPr marL="9525" marR="9525" marT="9525" marB="0" anchor="b">
                    <a:noFill/>
                  </a:tcPr>
                </a:tc>
                <a:tc>
                  <a:txBody>
                    <a:bodyPr/>
                    <a:lstStyle/>
                    <a:p>
                      <a:pPr algn="r" fontAlgn="b"/>
                      <a:r>
                        <a:rPr lang="en-US" sz="1050" u="none" strike="noStrike" dirty="0">
                          <a:solidFill>
                            <a:srgbClr val="C00000"/>
                          </a:solidFill>
                          <a:effectLst/>
                          <a:latin typeface="+mn-lt"/>
                        </a:rPr>
                        <a:t>Exon 14</a:t>
                      </a:r>
                      <a:endParaRPr lang="en-US" sz="1050" b="0" i="0" u="none" strike="noStrike" dirty="0">
                        <a:solidFill>
                          <a:srgbClr val="C00000"/>
                        </a:solidFill>
                        <a:effectLst/>
                        <a:latin typeface="+mn-lt"/>
                      </a:endParaRPr>
                    </a:p>
                  </a:txBody>
                  <a:tcPr marL="9525" marR="9525" marT="9525" marB="0" anchor="b">
                    <a:noFill/>
                  </a:tcPr>
                </a:tc>
                <a:tc>
                  <a:txBody>
                    <a:bodyPr/>
                    <a:lstStyle/>
                    <a:p>
                      <a:pPr algn="r" fontAlgn="b"/>
                      <a:r>
                        <a:rPr lang="en-US" sz="1050" u="none" strike="noStrike" dirty="0">
                          <a:solidFill>
                            <a:srgbClr val="C00000"/>
                          </a:solidFill>
                          <a:effectLst/>
                          <a:latin typeface="+mn-lt"/>
                        </a:rPr>
                        <a:t>1715</a:t>
                      </a:r>
                      <a:endParaRPr lang="en-US" sz="1050" b="0" i="0" u="none" strike="noStrike" dirty="0">
                        <a:solidFill>
                          <a:srgbClr val="C00000"/>
                        </a:solidFill>
                        <a:effectLst/>
                        <a:latin typeface="+mn-lt"/>
                        <a:ea typeface="Arial Unicode MS" panose="020B0604020202020204" pitchFamily="34" charset="-128"/>
                      </a:endParaRPr>
                    </a:p>
                  </a:txBody>
                  <a:tcPr marL="9525" marR="9525" marT="9525" marB="0" anchor="b">
                    <a:noFill/>
                  </a:tcPr>
                </a:tc>
                <a:tc>
                  <a:txBody>
                    <a:bodyPr/>
                    <a:lstStyle/>
                    <a:p>
                      <a:pPr algn="r" fontAlgn="b"/>
                      <a:r>
                        <a:rPr lang="en-US" sz="1050" u="none" strike="noStrike">
                          <a:solidFill>
                            <a:srgbClr val="C00000"/>
                          </a:solidFill>
                          <a:effectLst/>
                          <a:latin typeface="+mn-lt"/>
                        </a:rPr>
                        <a:t>c.1573</a:t>
                      </a:r>
                      <a:endParaRPr lang="en-US" sz="1050" b="0" i="0" u="none" strike="noStrike">
                        <a:solidFill>
                          <a:srgbClr val="C00000"/>
                        </a:solidFill>
                        <a:effectLst/>
                        <a:latin typeface="+mn-lt"/>
                        <a:ea typeface="Arial Unicode MS" panose="020B0604020202020204" pitchFamily="34" charset="-128"/>
                      </a:endParaRPr>
                    </a:p>
                  </a:txBody>
                  <a:tcPr marL="9525" marR="9525" marT="9525" marB="0" anchor="b">
                    <a:noFill/>
                  </a:tcPr>
                </a:tc>
                <a:tc>
                  <a:txBody>
                    <a:bodyPr/>
                    <a:lstStyle/>
                    <a:p>
                      <a:pPr algn="r" fontAlgn="b"/>
                      <a:r>
                        <a:rPr lang="en-US" sz="1050" u="none" strike="noStrike" dirty="0">
                          <a:solidFill>
                            <a:srgbClr val="C00000"/>
                          </a:solidFill>
                          <a:effectLst/>
                          <a:latin typeface="+mn-lt"/>
                        </a:rPr>
                        <a:t>1895</a:t>
                      </a:r>
                      <a:endParaRPr lang="en-US" sz="1050" b="0" i="0" u="none" strike="noStrike" dirty="0">
                        <a:solidFill>
                          <a:srgbClr val="C00000"/>
                        </a:solidFill>
                        <a:effectLst/>
                        <a:latin typeface="+mn-lt"/>
                        <a:ea typeface="Arial Unicode MS" panose="020B0604020202020204" pitchFamily="34" charset="-128"/>
                      </a:endParaRPr>
                    </a:p>
                  </a:txBody>
                  <a:tcPr marL="9525" marR="9525" marT="9525" marB="0" anchor="b">
                    <a:noFill/>
                  </a:tcPr>
                </a:tc>
                <a:tc>
                  <a:txBody>
                    <a:bodyPr/>
                    <a:lstStyle/>
                    <a:p>
                      <a:pPr algn="r" fontAlgn="b"/>
                      <a:r>
                        <a:rPr lang="en-US" sz="1050" u="none" strike="noStrike">
                          <a:solidFill>
                            <a:srgbClr val="C00000"/>
                          </a:solidFill>
                          <a:effectLst/>
                          <a:latin typeface="+mn-lt"/>
                        </a:rPr>
                        <a:t>c.1753</a:t>
                      </a:r>
                      <a:endParaRPr lang="en-US" sz="1050" b="0" i="0" u="none" strike="noStrike">
                        <a:solidFill>
                          <a:srgbClr val="C00000"/>
                        </a:solidFill>
                        <a:effectLst/>
                        <a:latin typeface="+mn-lt"/>
                        <a:ea typeface="Arial Unicode MS" panose="020B0604020202020204" pitchFamily="34" charset="-128"/>
                      </a:endParaRPr>
                    </a:p>
                  </a:txBody>
                  <a:tcPr marL="9525" marR="9525" marT="9525" marB="0" anchor="b">
                    <a:noFill/>
                  </a:tcPr>
                </a:tc>
                <a:tc>
                  <a:txBody>
                    <a:bodyPr/>
                    <a:lstStyle/>
                    <a:p>
                      <a:pPr algn="r" fontAlgn="b"/>
                      <a:r>
                        <a:rPr lang="en-US" sz="1050" u="none" strike="noStrike">
                          <a:solidFill>
                            <a:srgbClr val="C00000"/>
                          </a:solidFill>
                          <a:effectLst/>
                          <a:latin typeface="+mn-lt"/>
                        </a:rPr>
                        <a:t>   38,288,041 </a:t>
                      </a:r>
                      <a:endParaRPr lang="en-US" sz="1050" b="0" i="0" u="none" strike="noStrike">
                        <a:solidFill>
                          <a:srgbClr val="C00000"/>
                        </a:solidFill>
                        <a:effectLst/>
                        <a:latin typeface="+mn-lt"/>
                        <a:ea typeface="Arial Unicode MS" panose="020B0604020202020204" pitchFamily="34" charset="-128"/>
                      </a:endParaRPr>
                    </a:p>
                  </a:txBody>
                  <a:tcPr marL="9525" marR="9525" marT="9525" marB="0" anchor="b">
                    <a:noFill/>
                  </a:tcPr>
                </a:tc>
                <a:tc>
                  <a:txBody>
                    <a:bodyPr/>
                    <a:lstStyle/>
                    <a:p>
                      <a:pPr algn="r" fontAlgn="b"/>
                      <a:r>
                        <a:rPr lang="en-US" sz="1050" u="none" strike="noStrike" dirty="0">
                          <a:solidFill>
                            <a:srgbClr val="C00000"/>
                          </a:solidFill>
                          <a:effectLst/>
                          <a:latin typeface="+mn-lt"/>
                        </a:rPr>
                        <a:t>  38,287,861 </a:t>
                      </a:r>
                      <a:endParaRPr lang="en-US" sz="1050" b="0" i="0" u="none" strike="noStrike" dirty="0">
                        <a:solidFill>
                          <a:srgbClr val="C00000"/>
                        </a:solidFill>
                        <a:effectLst/>
                        <a:latin typeface="+mn-lt"/>
                        <a:ea typeface="Arial Unicode MS" panose="020B0604020202020204" pitchFamily="34" charset="-128"/>
                      </a:endParaRPr>
                    </a:p>
                  </a:txBody>
                  <a:tcPr marL="9525" marR="9525" marT="9525" marB="0" anchor="b">
                    <a:noFill/>
                  </a:tcPr>
                </a:tc>
                <a:tc>
                  <a:txBody>
                    <a:bodyPr/>
                    <a:lstStyle/>
                    <a:p>
                      <a:pPr algn="r" fontAlgn="b"/>
                      <a:r>
                        <a:rPr lang="en-US" sz="1050" u="none" strike="noStrike" dirty="0">
                          <a:solidFill>
                            <a:srgbClr val="C00000"/>
                          </a:solidFill>
                          <a:effectLst/>
                          <a:latin typeface="+mn-lt"/>
                        </a:rPr>
                        <a:t> FS </a:t>
                      </a:r>
                      <a:endParaRPr lang="en-US" sz="1050" b="0" i="0" u="none" strike="noStrike" dirty="0">
                        <a:solidFill>
                          <a:srgbClr val="C00000"/>
                        </a:solidFill>
                        <a:effectLst/>
                        <a:latin typeface="+mn-lt"/>
                        <a:ea typeface="Arial Unicode MS" panose="020B0604020202020204" pitchFamily="34" charset="-128"/>
                      </a:endParaRPr>
                    </a:p>
                  </a:txBody>
                  <a:tcPr marL="9525" marR="9525" marT="9525" marB="0" anchor="b">
                    <a:noFill/>
                  </a:tcPr>
                </a:tc>
                <a:tc gridSpan="2">
                  <a:txBody>
                    <a:bodyPr/>
                    <a:lstStyle/>
                    <a:p>
                      <a:pPr algn="r" fontAlgn="b"/>
                      <a:r>
                        <a:rPr lang="en-US" sz="1050" u="none" strike="noStrike" dirty="0">
                          <a:solidFill>
                            <a:srgbClr val="C00000"/>
                          </a:solidFill>
                          <a:effectLst/>
                          <a:latin typeface="+mn-lt"/>
                        </a:rPr>
                        <a:t> No NMD </a:t>
                      </a:r>
                      <a:endParaRPr lang="en-US" sz="1050" b="0" i="0" u="none" strike="noStrike" dirty="0">
                        <a:solidFill>
                          <a:srgbClr val="C00000"/>
                        </a:solidFill>
                        <a:effectLst/>
                        <a:latin typeface="+mn-lt"/>
                        <a:ea typeface="Arial Unicode MS" panose="020B0604020202020204" pitchFamily="34" charset="-128"/>
                      </a:endParaRPr>
                    </a:p>
                  </a:txBody>
                  <a:tcPr marL="9525" marR="9525" marT="9525" marB="0" anchor="b">
                    <a:noFill/>
                  </a:tcPr>
                </a:tc>
                <a:tc hMerge="1">
                  <a:txBody>
                    <a:bodyPr/>
                    <a:lstStyle/>
                    <a:p>
                      <a:pPr algn="ctr" fontAlgn="b"/>
                      <a:r>
                        <a:rPr lang="en-US" sz="1050" u="none" strike="noStrike">
                          <a:effectLst/>
                          <a:latin typeface="+mn-lt"/>
                        </a:rPr>
                        <a:t> No NMD </a:t>
                      </a:r>
                      <a:endParaRPr lang="en-US" sz="1050" b="0" i="0" u="none" strike="noStrike">
                        <a:solidFill>
                          <a:srgbClr val="C00000"/>
                        </a:solidFill>
                        <a:effectLst/>
                        <a:latin typeface="+mn-lt"/>
                        <a:ea typeface="Arial Unicode MS" panose="020B0604020202020204" pitchFamily="34" charset="-128"/>
                      </a:endParaRPr>
                    </a:p>
                  </a:txBody>
                  <a:tcPr marL="9525" marR="9525" marT="9525" marB="0" anchor="b">
                    <a:noFill/>
                  </a:tcPr>
                </a:tc>
                <a:tc>
                  <a:txBody>
                    <a:bodyPr/>
                    <a:lstStyle/>
                    <a:p>
                      <a:pPr algn="l" fontAlgn="b"/>
                      <a:r>
                        <a:rPr lang="en-US" sz="1050" u="none" strike="noStrike" dirty="0">
                          <a:solidFill>
                            <a:srgbClr val="C00000"/>
                          </a:solidFill>
                          <a:effectLst/>
                          <a:latin typeface="+mn-lt"/>
                        </a:rPr>
                        <a:t> PVS1 (J) </a:t>
                      </a:r>
                      <a:endParaRPr lang="en-US" sz="1050" b="0" i="0" u="none" strike="noStrike" dirty="0">
                        <a:solidFill>
                          <a:srgbClr val="C00000"/>
                        </a:solidFill>
                        <a:effectLst/>
                        <a:latin typeface="+mn-lt"/>
                        <a:ea typeface="Arial Unicode MS" panose="020B0604020202020204" pitchFamily="34" charset="-128"/>
                      </a:endParaRPr>
                    </a:p>
                  </a:txBody>
                  <a:tcPr marL="9525" marR="9525" marT="9525" marB="0" anchor="b">
                    <a:noFill/>
                  </a:tcPr>
                </a:tc>
                <a:tc>
                  <a:txBody>
                    <a:bodyPr/>
                    <a:lstStyle/>
                    <a:p>
                      <a:pPr algn="l" fontAlgn="b"/>
                      <a:r>
                        <a:rPr lang="en-US" sz="1050" u="none" strike="noStrike" dirty="0">
                          <a:solidFill>
                            <a:srgbClr val="C00000"/>
                          </a:solidFill>
                          <a:effectLst/>
                          <a:latin typeface="+mn-lt"/>
                        </a:rPr>
                        <a:t> No </a:t>
                      </a:r>
                      <a:endParaRPr lang="en-US" sz="1050" b="0" i="0" u="none" strike="noStrike" dirty="0">
                        <a:solidFill>
                          <a:srgbClr val="C00000"/>
                        </a:solidFill>
                        <a:effectLst/>
                        <a:latin typeface="+mn-lt"/>
                        <a:ea typeface="Arial Unicode MS" panose="020B0604020202020204" pitchFamily="34" charset="-128"/>
                      </a:endParaRPr>
                    </a:p>
                  </a:txBody>
                  <a:tcPr marL="9525" marR="9525" marT="9525" marB="0" anchor="b">
                    <a:noFill/>
                  </a:tcPr>
                </a:tc>
                <a:extLst>
                  <a:ext uri="{0D108BD9-81ED-4DB2-BD59-A6C34878D82A}">
                    <a16:rowId xmlns:a16="http://schemas.microsoft.com/office/drawing/2014/main" val="4089101954"/>
                  </a:ext>
                </a:extLst>
              </a:tr>
              <a:tr h="215900">
                <a:tc>
                  <a:txBody>
                    <a:bodyPr/>
                    <a:lstStyle/>
                    <a:p>
                      <a:pPr algn="r" fontAlgn="b"/>
                      <a:r>
                        <a:rPr lang="en-US" sz="1050" u="none" strike="noStrike" dirty="0">
                          <a:solidFill>
                            <a:srgbClr val="0070C0"/>
                          </a:solidFill>
                          <a:effectLst/>
                          <a:latin typeface="+mn-lt"/>
                        </a:rPr>
                        <a:t>NM_000328.3</a:t>
                      </a:r>
                      <a:endParaRPr lang="en-US" sz="1050" b="0" i="0" u="none" strike="noStrike" dirty="0">
                        <a:solidFill>
                          <a:srgbClr val="0070C0"/>
                        </a:solidFill>
                        <a:effectLst/>
                        <a:latin typeface="+mn-lt"/>
                      </a:endParaRPr>
                    </a:p>
                  </a:txBody>
                  <a:tcPr marL="9525" marR="9525" marT="9525" marB="0" anchor="b">
                    <a:noFill/>
                  </a:tcPr>
                </a:tc>
                <a:tc>
                  <a:txBody>
                    <a:bodyPr/>
                    <a:lstStyle/>
                    <a:p>
                      <a:pPr algn="r" fontAlgn="b"/>
                      <a:r>
                        <a:rPr lang="en-US" sz="1050" u="none" strike="noStrike" dirty="0">
                          <a:solidFill>
                            <a:srgbClr val="0070C0"/>
                          </a:solidFill>
                          <a:effectLst/>
                          <a:latin typeface="+mn-lt"/>
                        </a:rPr>
                        <a:t>Exon 14</a:t>
                      </a:r>
                      <a:endParaRPr lang="en-US" sz="1050" b="0" i="0" u="none" strike="noStrike" dirty="0">
                        <a:solidFill>
                          <a:srgbClr val="0070C0"/>
                        </a:solidFill>
                        <a:effectLst/>
                        <a:latin typeface="+mn-lt"/>
                      </a:endParaRPr>
                    </a:p>
                  </a:txBody>
                  <a:tcPr marL="9525" marR="9525" marT="9525" marB="0" anchor="b">
                    <a:noFill/>
                  </a:tcPr>
                </a:tc>
                <a:tc>
                  <a:txBody>
                    <a:bodyPr/>
                    <a:lstStyle/>
                    <a:p>
                      <a:pPr algn="r" fontAlgn="b"/>
                      <a:r>
                        <a:rPr lang="en-US" sz="1050" u="none" strike="noStrike" dirty="0">
                          <a:effectLst/>
                          <a:latin typeface="+mn-lt"/>
                        </a:rPr>
                        <a:t>1715</a:t>
                      </a:r>
                      <a:endParaRPr lang="en-US" sz="1050" b="0" i="0" u="none" strike="noStrike" dirty="0">
                        <a:solidFill>
                          <a:srgbClr val="000000"/>
                        </a:solidFill>
                        <a:effectLst/>
                        <a:latin typeface="+mn-lt"/>
                        <a:ea typeface="Arial Unicode MS" panose="020B0604020202020204" pitchFamily="34" charset="-128"/>
                      </a:endParaRPr>
                    </a:p>
                  </a:txBody>
                  <a:tcPr marL="9525" marR="9525" marT="9525" marB="0" anchor="b">
                    <a:noFill/>
                  </a:tcPr>
                </a:tc>
                <a:tc>
                  <a:txBody>
                    <a:bodyPr/>
                    <a:lstStyle/>
                    <a:p>
                      <a:pPr algn="r" fontAlgn="b"/>
                      <a:endParaRPr lang="en-US" sz="1050" b="0" i="0" u="none" strike="noStrike" dirty="0">
                        <a:solidFill>
                          <a:srgbClr val="000000"/>
                        </a:solidFill>
                        <a:effectLst/>
                        <a:latin typeface="+mn-lt"/>
                        <a:ea typeface="Arial Unicode MS" panose="020B0604020202020204" pitchFamily="34" charset="-128"/>
                      </a:endParaRPr>
                    </a:p>
                  </a:txBody>
                  <a:tcPr marL="9525" marR="9525" marT="9525" marB="0" anchor="b">
                    <a:noFill/>
                  </a:tcPr>
                </a:tc>
                <a:tc>
                  <a:txBody>
                    <a:bodyPr/>
                    <a:lstStyle/>
                    <a:p>
                      <a:pPr algn="r" fontAlgn="b"/>
                      <a:r>
                        <a:rPr lang="en-US" sz="1050" u="none" strike="noStrike" dirty="0">
                          <a:solidFill>
                            <a:srgbClr val="0070C0"/>
                          </a:solidFill>
                          <a:effectLst/>
                          <a:latin typeface="+mn-lt"/>
                        </a:rPr>
                        <a:t>1895</a:t>
                      </a:r>
                      <a:endParaRPr lang="en-US" sz="1050" b="0" i="0" u="none" strike="noStrike" dirty="0">
                        <a:solidFill>
                          <a:srgbClr val="0070C0"/>
                        </a:solidFill>
                        <a:effectLst/>
                        <a:latin typeface="+mn-lt"/>
                        <a:ea typeface="Arial Unicode MS" panose="020B0604020202020204" pitchFamily="34" charset="-128"/>
                      </a:endParaRPr>
                    </a:p>
                  </a:txBody>
                  <a:tcPr marL="9525" marR="9525" marT="9525" marB="0" anchor="b">
                    <a:noFill/>
                  </a:tcPr>
                </a:tc>
                <a:tc>
                  <a:txBody>
                    <a:bodyPr/>
                    <a:lstStyle/>
                    <a:p>
                      <a:pPr algn="r" fontAlgn="b"/>
                      <a:endParaRPr lang="en-US" sz="1050" b="0" i="0" u="none" strike="noStrike" dirty="0">
                        <a:solidFill>
                          <a:srgbClr val="0070C0"/>
                        </a:solidFill>
                        <a:effectLst/>
                        <a:latin typeface="+mn-lt"/>
                        <a:ea typeface="Arial Unicode MS" panose="020B0604020202020204" pitchFamily="34" charset="-128"/>
                      </a:endParaRPr>
                    </a:p>
                  </a:txBody>
                  <a:tcPr marL="9525" marR="9525" marT="9525" marB="0" anchor="b">
                    <a:noFill/>
                  </a:tcPr>
                </a:tc>
                <a:tc>
                  <a:txBody>
                    <a:bodyPr/>
                    <a:lstStyle/>
                    <a:p>
                      <a:pPr algn="r" fontAlgn="b"/>
                      <a:r>
                        <a:rPr lang="en-US" sz="1050" u="none" strike="noStrike" dirty="0">
                          <a:solidFill>
                            <a:srgbClr val="0070C0"/>
                          </a:solidFill>
                          <a:effectLst/>
                          <a:latin typeface="+mn-lt"/>
                        </a:rPr>
                        <a:t>   38,288,041 </a:t>
                      </a:r>
                      <a:endParaRPr lang="en-US" sz="1050" b="0" i="0" u="none" strike="noStrike" dirty="0">
                        <a:solidFill>
                          <a:srgbClr val="0070C0"/>
                        </a:solidFill>
                        <a:effectLst/>
                        <a:latin typeface="+mn-lt"/>
                        <a:ea typeface="Arial Unicode MS" panose="020B0604020202020204" pitchFamily="34" charset="-128"/>
                      </a:endParaRPr>
                    </a:p>
                  </a:txBody>
                  <a:tcPr marL="9525" marR="9525" marT="9525" marB="0" anchor="b">
                    <a:noFill/>
                  </a:tcPr>
                </a:tc>
                <a:tc>
                  <a:txBody>
                    <a:bodyPr/>
                    <a:lstStyle/>
                    <a:p>
                      <a:pPr algn="r" fontAlgn="b"/>
                      <a:r>
                        <a:rPr lang="en-US" sz="1050" u="none" strike="noStrike" dirty="0">
                          <a:solidFill>
                            <a:srgbClr val="0070C0"/>
                          </a:solidFill>
                          <a:effectLst/>
                          <a:latin typeface="+mn-lt"/>
                        </a:rPr>
                        <a:t>  38,287,861 </a:t>
                      </a:r>
                      <a:endParaRPr lang="en-US" sz="1050" b="0" i="0" u="none" strike="noStrike" dirty="0">
                        <a:solidFill>
                          <a:srgbClr val="0070C0"/>
                        </a:solidFill>
                        <a:effectLst/>
                        <a:latin typeface="+mn-lt"/>
                        <a:ea typeface="Arial Unicode MS" panose="020B0604020202020204" pitchFamily="34" charset="-128"/>
                      </a:endParaRPr>
                    </a:p>
                  </a:txBody>
                  <a:tcPr marL="9525" marR="9525" marT="9525" marB="0" anchor="b">
                    <a:noFill/>
                  </a:tcPr>
                </a:tc>
                <a:tc>
                  <a:txBody>
                    <a:bodyPr/>
                    <a:lstStyle/>
                    <a:p>
                      <a:pPr algn="r" fontAlgn="b"/>
                      <a:r>
                        <a:rPr lang="en-US" sz="1050" u="none" strike="noStrike">
                          <a:solidFill>
                            <a:srgbClr val="0070C0"/>
                          </a:solidFill>
                          <a:effectLst/>
                          <a:latin typeface="+mn-lt"/>
                        </a:rPr>
                        <a:t> FS </a:t>
                      </a:r>
                      <a:endParaRPr lang="en-US" sz="1050" b="0" i="0" u="none" strike="noStrike">
                        <a:solidFill>
                          <a:srgbClr val="0070C0"/>
                        </a:solidFill>
                        <a:effectLst/>
                        <a:latin typeface="+mn-lt"/>
                        <a:ea typeface="Arial Unicode MS" panose="020B0604020202020204" pitchFamily="34" charset="-128"/>
                      </a:endParaRPr>
                    </a:p>
                  </a:txBody>
                  <a:tcPr marL="9525" marR="9525" marT="9525" marB="0" anchor="b">
                    <a:noFill/>
                  </a:tcPr>
                </a:tc>
                <a:tc gridSpan="2">
                  <a:txBody>
                    <a:bodyPr/>
                    <a:lstStyle/>
                    <a:p>
                      <a:pPr algn="r" fontAlgn="b"/>
                      <a:r>
                        <a:rPr lang="en-US" sz="1050" u="none" strike="noStrike" dirty="0">
                          <a:solidFill>
                            <a:srgbClr val="0070C0"/>
                          </a:solidFill>
                          <a:effectLst/>
                          <a:latin typeface="+mn-lt"/>
                        </a:rPr>
                        <a:t> NMD </a:t>
                      </a:r>
                      <a:endParaRPr lang="en-US" sz="1050" b="0" i="0" u="none" strike="noStrike" dirty="0">
                        <a:solidFill>
                          <a:srgbClr val="0070C0"/>
                        </a:solidFill>
                        <a:effectLst/>
                        <a:latin typeface="+mn-lt"/>
                        <a:ea typeface="Arial Unicode MS" panose="020B0604020202020204" pitchFamily="34" charset="-128"/>
                      </a:endParaRPr>
                    </a:p>
                  </a:txBody>
                  <a:tcPr marL="9525" marR="9525" marT="9525" marB="0" anchor="b">
                    <a:noFill/>
                  </a:tcPr>
                </a:tc>
                <a:tc hMerge="1">
                  <a:txBody>
                    <a:bodyPr/>
                    <a:lstStyle/>
                    <a:p>
                      <a:pPr algn="ctr" fontAlgn="b"/>
                      <a:r>
                        <a:rPr lang="en-US" sz="1050" u="none" strike="noStrike" dirty="0">
                          <a:solidFill>
                            <a:srgbClr val="0070C0"/>
                          </a:solidFill>
                          <a:effectLst/>
                          <a:latin typeface="+mn-lt"/>
                        </a:rPr>
                        <a:t> NMD </a:t>
                      </a:r>
                      <a:endParaRPr lang="en-US" sz="1050" b="0" i="0" u="none" strike="noStrike" dirty="0">
                        <a:solidFill>
                          <a:srgbClr val="0070C0"/>
                        </a:solidFill>
                        <a:effectLst/>
                        <a:latin typeface="+mn-lt"/>
                        <a:ea typeface="Arial Unicode MS" panose="020B0604020202020204" pitchFamily="34" charset="-128"/>
                      </a:endParaRPr>
                    </a:p>
                  </a:txBody>
                  <a:tcPr marL="9525" marR="9525" marT="9525" marB="0" anchor="b">
                    <a:noFill/>
                  </a:tcPr>
                </a:tc>
                <a:tc>
                  <a:txBody>
                    <a:bodyPr/>
                    <a:lstStyle/>
                    <a:p>
                      <a:pPr algn="l" fontAlgn="b"/>
                      <a:r>
                        <a:rPr lang="en-US" sz="1050" u="none" strike="noStrike" dirty="0">
                          <a:solidFill>
                            <a:srgbClr val="0070C0"/>
                          </a:solidFill>
                          <a:effectLst/>
                          <a:latin typeface="+mn-lt"/>
                        </a:rPr>
                        <a:t> PVS1 (C) </a:t>
                      </a:r>
                      <a:endParaRPr lang="en-US" sz="1050" b="0" i="0" u="none" strike="noStrike" dirty="0">
                        <a:solidFill>
                          <a:srgbClr val="0070C0"/>
                        </a:solidFill>
                        <a:effectLst/>
                        <a:latin typeface="+mn-lt"/>
                        <a:ea typeface="Arial Unicode MS" panose="020B0604020202020204" pitchFamily="34" charset="-128"/>
                      </a:endParaRPr>
                    </a:p>
                  </a:txBody>
                  <a:tcPr marL="9525" marR="9525" marT="9525" marB="0" anchor="b">
                    <a:noFill/>
                  </a:tcPr>
                </a:tc>
                <a:tc>
                  <a:txBody>
                    <a:bodyPr/>
                    <a:lstStyle/>
                    <a:p>
                      <a:pPr algn="l" fontAlgn="b"/>
                      <a:r>
                        <a:rPr lang="en-US" sz="1050" u="none" strike="noStrike" dirty="0">
                          <a:solidFill>
                            <a:srgbClr val="0070C0"/>
                          </a:solidFill>
                          <a:effectLst/>
                          <a:latin typeface="+mn-lt"/>
                        </a:rPr>
                        <a:t> No </a:t>
                      </a:r>
                      <a:endParaRPr lang="en-US" sz="1050" b="0" i="0" u="none" strike="noStrike" dirty="0">
                        <a:solidFill>
                          <a:srgbClr val="0070C0"/>
                        </a:solidFill>
                        <a:effectLst/>
                        <a:latin typeface="+mn-lt"/>
                        <a:ea typeface="Arial Unicode MS" panose="020B0604020202020204" pitchFamily="34" charset="-128"/>
                      </a:endParaRPr>
                    </a:p>
                  </a:txBody>
                  <a:tcPr marL="9525" marR="9525" marT="9525" marB="0" anchor="b">
                    <a:noFill/>
                  </a:tcPr>
                </a:tc>
                <a:extLst>
                  <a:ext uri="{0D108BD9-81ED-4DB2-BD59-A6C34878D82A}">
                    <a16:rowId xmlns:a16="http://schemas.microsoft.com/office/drawing/2014/main" val="2449099089"/>
                  </a:ext>
                </a:extLst>
              </a:tr>
              <a:tr h="215900">
                <a:tc>
                  <a:txBody>
                    <a:bodyPr/>
                    <a:lstStyle/>
                    <a:p>
                      <a:pPr algn="r" fontAlgn="b"/>
                      <a:r>
                        <a:rPr lang="en-US" sz="1050" u="none" strike="noStrike" dirty="0">
                          <a:solidFill>
                            <a:srgbClr val="C00000"/>
                          </a:solidFill>
                          <a:effectLst/>
                          <a:latin typeface="+mn-lt"/>
                        </a:rPr>
                        <a:t>NM_001034853.2</a:t>
                      </a:r>
                      <a:endParaRPr lang="en-US" sz="1050" b="0" i="0" u="none" strike="noStrike" dirty="0">
                        <a:solidFill>
                          <a:srgbClr val="C00000"/>
                        </a:solidFill>
                        <a:effectLst/>
                        <a:latin typeface="+mn-lt"/>
                      </a:endParaRPr>
                    </a:p>
                  </a:txBody>
                  <a:tcPr marL="9525" marR="9525" marT="9525" marB="0" anchor="b">
                    <a:noFill/>
                  </a:tcPr>
                </a:tc>
                <a:tc>
                  <a:txBody>
                    <a:bodyPr/>
                    <a:lstStyle/>
                    <a:p>
                      <a:pPr algn="r" fontAlgn="b"/>
                      <a:r>
                        <a:rPr lang="en-US" sz="1050" u="none" strike="noStrike" dirty="0">
                          <a:solidFill>
                            <a:srgbClr val="C00000"/>
                          </a:solidFill>
                          <a:effectLst/>
                          <a:latin typeface="+mn-lt"/>
                        </a:rPr>
                        <a:t>Exon ORF15</a:t>
                      </a:r>
                      <a:endParaRPr lang="en-US" sz="1050" b="0" i="0" u="none" strike="noStrike" dirty="0">
                        <a:solidFill>
                          <a:srgbClr val="C00000"/>
                        </a:solidFill>
                        <a:effectLst/>
                        <a:latin typeface="+mn-lt"/>
                      </a:endParaRPr>
                    </a:p>
                  </a:txBody>
                  <a:tcPr marL="9525" marR="9525" marT="9525" marB="0" anchor="b">
                    <a:noFill/>
                  </a:tcPr>
                </a:tc>
                <a:tc>
                  <a:txBody>
                    <a:bodyPr/>
                    <a:lstStyle/>
                    <a:p>
                      <a:pPr algn="r" fontAlgn="b"/>
                      <a:r>
                        <a:rPr lang="en-US" sz="1050" u="none" strike="noStrike" dirty="0">
                          <a:solidFill>
                            <a:srgbClr val="C00000"/>
                          </a:solidFill>
                          <a:effectLst/>
                          <a:latin typeface="+mn-lt"/>
                        </a:rPr>
                        <a:t>1896</a:t>
                      </a:r>
                      <a:endParaRPr lang="en-US" sz="1050" b="0" i="0" u="none" strike="noStrike" dirty="0">
                        <a:solidFill>
                          <a:srgbClr val="C00000"/>
                        </a:solidFill>
                        <a:effectLst/>
                        <a:latin typeface="+mn-lt"/>
                        <a:ea typeface="Arial Unicode MS" panose="020B0604020202020204" pitchFamily="34" charset="-128"/>
                      </a:endParaRPr>
                    </a:p>
                  </a:txBody>
                  <a:tcPr marL="9525" marR="9525" marT="9525" marB="0" anchor="b">
                    <a:noFill/>
                  </a:tcPr>
                </a:tc>
                <a:tc>
                  <a:txBody>
                    <a:bodyPr/>
                    <a:lstStyle/>
                    <a:p>
                      <a:pPr algn="r" fontAlgn="b"/>
                      <a:r>
                        <a:rPr lang="en-US" sz="1050" u="none" strike="noStrike" dirty="0">
                          <a:solidFill>
                            <a:srgbClr val="C00000"/>
                          </a:solidFill>
                          <a:effectLst/>
                          <a:latin typeface="+mn-lt"/>
                        </a:rPr>
                        <a:t>c.1754</a:t>
                      </a:r>
                      <a:endParaRPr lang="en-US" sz="1050" b="0" i="0" u="none" strike="noStrike" dirty="0">
                        <a:solidFill>
                          <a:srgbClr val="C00000"/>
                        </a:solidFill>
                        <a:effectLst/>
                        <a:latin typeface="+mn-lt"/>
                        <a:ea typeface="Arial Unicode MS" panose="020B0604020202020204" pitchFamily="34" charset="-128"/>
                      </a:endParaRPr>
                    </a:p>
                  </a:txBody>
                  <a:tcPr marL="9525" marR="9525" marT="9525" marB="0" anchor="b">
                    <a:noFill/>
                  </a:tcPr>
                </a:tc>
                <a:tc>
                  <a:txBody>
                    <a:bodyPr/>
                    <a:lstStyle/>
                    <a:p>
                      <a:pPr algn="r" fontAlgn="b"/>
                      <a:r>
                        <a:rPr lang="en-US" sz="1050" u="none" strike="noStrike" dirty="0">
                          <a:solidFill>
                            <a:srgbClr val="C00000"/>
                          </a:solidFill>
                          <a:effectLst/>
                          <a:latin typeface="+mn-lt"/>
                        </a:rPr>
                        <a:t>4733</a:t>
                      </a:r>
                      <a:endParaRPr lang="en-US" sz="1050" b="0" i="0" u="none" strike="noStrike" dirty="0">
                        <a:solidFill>
                          <a:srgbClr val="C00000"/>
                        </a:solidFill>
                        <a:effectLst/>
                        <a:latin typeface="+mn-lt"/>
                        <a:ea typeface="Arial Unicode MS" panose="020B0604020202020204" pitchFamily="34" charset="-128"/>
                      </a:endParaRPr>
                    </a:p>
                  </a:txBody>
                  <a:tcPr marL="9525" marR="9525" marT="9525" marB="0" anchor="b">
                    <a:noFill/>
                  </a:tcPr>
                </a:tc>
                <a:tc>
                  <a:txBody>
                    <a:bodyPr/>
                    <a:lstStyle/>
                    <a:p>
                      <a:pPr algn="r" fontAlgn="b"/>
                      <a:r>
                        <a:rPr lang="en-US" sz="1050" u="none" strike="noStrike">
                          <a:solidFill>
                            <a:srgbClr val="C00000"/>
                          </a:solidFill>
                          <a:effectLst/>
                          <a:latin typeface="+mn-lt"/>
                        </a:rPr>
                        <a:t>c,*3459</a:t>
                      </a:r>
                      <a:endParaRPr lang="en-US" sz="1050" b="0" i="0" u="none" strike="noStrike">
                        <a:solidFill>
                          <a:srgbClr val="C00000"/>
                        </a:solidFill>
                        <a:effectLst/>
                        <a:latin typeface="+mn-lt"/>
                        <a:ea typeface="Arial Unicode MS" panose="020B0604020202020204" pitchFamily="34" charset="-128"/>
                      </a:endParaRPr>
                    </a:p>
                  </a:txBody>
                  <a:tcPr marL="9525" marR="9525" marT="9525" marB="0" anchor="b">
                    <a:noFill/>
                  </a:tcPr>
                </a:tc>
                <a:tc>
                  <a:txBody>
                    <a:bodyPr/>
                    <a:lstStyle/>
                    <a:p>
                      <a:pPr algn="r" fontAlgn="b"/>
                      <a:r>
                        <a:rPr lang="en-US" sz="1050" u="none" strike="noStrike" dirty="0">
                          <a:solidFill>
                            <a:srgbClr val="C00000"/>
                          </a:solidFill>
                          <a:effectLst/>
                          <a:latin typeface="+mn-lt"/>
                        </a:rPr>
                        <a:t>   38,287,245 </a:t>
                      </a:r>
                      <a:endParaRPr lang="en-US" sz="1050" b="0" i="0" u="none" strike="noStrike" dirty="0">
                        <a:solidFill>
                          <a:srgbClr val="C00000"/>
                        </a:solidFill>
                        <a:effectLst/>
                        <a:latin typeface="+mn-lt"/>
                        <a:ea typeface="Arial Unicode MS" panose="020B0604020202020204" pitchFamily="34" charset="-128"/>
                      </a:endParaRPr>
                    </a:p>
                  </a:txBody>
                  <a:tcPr marL="9525" marR="9525" marT="9525" marB="0" anchor="b">
                    <a:noFill/>
                  </a:tcPr>
                </a:tc>
                <a:tc>
                  <a:txBody>
                    <a:bodyPr/>
                    <a:lstStyle/>
                    <a:p>
                      <a:pPr algn="r" fontAlgn="b"/>
                      <a:r>
                        <a:rPr lang="en-US" sz="1050" u="none" strike="noStrike">
                          <a:solidFill>
                            <a:srgbClr val="C00000"/>
                          </a:solidFill>
                          <a:effectLst/>
                          <a:latin typeface="+mn-lt"/>
                        </a:rPr>
                        <a:t>  38,284,408 </a:t>
                      </a:r>
                      <a:endParaRPr lang="en-US" sz="1050" b="0" i="0" u="none" strike="noStrike" dirty="0">
                        <a:solidFill>
                          <a:srgbClr val="C00000"/>
                        </a:solidFill>
                        <a:effectLst/>
                        <a:latin typeface="+mn-lt"/>
                        <a:ea typeface="Arial Unicode MS" panose="020B0604020202020204" pitchFamily="34" charset="-128"/>
                      </a:endParaRPr>
                    </a:p>
                  </a:txBody>
                  <a:tcPr marL="9525" marR="9525" marT="9525" marB="0" anchor="b">
                    <a:noFill/>
                  </a:tcPr>
                </a:tc>
                <a:tc>
                  <a:txBody>
                    <a:bodyPr/>
                    <a:lstStyle/>
                    <a:p>
                      <a:pPr algn="r" fontAlgn="b"/>
                      <a:r>
                        <a:rPr lang="en-US" sz="1050" u="none" strike="noStrike">
                          <a:solidFill>
                            <a:srgbClr val="C00000"/>
                          </a:solidFill>
                          <a:effectLst/>
                          <a:latin typeface="+mn-lt"/>
                        </a:rPr>
                        <a:t> in frame </a:t>
                      </a:r>
                      <a:endParaRPr lang="en-US" sz="1050" b="0" i="0" u="none" strike="noStrike" dirty="0">
                        <a:solidFill>
                          <a:srgbClr val="C00000"/>
                        </a:solidFill>
                        <a:effectLst/>
                        <a:latin typeface="+mn-lt"/>
                        <a:ea typeface="Arial Unicode MS" panose="020B0604020202020204" pitchFamily="34" charset="-128"/>
                      </a:endParaRPr>
                    </a:p>
                  </a:txBody>
                  <a:tcPr marL="9525" marR="9525" marT="9525" marB="0" anchor="b">
                    <a:noFill/>
                  </a:tcPr>
                </a:tc>
                <a:tc gridSpan="2">
                  <a:txBody>
                    <a:bodyPr/>
                    <a:lstStyle/>
                    <a:p>
                      <a:pPr algn="r" fontAlgn="b"/>
                      <a:r>
                        <a:rPr lang="en-US" sz="1050" u="none" strike="noStrike" dirty="0">
                          <a:solidFill>
                            <a:srgbClr val="C00000"/>
                          </a:solidFill>
                          <a:effectLst/>
                          <a:latin typeface="+mn-lt"/>
                        </a:rPr>
                        <a:t> No NMD </a:t>
                      </a:r>
                      <a:endParaRPr lang="en-US" sz="1050" b="0" i="0" u="none" strike="noStrike" dirty="0">
                        <a:solidFill>
                          <a:srgbClr val="C00000"/>
                        </a:solidFill>
                        <a:effectLst/>
                        <a:latin typeface="+mn-lt"/>
                        <a:ea typeface="Arial Unicode MS" panose="020B0604020202020204" pitchFamily="34" charset="-128"/>
                      </a:endParaRPr>
                    </a:p>
                  </a:txBody>
                  <a:tcPr marL="9525" marR="9525" marT="9525" marB="0" anchor="b">
                    <a:noFill/>
                  </a:tcPr>
                </a:tc>
                <a:tc hMerge="1">
                  <a:txBody>
                    <a:bodyPr/>
                    <a:lstStyle/>
                    <a:p>
                      <a:pPr algn="ctr" fontAlgn="b"/>
                      <a:r>
                        <a:rPr lang="en-US" sz="1050" u="none" strike="noStrike" dirty="0">
                          <a:effectLst/>
                          <a:latin typeface="+mn-lt"/>
                        </a:rPr>
                        <a:t> No NMD </a:t>
                      </a:r>
                      <a:endParaRPr lang="en-US" sz="1050" b="0" i="0" u="none" strike="noStrike" dirty="0">
                        <a:solidFill>
                          <a:srgbClr val="C00000"/>
                        </a:solidFill>
                        <a:effectLst/>
                        <a:latin typeface="+mn-lt"/>
                        <a:ea typeface="Arial Unicode MS" panose="020B0604020202020204" pitchFamily="34" charset="-128"/>
                      </a:endParaRPr>
                    </a:p>
                  </a:txBody>
                  <a:tcPr marL="9525" marR="9525" marT="9525" marB="0" anchor="b">
                    <a:noFill/>
                  </a:tcPr>
                </a:tc>
                <a:tc>
                  <a:txBody>
                    <a:bodyPr/>
                    <a:lstStyle/>
                    <a:p>
                      <a:pPr algn="l" fontAlgn="b"/>
                      <a:r>
                        <a:rPr lang="en-US" sz="1050" u="none" strike="noStrike" dirty="0">
                          <a:solidFill>
                            <a:srgbClr val="C00000"/>
                          </a:solidFill>
                          <a:effectLst/>
                          <a:latin typeface="+mn-lt"/>
                        </a:rPr>
                        <a:t> PVS1 (F) </a:t>
                      </a:r>
                      <a:endParaRPr lang="en-US" sz="1050" b="0" i="0" u="none" strike="noStrike" dirty="0">
                        <a:solidFill>
                          <a:srgbClr val="C00000"/>
                        </a:solidFill>
                        <a:effectLst/>
                        <a:latin typeface="+mn-lt"/>
                        <a:ea typeface="Arial Unicode MS" panose="020B0604020202020204" pitchFamily="34" charset="-128"/>
                      </a:endParaRPr>
                    </a:p>
                  </a:txBody>
                  <a:tcPr marL="9525" marR="9525" marT="9525" marB="0" anchor="b">
                    <a:noFill/>
                  </a:tcPr>
                </a:tc>
                <a:tc>
                  <a:txBody>
                    <a:bodyPr/>
                    <a:lstStyle/>
                    <a:p>
                      <a:pPr algn="l" fontAlgn="b"/>
                      <a:r>
                        <a:rPr lang="en-US" sz="1050" u="none" strike="noStrike" dirty="0">
                          <a:solidFill>
                            <a:srgbClr val="C00000"/>
                          </a:solidFill>
                          <a:effectLst/>
                          <a:latin typeface="+mn-lt"/>
                        </a:rPr>
                        <a:t> Yes </a:t>
                      </a:r>
                      <a:endParaRPr lang="en-US" sz="1050" b="0" i="0" u="none" strike="noStrike" dirty="0">
                        <a:solidFill>
                          <a:srgbClr val="C00000"/>
                        </a:solidFill>
                        <a:effectLst/>
                        <a:latin typeface="+mn-lt"/>
                        <a:ea typeface="Arial Unicode MS" panose="020B0604020202020204" pitchFamily="34" charset="-128"/>
                      </a:endParaRPr>
                    </a:p>
                  </a:txBody>
                  <a:tcPr marL="9525" marR="9525" marT="9525" marB="0" anchor="b">
                    <a:noFill/>
                  </a:tcPr>
                </a:tc>
                <a:extLst>
                  <a:ext uri="{0D108BD9-81ED-4DB2-BD59-A6C34878D82A}">
                    <a16:rowId xmlns:a16="http://schemas.microsoft.com/office/drawing/2014/main" val="3469871892"/>
                  </a:ext>
                </a:extLst>
              </a:tr>
              <a:tr h="215900">
                <a:tc>
                  <a:txBody>
                    <a:bodyPr/>
                    <a:lstStyle/>
                    <a:p>
                      <a:pPr algn="r" fontAlgn="b"/>
                      <a:r>
                        <a:rPr lang="en-US" sz="1050" u="none" strike="noStrike" dirty="0">
                          <a:solidFill>
                            <a:srgbClr val="0070C0"/>
                          </a:solidFill>
                          <a:effectLst/>
                          <a:latin typeface="+mn-lt"/>
                        </a:rPr>
                        <a:t>NM_000328.3</a:t>
                      </a:r>
                      <a:endParaRPr lang="en-US" sz="1050" b="0" i="0" u="none" strike="noStrike" dirty="0">
                        <a:solidFill>
                          <a:srgbClr val="0070C0"/>
                        </a:solidFill>
                        <a:effectLst/>
                        <a:latin typeface="+mn-lt"/>
                      </a:endParaRPr>
                    </a:p>
                  </a:txBody>
                  <a:tcPr marL="9525" marR="9525" marT="9525" marB="0" anchor="b">
                    <a:noFill/>
                  </a:tcPr>
                </a:tc>
                <a:tc>
                  <a:txBody>
                    <a:bodyPr/>
                    <a:lstStyle/>
                    <a:p>
                      <a:pPr algn="r" fontAlgn="b"/>
                      <a:r>
                        <a:rPr lang="en-US" sz="1050" u="none" strike="noStrike" dirty="0">
                          <a:solidFill>
                            <a:srgbClr val="0070C0"/>
                          </a:solidFill>
                          <a:effectLst/>
                          <a:latin typeface="+mn-lt"/>
                        </a:rPr>
                        <a:t>Exon 15</a:t>
                      </a:r>
                      <a:endParaRPr lang="en-US" sz="1050" b="0" i="0" u="none" strike="noStrike" dirty="0">
                        <a:solidFill>
                          <a:srgbClr val="0070C0"/>
                        </a:solidFill>
                        <a:effectLst/>
                        <a:latin typeface="+mn-lt"/>
                      </a:endParaRPr>
                    </a:p>
                  </a:txBody>
                  <a:tcPr marL="9525" marR="9525" marT="9525" marB="0" anchor="b">
                    <a:noFill/>
                  </a:tcPr>
                </a:tc>
                <a:tc>
                  <a:txBody>
                    <a:bodyPr/>
                    <a:lstStyle/>
                    <a:p>
                      <a:pPr algn="r" fontAlgn="b"/>
                      <a:r>
                        <a:rPr lang="en-US" sz="1050" u="none" strike="noStrike" dirty="0">
                          <a:solidFill>
                            <a:srgbClr val="0070C0"/>
                          </a:solidFill>
                          <a:effectLst/>
                          <a:latin typeface="+mn-lt"/>
                        </a:rPr>
                        <a:t>1896</a:t>
                      </a:r>
                      <a:endParaRPr lang="en-US" sz="1050" b="0" i="0" u="none" strike="noStrike" dirty="0">
                        <a:solidFill>
                          <a:srgbClr val="0070C0"/>
                        </a:solidFill>
                        <a:effectLst/>
                        <a:latin typeface="+mn-lt"/>
                        <a:ea typeface="Arial Unicode MS" panose="020B0604020202020204" pitchFamily="34" charset="-128"/>
                      </a:endParaRPr>
                    </a:p>
                  </a:txBody>
                  <a:tcPr marL="9525" marR="9525" marT="9525" marB="0" anchor="b">
                    <a:noFill/>
                  </a:tcPr>
                </a:tc>
                <a:tc>
                  <a:txBody>
                    <a:bodyPr/>
                    <a:lstStyle/>
                    <a:p>
                      <a:pPr algn="r" fontAlgn="b"/>
                      <a:r>
                        <a:rPr lang="en-US" sz="1050" u="none" strike="noStrike">
                          <a:solidFill>
                            <a:srgbClr val="0070C0"/>
                          </a:solidFill>
                          <a:effectLst/>
                          <a:latin typeface="+mn-lt"/>
                        </a:rPr>
                        <a:t>c.1754</a:t>
                      </a:r>
                      <a:endParaRPr lang="en-US" sz="1050" b="0" i="0" u="none" strike="noStrike">
                        <a:solidFill>
                          <a:srgbClr val="0070C0"/>
                        </a:solidFill>
                        <a:effectLst/>
                        <a:latin typeface="+mn-lt"/>
                        <a:ea typeface="Arial Unicode MS" panose="020B0604020202020204" pitchFamily="34" charset="-128"/>
                      </a:endParaRPr>
                    </a:p>
                  </a:txBody>
                  <a:tcPr marL="9525" marR="9525" marT="9525" marB="0" anchor="b">
                    <a:noFill/>
                  </a:tcPr>
                </a:tc>
                <a:tc>
                  <a:txBody>
                    <a:bodyPr/>
                    <a:lstStyle/>
                    <a:p>
                      <a:pPr algn="r" fontAlgn="b"/>
                      <a:r>
                        <a:rPr lang="en-US" sz="1050" u="none" strike="noStrike" dirty="0">
                          <a:solidFill>
                            <a:srgbClr val="0070C0"/>
                          </a:solidFill>
                          <a:effectLst/>
                          <a:latin typeface="+mn-lt"/>
                        </a:rPr>
                        <a:t>2047</a:t>
                      </a:r>
                      <a:endParaRPr lang="en-US" sz="1050" b="0" i="0" u="none" strike="noStrike" dirty="0">
                        <a:solidFill>
                          <a:srgbClr val="0070C0"/>
                        </a:solidFill>
                        <a:effectLst/>
                        <a:latin typeface="+mn-lt"/>
                        <a:ea typeface="Arial Unicode MS" panose="020B0604020202020204" pitchFamily="34" charset="-128"/>
                      </a:endParaRPr>
                    </a:p>
                  </a:txBody>
                  <a:tcPr marL="9525" marR="9525" marT="9525" marB="0" anchor="b">
                    <a:noFill/>
                  </a:tcPr>
                </a:tc>
                <a:tc>
                  <a:txBody>
                    <a:bodyPr/>
                    <a:lstStyle/>
                    <a:p>
                      <a:pPr algn="r" fontAlgn="b"/>
                      <a:r>
                        <a:rPr lang="en-US" sz="1050" u="none" strike="noStrike" dirty="0">
                          <a:solidFill>
                            <a:srgbClr val="0070C0"/>
                          </a:solidFill>
                          <a:effectLst/>
                          <a:latin typeface="+mn-lt"/>
                        </a:rPr>
                        <a:t>c.1905</a:t>
                      </a:r>
                      <a:endParaRPr lang="en-US" sz="1050" b="0" i="0" u="none" strike="noStrike" dirty="0">
                        <a:solidFill>
                          <a:srgbClr val="0070C0"/>
                        </a:solidFill>
                        <a:effectLst/>
                        <a:latin typeface="+mn-lt"/>
                        <a:ea typeface="Arial Unicode MS" panose="020B0604020202020204" pitchFamily="34" charset="-128"/>
                      </a:endParaRPr>
                    </a:p>
                  </a:txBody>
                  <a:tcPr marL="9525" marR="9525" marT="9525" marB="0" anchor="b">
                    <a:noFill/>
                  </a:tcPr>
                </a:tc>
                <a:tc>
                  <a:txBody>
                    <a:bodyPr/>
                    <a:lstStyle/>
                    <a:p>
                      <a:pPr algn="r" fontAlgn="b"/>
                      <a:r>
                        <a:rPr lang="en-US" sz="1050" u="none" strike="noStrike" dirty="0">
                          <a:solidFill>
                            <a:srgbClr val="0070C0"/>
                          </a:solidFill>
                          <a:effectLst/>
                          <a:latin typeface="+mn-lt"/>
                        </a:rPr>
                        <a:t>   38,287,245 </a:t>
                      </a:r>
                      <a:endParaRPr lang="en-US" sz="1050" b="0" i="0" u="none" strike="noStrike" dirty="0">
                        <a:solidFill>
                          <a:srgbClr val="0070C0"/>
                        </a:solidFill>
                        <a:effectLst/>
                        <a:latin typeface="+mn-lt"/>
                        <a:ea typeface="Arial Unicode MS" panose="020B0604020202020204" pitchFamily="34" charset="-128"/>
                      </a:endParaRPr>
                    </a:p>
                  </a:txBody>
                  <a:tcPr marL="9525" marR="9525" marT="9525" marB="0" anchor="b">
                    <a:noFill/>
                  </a:tcPr>
                </a:tc>
                <a:tc>
                  <a:txBody>
                    <a:bodyPr/>
                    <a:lstStyle/>
                    <a:p>
                      <a:pPr algn="r" fontAlgn="b"/>
                      <a:r>
                        <a:rPr lang="en-US" sz="1050" u="none" strike="noStrike" dirty="0">
                          <a:solidFill>
                            <a:srgbClr val="0070C0"/>
                          </a:solidFill>
                          <a:effectLst/>
                          <a:latin typeface="+mn-lt"/>
                        </a:rPr>
                        <a:t>  38,287,094 </a:t>
                      </a:r>
                      <a:endParaRPr lang="en-US" sz="1050" b="0" i="0" u="none" strike="noStrike" dirty="0">
                        <a:solidFill>
                          <a:srgbClr val="0070C0"/>
                        </a:solidFill>
                        <a:effectLst/>
                        <a:latin typeface="+mn-lt"/>
                        <a:ea typeface="Arial Unicode MS" panose="020B0604020202020204" pitchFamily="34" charset="-128"/>
                      </a:endParaRPr>
                    </a:p>
                  </a:txBody>
                  <a:tcPr marL="9525" marR="9525" marT="9525" marB="0" anchor="b">
                    <a:noFill/>
                  </a:tcPr>
                </a:tc>
                <a:tc>
                  <a:txBody>
                    <a:bodyPr/>
                    <a:lstStyle/>
                    <a:p>
                      <a:pPr algn="r" fontAlgn="b"/>
                      <a:r>
                        <a:rPr lang="en-US" sz="1050" u="none" strike="noStrike" dirty="0">
                          <a:solidFill>
                            <a:srgbClr val="0070C0"/>
                          </a:solidFill>
                          <a:effectLst/>
                          <a:latin typeface="+mn-lt"/>
                        </a:rPr>
                        <a:t> FS </a:t>
                      </a:r>
                      <a:endParaRPr lang="en-US" sz="1050" b="0" i="0" u="none" strike="noStrike" dirty="0">
                        <a:solidFill>
                          <a:srgbClr val="0070C0"/>
                        </a:solidFill>
                        <a:effectLst/>
                        <a:latin typeface="+mn-lt"/>
                        <a:ea typeface="Arial Unicode MS" panose="020B0604020202020204" pitchFamily="34" charset="-128"/>
                      </a:endParaRPr>
                    </a:p>
                  </a:txBody>
                  <a:tcPr marL="9525" marR="9525" marT="9525" marB="0" anchor="b">
                    <a:noFill/>
                  </a:tcPr>
                </a:tc>
                <a:tc gridSpan="2">
                  <a:txBody>
                    <a:bodyPr/>
                    <a:lstStyle/>
                    <a:p>
                      <a:pPr algn="r" fontAlgn="b"/>
                      <a:r>
                        <a:rPr lang="en-US" sz="1050" u="none" strike="noStrike" dirty="0">
                          <a:solidFill>
                            <a:srgbClr val="0070C0"/>
                          </a:solidFill>
                          <a:effectLst/>
                          <a:latin typeface="+mn-lt"/>
                        </a:rPr>
                        <a:t> NMD </a:t>
                      </a:r>
                      <a:endParaRPr lang="en-US" sz="1050" b="0" i="0" u="none" strike="noStrike" dirty="0">
                        <a:solidFill>
                          <a:srgbClr val="0070C0"/>
                        </a:solidFill>
                        <a:effectLst/>
                        <a:latin typeface="+mn-lt"/>
                        <a:ea typeface="Arial Unicode MS" panose="020B0604020202020204" pitchFamily="34" charset="-128"/>
                      </a:endParaRPr>
                    </a:p>
                  </a:txBody>
                  <a:tcPr marL="9525" marR="9525" marT="9525" marB="0" anchor="b">
                    <a:noFill/>
                  </a:tcPr>
                </a:tc>
                <a:tc hMerge="1">
                  <a:txBody>
                    <a:bodyPr/>
                    <a:lstStyle/>
                    <a:p>
                      <a:pPr algn="ctr" fontAlgn="b"/>
                      <a:r>
                        <a:rPr lang="en-US" sz="1050" u="none" strike="noStrike">
                          <a:solidFill>
                            <a:srgbClr val="0070C0"/>
                          </a:solidFill>
                          <a:effectLst/>
                          <a:latin typeface="+mn-lt"/>
                        </a:rPr>
                        <a:t> NMD </a:t>
                      </a:r>
                      <a:endParaRPr lang="en-US" sz="1050" b="0" i="0" u="none" strike="noStrike">
                        <a:solidFill>
                          <a:srgbClr val="0070C0"/>
                        </a:solidFill>
                        <a:effectLst/>
                        <a:latin typeface="+mn-lt"/>
                        <a:ea typeface="Arial Unicode MS" panose="020B0604020202020204" pitchFamily="34" charset="-128"/>
                      </a:endParaRPr>
                    </a:p>
                  </a:txBody>
                  <a:tcPr marL="9525" marR="9525" marT="9525" marB="0" anchor="b">
                    <a:noFill/>
                  </a:tcPr>
                </a:tc>
                <a:tc>
                  <a:txBody>
                    <a:bodyPr/>
                    <a:lstStyle/>
                    <a:p>
                      <a:pPr algn="l" fontAlgn="b"/>
                      <a:r>
                        <a:rPr lang="en-US" sz="1050" u="none" strike="noStrike" dirty="0">
                          <a:solidFill>
                            <a:srgbClr val="0070C0"/>
                          </a:solidFill>
                          <a:effectLst/>
                          <a:latin typeface="+mn-lt"/>
                        </a:rPr>
                        <a:t> PVS1 (C) </a:t>
                      </a:r>
                      <a:endParaRPr lang="en-US" sz="1050" b="0" i="0" u="none" strike="noStrike" dirty="0">
                        <a:solidFill>
                          <a:srgbClr val="0070C0"/>
                        </a:solidFill>
                        <a:effectLst/>
                        <a:latin typeface="+mn-lt"/>
                        <a:ea typeface="Arial Unicode MS" panose="020B0604020202020204" pitchFamily="34" charset="-128"/>
                      </a:endParaRPr>
                    </a:p>
                  </a:txBody>
                  <a:tcPr marL="9525" marR="9525" marT="9525" marB="0" anchor="b">
                    <a:noFill/>
                  </a:tcPr>
                </a:tc>
                <a:tc>
                  <a:txBody>
                    <a:bodyPr/>
                    <a:lstStyle/>
                    <a:p>
                      <a:pPr algn="l" fontAlgn="b"/>
                      <a:r>
                        <a:rPr lang="en-US" sz="1050" u="none" strike="noStrike" dirty="0">
                          <a:solidFill>
                            <a:srgbClr val="0070C0"/>
                          </a:solidFill>
                          <a:effectLst/>
                          <a:latin typeface="+mn-lt"/>
                        </a:rPr>
                        <a:t> Yes </a:t>
                      </a:r>
                      <a:endParaRPr lang="en-US" sz="1050" b="0" i="0" u="none" strike="noStrike" dirty="0">
                        <a:solidFill>
                          <a:srgbClr val="0070C0"/>
                        </a:solidFill>
                        <a:effectLst/>
                        <a:latin typeface="+mn-lt"/>
                        <a:ea typeface="Arial Unicode MS" panose="020B0604020202020204" pitchFamily="34" charset="-128"/>
                      </a:endParaRPr>
                    </a:p>
                  </a:txBody>
                  <a:tcPr marL="9525" marR="9525" marT="9525" marB="0" anchor="b">
                    <a:noFill/>
                  </a:tcPr>
                </a:tc>
                <a:extLst>
                  <a:ext uri="{0D108BD9-81ED-4DB2-BD59-A6C34878D82A}">
                    <a16:rowId xmlns:a16="http://schemas.microsoft.com/office/drawing/2014/main" val="2972694428"/>
                  </a:ext>
                </a:extLst>
              </a:tr>
              <a:tr h="215900">
                <a:tc>
                  <a:txBody>
                    <a:bodyPr/>
                    <a:lstStyle/>
                    <a:p>
                      <a:pPr algn="r" fontAlgn="b"/>
                      <a:r>
                        <a:rPr lang="en-US" sz="1050" u="none" strike="noStrike" dirty="0">
                          <a:solidFill>
                            <a:srgbClr val="0070C0"/>
                          </a:solidFill>
                          <a:effectLst/>
                          <a:latin typeface="+mn-lt"/>
                        </a:rPr>
                        <a:t>NM_000328.3</a:t>
                      </a:r>
                      <a:endParaRPr lang="en-US" sz="1050" b="0" i="0" u="none" strike="noStrike" dirty="0">
                        <a:solidFill>
                          <a:srgbClr val="0070C0"/>
                        </a:solidFill>
                        <a:effectLst/>
                        <a:latin typeface="+mn-lt"/>
                      </a:endParaRPr>
                    </a:p>
                  </a:txBody>
                  <a:tcPr marL="9525" marR="9525" marT="9525" marB="0" anchor="b">
                    <a:noFill/>
                  </a:tcPr>
                </a:tc>
                <a:tc>
                  <a:txBody>
                    <a:bodyPr/>
                    <a:lstStyle/>
                    <a:p>
                      <a:pPr algn="r" fontAlgn="b"/>
                      <a:r>
                        <a:rPr lang="en-US" sz="1050" u="none" strike="noStrike" dirty="0">
                          <a:solidFill>
                            <a:srgbClr val="0070C0"/>
                          </a:solidFill>
                          <a:effectLst/>
                          <a:latin typeface="+mn-lt"/>
                        </a:rPr>
                        <a:t>Exon 16</a:t>
                      </a:r>
                      <a:endParaRPr lang="en-US" sz="1050" b="0" i="0" u="none" strike="noStrike" dirty="0">
                        <a:solidFill>
                          <a:srgbClr val="0070C0"/>
                        </a:solidFill>
                        <a:effectLst/>
                        <a:latin typeface="+mn-lt"/>
                      </a:endParaRPr>
                    </a:p>
                  </a:txBody>
                  <a:tcPr marL="9525" marR="9525" marT="9525" marB="0" anchor="b">
                    <a:noFill/>
                  </a:tcPr>
                </a:tc>
                <a:tc>
                  <a:txBody>
                    <a:bodyPr/>
                    <a:lstStyle/>
                    <a:p>
                      <a:pPr algn="r" fontAlgn="b"/>
                      <a:r>
                        <a:rPr lang="en-US" sz="1050" u="none" strike="noStrike" dirty="0">
                          <a:solidFill>
                            <a:srgbClr val="0070C0"/>
                          </a:solidFill>
                          <a:effectLst/>
                          <a:latin typeface="+mn-lt"/>
                        </a:rPr>
                        <a:t>2048</a:t>
                      </a:r>
                      <a:endParaRPr lang="en-US" sz="1050" b="0" i="0" u="none" strike="noStrike" dirty="0">
                        <a:solidFill>
                          <a:srgbClr val="0070C0"/>
                        </a:solidFill>
                        <a:effectLst/>
                        <a:latin typeface="+mn-lt"/>
                        <a:ea typeface="Arial Unicode MS" panose="020B0604020202020204" pitchFamily="34" charset="-128"/>
                      </a:endParaRPr>
                    </a:p>
                  </a:txBody>
                  <a:tcPr marL="9525" marR="9525" marT="9525" marB="0" anchor="b">
                    <a:noFill/>
                  </a:tcPr>
                </a:tc>
                <a:tc>
                  <a:txBody>
                    <a:bodyPr/>
                    <a:lstStyle/>
                    <a:p>
                      <a:pPr algn="r" fontAlgn="b"/>
                      <a:r>
                        <a:rPr lang="en-US" sz="1050" u="none" strike="noStrike" dirty="0">
                          <a:solidFill>
                            <a:srgbClr val="0070C0"/>
                          </a:solidFill>
                          <a:effectLst/>
                          <a:latin typeface="+mn-lt"/>
                        </a:rPr>
                        <a:t>c.1906</a:t>
                      </a:r>
                      <a:endParaRPr lang="en-US" sz="1050" b="0" i="0" u="none" strike="noStrike" dirty="0">
                        <a:solidFill>
                          <a:srgbClr val="0070C0"/>
                        </a:solidFill>
                        <a:effectLst/>
                        <a:latin typeface="+mn-lt"/>
                        <a:ea typeface="Arial Unicode MS" panose="020B0604020202020204" pitchFamily="34" charset="-128"/>
                      </a:endParaRPr>
                    </a:p>
                  </a:txBody>
                  <a:tcPr marL="9525" marR="9525" marT="9525" marB="0" anchor="b">
                    <a:noFill/>
                  </a:tcPr>
                </a:tc>
                <a:tc>
                  <a:txBody>
                    <a:bodyPr/>
                    <a:lstStyle/>
                    <a:p>
                      <a:pPr algn="r" fontAlgn="b"/>
                      <a:r>
                        <a:rPr lang="en-US" sz="1050" u="none" strike="noStrike" dirty="0">
                          <a:solidFill>
                            <a:srgbClr val="0070C0"/>
                          </a:solidFill>
                          <a:effectLst/>
                          <a:latin typeface="+mn-lt"/>
                        </a:rPr>
                        <a:t>2233</a:t>
                      </a:r>
                      <a:endParaRPr lang="en-US" sz="1050" b="0" i="0" u="none" strike="noStrike" dirty="0">
                        <a:solidFill>
                          <a:srgbClr val="0070C0"/>
                        </a:solidFill>
                        <a:effectLst/>
                        <a:latin typeface="+mn-lt"/>
                        <a:ea typeface="Arial Unicode MS" panose="020B0604020202020204" pitchFamily="34" charset="-128"/>
                      </a:endParaRPr>
                    </a:p>
                  </a:txBody>
                  <a:tcPr marL="9525" marR="9525" marT="9525" marB="0" anchor="b">
                    <a:noFill/>
                  </a:tcPr>
                </a:tc>
                <a:tc>
                  <a:txBody>
                    <a:bodyPr/>
                    <a:lstStyle/>
                    <a:p>
                      <a:pPr algn="r" fontAlgn="b"/>
                      <a:r>
                        <a:rPr lang="en-US" sz="1050" u="none" strike="noStrike" dirty="0">
                          <a:solidFill>
                            <a:srgbClr val="0070C0"/>
                          </a:solidFill>
                          <a:effectLst/>
                          <a:latin typeface="+mn-lt"/>
                        </a:rPr>
                        <a:t>c.2091</a:t>
                      </a:r>
                      <a:endParaRPr lang="en-US" sz="1050" b="0" i="0" u="none" strike="noStrike" dirty="0">
                        <a:solidFill>
                          <a:srgbClr val="0070C0"/>
                        </a:solidFill>
                        <a:effectLst/>
                        <a:latin typeface="+mn-lt"/>
                        <a:ea typeface="Arial Unicode MS" panose="020B0604020202020204" pitchFamily="34" charset="-128"/>
                      </a:endParaRPr>
                    </a:p>
                  </a:txBody>
                  <a:tcPr marL="9525" marR="9525" marT="9525" marB="0" anchor="b">
                    <a:noFill/>
                  </a:tcPr>
                </a:tc>
                <a:tc>
                  <a:txBody>
                    <a:bodyPr/>
                    <a:lstStyle/>
                    <a:p>
                      <a:pPr algn="r" fontAlgn="b"/>
                      <a:r>
                        <a:rPr lang="en-US" sz="1050" u="none" strike="noStrike" dirty="0">
                          <a:solidFill>
                            <a:srgbClr val="0070C0"/>
                          </a:solidFill>
                          <a:effectLst/>
                          <a:latin typeface="+mn-lt"/>
                        </a:rPr>
                        <a:t>   38,276,772 </a:t>
                      </a:r>
                      <a:endParaRPr lang="en-US" sz="1050" b="0" i="0" u="none" strike="noStrike" dirty="0">
                        <a:solidFill>
                          <a:srgbClr val="0070C0"/>
                        </a:solidFill>
                        <a:effectLst/>
                        <a:latin typeface="+mn-lt"/>
                        <a:ea typeface="Arial Unicode MS" panose="020B0604020202020204" pitchFamily="34" charset="-128"/>
                      </a:endParaRPr>
                    </a:p>
                  </a:txBody>
                  <a:tcPr marL="9525" marR="9525" marT="9525" marB="0" anchor="b">
                    <a:noFill/>
                  </a:tcPr>
                </a:tc>
                <a:tc>
                  <a:txBody>
                    <a:bodyPr/>
                    <a:lstStyle/>
                    <a:p>
                      <a:pPr algn="r" fontAlgn="b"/>
                      <a:r>
                        <a:rPr lang="en-US" sz="1050" u="none" strike="noStrike">
                          <a:solidFill>
                            <a:srgbClr val="0070C0"/>
                          </a:solidFill>
                          <a:effectLst/>
                          <a:latin typeface="+mn-lt"/>
                        </a:rPr>
                        <a:t>  38,276,587 </a:t>
                      </a:r>
                      <a:endParaRPr lang="en-US" sz="1050" b="0" i="0" u="none" strike="noStrike">
                        <a:solidFill>
                          <a:srgbClr val="0070C0"/>
                        </a:solidFill>
                        <a:effectLst/>
                        <a:latin typeface="+mn-lt"/>
                        <a:ea typeface="Arial Unicode MS" panose="020B0604020202020204" pitchFamily="34" charset="-128"/>
                      </a:endParaRPr>
                    </a:p>
                  </a:txBody>
                  <a:tcPr marL="9525" marR="9525" marT="9525" marB="0" anchor="b">
                    <a:noFill/>
                  </a:tcPr>
                </a:tc>
                <a:tc>
                  <a:txBody>
                    <a:bodyPr/>
                    <a:lstStyle/>
                    <a:p>
                      <a:pPr algn="r" fontAlgn="b"/>
                      <a:r>
                        <a:rPr lang="en-US" sz="1050" u="none" strike="noStrike">
                          <a:solidFill>
                            <a:srgbClr val="0070C0"/>
                          </a:solidFill>
                          <a:effectLst/>
                          <a:latin typeface="+mn-lt"/>
                        </a:rPr>
                        <a:t> in frame </a:t>
                      </a:r>
                      <a:endParaRPr lang="en-US" sz="1050" b="0" i="0" u="none" strike="noStrike">
                        <a:solidFill>
                          <a:srgbClr val="0070C0"/>
                        </a:solidFill>
                        <a:effectLst/>
                        <a:latin typeface="+mn-lt"/>
                        <a:ea typeface="Arial Unicode MS" panose="020B0604020202020204" pitchFamily="34" charset="-128"/>
                      </a:endParaRPr>
                    </a:p>
                  </a:txBody>
                  <a:tcPr marL="9525" marR="9525" marT="9525" marB="0" anchor="b">
                    <a:noFill/>
                  </a:tcPr>
                </a:tc>
                <a:tc gridSpan="2">
                  <a:txBody>
                    <a:bodyPr/>
                    <a:lstStyle/>
                    <a:p>
                      <a:pPr algn="r" fontAlgn="b"/>
                      <a:r>
                        <a:rPr lang="en-US" sz="1050" u="none" strike="noStrike">
                          <a:solidFill>
                            <a:srgbClr val="0070C0"/>
                          </a:solidFill>
                          <a:effectLst/>
                          <a:latin typeface="+mn-lt"/>
                        </a:rPr>
                        <a:t> No NMD </a:t>
                      </a:r>
                      <a:endParaRPr lang="en-US" sz="1050" b="0" i="0" u="none" strike="noStrike">
                        <a:solidFill>
                          <a:srgbClr val="0070C0"/>
                        </a:solidFill>
                        <a:effectLst/>
                        <a:latin typeface="+mn-lt"/>
                        <a:ea typeface="Arial Unicode MS" panose="020B0604020202020204" pitchFamily="34" charset="-128"/>
                      </a:endParaRPr>
                    </a:p>
                  </a:txBody>
                  <a:tcPr marL="9525" marR="9525" marT="9525" marB="0" anchor="b">
                    <a:noFill/>
                  </a:tcPr>
                </a:tc>
                <a:tc hMerge="1">
                  <a:txBody>
                    <a:bodyPr/>
                    <a:lstStyle/>
                    <a:p>
                      <a:pPr algn="ctr" fontAlgn="b"/>
                      <a:r>
                        <a:rPr lang="en-US" sz="1050" u="none" strike="noStrike" dirty="0">
                          <a:solidFill>
                            <a:srgbClr val="0070C0"/>
                          </a:solidFill>
                          <a:effectLst/>
                          <a:latin typeface="+mn-lt"/>
                        </a:rPr>
                        <a:t> No NMD </a:t>
                      </a:r>
                      <a:endParaRPr lang="en-US" sz="1050" b="0" i="0" u="none" strike="noStrike" dirty="0">
                        <a:solidFill>
                          <a:srgbClr val="0070C0"/>
                        </a:solidFill>
                        <a:effectLst/>
                        <a:latin typeface="+mn-lt"/>
                        <a:ea typeface="Arial Unicode MS" panose="020B0604020202020204" pitchFamily="34" charset="-128"/>
                      </a:endParaRPr>
                    </a:p>
                  </a:txBody>
                  <a:tcPr marL="9525" marR="9525" marT="9525" marB="0" anchor="b">
                    <a:noFill/>
                  </a:tcPr>
                </a:tc>
                <a:tc>
                  <a:txBody>
                    <a:bodyPr/>
                    <a:lstStyle/>
                    <a:p>
                      <a:pPr algn="l" fontAlgn="b"/>
                      <a:r>
                        <a:rPr lang="en-US" sz="1050" u="none" strike="noStrike">
                          <a:solidFill>
                            <a:srgbClr val="0070C0"/>
                          </a:solidFill>
                          <a:effectLst/>
                          <a:latin typeface="+mn-lt"/>
                        </a:rPr>
                        <a:t> PVS1 (G) </a:t>
                      </a:r>
                      <a:endParaRPr lang="en-US" sz="1050" b="0" i="0" u="none" strike="noStrike">
                        <a:solidFill>
                          <a:srgbClr val="0070C0"/>
                        </a:solidFill>
                        <a:effectLst/>
                        <a:latin typeface="+mn-lt"/>
                        <a:ea typeface="Arial Unicode MS" panose="020B0604020202020204" pitchFamily="34" charset="-128"/>
                      </a:endParaRPr>
                    </a:p>
                  </a:txBody>
                  <a:tcPr marL="9525" marR="9525" marT="9525" marB="0" anchor="b">
                    <a:noFill/>
                  </a:tcPr>
                </a:tc>
                <a:tc>
                  <a:txBody>
                    <a:bodyPr/>
                    <a:lstStyle/>
                    <a:p>
                      <a:pPr algn="l" fontAlgn="b"/>
                      <a:r>
                        <a:rPr lang="en-US" sz="1050" u="none" strike="noStrike">
                          <a:solidFill>
                            <a:srgbClr val="0070C0"/>
                          </a:solidFill>
                          <a:effectLst/>
                          <a:latin typeface="+mn-lt"/>
                        </a:rPr>
                        <a:t> No </a:t>
                      </a:r>
                      <a:endParaRPr lang="en-US" sz="1050" b="0" i="0" u="none" strike="noStrike">
                        <a:solidFill>
                          <a:srgbClr val="0070C0"/>
                        </a:solidFill>
                        <a:effectLst/>
                        <a:latin typeface="+mn-lt"/>
                        <a:ea typeface="Arial Unicode MS" panose="020B0604020202020204" pitchFamily="34" charset="-128"/>
                      </a:endParaRPr>
                    </a:p>
                  </a:txBody>
                  <a:tcPr marL="9525" marR="9525" marT="9525" marB="0" anchor="b">
                    <a:noFill/>
                  </a:tcPr>
                </a:tc>
                <a:extLst>
                  <a:ext uri="{0D108BD9-81ED-4DB2-BD59-A6C34878D82A}">
                    <a16:rowId xmlns:a16="http://schemas.microsoft.com/office/drawing/2014/main" val="3908892603"/>
                  </a:ext>
                </a:extLst>
              </a:tr>
              <a:tr h="215900">
                <a:tc>
                  <a:txBody>
                    <a:bodyPr/>
                    <a:lstStyle/>
                    <a:p>
                      <a:pPr algn="r" fontAlgn="b"/>
                      <a:r>
                        <a:rPr lang="en-US" sz="1050" u="none" strike="noStrike">
                          <a:solidFill>
                            <a:srgbClr val="0070C0"/>
                          </a:solidFill>
                          <a:effectLst/>
                          <a:latin typeface="+mn-lt"/>
                        </a:rPr>
                        <a:t>NM_000328.3</a:t>
                      </a:r>
                      <a:endParaRPr lang="en-US" sz="1050" b="0" i="0" u="none" strike="noStrike">
                        <a:solidFill>
                          <a:srgbClr val="0070C0"/>
                        </a:solidFill>
                        <a:effectLst/>
                        <a:latin typeface="+mn-lt"/>
                      </a:endParaRPr>
                    </a:p>
                  </a:txBody>
                  <a:tcPr marL="9525" marR="9525" marT="9525" marB="0" anchor="b">
                    <a:noFill/>
                  </a:tcPr>
                </a:tc>
                <a:tc>
                  <a:txBody>
                    <a:bodyPr/>
                    <a:lstStyle/>
                    <a:p>
                      <a:pPr algn="r" fontAlgn="b"/>
                      <a:r>
                        <a:rPr lang="en-US" sz="1050" u="none" strike="noStrike" dirty="0">
                          <a:solidFill>
                            <a:srgbClr val="0070C0"/>
                          </a:solidFill>
                          <a:effectLst/>
                          <a:latin typeface="+mn-lt"/>
                        </a:rPr>
                        <a:t>Exon 17</a:t>
                      </a:r>
                      <a:endParaRPr lang="en-US" sz="1050" b="0" i="0" u="none" strike="noStrike" dirty="0">
                        <a:solidFill>
                          <a:srgbClr val="0070C0"/>
                        </a:solidFill>
                        <a:effectLst/>
                        <a:latin typeface="+mn-lt"/>
                      </a:endParaRPr>
                    </a:p>
                  </a:txBody>
                  <a:tcPr marL="9525" marR="9525" marT="9525" marB="0" anchor="b">
                    <a:noFill/>
                  </a:tcPr>
                </a:tc>
                <a:tc>
                  <a:txBody>
                    <a:bodyPr/>
                    <a:lstStyle/>
                    <a:p>
                      <a:pPr algn="r" fontAlgn="b"/>
                      <a:r>
                        <a:rPr lang="en-US" sz="1050" u="none" strike="noStrike" dirty="0">
                          <a:solidFill>
                            <a:srgbClr val="0070C0"/>
                          </a:solidFill>
                          <a:effectLst/>
                          <a:latin typeface="+mn-lt"/>
                        </a:rPr>
                        <a:t>2234</a:t>
                      </a:r>
                      <a:endParaRPr lang="en-US" sz="1050" b="0" i="0" u="none" strike="noStrike" dirty="0">
                        <a:solidFill>
                          <a:srgbClr val="0070C0"/>
                        </a:solidFill>
                        <a:effectLst/>
                        <a:latin typeface="+mn-lt"/>
                        <a:ea typeface="Arial Unicode MS" panose="020B0604020202020204" pitchFamily="34" charset="-128"/>
                      </a:endParaRPr>
                    </a:p>
                  </a:txBody>
                  <a:tcPr marL="9525" marR="9525" marT="9525" marB="0" anchor="b">
                    <a:noFill/>
                  </a:tcPr>
                </a:tc>
                <a:tc>
                  <a:txBody>
                    <a:bodyPr/>
                    <a:lstStyle/>
                    <a:p>
                      <a:pPr algn="r" fontAlgn="b"/>
                      <a:r>
                        <a:rPr lang="en-US" sz="1050" u="none" strike="noStrike">
                          <a:solidFill>
                            <a:srgbClr val="0070C0"/>
                          </a:solidFill>
                          <a:effectLst/>
                          <a:latin typeface="+mn-lt"/>
                        </a:rPr>
                        <a:t>c.2092</a:t>
                      </a:r>
                      <a:endParaRPr lang="en-US" sz="1050" b="0" i="0" u="none" strike="noStrike" dirty="0">
                        <a:solidFill>
                          <a:srgbClr val="0070C0"/>
                        </a:solidFill>
                        <a:effectLst/>
                        <a:latin typeface="+mn-lt"/>
                        <a:ea typeface="Arial Unicode MS" panose="020B0604020202020204" pitchFamily="34" charset="-128"/>
                      </a:endParaRPr>
                    </a:p>
                  </a:txBody>
                  <a:tcPr marL="9525" marR="9525" marT="9525" marB="0" anchor="b">
                    <a:noFill/>
                  </a:tcPr>
                </a:tc>
                <a:tc>
                  <a:txBody>
                    <a:bodyPr/>
                    <a:lstStyle/>
                    <a:p>
                      <a:pPr algn="r" fontAlgn="b"/>
                      <a:r>
                        <a:rPr lang="en-US" sz="1050" u="none" strike="noStrike" dirty="0">
                          <a:solidFill>
                            <a:srgbClr val="0070C0"/>
                          </a:solidFill>
                          <a:effectLst/>
                          <a:latin typeface="+mn-lt"/>
                        </a:rPr>
                        <a:t>2291</a:t>
                      </a:r>
                      <a:endParaRPr lang="en-US" sz="1050" b="0" i="0" u="none" strike="noStrike" dirty="0">
                        <a:solidFill>
                          <a:srgbClr val="0070C0"/>
                        </a:solidFill>
                        <a:effectLst/>
                        <a:latin typeface="+mn-lt"/>
                        <a:ea typeface="Arial Unicode MS" panose="020B0604020202020204" pitchFamily="34" charset="-128"/>
                      </a:endParaRPr>
                    </a:p>
                  </a:txBody>
                  <a:tcPr marL="9525" marR="9525" marT="9525" marB="0" anchor="b">
                    <a:noFill/>
                  </a:tcPr>
                </a:tc>
                <a:tc>
                  <a:txBody>
                    <a:bodyPr/>
                    <a:lstStyle/>
                    <a:p>
                      <a:pPr algn="r" fontAlgn="b"/>
                      <a:r>
                        <a:rPr lang="en-US" sz="1050" u="none" strike="noStrike">
                          <a:solidFill>
                            <a:srgbClr val="0070C0"/>
                          </a:solidFill>
                          <a:effectLst/>
                          <a:latin typeface="+mn-lt"/>
                        </a:rPr>
                        <a:t>c.2149</a:t>
                      </a:r>
                      <a:endParaRPr lang="en-US" sz="1050" b="0" i="0" u="none" strike="noStrike">
                        <a:solidFill>
                          <a:srgbClr val="0070C0"/>
                        </a:solidFill>
                        <a:effectLst/>
                        <a:latin typeface="+mn-lt"/>
                        <a:ea typeface="Arial Unicode MS" panose="020B0604020202020204" pitchFamily="34" charset="-128"/>
                      </a:endParaRPr>
                    </a:p>
                  </a:txBody>
                  <a:tcPr marL="9525" marR="9525" marT="9525" marB="0" anchor="b">
                    <a:noFill/>
                  </a:tcPr>
                </a:tc>
                <a:tc>
                  <a:txBody>
                    <a:bodyPr/>
                    <a:lstStyle/>
                    <a:p>
                      <a:pPr algn="r" fontAlgn="b"/>
                      <a:r>
                        <a:rPr lang="en-US" sz="1050" u="none" strike="noStrike" dirty="0">
                          <a:solidFill>
                            <a:srgbClr val="0070C0"/>
                          </a:solidFill>
                          <a:effectLst/>
                          <a:latin typeface="+mn-lt"/>
                        </a:rPr>
                        <a:t>   38,275,146 </a:t>
                      </a:r>
                      <a:endParaRPr lang="en-US" sz="1050" b="0" i="0" u="none" strike="noStrike" dirty="0">
                        <a:solidFill>
                          <a:srgbClr val="0070C0"/>
                        </a:solidFill>
                        <a:effectLst/>
                        <a:latin typeface="+mn-lt"/>
                        <a:ea typeface="Arial Unicode MS" panose="020B0604020202020204" pitchFamily="34" charset="-128"/>
                      </a:endParaRPr>
                    </a:p>
                  </a:txBody>
                  <a:tcPr marL="9525" marR="9525" marT="9525" marB="0" anchor="b">
                    <a:noFill/>
                  </a:tcPr>
                </a:tc>
                <a:tc>
                  <a:txBody>
                    <a:bodyPr/>
                    <a:lstStyle/>
                    <a:p>
                      <a:pPr algn="r" fontAlgn="b"/>
                      <a:r>
                        <a:rPr lang="en-US" sz="1050" u="none" strike="noStrike">
                          <a:solidFill>
                            <a:srgbClr val="0070C0"/>
                          </a:solidFill>
                          <a:effectLst/>
                          <a:latin typeface="+mn-lt"/>
                        </a:rPr>
                        <a:t>  38,275,089 </a:t>
                      </a:r>
                      <a:endParaRPr lang="en-US" sz="1050" b="0" i="0" u="none" strike="noStrike">
                        <a:solidFill>
                          <a:srgbClr val="0070C0"/>
                        </a:solidFill>
                        <a:effectLst/>
                        <a:latin typeface="+mn-lt"/>
                        <a:ea typeface="Arial Unicode MS" panose="020B0604020202020204" pitchFamily="34" charset="-128"/>
                      </a:endParaRPr>
                    </a:p>
                  </a:txBody>
                  <a:tcPr marL="9525" marR="9525" marT="9525" marB="0" anchor="b">
                    <a:noFill/>
                  </a:tcPr>
                </a:tc>
                <a:tc>
                  <a:txBody>
                    <a:bodyPr/>
                    <a:lstStyle/>
                    <a:p>
                      <a:pPr algn="r" fontAlgn="b"/>
                      <a:r>
                        <a:rPr lang="en-US" sz="1050" u="none" strike="noStrike">
                          <a:solidFill>
                            <a:srgbClr val="0070C0"/>
                          </a:solidFill>
                          <a:effectLst/>
                          <a:latin typeface="+mn-lt"/>
                        </a:rPr>
                        <a:t> FS </a:t>
                      </a:r>
                      <a:endParaRPr lang="en-US" sz="1050" b="0" i="0" u="none" strike="noStrike">
                        <a:solidFill>
                          <a:srgbClr val="0070C0"/>
                        </a:solidFill>
                        <a:effectLst/>
                        <a:latin typeface="+mn-lt"/>
                        <a:ea typeface="Arial Unicode MS" panose="020B0604020202020204" pitchFamily="34" charset="-128"/>
                      </a:endParaRPr>
                    </a:p>
                  </a:txBody>
                  <a:tcPr marL="9525" marR="9525" marT="9525" marB="0" anchor="b">
                    <a:noFill/>
                  </a:tcPr>
                </a:tc>
                <a:tc gridSpan="2">
                  <a:txBody>
                    <a:bodyPr/>
                    <a:lstStyle/>
                    <a:p>
                      <a:pPr algn="r" fontAlgn="b"/>
                      <a:r>
                        <a:rPr lang="en-US" sz="1050" u="none" strike="noStrike">
                          <a:solidFill>
                            <a:srgbClr val="0070C0"/>
                          </a:solidFill>
                          <a:effectLst/>
                          <a:latin typeface="+mn-lt"/>
                        </a:rPr>
                        <a:t> NMD </a:t>
                      </a:r>
                      <a:endParaRPr lang="en-US" sz="1050" b="0" i="0" u="none" strike="noStrike">
                        <a:solidFill>
                          <a:srgbClr val="0070C0"/>
                        </a:solidFill>
                        <a:effectLst/>
                        <a:latin typeface="+mn-lt"/>
                        <a:ea typeface="Arial Unicode MS" panose="020B0604020202020204" pitchFamily="34" charset="-128"/>
                      </a:endParaRPr>
                    </a:p>
                  </a:txBody>
                  <a:tcPr marL="9525" marR="9525" marT="9525" marB="0" anchor="b">
                    <a:noFill/>
                  </a:tcPr>
                </a:tc>
                <a:tc hMerge="1">
                  <a:txBody>
                    <a:bodyPr/>
                    <a:lstStyle/>
                    <a:p>
                      <a:pPr algn="ctr" fontAlgn="b"/>
                      <a:r>
                        <a:rPr lang="en-US" sz="1050" u="none" strike="noStrike" dirty="0">
                          <a:solidFill>
                            <a:srgbClr val="0070C0"/>
                          </a:solidFill>
                          <a:effectLst/>
                          <a:latin typeface="+mn-lt"/>
                        </a:rPr>
                        <a:t> NMD </a:t>
                      </a:r>
                      <a:endParaRPr lang="en-US" sz="1050" b="0" i="0" u="none" strike="noStrike" dirty="0">
                        <a:solidFill>
                          <a:srgbClr val="0070C0"/>
                        </a:solidFill>
                        <a:effectLst/>
                        <a:latin typeface="+mn-lt"/>
                        <a:ea typeface="Arial Unicode MS" panose="020B0604020202020204" pitchFamily="34" charset="-128"/>
                      </a:endParaRPr>
                    </a:p>
                  </a:txBody>
                  <a:tcPr marL="9525" marR="9525" marT="9525" marB="0" anchor="b">
                    <a:noFill/>
                  </a:tcPr>
                </a:tc>
                <a:tc>
                  <a:txBody>
                    <a:bodyPr/>
                    <a:lstStyle/>
                    <a:p>
                      <a:pPr algn="l" fontAlgn="b"/>
                      <a:r>
                        <a:rPr lang="en-US" sz="1050" u="none" strike="noStrike" dirty="0">
                          <a:solidFill>
                            <a:srgbClr val="0070C0"/>
                          </a:solidFill>
                          <a:effectLst/>
                          <a:latin typeface="+mn-lt"/>
                        </a:rPr>
                        <a:t> PVS1 (D) </a:t>
                      </a:r>
                      <a:endParaRPr lang="en-US" sz="1050" b="0" i="0" u="none" strike="noStrike" dirty="0">
                        <a:solidFill>
                          <a:srgbClr val="0070C0"/>
                        </a:solidFill>
                        <a:effectLst/>
                        <a:latin typeface="+mn-lt"/>
                        <a:ea typeface="Arial Unicode MS" panose="020B0604020202020204" pitchFamily="34" charset="-128"/>
                      </a:endParaRPr>
                    </a:p>
                  </a:txBody>
                  <a:tcPr marL="9525" marR="9525" marT="9525" marB="0" anchor="b">
                    <a:noFill/>
                  </a:tcPr>
                </a:tc>
                <a:tc>
                  <a:txBody>
                    <a:bodyPr/>
                    <a:lstStyle/>
                    <a:p>
                      <a:pPr algn="l" fontAlgn="b"/>
                      <a:r>
                        <a:rPr lang="en-US" sz="1050" u="none" strike="noStrike">
                          <a:solidFill>
                            <a:srgbClr val="0070C0"/>
                          </a:solidFill>
                          <a:effectLst/>
                          <a:latin typeface="+mn-lt"/>
                        </a:rPr>
                        <a:t> No </a:t>
                      </a:r>
                      <a:endParaRPr lang="en-US" sz="1050" b="0" i="0" u="none" strike="noStrike">
                        <a:solidFill>
                          <a:srgbClr val="0070C0"/>
                        </a:solidFill>
                        <a:effectLst/>
                        <a:latin typeface="+mn-lt"/>
                        <a:ea typeface="Arial Unicode MS" panose="020B0604020202020204" pitchFamily="34" charset="-128"/>
                      </a:endParaRPr>
                    </a:p>
                  </a:txBody>
                  <a:tcPr marL="9525" marR="9525" marT="9525" marB="0" anchor="b">
                    <a:noFill/>
                  </a:tcPr>
                </a:tc>
                <a:extLst>
                  <a:ext uri="{0D108BD9-81ED-4DB2-BD59-A6C34878D82A}">
                    <a16:rowId xmlns:a16="http://schemas.microsoft.com/office/drawing/2014/main" val="4180157"/>
                  </a:ext>
                </a:extLst>
              </a:tr>
              <a:tr h="215900">
                <a:tc>
                  <a:txBody>
                    <a:bodyPr/>
                    <a:lstStyle/>
                    <a:p>
                      <a:pPr algn="r" fontAlgn="b"/>
                      <a:r>
                        <a:rPr lang="en-US" sz="1050" u="none" strike="noStrike">
                          <a:solidFill>
                            <a:srgbClr val="0070C0"/>
                          </a:solidFill>
                          <a:effectLst/>
                          <a:latin typeface="+mn-lt"/>
                        </a:rPr>
                        <a:t>NM_000328.3</a:t>
                      </a:r>
                      <a:endParaRPr lang="en-US" sz="1050" b="0" i="0" u="none" strike="noStrike">
                        <a:solidFill>
                          <a:srgbClr val="0070C0"/>
                        </a:solidFill>
                        <a:effectLst/>
                        <a:latin typeface="+mn-lt"/>
                      </a:endParaRPr>
                    </a:p>
                  </a:txBody>
                  <a:tcPr marL="9525" marR="9525" marT="9525" marB="0" anchor="b">
                    <a:noFill/>
                  </a:tcPr>
                </a:tc>
                <a:tc>
                  <a:txBody>
                    <a:bodyPr/>
                    <a:lstStyle/>
                    <a:p>
                      <a:pPr algn="r" fontAlgn="b"/>
                      <a:r>
                        <a:rPr lang="en-US" sz="1050" u="none" strike="noStrike">
                          <a:solidFill>
                            <a:srgbClr val="0070C0"/>
                          </a:solidFill>
                          <a:effectLst/>
                          <a:latin typeface="+mn-lt"/>
                        </a:rPr>
                        <a:t>Exon 18</a:t>
                      </a:r>
                      <a:endParaRPr lang="en-US" sz="1050" b="0" i="0" u="none" strike="noStrike">
                        <a:solidFill>
                          <a:srgbClr val="0070C0"/>
                        </a:solidFill>
                        <a:effectLst/>
                        <a:latin typeface="+mn-lt"/>
                      </a:endParaRPr>
                    </a:p>
                  </a:txBody>
                  <a:tcPr marL="9525" marR="9525" marT="9525" marB="0" anchor="b">
                    <a:noFill/>
                  </a:tcPr>
                </a:tc>
                <a:tc>
                  <a:txBody>
                    <a:bodyPr/>
                    <a:lstStyle/>
                    <a:p>
                      <a:pPr algn="r" fontAlgn="b"/>
                      <a:r>
                        <a:rPr lang="en-US" sz="1050" u="none" strike="noStrike" dirty="0">
                          <a:solidFill>
                            <a:srgbClr val="0070C0"/>
                          </a:solidFill>
                          <a:effectLst/>
                          <a:latin typeface="+mn-lt"/>
                        </a:rPr>
                        <a:t>2292</a:t>
                      </a:r>
                      <a:endParaRPr lang="en-US" sz="1050" b="0" i="0" u="none" strike="noStrike" dirty="0">
                        <a:solidFill>
                          <a:srgbClr val="0070C0"/>
                        </a:solidFill>
                        <a:effectLst/>
                        <a:latin typeface="+mn-lt"/>
                        <a:ea typeface="Arial Unicode MS" panose="020B0604020202020204" pitchFamily="34" charset="-128"/>
                      </a:endParaRPr>
                    </a:p>
                  </a:txBody>
                  <a:tcPr marL="9525" marR="9525" marT="9525" marB="0" anchor="b">
                    <a:noFill/>
                  </a:tcPr>
                </a:tc>
                <a:tc>
                  <a:txBody>
                    <a:bodyPr/>
                    <a:lstStyle/>
                    <a:p>
                      <a:pPr algn="r" fontAlgn="b"/>
                      <a:r>
                        <a:rPr lang="en-US" sz="1050" u="none" strike="noStrike">
                          <a:solidFill>
                            <a:srgbClr val="0070C0"/>
                          </a:solidFill>
                          <a:effectLst/>
                          <a:latin typeface="+mn-lt"/>
                        </a:rPr>
                        <a:t>c.2150</a:t>
                      </a:r>
                      <a:endParaRPr lang="en-US" sz="1050" b="0" i="0" u="none" strike="noStrike" dirty="0">
                        <a:solidFill>
                          <a:srgbClr val="0070C0"/>
                        </a:solidFill>
                        <a:effectLst/>
                        <a:latin typeface="+mn-lt"/>
                        <a:ea typeface="Arial Unicode MS" panose="020B0604020202020204" pitchFamily="34" charset="-128"/>
                      </a:endParaRPr>
                    </a:p>
                  </a:txBody>
                  <a:tcPr marL="9525" marR="9525" marT="9525" marB="0" anchor="b">
                    <a:noFill/>
                  </a:tcPr>
                </a:tc>
                <a:tc>
                  <a:txBody>
                    <a:bodyPr/>
                    <a:lstStyle/>
                    <a:p>
                      <a:pPr algn="r" fontAlgn="b"/>
                      <a:r>
                        <a:rPr lang="en-US" sz="1050" u="none" strike="noStrike" dirty="0">
                          <a:solidFill>
                            <a:srgbClr val="0070C0"/>
                          </a:solidFill>
                          <a:effectLst/>
                          <a:latin typeface="+mn-lt"/>
                        </a:rPr>
                        <a:t>2389</a:t>
                      </a:r>
                      <a:endParaRPr lang="en-US" sz="1050" b="0" i="0" u="none" strike="noStrike" dirty="0">
                        <a:solidFill>
                          <a:srgbClr val="0070C0"/>
                        </a:solidFill>
                        <a:effectLst/>
                        <a:latin typeface="+mn-lt"/>
                        <a:ea typeface="Arial Unicode MS" panose="020B0604020202020204" pitchFamily="34" charset="-128"/>
                      </a:endParaRPr>
                    </a:p>
                  </a:txBody>
                  <a:tcPr marL="9525" marR="9525" marT="9525" marB="0" anchor="b">
                    <a:noFill/>
                  </a:tcPr>
                </a:tc>
                <a:tc>
                  <a:txBody>
                    <a:bodyPr/>
                    <a:lstStyle/>
                    <a:p>
                      <a:pPr algn="r" fontAlgn="b"/>
                      <a:r>
                        <a:rPr lang="en-US" sz="1050" u="none" strike="noStrike">
                          <a:solidFill>
                            <a:srgbClr val="0070C0"/>
                          </a:solidFill>
                          <a:effectLst/>
                          <a:latin typeface="+mn-lt"/>
                        </a:rPr>
                        <a:t>c.2241</a:t>
                      </a:r>
                      <a:endParaRPr lang="en-US" sz="1050" b="0" i="0" u="none" strike="noStrike">
                        <a:solidFill>
                          <a:srgbClr val="0070C0"/>
                        </a:solidFill>
                        <a:effectLst/>
                        <a:latin typeface="+mn-lt"/>
                        <a:ea typeface="Arial Unicode MS" panose="020B0604020202020204" pitchFamily="34" charset="-128"/>
                      </a:endParaRPr>
                    </a:p>
                  </a:txBody>
                  <a:tcPr marL="9525" marR="9525" marT="9525" marB="0" anchor="b">
                    <a:noFill/>
                  </a:tcPr>
                </a:tc>
                <a:tc>
                  <a:txBody>
                    <a:bodyPr/>
                    <a:lstStyle/>
                    <a:p>
                      <a:pPr algn="r" fontAlgn="b"/>
                      <a:r>
                        <a:rPr lang="en-US" sz="1050" u="none" strike="noStrike">
                          <a:solidFill>
                            <a:srgbClr val="0070C0"/>
                          </a:solidFill>
                          <a:effectLst/>
                          <a:latin typeface="+mn-lt"/>
                        </a:rPr>
                        <a:t>   38,273,477 </a:t>
                      </a:r>
                      <a:endParaRPr lang="en-US" sz="1050" b="0" i="0" u="none" strike="noStrike">
                        <a:solidFill>
                          <a:srgbClr val="0070C0"/>
                        </a:solidFill>
                        <a:effectLst/>
                        <a:latin typeface="+mn-lt"/>
                        <a:ea typeface="Arial Unicode MS" panose="020B0604020202020204" pitchFamily="34" charset="-128"/>
                      </a:endParaRPr>
                    </a:p>
                  </a:txBody>
                  <a:tcPr marL="9525" marR="9525" marT="9525" marB="0" anchor="b">
                    <a:noFill/>
                  </a:tcPr>
                </a:tc>
                <a:tc>
                  <a:txBody>
                    <a:bodyPr/>
                    <a:lstStyle/>
                    <a:p>
                      <a:pPr algn="r" fontAlgn="b"/>
                      <a:r>
                        <a:rPr lang="en-US" sz="1050" u="none" strike="noStrike">
                          <a:solidFill>
                            <a:srgbClr val="0070C0"/>
                          </a:solidFill>
                          <a:effectLst/>
                          <a:latin typeface="+mn-lt"/>
                        </a:rPr>
                        <a:t>  38,273,386 </a:t>
                      </a:r>
                      <a:endParaRPr lang="en-US" sz="1050" b="0" i="0" u="none" strike="noStrike">
                        <a:solidFill>
                          <a:srgbClr val="0070C0"/>
                        </a:solidFill>
                        <a:effectLst/>
                        <a:latin typeface="+mn-lt"/>
                        <a:ea typeface="Arial Unicode MS" panose="020B0604020202020204" pitchFamily="34" charset="-128"/>
                      </a:endParaRPr>
                    </a:p>
                  </a:txBody>
                  <a:tcPr marL="9525" marR="9525" marT="9525" marB="0" anchor="b">
                    <a:noFill/>
                  </a:tcPr>
                </a:tc>
                <a:tc>
                  <a:txBody>
                    <a:bodyPr/>
                    <a:lstStyle/>
                    <a:p>
                      <a:pPr algn="r" fontAlgn="b"/>
                      <a:r>
                        <a:rPr lang="en-US" sz="1050" u="none" strike="noStrike">
                          <a:solidFill>
                            <a:srgbClr val="0070C0"/>
                          </a:solidFill>
                          <a:effectLst/>
                          <a:latin typeface="+mn-lt"/>
                        </a:rPr>
                        <a:t> FS </a:t>
                      </a:r>
                      <a:endParaRPr lang="en-US" sz="1050" b="0" i="0" u="none" strike="noStrike">
                        <a:solidFill>
                          <a:srgbClr val="0070C0"/>
                        </a:solidFill>
                        <a:effectLst/>
                        <a:latin typeface="+mn-lt"/>
                        <a:ea typeface="Arial Unicode MS" panose="020B0604020202020204" pitchFamily="34" charset="-128"/>
                      </a:endParaRPr>
                    </a:p>
                  </a:txBody>
                  <a:tcPr marL="9525" marR="9525" marT="9525" marB="0" anchor="b">
                    <a:noFill/>
                  </a:tcPr>
                </a:tc>
                <a:tc gridSpan="2">
                  <a:txBody>
                    <a:bodyPr/>
                    <a:lstStyle/>
                    <a:p>
                      <a:pPr algn="r" fontAlgn="b"/>
                      <a:r>
                        <a:rPr lang="en-US" sz="1050" u="none" strike="noStrike">
                          <a:solidFill>
                            <a:srgbClr val="0070C0"/>
                          </a:solidFill>
                          <a:effectLst/>
                          <a:latin typeface="+mn-lt"/>
                        </a:rPr>
                        <a:t> No NMD </a:t>
                      </a:r>
                      <a:endParaRPr lang="en-US" sz="1050" b="0" i="0" u="none" strike="noStrike">
                        <a:solidFill>
                          <a:srgbClr val="0070C0"/>
                        </a:solidFill>
                        <a:effectLst/>
                        <a:latin typeface="+mn-lt"/>
                        <a:ea typeface="Arial Unicode MS" panose="020B0604020202020204" pitchFamily="34" charset="-128"/>
                      </a:endParaRPr>
                    </a:p>
                  </a:txBody>
                  <a:tcPr marL="9525" marR="9525" marT="9525" marB="0" anchor="b">
                    <a:noFill/>
                  </a:tcPr>
                </a:tc>
                <a:tc hMerge="1">
                  <a:txBody>
                    <a:bodyPr/>
                    <a:lstStyle/>
                    <a:p>
                      <a:pPr algn="ctr" fontAlgn="b"/>
                      <a:r>
                        <a:rPr lang="en-US" sz="1050" u="none" strike="noStrike">
                          <a:solidFill>
                            <a:srgbClr val="0070C0"/>
                          </a:solidFill>
                          <a:effectLst/>
                          <a:latin typeface="+mn-lt"/>
                        </a:rPr>
                        <a:t> No NMD </a:t>
                      </a:r>
                      <a:endParaRPr lang="en-US" sz="1050" b="0" i="0" u="none" strike="noStrike">
                        <a:solidFill>
                          <a:srgbClr val="0070C0"/>
                        </a:solidFill>
                        <a:effectLst/>
                        <a:latin typeface="+mn-lt"/>
                        <a:ea typeface="Arial Unicode MS" panose="020B0604020202020204" pitchFamily="34" charset="-128"/>
                      </a:endParaRPr>
                    </a:p>
                  </a:txBody>
                  <a:tcPr marL="9525" marR="9525" marT="9525" marB="0" anchor="b">
                    <a:noFill/>
                  </a:tcPr>
                </a:tc>
                <a:tc>
                  <a:txBody>
                    <a:bodyPr/>
                    <a:lstStyle/>
                    <a:p>
                      <a:pPr algn="l" fontAlgn="b"/>
                      <a:r>
                        <a:rPr lang="en-US" sz="1050" u="none" strike="noStrike" dirty="0">
                          <a:solidFill>
                            <a:srgbClr val="0070C0"/>
                          </a:solidFill>
                          <a:effectLst/>
                          <a:latin typeface="+mn-lt"/>
                        </a:rPr>
                        <a:t> PVS1 (H) </a:t>
                      </a:r>
                      <a:endParaRPr lang="en-US" sz="1050" b="0" i="0" u="none" strike="noStrike" dirty="0">
                        <a:solidFill>
                          <a:srgbClr val="0070C0"/>
                        </a:solidFill>
                        <a:effectLst/>
                        <a:latin typeface="+mn-lt"/>
                        <a:ea typeface="Arial Unicode MS" panose="020B0604020202020204" pitchFamily="34" charset="-128"/>
                      </a:endParaRPr>
                    </a:p>
                  </a:txBody>
                  <a:tcPr marL="9525" marR="9525" marT="9525" marB="0" anchor="b">
                    <a:noFill/>
                  </a:tcPr>
                </a:tc>
                <a:tc>
                  <a:txBody>
                    <a:bodyPr/>
                    <a:lstStyle/>
                    <a:p>
                      <a:pPr algn="l" fontAlgn="b"/>
                      <a:r>
                        <a:rPr lang="en-US" sz="1050" u="none" strike="noStrike">
                          <a:solidFill>
                            <a:srgbClr val="0070C0"/>
                          </a:solidFill>
                          <a:effectLst/>
                          <a:latin typeface="+mn-lt"/>
                        </a:rPr>
                        <a:t> No </a:t>
                      </a:r>
                      <a:endParaRPr lang="en-US" sz="1050" b="0" i="0" u="none" strike="noStrike">
                        <a:solidFill>
                          <a:srgbClr val="0070C0"/>
                        </a:solidFill>
                        <a:effectLst/>
                        <a:latin typeface="+mn-lt"/>
                        <a:ea typeface="Arial Unicode MS" panose="020B0604020202020204" pitchFamily="34" charset="-128"/>
                      </a:endParaRPr>
                    </a:p>
                  </a:txBody>
                  <a:tcPr marL="9525" marR="9525" marT="9525" marB="0" anchor="b">
                    <a:noFill/>
                  </a:tcPr>
                </a:tc>
                <a:extLst>
                  <a:ext uri="{0D108BD9-81ED-4DB2-BD59-A6C34878D82A}">
                    <a16:rowId xmlns:a16="http://schemas.microsoft.com/office/drawing/2014/main" val="482023657"/>
                  </a:ext>
                </a:extLst>
              </a:tr>
              <a:tr h="215900">
                <a:tc>
                  <a:txBody>
                    <a:bodyPr/>
                    <a:lstStyle/>
                    <a:p>
                      <a:pPr algn="r" fontAlgn="b"/>
                      <a:r>
                        <a:rPr lang="en-US" sz="1050" u="none" strike="noStrike">
                          <a:solidFill>
                            <a:srgbClr val="0070C0"/>
                          </a:solidFill>
                          <a:effectLst/>
                          <a:latin typeface="+mn-lt"/>
                        </a:rPr>
                        <a:t>NM_000328.3</a:t>
                      </a:r>
                      <a:endParaRPr lang="en-US" sz="1050" b="0" i="0" u="none" strike="noStrike">
                        <a:solidFill>
                          <a:srgbClr val="0070C0"/>
                        </a:solidFill>
                        <a:effectLst/>
                        <a:latin typeface="+mn-lt"/>
                      </a:endParaRPr>
                    </a:p>
                  </a:txBody>
                  <a:tcPr marL="9525" marR="9525" marT="9525" marB="0" anchor="b">
                    <a:noFill/>
                  </a:tcPr>
                </a:tc>
                <a:tc>
                  <a:txBody>
                    <a:bodyPr/>
                    <a:lstStyle/>
                    <a:p>
                      <a:pPr algn="r" fontAlgn="b"/>
                      <a:r>
                        <a:rPr lang="en-US" sz="1050" u="none" strike="noStrike">
                          <a:solidFill>
                            <a:srgbClr val="0070C0"/>
                          </a:solidFill>
                          <a:effectLst/>
                          <a:latin typeface="+mn-lt"/>
                        </a:rPr>
                        <a:t>Exon 19</a:t>
                      </a:r>
                      <a:endParaRPr lang="en-US" sz="1050" b="0" i="0" u="none" strike="noStrike">
                        <a:solidFill>
                          <a:srgbClr val="0070C0"/>
                        </a:solidFill>
                        <a:effectLst/>
                        <a:latin typeface="+mn-lt"/>
                      </a:endParaRPr>
                    </a:p>
                  </a:txBody>
                  <a:tcPr marL="9525" marR="9525" marT="9525" marB="0" anchor="b">
                    <a:noFill/>
                  </a:tcPr>
                </a:tc>
                <a:tc>
                  <a:txBody>
                    <a:bodyPr/>
                    <a:lstStyle/>
                    <a:p>
                      <a:pPr algn="r" fontAlgn="b"/>
                      <a:r>
                        <a:rPr lang="en-US" sz="1050" u="none" strike="noStrike" dirty="0">
                          <a:solidFill>
                            <a:srgbClr val="0070C0"/>
                          </a:solidFill>
                          <a:effectLst/>
                          <a:latin typeface="+mn-lt"/>
                        </a:rPr>
                        <a:t>2384</a:t>
                      </a:r>
                      <a:endParaRPr lang="en-US" sz="1050" b="0" i="0" u="none" strike="noStrike" dirty="0">
                        <a:solidFill>
                          <a:srgbClr val="0070C0"/>
                        </a:solidFill>
                        <a:effectLst/>
                        <a:latin typeface="+mn-lt"/>
                        <a:ea typeface="Arial Unicode MS" panose="020B0604020202020204" pitchFamily="34" charset="-128"/>
                      </a:endParaRPr>
                    </a:p>
                  </a:txBody>
                  <a:tcPr marL="9525" marR="9525" marT="9525" marB="0" anchor="b">
                    <a:noFill/>
                  </a:tcPr>
                </a:tc>
                <a:tc>
                  <a:txBody>
                    <a:bodyPr/>
                    <a:lstStyle/>
                    <a:p>
                      <a:pPr algn="r" fontAlgn="b"/>
                      <a:r>
                        <a:rPr lang="en-US" sz="1050" u="none" strike="noStrike">
                          <a:solidFill>
                            <a:srgbClr val="0070C0"/>
                          </a:solidFill>
                          <a:effectLst/>
                          <a:latin typeface="+mn-lt"/>
                        </a:rPr>
                        <a:t>c.2242</a:t>
                      </a:r>
                      <a:endParaRPr lang="en-US" sz="1050" b="0" i="0" u="none" strike="noStrike" dirty="0">
                        <a:solidFill>
                          <a:srgbClr val="0070C0"/>
                        </a:solidFill>
                        <a:effectLst/>
                        <a:latin typeface="+mn-lt"/>
                        <a:ea typeface="Arial Unicode MS" panose="020B0604020202020204" pitchFamily="34" charset="-128"/>
                      </a:endParaRPr>
                    </a:p>
                  </a:txBody>
                  <a:tcPr marL="9525" marR="9525" marT="9525" marB="0" anchor="b">
                    <a:noFill/>
                  </a:tcPr>
                </a:tc>
                <a:tc>
                  <a:txBody>
                    <a:bodyPr/>
                    <a:lstStyle/>
                    <a:p>
                      <a:pPr algn="r" fontAlgn="b"/>
                      <a:r>
                        <a:rPr lang="en-US" sz="1050" u="none" strike="noStrike" dirty="0">
                          <a:solidFill>
                            <a:srgbClr val="0070C0"/>
                          </a:solidFill>
                          <a:effectLst/>
                          <a:latin typeface="+mn-lt"/>
                        </a:rPr>
                        <a:t>3053</a:t>
                      </a:r>
                      <a:endParaRPr lang="en-US" sz="1050" b="0" i="0" u="none" strike="noStrike" dirty="0">
                        <a:solidFill>
                          <a:srgbClr val="0070C0"/>
                        </a:solidFill>
                        <a:effectLst/>
                        <a:latin typeface="+mn-lt"/>
                        <a:ea typeface="Arial Unicode MS" panose="020B0604020202020204" pitchFamily="34" charset="-128"/>
                      </a:endParaRPr>
                    </a:p>
                  </a:txBody>
                  <a:tcPr marL="9525" marR="9525" marT="9525" marB="0" anchor="b">
                    <a:noFill/>
                  </a:tcPr>
                </a:tc>
                <a:tc>
                  <a:txBody>
                    <a:bodyPr/>
                    <a:lstStyle/>
                    <a:p>
                      <a:pPr algn="r" fontAlgn="b"/>
                      <a:r>
                        <a:rPr lang="en-US" sz="1050" u="none" strike="noStrike">
                          <a:solidFill>
                            <a:srgbClr val="0070C0"/>
                          </a:solidFill>
                          <a:effectLst/>
                          <a:latin typeface="+mn-lt"/>
                        </a:rPr>
                        <a:t>c.*463</a:t>
                      </a:r>
                      <a:endParaRPr lang="en-US" sz="1050" b="0" i="0" u="none" strike="noStrike" dirty="0">
                        <a:solidFill>
                          <a:srgbClr val="0070C0"/>
                        </a:solidFill>
                        <a:effectLst/>
                        <a:latin typeface="+mn-lt"/>
                        <a:ea typeface="Arial Unicode MS" panose="020B0604020202020204" pitchFamily="34" charset="-128"/>
                      </a:endParaRPr>
                    </a:p>
                  </a:txBody>
                  <a:tcPr marL="9525" marR="9525" marT="9525" marB="0" anchor="b">
                    <a:noFill/>
                  </a:tcPr>
                </a:tc>
                <a:tc>
                  <a:txBody>
                    <a:bodyPr/>
                    <a:lstStyle/>
                    <a:p>
                      <a:pPr algn="r" fontAlgn="b"/>
                      <a:r>
                        <a:rPr lang="en-US" sz="1050" u="none" strike="noStrike" dirty="0">
                          <a:solidFill>
                            <a:srgbClr val="0070C0"/>
                          </a:solidFill>
                          <a:effectLst/>
                          <a:latin typeface="+mn-lt"/>
                        </a:rPr>
                        <a:t>   38,269,832 </a:t>
                      </a:r>
                      <a:endParaRPr lang="en-US" sz="1050" b="0" i="0" u="none" strike="noStrike" dirty="0">
                        <a:solidFill>
                          <a:srgbClr val="0070C0"/>
                        </a:solidFill>
                        <a:effectLst/>
                        <a:latin typeface="+mn-lt"/>
                        <a:ea typeface="Arial Unicode MS" panose="020B0604020202020204" pitchFamily="34" charset="-128"/>
                      </a:endParaRPr>
                    </a:p>
                  </a:txBody>
                  <a:tcPr marL="9525" marR="9525" marT="9525" marB="0" anchor="b">
                    <a:noFill/>
                  </a:tcPr>
                </a:tc>
                <a:tc>
                  <a:txBody>
                    <a:bodyPr/>
                    <a:lstStyle/>
                    <a:p>
                      <a:pPr algn="r" fontAlgn="b"/>
                      <a:r>
                        <a:rPr lang="en-US" sz="1050" u="none" strike="noStrike">
                          <a:solidFill>
                            <a:srgbClr val="0070C0"/>
                          </a:solidFill>
                          <a:effectLst/>
                          <a:latin typeface="+mn-lt"/>
                        </a:rPr>
                        <a:t>  38,269,163 </a:t>
                      </a:r>
                      <a:endParaRPr lang="en-US" sz="1050" b="0" i="0" u="none" strike="noStrike" dirty="0">
                        <a:solidFill>
                          <a:srgbClr val="0070C0"/>
                        </a:solidFill>
                        <a:effectLst/>
                        <a:latin typeface="+mn-lt"/>
                        <a:ea typeface="Arial Unicode MS" panose="020B0604020202020204" pitchFamily="34" charset="-128"/>
                      </a:endParaRPr>
                    </a:p>
                  </a:txBody>
                  <a:tcPr marL="9525" marR="9525" marT="9525" marB="0" anchor="b">
                    <a:noFill/>
                  </a:tcPr>
                </a:tc>
                <a:tc>
                  <a:txBody>
                    <a:bodyPr/>
                    <a:lstStyle/>
                    <a:p>
                      <a:pPr algn="r" fontAlgn="b"/>
                      <a:r>
                        <a:rPr lang="en-US" sz="1050" u="none" strike="noStrike">
                          <a:solidFill>
                            <a:srgbClr val="0070C0"/>
                          </a:solidFill>
                          <a:effectLst/>
                          <a:latin typeface="+mn-lt"/>
                        </a:rPr>
                        <a:t> FS </a:t>
                      </a:r>
                      <a:endParaRPr lang="en-US" sz="1050" b="0" i="0" u="none" strike="noStrike" dirty="0">
                        <a:solidFill>
                          <a:srgbClr val="0070C0"/>
                        </a:solidFill>
                        <a:effectLst/>
                        <a:latin typeface="+mn-lt"/>
                        <a:ea typeface="Arial Unicode MS" panose="020B0604020202020204" pitchFamily="34" charset="-128"/>
                      </a:endParaRPr>
                    </a:p>
                  </a:txBody>
                  <a:tcPr marL="9525" marR="9525" marT="9525" marB="0" anchor="b">
                    <a:noFill/>
                  </a:tcPr>
                </a:tc>
                <a:tc gridSpan="2">
                  <a:txBody>
                    <a:bodyPr/>
                    <a:lstStyle/>
                    <a:p>
                      <a:pPr algn="r" fontAlgn="b"/>
                      <a:r>
                        <a:rPr lang="en-US" sz="1050" u="none" strike="noStrike">
                          <a:solidFill>
                            <a:srgbClr val="0070C0"/>
                          </a:solidFill>
                          <a:effectLst/>
                          <a:latin typeface="+mn-lt"/>
                        </a:rPr>
                        <a:t> No NMD </a:t>
                      </a:r>
                      <a:endParaRPr lang="en-US" sz="1050" b="0" i="0" u="none" strike="noStrike" dirty="0">
                        <a:solidFill>
                          <a:srgbClr val="0070C0"/>
                        </a:solidFill>
                        <a:effectLst/>
                        <a:latin typeface="+mn-lt"/>
                        <a:ea typeface="Arial Unicode MS" panose="020B0604020202020204" pitchFamily="34" charset="-128"/>
                      </a:endParaRPr>
                    </a:p>
                  </a:txBody>
                  <a:tcPr marL="9525" marR="9525" marT="9525" marB="0" anchor="b">
                    <a:noFill/>
                  </a:tcPr>
                </a:tc>
                <a:tc hMerge="1">
                  <a:txBody>
                    <a:bodyPr/>
                    <a:lstStyle/>
                    <a:p>
                      <a:pPr algn="ctr" fontAlgn="b"/>
                      <a:r>
                        <a:rPr lang="en-US" sz="1050" u="none" strike="noStrike">
                          <a:solidFill>
                            <a:srgbClr val="0070C0"/>
                          </a:solidFill>
                          <a:effectLst/>
                          <a:latin typeface="+mn-lt"/>
                        </a:rPr>
                        <a:t> No NMD </a:t>
                      </a:r>
                      <a:endParaRPr lang="en-US" sz="1050" b="0" i="0" u="none" strike="noStrike">
                        <a:solidFill>
                          <a:srgbClr val="0070C0"/>
                        </a:solidFill>
                        <a:effectLst/>
                        <a:latin typeface="+mn-lt"/>
                        <a:ea typeface="Arial Unicode MS" panose="020B0604020202020204" pitchFamily="34" charset="-128"/>
                      </a:endParaRPr>
                    </a:p>
                  </a:txBody>
                  <a:tcPr marL="9525" marR="9525" marT="9525" marB="0" anchor="b">
                    <a:noFill/>
                  </a:tcPr>
                </a:tc>
                <a:tc>
                  <a:txBody>
                    <a:bodyPr/>
                    <a:lstStyle/>
                    <a:p>
                      <a:pPr algn="l" fontAlgn="b"/>
                      <a:r>
                        <a:rPr lang="en-US" sz="1050" u="none" strike="noStrike" dirty="0">
                          <a:solidFill>
                            <a:srgbClr val="0070C0"/>
                          </a:solidFill>
                          <a:effectLst/>
                          <a:latin typeface="+mn-lt"/>
                        </a:rPr>
                        <a:t> PVS1 (I) </a:t>
                      </a:r>
                      <a:endParaRPr lang="en-US" sz="1050" b="0" i="0" u="none" strike="noStrike" dirty="0">
                        <a:solidFill>
                          <a:srgbClr val="0070C0"/>
                        </a:solidFill>
                        <a:effectLst/>
                        <a:latin typeface="+mn-lt"/>
                        <a:ea typeface="Arial Unicode MS" panose="020B0604020202020204" pitchFamily="34" charset="-128"/>
                      </a:endParaRPr>
                    </a:p>
                  </a:txBody>
                  <a:tcPr marL="9525" marR="9525" marT="9525" marB="0" anchor="b">
                    <a:noFill/>
                  </a:tcPr>
                </a:tc>
                <a:tc>
                  <a:txBody>
                    <a:bodyPr/>
                    <a:lstStyle/>
                    <a:p>
                      <a:pPr algn="l" fontAlgn="b"/>
                      <a:r>
                        <a:rPr lang="en-US" sz="1050" u="none" strike="noStrike" dirty="0">
                          <a:solidFill>
                            <a:srgbClr val="0070C0"/>
                          </a:solidFill>
                          <a:effectLst/>
                          <a:latin typeface="+mn-lt"/>
                        </a:rPr>
                        <a:t> No </a:t>
                      </a:r>
                      <a:endParaRPr lang="en-US" sz="1050" b="0" i="0" u="none" strike="noStrike" dirty="0">
                        <a:solidFill>
                          <a:srgbClr val="0070C0"/>
                        </a:solidFill>
                        <a:effectLst/>
                        <a:latin typeface="+mn-lt"/>
                        <a:ea typeface="Arial Unicode MS" panose="020B0604020202020204" pitchFamily="34" charset="-128"/>
                      </a:endParaRPr>
                    </a:p>
                  </a:txBody>
                  <a:tcPr marL="9525" marR="9525" marT="9525" marB="0" anchor="b">
                    <a:noFill/>
                  </a:tcPr>
                </a:tc>
                <a:extLst>
                  <a:ext uri="{0D108BD9-81ED-4DB2-BD59-A6C34878D82A}">
                    <a16:rowId xmlns:a16="http://schemas.microsoft.com/office/drawing/2014/main" val="3873386837"/>
                  </a:ext>
                </a:extLst>
              </a:tr>
              <a:tr h="203200">
                <a:tc>
                  <a:txBody>
                    <a:bodyPr/>
                    <a:lstStyle/>
                    <a:p>
                      <a:pPr algn="l" fontAlgn="b"/>
                      <a:endParaRPr lang="en-US" sz="1050" b="0" i="0" u="none" strike="noStrike">
                        <a:solidFill>
                          <a:srgbClr val="000000"/>
                        </a:solidFill>
                        <a:effectLst/>
                        <a:latin typeface="+mn-lt"/>
                      </a:endParaRPr>
                    </a:p>
                  </a:txBody>
                  <a:tcPr marL="9525" marR="9525" marT="9525" marB="0" anchor="b">
                    <a:noFill/>
                  </a:tcPr>
                </a:tc>
                <a:tc>
                  <a:txBody>
                    <a:bodyPr/>
                    <a:lstStyle/>
                    <a:p>
                      <a:pPr algn="r" fontAlgn="b"/>
                      <a:endParaRPr lang="en-US" sz="1050" b="0" i="0" u="none" strike="noStrike">
                        <a:solidFill>
                          <a:srgbClr val="000000"/>
                        </a:solidFill>
                        <a:effectLst/>
                        <a:latin typeface="+mn-lt"/>
                      </a:endParaRPr>
                    </a:p>
                  </a:txBody>
                  <a:tcPr marL="9525" marR="9525" marT="9525" marB="0" anchor="b">
                    <a:noFill/>
                  </a:tcPr>
                </a:tc>
                <a:tc>
                  <a:txBody>
                    <a:bodyPr/>
                    <a:lstStyle/>
                    <a:p>
                      <a:pPr algn="r" fontAlgn="b"/>
                      <a:endParaRPr lang="en-US" sz="1050" b="0" i="0" u="none" strike="noStrike" dirty="0">
                        <a:solidFill>
                          <a:srgbClr val="000000"/>
                        </a:solidFill>
                        <a:effectLst/>
                        <a:latin typeface="+mn-lt"/>
                      </a:endParaRPr>
                    </a:p>
                  </a:txBody>
                  <a:tcPr marL="9525" marR="9525" marT="9525" marB="0" anchor="b">
                    <a:noFill/>
                  </a:tcPr>
                </a:tc>
                <a:tc>
                  <a:txBody>
                    <a:bodyPr/>
                    <a:lstStyle/>
                    <a:p>
                      <a:pPr algn="r" fontAlgn="b"/>
                      <a:endParaRPr lang="en-US" sz="1050" b="0" i="0" u="none" strike="noStrike">
                        <a:solidFill>
                          <a:srgbClr val="000000"/>
                        </a:solidFill>
                        <a:effectLst/>
                        <a:latin typeface="+mn-lt"/>
                      </a:endParaRPr>
                    </a:p>
                  </a:txBody>
                  <a:tcPr marL="9525" marR="9525" marT="9525" marB="0" anchor="b">
                    <a:noFill/>
                  </a:tcPr>
                </a:tc>
                <a:tc>
                  <a:txBody>
                    <a:bodyPr/>
                    <a:lstStyle/>
                    <a:p>
                      <a:pPr algn="l" fontAlgn="b"/>
                      <a:endParaRPr lang="en-US" sz="1050" b="0" i="0" u="none" strike="noStrike" dirty="0">
                        <a:solidFill>
                          <a:srgbClr val="000000"/>
                        </a:solidFill>
                        <a:effectLst/>
                        <a:latin typeface="+mn-lt"/>
                      </a:endParaRPr>
                    </a:p>
                  </a:txBody>
                  <a:tcPr marL="9525" marR="9525" marT="9525" marB="0" anchor="b">
                    <a:noFill/>
                  </a:tcPr>
                </a:tc>
                <a:tc>
                  <a:txBody>
                    <a:bodyPr/>
                    <a:lstStyle/>
                    <a:p>
                      <a:pPr algn="l" fontAlgn="b"/>
                      <a:endParaRPr lang="en-US" sz="1050" b="0" i="0" u="none" strike="noStrike">
                        <a:solidFill>
                          <a:srgbClr val="000000"/>
                        </a:solidFill>
                        <a:effectLst/>
                        <a:latin typeface="+mn-lt"/>
                      </a:endParaRPr>
                    </a:p>
                  </a:txBody>
                  <a:tcPr marL="9525" marR="9525" marT="9525" marB="0" anchor="b">
                    <a:noFill/>
                  </a:tcPr>
                </a:tc>
                <a:tc>
                  <a:txBody>
                    <a:bodyPr/>
                    <a:lstStyle/>
                    <a:p>
                      <a:pPr algn="r" fontAlgn="b"/>
                      <a:endParaRPr lang="en-US" sz="1050" b="0" i="0" u="none" strike="noStrike" dirty="0">
                        <a:solidFill>
                          <a:srgbClr val="000000"/>
                        </a:solidFill>
                        <a:effectLst/>
                        <a:latin typeface="+mn-lt"/>
                      </a:endParaRPr>
                    </a:p>
                  </a:txBody>
                  <a:tcPr marL="9525" marR="9525" marT="9525" marB="0" anchor="b">
                    <a:noFill/>
                  </a:tcPr>
                </a:tc>
                <a:tc>
                  <a:txBody>
                    <a:bodyPr/>
                    <a:lstStyle/>
                    <a:p>
                      <a:pPr algn="r" fontAlgn="b"/>
                      <a:endParaRPr lang="en-US" sz="1050" b="0" i="0" u="none" strike="noStrike" dirty="0">
                        <a:solidFill>
                          <a:srgbClr val="000000"/>
                        </a:solidFill>
                        <a:effectLst/>
                        <a:latin typeface="+mn-lt"/>
                      </a:endParaRPr>
                    </a:p>
                  </a:txBody>
                  <a:tcPr marL="9525" marR="9525" marT="9525" marB="0" anchor="b">
                    <a:noFill/>
                  </a:tcPr>
                </a:tc>
                <a:tc>
                  <a:txBody>
                    <a:bodyPr/>
                    <a:lstStyle/>
                    <a:p>
                      <a:pPr algn="r" fontAlgn="b"/>
                      <a:endParaRPr lang="en-US" sz="1050" b="0" i="0" u="none" strike="noStrike" dirty="0">
                        <a:solidFill>
                          <a:srgbClr val="000000"/>
                        </a:solidFill>
                        <a:effectLst/>
                        <a:latin typeface="+mn-lt"/>
                      </a:endParaRPr>
                    </a:p>
                  </a:txBody>
                  <a:tcPr marL="9525" marR="9525" marT="9525" marB="0" anchor="b">
                    <a:noFill/>
                  </a:tcPr>
                </a:tc>
                <a:tc gridSpan="2">
                  <a:txBody>
                    <a:bodyPr/>
                    <a:lstStyle/>
                    <a:p>
                      <a:pPr algn="r" fontAlgn="b"/>
                      <a:endParaRPr lang="en-US" sz="1050" b="0" i="0" u="none" strike="noStrike" dirty="0">
                        <a:solidFill>
                          <a:srgbClr val="000000"/>
                        </a:solidFill>
                        <a:effectLst/>
                        <a:latin typeface="+mn-lt"/>
                      </a:endParaRPr>
                    </a:p>
                  </a:txBody>
                  <a:tcPr marL="9525" marR="9525" marT="9525" marB="0" anchor="b">
                    <a:noFill/>
                  </a:tcPr>
                </a:tc>
                <a:tc hMerge="1">
                  <a:txBody>
                    <a:bodyPr/>
                    <a:lstStyle/>
                    <a:p>
                      <a:pPr algn="l" fontAlgn="b"/>
                      <a:endParaRPr lang="en-US" sz="1050" b="0" i="0" u="none" strike="noStrike">
                        <a:solidFill>
                          <a:srgbClr val="000000"/>
                        </a:solidFill>
                        <a:effectLst/>
                        <a:latin typeface="+mn-lt"/>
                      </a:endParaRPr>
                    </a:p>
                  </a:txBody>
                  <a:tcPr marL="9525" marR="9525" marT="9525" marB="0" anchor="b">
                    <a:noFill/>
                  </a:tcPr>
                </a:tc>
                <a:tc>
                  <a:txBody>
                    <a:bodyPr/>
                    <a:lstStyle/>
                    <a:p>
                      <a:pPr algn="l" fontAlgn="b"/>
                      <a:endParaRPr lang="en-US" sz="1050" b="0" i="0" u="none" strike="noStrike">
                        <a:solidFill>
                          <a:srgbClr val="000000"/>
                        </a:solidFill>
                        <a:effectLst/>
                        <a:latin typeface="+mn-lt"/>
                      </a:endParaRPr>
                    </a:p>
                  </a:txBody>
                  <a:tcPr marL="9525" marR="9525" marT="9525" marB="0" anchor="b">
                    <a:noFill/>
                  </a:tcPr>
                </a:tc>
                <a:tc>
                  <a:txBody>
                    <a:bodyPr/>
                    <a:lstStyle/>
                    <a:p>
                      <a:pPr algn="l" fontAlgn="b"/>
                      <a:endParaRPr lang="en-US" sz="1050" b="0" i="0" u="none" strike="noStrike">
                        <a:solidFill>
                          <a:srgbClr val="000000"/>
                        </a:solidFill>
                        <a:effectLst/>
                        <a:latin typeface="+mn-lt"/>
                      </a:endParaRPr>
                    </a:p>
                  </a:txBody>
                  <a:tcPr marL="9525" marR="9525" marT="9525" marB="0" anchor="b">
                    <a:noFill/>
                  </a:tcPr>
                </a:tc>
                <a:extLst>
                  <a:ext uri="{0D108BD9-81ED-4DB2-BD59-A6C34878D82A}">
                    <a16:rowId xmlns:a16="http://schemas.microsoft.com/office/drawing/2014/main" val="2571008887"/>
                  </a:ext>
                </a:extLst>
              </a:tr>
              <a:tr h="215900">
                <a:tc gridSpan="2">
                  <a:txBody>
                    <a:bodyPr/>
                    <a:lstStyle/>
                    <a:p>
                      <a:pPr algn="r" fontAlgn="b"/>
                      <a:r>
                        <a:rPr lang="en-US" sz="1050" u="none" strike="noStrike">
                          <a:effectLst/>
                          <a:latin typeface="+mn-lt"/>
                        </a:rPr>
                        <a:t>Start codon</a:t>
                      </a:r>
                      <a:endParaRPr lang="en-US" sz="1050" b="0" i="0" u="none" strike="noStrike">
                        <a:solidFill>
                          <a:srgbClr val="000000"/>
                        </a:solidFill>
                        <a:effectLst/>
                        <a:latin typeface="+mn-lt"/>
                      </a:endParaRPr>
                    </a:p>
                  </a:txBody>
                  <a:tcPr marL="9525" marR="9525" marT="9525" marB="0" anchor="b">
                    <a:noFill/>
                  </a:tcPr>
                </a:tc>
                <a:tc hMerge="1">
                  <a:txBody>
                    <a:bodyPr/>
                    <a:lstStyle/>
                    <a:p>
                      <a:endParaRPr lang="en-US"/>
                    </a:p>
                  </a:txBody>
                  <a:tcPr/>
                </a:tc>
                <a:tc>
                  <a:txBody>
                    <a:bodyPr/>
                    <a:lstStyle/>
                    <a:p>
                      <a:pPr algn="r" fontAlgn="b"/>
                      <a:r>
                        <a:rPr lang="en-US" sz="1050" u="none" strike="noStrike" dirty="0">
                          <a:effectLst/>
                          <a:latin typeface="+mn-lt"/>
                        </a:rPr>
                        <a:t>143</a:t>
                      </a:r>
                      <a:endParaRPr lang="en-US" sz="1050" b="0" i="0" u="none" strike="noStrike" dirty="0">
                        <a:solidFill>
                          <a:srgbClr val="000000"/>
                        </a:solidFill>
                        <a:effectLst/>
                        <a:latin typeface="+mn-lt"/>
                        <a:ea typeface="Arial Unicode MS" panose="020B0604020202020204" pitchFamily="34" charset="-128"/>
                      </a:endParaRPr>
                    </a:p>
                  </a:txBody>
                  <a:tcPr marL="9525" marR="9525" marT="9525" marB="0" anchor="b">
                    <a:noFill/>
                  </a:tcPr>
                </a:tc>
                <a:tc>
                  <a:txBody>
                    <a:bodyPr/>
                    <a:lstStyle/>
                    <a:p>
                      <a:pPr algn="r" fontAlgn="b"/>
                      <a:r>
                        <a:rPr lang="en-US" sz="1050" u="none" strike="noStrike">
                          <a:effectLst/>
                          <a:latin typeface="+mn-lt"/>
                        </a:rPr>
                        <a:t>c.1</a:t>
                      </a:r>
                      <a:endParaRPr lang="en-US" sz="1050" b="0" i="0" u="none" strike="noStrike">
                        <a:solidFill>
                          <a:srgbClr val="000000"/>
                        </a:solidFill>
                        <a:effectLst/>
                        <a:latin typeface="+mn-lt"/>
                        <a:ea typeface="Arial Unicode MS" panose="020B0604020202020204" pitchFamily="34" charset="-128"/>
                      </a:endParaRPr>
                    </a:p>
                  </a:txBody>
                  <a:tcPr marL="9525" marR="9525" marT="9525" marB="0" anchor="b">
                    <a:noFill/>
                  </a:tcPr>
                </a:tc>
                <a:tc>
                  <a:txBody>
                    <a:bodyPr/>
                    <a:lstStyle/>
                    <a:p>
                      <a:pPr algn="r" fontAlgn="b"/>
                      <a:r>
                        <a:rPr lang="en-US" sz="1050" u="none" strike="noStrike" dirty="0">
                          <a:effectLst/>
                          <a:latin typeface="+mn-lt"/>
                        </a:rPr>
                        <a:t>145</a:t>
                      </a:r>
                      <a:endParaRPr lang="en-US" sz="1050" b="0" i="0" u="none" strike="noStrike" dirty="0">
                        <a:solidFill>
                          <a:srgbClr val="000000"/>
                        </a:solidFill>
                        <a:effectLst/>
                        <a:latin typeface="+mn-lt"/>
                        <a:ea typeface="Arial Unicode MS" panose="020B0604020202020204" pitchFamily="34" charset="-128"/>
                      </a:endParaRPr>
                    </a:p>
                  </a:txBody>
                  <a:tcPr marL="9525" marR="9525" marT="9525" marB="0" anchor="b">
                    <a:noFill/>
                  </a:tcPr>
                </a:tc>
                <a:tc>
                  <a:txBody>
                    <a:bodyPr/>
                    <a:lstStyle/>
                    <a:p>
                      <a:pPr algn="r" fontAlgn="b"/>
                      <a:r>
                        <a:rPr lang="en-US" sz="1050" u="none" strike="noStrike">
                          <a:effectLst/>
                          <a:latin typeface="+mn-lt"/>
                        </a:rPr>
                        <a:t>c.3</a:t>
                      </a:r>
                      <a:endParaRPr lang="en-US" sz="1050" b="0" i="0" u="none" strike="noStrike">
                        <a:solidFill>
                          <a:srgbClr val="000000"/>
                        </a:solidFill>
                        <a:effectLst/>
                        <a:latin typeface="+mn-lt"/>
                        <a:ea typeface="Arial Unicode MS" panose="020B0604020202020204" pitchFamily="34" charset="-128"/>
                      </a:endParaRPr>
                    </a:p>
                  </a:txBody>
                  <a:tcPr marL="9525" marR="9525" marT="9525" marB="0" anchor="b">
                    <a:noFill/>
                  </a:tcPr>
                </a:tc>
                <a:tc>
                  <a:txBody>
                    <a:bodyPr/>
                    <a:lstStyle/>
                    <a:p>
                      <a:pPr algn="r" fontAlgn="b"/>
                      <a:r>
                        <a:rPr lang="en-US" sz="1050" u="none" strike="noStrike" dirty="0">
                          <a:effectLst/>
                          <a:latin typeface="+mn-lt"/>
                        </a:rPr>
                        <a:t>   38,327,368 </a:t>
                      </a:r>
                      <a:endParaRPr lang="en-US" sz="1050" b="0" i="0" u="none" strike="noStrike" dirty="0">
                        <a:solidFill>
                          <a:srgbClr val="0070C0"/>
                        </a:solidFill>
                        <a:effectLst/>
                        <a:latin typeface="+mn-lt"/>
                        <a:ea typeface="Arial Unicode MS" panose="020B0604020202020204" pitchFamily="34" charset="-128"/>
                      </a:endParaRPr>
                    </a:p>
                  </a:txBody>
                  <a:tcPr marL="9525" marR="9525" marT="9525" marB="0" anchor="b">
                    <a:noFill/>
                  </a:tcPr>
                </a:tc>
                <a:tc>
                  <a:txBody>
                    <a:bodyPr/>
                    <a:lstStyle/>
                    <a:p>
                      <a:pPr algn="r" fontAlgn="b"/>
                      <a:endParaRPr lang="en-US" sz="1050" b="0" i="0" u="none" strike="noStrike">
                        <a:solidFill>
                          <a:srgbClr val="0070C0"/>
                        </a:solidFill>
                        <a:effectLst/>
                        <a:latin typeface="+mn-lt"/>
                        <a:ea typeface="Arial Unicode MS" panose="020B0604020202020204" pitchFamily="34" charset="-128"/>
                      </a:endParaRPr>
                    </a:p>
                  </a:txBody>
                  <a:tcPr marL="9525" marR="9525" marT="9525" marB="0" anchor="b">
                    <a:noFill/>
                  </a:tcPr>
                </a:tc>
                <a:tc>
                  <a:txBody>
                    <a:bodyPr/>
                    <a:lstStyle/>
                    <a:p>
                      <a:pPr algn="r" fontAlgn="b"/>
                      <a:endParaRPr lang="en-US" sz="1050" b="0" i="0" u="none" strike="noStrike" dirty="0">
                        <a:solidFill>
                          <a:srgbClr val="0070C0"/>
                        </a:solidFill>
                        <a:effectLst/>
                        <a:latin typeface="+mn-lt"/>
                        <a:ea typeface="Arial Unicode MS" panose="020B0604020202020204" pitchFamily="34" charset="-128"/>
                      </a:endParaRPr>
                    </a:p>
                  </a:txBody>
                  <a:tcPr marL="9525" marR="9525" marT="9525" marB="0" anchor="b">
                    <a:noFill/>
                  </a:tcPr>
                </a:tc>
                <a:tc gridSpan="2">
                  <a:txBody>
                    <a:bodyPr/>
                    <a:lstStyle/>
                    <a:p>
                      <a:pPr algn="r" fontAlgn="b"/>
                      <a:endParaRPr lang="en-US" sz="1050" b="0" i="0" u="none" strike="noStrike" dirty="0">
                        <a:solidFill>
                          <a:srgbClr val="0070C0"/>
                        </a:solidFill>
                        <a:effectLst/>
                        <a:latin typeface="+mn-lt"/>
                        <a:ea typeface="Arial Unicode MS" panose="020B0604020202020204" pitchFamily="34" charset="-128"/>
                      </a:endParaRPr>
                    </a:p>
                  </a:txBody>
                  <a:tcPr marL="9525" marR="9525" marT="9525" marB="0" anchor="b">
                    <a:noFill/>
                  </a:tcPr>
                </a:tc>
                <a:tc hMerge="1">
                  <a:txBody>
                    <a:bodyPr/>
                    <a:lstStyle/>
                    <a:p>
                      <a:pPr algn="l" fontAlgn="b"/>
                      <a:endParaRPr lang="en-US" sz="1050" b="0" i="0" u="none" strike="noStrike">
                        <a:solidFill>
                          <a:srgbClr val="000000"/>
                        </a:solidFill>
                        <a:effectLst/>
                        <a:latin typeface="+mn-lt"/>
                      </a:endParaRPr>
                    </a:p>
                  </a:txBody>
                  <a:tcPr marL="9525" marR="9525" marT="9525" marB="0" anchor="b">
                    <a:noFill/>
                  </a:tcPr>
                </a:tc>
                <a:tc>
                  <a:txBody>
                    <a:bodyPr/>
                    <a:lstStyle/>
                    <a:p>
                      <a:pPr algn="l" fontAlgn="b"/>
                      <a:endParaRPr lang="en-US" sz="1050" b="0" i="0" u="none" strike="noStrike">
                        <a:solidFill>
                          <a:srgbClr val="000000"/>
                        </a:solidFill>
                        <a:effectLst/>
                        <a:latin typeface="+mn-lt"/>
                      </a:endParaRPr>
                    </a:p>
                  </a:txBody>
                  <a:tcPr marL="9525" marR="9525" marT="9525" marB="0" anchor="b">
                    <a:noFill/>
                  </a:tcPr>
                </a:tc>
                <a:tc>
                  <a:txBody>
                    <a:bodyPr/>
                    <a:lstStyle/>
                    <a:p>
                      <a:pPr algn="l" fontAlgn="b"/>
                      <a:endParaRPr lang="en-US" sz="1050" b="0" i="0" u="none" strike="noStrike">
                        <a:solidFill>
                          <a:srgbClr val="000000"/>
                        </a:solidFill>
                        <a:effectLst/>
                        <a:latin typeface="+mn-lt"/>
                      </a:endParaRPr>
                    </a:p>
                  </a:txBody>
                  <a:tcPr marL="9525" marR="9525" marT="9525" marB="0" anchor="b">
                    <a:noFill/>
                  </a:tcPr>
                </a:tc>
                <a:extLst>
                  <a:ext uri="{0D108BD9-81ED-4DB2-BD59-A6C34878D82A}">
                    <a16:rowId xmlns:a16="http://schemas.microsoft.com/office/drawing/2014/main" val="2931427690"/>
                  </a:ext>
                </a:extLst>
              </a:tr>
              <a:tr h="215900">
                <a:tc gridSpan="2">
                  <a:txBody>
                    <a:bodyPr/>
                    <a:lstStyle/>
                    <a:p>
                      <a:pPr algn="r" fontAlgn="b"/>
                      <a:r>
                        <a:rPr lang="en-US" sz="1050" u="none" strike="noStrike">
                          <a:effectLst/>
                          <a:latin typeface="+mn-lt"/>
                        </a:rPr>
                        <a:t>Nearest in-frame start codon</a:t>
                      </a:r>
                      <a:endParaRPr lang="en-US" sz="1050" b="0" i="0" u="none" strike="noStrike">
                        <a:solidFill>
                          <a:srgbClr val="000000"/>
                        </a:solidFill>
                        <a:effectLst/>
                        <a:latin typeface="+mn-lt"/>
                      </a:endParaRPr>
                    </a:p>
                  </a:txBody>
                  <a:tcPr marL="9525" marR="9525" marT="9525" marB="0" anchor="b">
                    <a:noFill/>
                  </a:tcPr>
                </a:tc>
                <a:tc hMerge="1">
                  <a:txBody>
                    <a:bodyPr/>
                    <a:lstStyle/>
                    <a:p>
                      <a:endParaRPr lang="en-US"/>
                    </a:p>
                  </a:txBody>
                  <a:tcPr/>
                </a:tc>
                <a:tc>
                  <a:txBody>
                    <a:bodyPr/>
                    <a:lstStyle/>
                    <a:p>
                      <a:pPr algn="r" fontAlgn="b"/>
                      <a:r>
                        <a:rPr lang="en-US" sz="1050" u="none" strike="noStrike">
                          <a:effectLst/>
                          <a:latin typeface="+mn-lt"/>
                        </a:rPr>
                        <a:t>164</a:t>
                      </a:r>
                      <a:endParaRPr lang="en-US" sz="1050" b="0" i="0" u="none" strike="noStrike">
                        <a:solidFill>
                          <a:srgbClr val="000000"/>
                        </a:solidFill>
                        <a:effectLst/>
                        <a:latin typeface="+mn-lt"/>
                        <a:ea typeface="Arial Unicode MS" panose="020B0604020202020204" pitchFamily="34" charset="-128"/>
                      </a:endParaRPr>
                    </a:p>
                  </a:txBody>
                  <a:tcPr marL="9525" marR="9525" marT="9525" marB="0" anchor="b">
                    <a:noFill/>
                  </a:tcPr>
                </a:tc>
                <a:tc>
                  <a:txBody>
                    <a:bodyPr/>
                    <a:lstStyle/>
                    <a:p>
                      <a:pPr algn="r" fontAlgn="b"/>
                      <a:r>
                        <a:rPr lang="en-US" sz="1050" u="none" strike="noStrike">
                          <a:effectLst/>
                          <a:latin typeface="+mn-lt"/>
                        </a:rPr>
                        <a:t>c.21</a:t>
                      </a:r>
                      <a:endParaRPr lang="en-US" sz="1050" b="0" i="0" u="none" strike="noStrike">
                        <a:solidFill>
                          <a:srgbClr val="000000"/>
                        </a:solidFill>
                        <a:effectLst/>
                        <a:latin typeface="+mn-lt"/>
                        <a:ea typeface="Arial Unicode MS" panose="020B0604020202020204" pitchFamily="34" charset="-128"/>
                      </a:endParaRPr>
                    </a:p>
                  </a:txBody>
                  <a:tcPr marL="9525" marR="9525" marT="9525" marB="0" anchor="b">
                    <a:noFill/>
                  </a:tcPr>
                </a:tc>
                <a:tc>
                  <a:txBody>
                    <a:bodyPr/>
                    <a:lstStyle/>
                    <a:p>
                      <a:pPr algn="r" fontAlgn="b"/>
                      <a:r>
                        <a:rPr lang="en-US" sz="1050" u="none" strike="noStrike" dirty="0">
                          <a:effectLst/>
                          <a:latin typeface="+mn-lt"/>
                        </a:rPr>
                        <a:t>166</a:t>
                      </a:r>
                      <a:endParaRPr lang="en-US" sz="1050" b="0" i="0" u="none" strike="noStrike" dirty="0">
                        <a:solidFill>
                          <a:srgbClr val="000000"/>
                        </a:solidFill>
                        <a:effectLst/>
                        <a:latin typeface="+mn-lt"/>
                        <a:ea typeface="Arial Unicode MS" panose="020B0604020202020204" pitchFamily="34" charset="-128"/>
                      </a:endParaRPr>
                    </a:p>
                  </a:txBody>
                  <a:tcPr marL="9525" marR="9525" marT="9525" marB="0" anchor="b">
                    <a:noFill/>
                  </a:tcPr>
                </a:tc>
                <a:tc>
                  <a:txBody>
                    <a:bodyPr/>
                    <a:lstStyle/>
                    <a:p>
                      <a:pPr algn="r" fontAlgn="b"/>
                      <a:r>
                        <a:rPr lang="en-US" sz="1050" u="none" strike="noStrike">
                          <a:effectLst/>
                          <a:latin typeface="+mn-lt"/>
                        </a:rPr>
                        <a:t>c.23</a:t>
                      </a:r>
                      <a:endParaRPr lang="en-US" sz="1050" b="0" i="0" u="none" strike="noStrike">
                        <a:solidFill>
                          <a:srgbClr val="000000"/>
                        </a:solidFill>
                        <a:effectLst/>
                        <a:latin typeface="+mn-lt"/>
                        <a:ea typeface="Arial Unicode MS" panose="020B0604020202020204" pitchFamily="34" charset="-128"/>
                      </a:endParaRPr>
                    </a:p>
                  </a:txBody>
                  <a:tcPr marL="9525" marR="9525" marT="9525" marB="0" anchor="b">
                    <a:noFill/>
                  </a:tcPr>
                </a:tc>
                <a:tc>
                  <a:txBody>
                    <a:bodyPr/>
                    <a:lstStyle/>
                    <a:p>
                      <a:pPr algn="r" fontAlgn="b"/>
                      <a:r>
                        <a:rPr lang="en-US" sz="1050" u="none" strike="noStrike" dirty="0">
                          <a:effectLst/>
                          <a:latin typeface="+mn-lt"/>
                        </a:rPr>
                        <a:t>   38,327,346 </a:t>
                      </a:r>
                      <a:endParaRPr lang="en-US" sz="1050" b="0" i="0" u="none" strike="noStrike" dirty="0">
                        <a:solidFill>
                          <a:srgbClr val="0070C0"/>
                        </a:solidFill>
                        <a:effectLst/>
                        <a:latin typeface="+mn-lt"/>
                        <a:ea typeface="Arial Unicode MS" panose="020B0604020202020204" pitchFamily="34" charset="-128"/>
                      </a:endParaRPr>
                    </a:p>
                  </a:txBody>
                  <a:tcPr marL="9525" marR="9525" marT="9525" marB="0" anchor="b">
                    <a:noFill/>
                  </a:tcPr>
                </a:tc>
                <a:tc gridSpan="6">
                  <a:txBody>
                    <a:bodyPr/>
                    <a:lstStyle/>
                    <a:p>
                      <a:pPr algn="l" fontAlgn="b"/>
                      <a:r>
                        <a:rPr lang="en-US" sz="1050" u="none" strike="noStrike" dirty="0">
                          <a:effectLst/>
                          <a:latin typeface="+mn-lt"/>
                        </a:rPr>
                        <a:t>This alternate start codon precludes use of PVS1(B)</a:t>
                      </a:r>
                      <a:endParaRPr lang="en-US" sz="1050" b="0" i="0" u="none" strike="noStrike" dirty="0">
                        <a:solidFill>
                          <a:srgbClr val="0070C0"/>
                        </a:solidFill>
                        <a:effectLst/>
                        <a:latin typeface="+mn-lt"/>
                        <a:ea typeface="Arial Unicode MS" panose="020B0604020202020204" pitchFamily="34" charset="-128"/>
                      </a:endParaRPr>
                    </a:p>
                  </a:txBody>
                  <a:tcPr marL="9525" marR="9525" marT="9525" marB="0" anchor="b">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850592460"/>
                  </a:ext>
                </a:extLst>
              </a:tr>
              <a:tr h="215900">
                <a:tc gridSpan="2">
                  <a:txBody>
                    <a:bodyPr/>
                    <a:lstStyle/>
                    <a:p>
                      <a:pPr algn="r" fontAlgn="b"/>
                      <a:r>
                        <a:rPr lang="en-US" sz="1050" u="none" strike="noStrike" dirty="0">
                          <a:effectLst/>
                          <a:latin typeface="+mn-lt"/>
                        </a:rPr>
                        <a:t>Next nearest in-frame start codon</a:t>
                      </a:r>
                      <a:endParaRPr lang="en-US" sz="1050" b="0" i="0" u="none" strike="noStrike" dirty="0">
                        <a:solidFill>
                          <a:srgbClr val="000000"/>
                        </a:solidFill>
                        <a:effectLst/>
                        <a:latin typeface="+mn-lt"/>
                      </a:endParaRPr>
                    </a:p>
                  </a:txBody>
                  <a:tcPr marL="9525" marR="9525" marT="9525" marB="0" anchor="b">
                    <a:noFill/>
                  </a:tcPr>
                </a:tc>
                <a:tc hMerge="1">
                  <a:txBody>
                    <a:bodyPr/>
                    <a:lstStyle/>
                    <a:p>
                      <a:endParaRPr lang="en-US"/>
                    </a:p>
                  </a:txBody>
                  <a:tcPr/>
                </a:tc>
                <a:tc>
                  <a:txBody>
                    <a:bodyPr/>
                    <a:lstStyle/>
                    <a:p>
                      <a:pPr algn="r" fontAlgn="b"/>
                      <a:r>
                        <a:rPr lang="en-US" sz="1050" u="none" strike="noStrike" dirty="0">
                          <a:effectLst/>
                          <a:latin typeface="+mn-lt"/>
                        </a:rPr>
                        <a:t>172</a:t>
                      </a:r>
                      <a:endParaRPr lang="en-US" sz="1050" b="0" i="0" u="none" strike="noStrike" dirty="0">
                        <a:solidFill>
                          <a:srgbClr val="000000"/>
                        </a:solidFill>
                        <a:effectLst/>
                        <a:latin typeface="+mn-lt"/>
                        <a:ea typeface="Arial Unicode MS" panose="020B0604020202020204" pitchFamily="34" charset="-128"/>
                      </a:endParaRPr>
                    </a:p>
                  </a:txBody>
                  <a:tcPr marL="9525" marR="9525" marT="9525" marB="0" anchor="b">
                    <a:noFill/>
                  </a:tcPr>
                </a:tc>
                <a:tc>
                  <a:txBody>
                    <a:bodyPr/>
                    <a:lstStyle/>
                    <a:p>
                      <a:pPr algn="r" fontAlgn="b"/>
                      <a:r>
                        <a:rPr lang="en-US" sz="1050" u="none" strike="noStrike">
                          <a:effectLst/>
                          <a:latin typeface="+mn-lt"/>
                        </a:rPr>
                        <a:t>c.30</a:t>
                      </a:r>
                      <a:endParaRPr lang="en-US" sz="1050" b="0" i="0" u="none" strike="noStrike">
                        <a:solidFill>
                          <a:srgbClr val="000000"/>
                        </a:solidFill>
                        <a:effectLst/>
                        <a:latin typeface="+mn-lt"/>
                        <a:ea typeface="Arial Unicode MS" panose="020B0604020202020204" pitchFamily="34" charset="-128"/>
                      </a:endParaRPr>
                    </a:p>
                  </a:txBody>
                  <a:tcPr marL="9525" marR="9525" marT="9525" marB="0" anchor="b">
                    <a:noFill/>
                  </a:tcPr>
                </a:tc>
                <a:tc>
                  <a:txBody>
                    <a:bodyPr/>
                    <a:lstStyle/>
                    <a:p>
                      <a:pPr algn="r" fontAlgn="b"/>
                      <a:r>
                        <a:rPr lang="en-US" sz="1050" u="none" strike="noStrike">
                          <a:effectLst/>
                          <a:latin typeface="+mn-lt"/>
                        </a:rPr>
                        <a:t>174</a:t>
                      </a:r>
                      <a:endParaRPr lang="en-US" sz="1050" b="0" i="0" u="none" strike="noStrike">
                        <a:solidFill>
                          <a:srgbClr val="000000"/>
                        </a:solidFill>
                        <a:effectLst/>
                        <a:latin typeface="+mn-lt"/>
                        <a:ea typeface="Arial Unicode MS" panose="020B0604020202020204" pitchFamily="34" charset="-128"/>
                      </a:endParaRPr>
                    </a:p>
                  </a:txBody>
                  <a:tcPr marL="9525" marR="9525" marT="9525" marB="0" anchor="b">
                    <a:noFill/>
                  </a:tcPr>
                </a:tc>
                <a:tc>
                  <a:txBody>
                    <a:bodyPr/>
                    <a:lstStyle/>
                    <a:p>
                      <a:pPr algn="r" fontAlgn="b"/>
                      <a:r>
                        <a:rPr lang="en-US" sz="1050" u="none" strike="noStrike">
                          <a:effectLst/>
                          <a:latin typeface="+mn-lt"/>
                        </a:rPr>
                        <a:t>c.32</a:t>
                      </a:r>
                      <a:endParaRPr lang="en-US" sz="1050" b="0" i="0" u="none" strike="noStrike">
                        <a:solidFill>
                          <a:srgbClr val="000000"/>
                        </a:solidFill>
                        <a:effectLst/>
                        <a:latin typeface="+mn-lt"/>
                        <a:ea typeface="Arial Unicode MS" panose="020B0604020202020204" pitchFamily="34" charset="-128"/>
                      </a:endParaRPr>
                    </a:p>
                  </a:txBody>
                  <a:tcPr marL="9525" marR="9525" marT="9525" marB="0" anchor="b">
                    <a:noFill/>
                  </a:tcPr>
                </a:tc>
                <a:tc>
                  <a:txBody>
                    <a:bodyPr/>
                    <a:lstStyle/>
                    <a:p>
                      <a:pPr algn="r" fontAlgn="b"/>
                      <a:r>
                        <a:rPr lang="en-US" sz="1050" u="none" strike="noStrike" dirty="0">
                          <a:effectLst/>
                          <a:latin typeface="+mn-lt"/>
                        </a:rPr>
                        <a:t>   38,327,338 </a:t>
                      </a:r>
                      <a:endParaRPr lang="en-US" sz="1050" b="0" i="0" u="none" strike="noStrike" dirty="0">
                        <a:solidFill>
                          <a:srgbClr val="0070C0"/>
                        </a:solidFill>
                        <a:effectLst/>
                        <a:latin typeface="+mn-lt"/>
                        <a:ea typeface="Arial Unicode MS" panose="020B0604020202020204" pitchFamily="34" charset="-128"/>
                      </a:endParaRPr>
                    </a:p>
                  </a:txBody>
                  <a:tcPr marL="9525" marR="9525" marT="9525" marB="0" anchor="b">
                    <a:noFill/>
                  </a:tcPr>
                </a:tc>
                <a:tc gridSpan="5">
                  <a:txBody>
                    <a:bodyPr/>
                    <a:lstStyle/>
                    <a:p>
                      <a:pPr algn="l" fontAlgn="b"/>
                      <a:r>
                        <a:rPr lang="en-US" sz="1050" u="none" strike="noStrike" dirty="0">
                          <a:effectLst/>
                          <a:latin typeface="+mn-lt"/>
                        </a:rPr>
                        <a:t>This alternate start codon is in exon 3.</a:t>
                      </a:r>
                      <a:endParaRPr lang="en-US" sz="1050" b="0" i="0" u="none" strike="noStrike" dirty="0">
                        <a:solidFill>
                          <a:srgbClr val="0070C0"/>
                        </a:solidFill>
                        <a:effectLst/>
                        <a:latin typeface="+mn-lt"/>
                        <a:ea typeface="Arial Unicode MS" panose="020B0604020202020204" pitchFamily="34" charset="-128"/>
                      </a:endParaRPr>
                    </a:p>
                  </a:txBody>
                  <a:tcPr marL="9525" marR="9525" marT="9525" marB="0" anchor="b">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l" fontAlgn="b"/>
                      <a:endParaRPr lang="en-US" sz="1050" b="0" i="0" u="none" strike="noStrike">
                        <a:solidFill>
                          <a:srgbClr val="000000"/>
                        </a:solidFill>
                        <a:effectLst/>
                        <a:latin typeface="+mn-lt"/>
                      </a:endParaRPr>
                    </a:p>
                  </a:txBody>
                  <a:tcPr marL="9525" marR="9525" marT="9525" marB="0" anchor="b">
                    <a:noFill/>
                  </a:tcPr>
                </a:tc>
                <a:extLst>
                  <a:ext uri="{0D108BD9-81ED-4DB2-BD59-A6C34878D82A}">
                    <a16:rowId xmlns:a16="http://schemas.microsoft.com/office/drawing/2014/main" val="2543646783"/>
                  </a:ext>
                </a:extLst>
              </a:tr>
              <a:tr h="215900">
                <a:tc gridSpan="2">
                  <a:txBody>
                    <a:bodyPr/>
                    <a:lstStyle/>
                    <a:p>
                      <a:pPr algn="r" fontAlgn="b"/>
                      <a:r>
                        <a:rPr lang="en-US" sz="1050" u="none" strike="noStrike" dirty="0">
                          <a:solidFill>
                            <a:srgbClr val="C00000"/>
                          </a:solidFill>
                          <a:effectLst/>
                          <a:latin typeface="+mn-lt"/>
                        </a:rPr>
                        <a:t>Stop codon ORF15</a:t>
                      </a:r>
                      <a:endParaRPr lang="en-US" sz="1050" b="0" i="0" u="none" strike="noStrike" dirty="0">
                        <a:solidFill>
                          <a:srgbClr val="C00000"/>
                        </a:solidFill>
                        <a:effectLst/>
                        <a:latin typeface="+mn-lt"/>
                      </a:endParaRPr>
                    </a:p>
                  </a:txBody>
                  <a:tcPr marL="9525" marR="9525" marT="9525" marB="0" anchor="b">
                    <a:noFill/>
                  </a:tcPr>
                </a:tc>
                <a:tc hMerge="1">
                  <a:txBody>
                    <a:bodyPr/>
                    <a:lstStyle/>
                    <a:p>
                      <a:endParaRPr lang="en-US"/>
                    </a:p>
                  </a:txBody>
                  <a:tcPr/>
                </a:tc>
                <a:tc>
                  <a:txBody>
                    <a:bodyPr/>
                    <a:lstStyle/>
                    <a:p>
                      <a:pPr algn="r" fontAlgn="b"/>
                      <a:r>
                        <a:rPr lang="en-US" sz="1050" u="none" strike="noStrike" dirty="0">
                          <a:solidFill>
                            <a:srgbClr val="C00000"/>
                          </a:solidFill>
                          <a:effectLst/>
                          <a:latin typeface="+mn-lt"/>
                        </a:rPr>
                        <a:t>3599</a:t>
                      </a:r>
                      <a:endParaRPr lang="en-US" sz="1050" b="0" i="0" u="none" strike="noStrike" dirty="0">
                        <a:solidFill>
                          <a:srgbClr val="C00000"/>
                        </a:solidFill>
                        <a:effectLst/>
                        <a:latin typeface="+mn-lt"/>
                        <a:ea typeface="Arial Unicode MS" panose="020B0604020202020204" pitchFamily="34" charset="-128"/>
                      </a:endParaRPr>
                    </a:p>
                  </a:txBody>
                  <a:tcPr marL="9525" marR="9525" marT="9525" marB="0" anchor="b">
                    <a:noFill/>
                  </a:tcPr>
                </a:tc>
                <a:tc>
                  <a:txBody>
                    <a:bodyPr/>
                    <a:lstStyle/>
                    <a:p>
                      <a:pPr algn="r" fontAlgn="b"/>
                      <a:r>
                        <a:rPr lang="en-US" sz="1050" u="none" strike="noStrike" dirty="0">
                          <a:solidFill>
                            <a:srgbClr val="C00000"/>
                          </a:solidFill>
                          <a:effectLst/>
                          <a:latin typeface="+mn-lt"/>
                        </a:rPr>
                        <a:t>c.*3457</a:t>
                      </a:r>
                      <a:endParaRPr lang="en-US" sz="1050" b="0" i="0" u="none" strike="noStrike" dirty="0">
                        <a:solidFill>
                          <a:srgbClr val="C00000"/>
                        </a:solidFill>
                        <a:effectLst/>
                        <a:latin typeface="+mn-lt"/>
                        <a:ea typeface="Arial Unicode MS" panose="020B0604020202020204" pitchFamily="34" charset="-128"/>
                      </a:endParaRPr>
                    </a:p>
                  </a:txBody>
                  <a:tcPr marL="9525" marR="9525" marT="9525" marB="0" anchor="b">
                    <a:noFill/>
                  </a:tcPr>
                </a:tc>
                <a:tc>
                  <a:txBody>
                    <a:bodyPr/>
                    <a:lstStyle/>
                    <a:p>
                      <a:pPr algn="r" fontAlgn="b"/>
                      <a:r>
                        <a:rPr lang="en-US" sz="1050" u="none" strike="noStrike" dirty="0">
                          <a:solidFill>
                            <a:srgbClr val="C00000"/>
                          </a:solidFill>
                          <a:effectLst/>
                          <a:latin typeface="+mn-lt"/>
                        </a:rPr>
                        <a:t>3601</a:t>
                      </a:r>
                      <a:endParaRPr lang="en-US" sz="1050" b="0" i="0" u="none" strike="noStrike" dirty="0">
                        <a:solidFill>
                          <a:srgbClr val="C00000"/>
                        </a:solidFill>
                        <a:effectLst/>
                        <a:latin typeface="+mn-lt"/>
                        <a:ea typeface="Arial Unicode MS" panose="020B0604020202020204" pitchFamily="34" charset="-128"/>
                      </a:endParaRPr>
                    </a:p>
                  </a:txBody>
                  <a:tcPr marL="9525" marR="9525" marT="9525" marB="0" anchor="b">
                    <a:noFill/>
                  </a:tcPr>
                </a:tc>
                <a:tc>
                  <a:txBody>
                    <a:bodyPr/>
                    <a:lstStyle/>
                    <a:p>
                      <a:pPr algn="r" fontAlgn="b"/>
                      <a:r>
                        <a:rPr lang="en-US" sz="1050" u="none" strike="noStrike" dirty="0">
                          <a:solidFill>
                            <a:srgbClr val="C00000"/>
                          </a:solidFill>
                          <a:effectLst/>
                          <a:latin typeface="+mn-lt"/>
                        </a:rPr>
                        <a:t>c.*3459</a:t>
                      </a:r>
                      <a:endParaRPr lang="en-US" sz="1050" b="0" i="0" u="none" strike="noStrike" dirty="0">
                        <a:solidFill>
                          <a:srgbClr val="C00000"/>
                        </a:solidFill>
                        <a:effectLst/>
                        <a:latin typeface="+mn-lt"/>
                        <a:ea typeface="Arial Unicode MS" panose="020B0604020202020204" pitchFamily="34" charset="-128"/>
                      </a:endParaRPr>
                    </a:p>
                  </a:txBody>
                  <a:tcPr marL="9525" marR="9525" marT="9525" marB="0" anchor="b">
                    <a:noFill/>
                  </a:tcPr>
                </a:tc>
                <a:tc>
                  <a:txBody>
                    <a:bodyPr/>
                    <a:lstStyle/>
                    <a:p>
                      <a:pPr algn="r" fontAlgn="b"/>
                      <a:r>
                        <a:rPr lang="en-US" sz="1050" u="none" strike="noStrike" dirty="0">
                          <a:solidFill>
                            <a:srgbClr val="C00000"/>
                          </a:solidFill>
                          <a:effectLst/>
                          <a:latin typeface="+mn-lt"/>
                        </a:rPr>
                        <a:t>   38,285,542 </a:t>
                      </a:r>
                      <a:endParaRPr lang="en-US" sz="1050" b="0" i="0" u="none" strike="noStrike" dirty="0">
                        <a:solidFill>
                          <a:srgbClr val="C00000"/>
                        </a:solidFill>
                        <a:effectLst/>
                        <a:latin typeface="+mn-lt"/>
                        <a:ea typeface="Arial Unicode MS" panose="020B0604020202020204" pitchFamily="34" charset="-128"/>
                      </a:endParaRPr>
                    </a:p>
                  </a:txBody>
                  <a:tcPr marL="9525" marR="9525" marT="9525" marB="0" anchor="b">
                    <a:noFill/>
                  </a:tcPr>
                </a:tc>
                <a:tc>
                  <a:txBody>
                    <a:bodyPr/>
                    <a:lstStyle/>
                    <a:p>
                      <a:pPr algn="r" fontAlgn="b"/>
                      <a:endParaRPr lang="en-US" sz="1050" b="0" i="0" u="none" strike="noStrike" dirty="0">
                        <a:solidFill>
                          <a:srgbClr val="C00000"/>
                        </a:solidFill>
                        <a:effectLst/>
                        <a:latin typeface="+mn-lt"/>
                        <a:ea typeface="Arial Unicode MS" panose="020B0604020202020204" pitchFamily="34" charset="-128"/>
                      </a:endParaRPr>
                    </a:p>
                  </a:txBody>
                  <a:tcPr marL="9525" marR="9525" marT="9525" marB="0" anchor="b">
                    <a:noFill/>
                  </a:tcPr>
                </a:tc>
                <a:tc gridSpan="2">
                  <a:txBody>
                    <a:bodyPr/>
                    <a:lstStyle/>
                    <a:p>
                      <a:pPr algn="r" fontAlgn="b"/>
                      <a:endParaRPr lang="en-US" sz="1050" b="0" i="0" u="none" strike="noStrike">
                        <a:solidFill>
                          <a:srgbClr val="C00000"/>
                        </a:solidFill>
                        <a:effectLst/>
                        <a:latin typeface="+mn-lt"/>
                        <a:ea typeface="Arial Unicode MS" panose="020B0604020202020204" pitchFamily="34" charset="-128"/>
                      </a:endParaRPr>
                    </a:p>
                  </a:txBody>
                  <a:tcPr marL="9525" marR="9525" marT="9525" marB="0" anchor="b">
                    <a:noFill/>
                  </a:tcPr>
                </a:tc>
                <a:tc hMerge="1">
                  <a:txBody>
                    <a:bodyPr/>
                    <a:lstStyle/>
                    <a:p>
                      <a:pPr algn="r" fontAlgn="b"/>
                      <a:endParaRPr lang="en-US" sz="1050" b="0" i="0" u="none" strike="noStrike">
                        <a:solidFill>
                          <a:srgbClr val="C00000"/>
                        </a:solidFill>
                        <a:effectLst/>
                        <a:latin typeface="+mn-lt"/>
                        <a:ea typeface="Arial Unicode MS" panose="020B0604020202020204" pitchFamily="34" charset="-128"/>
                      </a:endParaRPr>
                    </a:p>
                  </a:txBody>
                  <a:tcPr marL="9525" marR="9525" marT="9525" marB="0" anchor="b">
                    <a:noFill/>
                  </a:tcPr>
                </a:tc>
                <a:tc>
                  <a:txBody>
                    <a:bodyPr/>
                    <a:lstStyle/>
                    <a:p>
                      <a:pPr algn="l" fontAlgn="b"/>
                      <a:endParaRPr lang="en-US" sz="1050" b="0" i="0" u="none" strike="noStrike">
                        <a:solidFill>
                          <a:srgbClr val="000000"/>
                        </a:solidFill>
                        <a:effectLst/>
                        <a:latin typeface="+mn-lt"/>
                      </a:endParaRPr>
                    </a:p>
                  </a:txBody>
                  <a:tcPr marL="9525" marR="9525" marT="9525" marB="0" anchor="b">
                    <a:noFill/>
                  </a:tcPr>
                </a:tc>
                <a:tc>
                  <a:txBody>
                    <a:bodyPr/>
                    <a:lstStyle/>
                    <a:p>
                      <a:pPr algn="l" fontAlgn="b"/>
                      <a:endParaRPr lang="en-US" sz="1050" b="0" i="0" u="none" strike="noStrike">
                        <a:solidFill>
                          <a:srgbClr val="000000"/>
                        </a:solidFill>
                        <a:effectLst/>
                        <a:latin typeface="+mn-lt"/>
                      </a:endParaRPr>
                    </a:p>
                  </a:txBody>
                  <a:tcPr marL="9525" marR="9525" marT="9525" marB="0" anchor="b">
                    <a:noFill/>
                  </a:tcPr>
                </a:tc>
                <a:tc>
                  <a:txBody>
                    <a:bodyPr/>
                    <a:lstStyle/>
                    <a:p>
                      <a:pPr algn="l" fontAlgn="b"/>
                      <a:endParaRPr lang="en-US" sz="1050" b="0" i="0" u="none" strike="noStrike">
                        <a:solidFill>
                          <a:srgbClr val="000000"/>
                        </a:solidFill>
                        <a:effectLst/>
                        <a:latin typeface="+mn-lt"/>
                      </a:endParaRPr>
                    </a:p>
                  </a:txBody>
                  <a:tcPr marL="9525" marR="9525" marT="9525" marB="0" anchor="b">
                    <a:noFill/>
                  </a:tcPr>
                </a:tc>
                <a:extLst>
                  <a:ext uri="{0D108BD9-81ED-4DB2-BD59-A6C34878D82A}">
                    <a16:rowId xmlns:a16="http://schemas.microsoft.com/office/drawing/2014/main" val="2704936005"/>
                  </a:ext>
                </a:extLst>
              </a:tr>
              <a:tr h="215900">
                <a:tc gridSpan="2">
                  <a:txBody>
                    <a:bodyPr/>
                    <a:lstStyle/>
                    <a:p>
                      <a:pPr algn="r" fontAlgn="b"/>
                      <a:r>
                        <a:rPr lang="en-US" sz="1050" u="none" strike="noStrike" dirty="0">
                          <a:solidFill>
                            <a:srgbClr val="0070C0"/>
                          </a:solidFill>
                          <a:effectLst/>
                          <a:latin typeface="+mn-lt"/>
                        </a:rPr>
                        <a:t>Stop codon exon 19</a:t>
                      </a:r>
                      <a:endParaRPr lang="en-US" sz="1050" b="0" i="0" u="none" strike="noStrike" dirty="0">
                        <a:solidFill>
                          <a:srgbClr val="0070C0"/>
                        </a:solidFill>
                        <a:effectLst/>
                        <a:latin typeface="+mn-lt"/>
                      </a:endParaRPr>
                    </a:p>
                  </a:txBody>
                  <a:tcPr marL="9525" marR="9525" marT="9525" marB="0" anchor="b">
                    <a:noFill/>
                  </a:tcPr>
                </a:tc>
                <a:tc hMerge="1">
                  <a:txBody>
                    <a:bodyPr/>
                    <a:lstStyle/>
                    <a:p>
                      <a:endParaRPr lang="en-US"/>
                    </a:p>
                  </a:txBody>
                  <a:tcPr/>
                </a:tc>
                <a:tc>
                  <a:txBody>
                    <a:bodyPr/>
                    <a:lstStyle/>
                    <a:p>
                      <a:pPr algn="r" fontAlgn="b"/>
                      <a:r>
                        <a:rPr lang="en-US" sz="1050" u="none" strike="noStrike" dirty="0">
                          <a:solidFill>
                            <a:srgbClr val="0070C0"/>
                          </a:solidFill>
                          <a:effectLst/>
                          <a:latin typeface="+mn-lt"/>
                        </a:rPr>
                        <a:t>2446</a:t>
                      </a:r>
                      <a:endParaRPr lang="en-US" sz="1050" b="0" i="0" u="none" strike="noStrike" dirty="0">
                        <a:solidFill>
                          <a:srgbClr val="0070C0"/>
                        </a:solidFill>
                        <a:effectLst/>
                        <a:latin typeface="+mn-lt"/>
                        <a:ea typeface="Arial Unicode MS" panose="020B0604020202020204" pitchFamily="34" charset="-128"/>
                      </a:endParaRPr>
                    </a:p>
                  </a:txBody>
                  <a:tcPr marL="9525" marR="9525" marT="9525" marB="0" anchor="b">
                    <a:noFill/>
                  </a:tcPr>
                </a:tc>
                <a:tc>
                  <a:txBody>
                    <a:bodyPr/>
                    <a:lstStyle/>
                    <a:p>
                      <a:pPr algn="r" fontAlgn="b"/>
                      <a:r>
                        <a:rPr lang="en-US" sz="1050" u="none" strike="noStrike" dirty="0">
                          <a:solidFill>
                            <a:srgbClr val="0070C0"/>
                          </a:solidFill>
                          <a:effectLst/>
                          <a:latin typeface="+mn-lt"/>
                        </a:rPr>
                        <a:t>c.*2304</a:t>
                      </a:r>
                      <a:endParaRPr lang="en-US" sz="1050" b="0" i="0" u="none" strike="noStrike" dirty="0">
                        <a:solidFill>
                          <a:srgbClr val="0070C0"/>
                        </a:solidFill>
                        <a:effectLst/>
                        <a:latin typeface="+mn-lt"/>
                        <a:ea typeface="Arial Unicode MS" panose="020B0604020202020204" pitchFamily="34" charset="-128"/>
                      </a:endParaRPr>
                    </a:p>
                  </a:txBody>
                  <a:tcPr marL="9525" marR="9525" marT="9525" marB="0" anchor="b">
                    <a:noFill/>
                  </a:tcPr>
                </a:tc>
                <a:tc>
                  <a:txBody>
                    <a:bodyPr/>
                    <a:lstStyle/>
                    <a:p>
                      <a:pPr algn="r" fontAlgn="b"/>
                      <a:r>
                        <a:rPr lang="en-US" sz="1050" u="none" strike="noStrike" dirty="0">
                          <a:solidFill>
                            <a:srgbClr val="0070C0"/>
                          </a:solidFill>
                          <a:effectLst/>
                          <a:latin typeface="+mn-lt"/>
                        </a:rPr>
                        <a:t>2448</a:t>
                      </a:r>
                      <a:endParaRPr lang="en-US" sz="1050" b="0" i="0" u="none" strike="noStrike" dirty="0">
                        <a:solidFill>
                          <a:srgbClr val="0070C0"/>
                        </a:solidFill>
                        <a:effectLst/>
                        <a:latin typeface="+mn-lt"/>
                        <a:ea typeface="Arial Unicode MS" panose="020B0604020202020204" pitchFamily="34" charset="-128"/>
                      </a:endParaRPr>
                    </a:p>
                  </a:txBody>
                  <a:tcPr marL="9525" marR="9525" marT="9525" marB="0" anchor="b">
                    <a:noFill/>
                  </a:tcPr>
                </a:tc>
                <a:tc>
                  <a:txBody>
                    <a:bodyPr/>
                    <a:lstStyle/>
                    <a:p>
                      <a:pPr algn="r" fontAlgn="b"/>
                      <a:r>
                        <a:rPr lang="en-US" sz="1050" u="none" strike="noStrike" dirty="0">
                          <a:solidFill>
                            <a:srgbClr val="0070C0"/>
                          </a:solidFill>
                          <a:effectLst/>
                          <a:latin typeface="+mn-lt"/>
                        </a:rPr>
                        <a:t>c.*2306</a:t>
                      </a:r>
                      <a:endParaRPr lang="en-US" sz="1050" b="0" i="0" u="none" strike="noStrike" dirty="0">
                        <a:solidFill>
                          <a:srgbClr val="0070C0"/>
                        </a:solidFill>
                        <a:effectLst/>
                        <a:latin typeface="+mn-lt"/>
                        <a:ea typeface="Arial Unicode MS" panose="020B0604020202020204" pitchFamily="34" charset="-128"/>
                      </a:endParaRPr>
                    </a:p>
                  </a:txBody>
                  <a:tcPr marL="9525" marR="9525" marT="9525" marB="0" anchor="b">
                    <a:noFill/>
                  </a:tcPr>
                </a:tc>
                <a:tc>
                  <a:txBody>
                    <a:bodyPr/>
                    <a:lstStyle/>
                    <a:p>
                      <a:pPr algn="r" fontAlgn="b"/>
                      <a:r>
                        <a:rPr lang="en-US" sz="1050" u="none" strike="noStrike" dirty="0">
                          <a:solidFill>
                            <a:srgbClr val="0070C0"/>
                          </a:solidFill>
                          <a:effectLst/>
                          <a:latin typeface="+mn-lt"/>
                        </a:rPr>
                        <a:t>      38,269,627 </a:t>
                      </a:r>
                      <a:endParaRPr lang="en-US" sz="1050" b="0" i="0" u="none" strike="noStrike" dirty="0">
                        <a:solidFill>
                          <a:srgbClr val="0070C0"/>
                        </a:solidFill>
                        <a:effectLst/>
                        <a:latin typeface="+mn-lt"/>
                      </a:endParaRPr>
                    </a:p>
                  </a:txBody>
                  <a:tcPr marL="9525" marR="9525" marT="9525" marB="0" anchor="b">
                    <a:noFill/>
                  </a:tcPr>
                </a:tc>
                <a:tc>
                  <a:txBody>
                    <a:bodyPr/>
                    <a:lstStyle/>
                    <a:p>
                      <a:pPr algn="r" fontAlgn="b"/>
                      <a:endParaRPr lang="en-US" sz="1050" b="0" i="0" u="none" strike="noStrike" dirty="0">
                        <a:solidFill>
                          <a:srgbClr val="0070C0"/>
                        </a:solidFill>
                        <a:effectLst/>
                        <a:latin typeface="+mn-lt"/>
                      </a:endParaRPr>
                    </a:p>
                  </a:txBody>
                  <a:tcPr marL="9525" marR="9525" marT="9525" marB="0" anchor="b">
                    <a:noFill/>
                  </a:tcPr>
                </a:tc>
                <a:tc gridSpan="2">
                  <a:txBody>
                    <a:bodyPr/>
                    <a:lstStyle/>
                    <a:p>
                      <a:pPr algn="r" fontAlgn="b"/>
                      <a:endParaRPr lang="en-US" sz="1050" b="0" i="0" u="none" strike="noStrike" dirty="0">
                        <a:solidFill>
                          <a:srgbClr val="0070C0"/>
                        </a:solidFill>
                        <a:effectLst/>
                        <a:latin typeface="+mn-lt"/>
                      </a:endParaRPr>
                    </a:p>
                  </a:txBody>
                  <a:tcPr marL="9525" marR="9525" marT="9525" marB="0" anchor="b">
                    <a:noFill/>
                  </a:tcPr>
                </a:tc>
                <a:tc hMerge="1">
                  <a:txBody>
                    <a:bodyPr/>
                    <a:lstStyle/>
                    <a:p>
                      <a:pPr algn="r" fontAlgn="b"/>
                      <a:endParaRPr lang="en-US" sz="1050" b="0" i="0" u="none" strike="noStrike" dirty="0">
                        <a:solidFill>
                          <a:srgbClr val="0070C0"/>
                        </a:solidFill>
                        <a:effectLst/>
                        <a:latin typeface="+mn-lt"/>
                      </a:endParaRPr>
                    </a:p>
                  </a:txBody>
                  <a:tcPr marL="9525" marR="9525" marT="9525" marB="0" anchor="b">
                    <a:noFill/>
                  </a:tcPr>
                </a:tc>
                <a:tc>
                  <a:txBody>
                    <a:bodyPr/>
                    <a:lstStyle/>
                    <a:p>
                      <a:pPr algn="l" fontAlgn="b"/>
                      <a:endParaRPr lang="en-US" sz="1050" b="0" i="0" u="none" strike="noStrike">
                        <a:solidFill>
                          <a:srgbClr val="000000"/>
                        </a:solidFill>
                        <a:effectLst/>
                        <a:latin typeface="+mn-lt"/>
                      </a:endParaRPr>
                    </a:p>
                  </a:txBody>
                  <a:tcPr marL="9525" marR="9525" marT="9525" marB="0" anchor="b">
                    <a:noFill/>
                  </a:tcPr>
                </a:tc>
                <a:tc>
                  <a:txBody>
                    <a:bodyPr/>
                    <a:lstStyle/>
                    <a:p>
                      <a:pPr algn="l" fontAlgn="b"/>
                      <a:endParaRPr lang="en-US" sz="1050" b="0" i="0" u="none" strike="noStrike">
                        <a:solidFill>
                          <a:srgbClr val="000000"/>
                        </a:solidFill>
                        <a:effectLst/>
                        <a:latin typeface="+mn-lt"/>
                      </a:endParaRPr>
                    </a:p>
                  </a:txBody>
                  <a:tcPr marL="9525" marR="9525" marT="9525" marB="0" anchor="b">
                    <a:noFill/>
                  </a:tcPr>
                </a:tc>
                <a:tc>
                  <a:txBody>
                    <a:bodyPr/>
                    <a:lstStyle/>
                    <a:p>
                      <a:pPr algn="l" fontAlgn="b"/>
                      <a:endParaRPr lang="en-US" sz="1050" b="0" i="0" u="none" strike="noStrike">
                        <a:solidFill>
                          <a:srgbClr val="000000"/>
                        </a:solidFill>
                        <a:effectLst/>
                        <a:latin typeface="+mn-lt"/>
                      </a:endParaRPr>
                    </a:p>
                  </a:txBody>
                  <a:tcPr marL="9525" marR="9525" marT="9525" marB="0" anchor="b">
                    <a:noFill/>
                  </a:tcPr>
                </a:tc>
                <a:extLst>
                  <a:ext uri="{0D108BD9-81ED-4DB2-BD59-A6C34878D82A}">
                    <a16:rowId xmlns:a16="http://schemas.microsoft.com/office/drawing/2014/main" val="431736061"/>
                  </a:ext>
                </a:extLst>
              </a:tr>
              <a:tr h="215900">
                <a:tc gridSpan="2">
                  <a:txBody>
                    <a:bodyPr/>
                    <a:lstStyle/>
                    <a:p>
                      <a:pPr algn="r" fontAlgn="b"/>
                      <a:r>
                        <a:rPr lang="en-US" sz="1050" u="none" strike="noStrike" dirty="0">
                          <a:solidFill>
                            <a:srgbClr val="C00000"/>
                          </a:solidFill>
                          <a:effectLst/>
                          <a:latin typeface="+mn-lt"/>
                        </a:rPr>
                        <a:t>NDM predicted cutoff NM001034853.2</a:t>
                      </a:r>
                      <a:endParaRPr lang="en-US" sz="1050" b="0" i="0" u="none" strike="noStrike" dirty="0">
                        <a:solidFill>
                          <a:srgbClr val="C00000"/>
                        </a:solidFill>
                        <a:effectLst/>
                        <a:latin typeface="+mn-lt"/>
                      </a:endParaRPr>
                    </a:p>
                  </a:txBody>
                  <a:tcPr marL="9525" marR="9525" marT="9525" marB="0" anchor="b">
                    <a:noFill/>
                  </a:tcPr>
                </a:tc>
                <a:tc hMerge="1">
                  <a:txBody>
                    <a:bodyPr/>
                    <a:lstStyle/>
                    <a:p>
                      <a:endParaRPr lang="en-US"/>
                    </a:p>
                  </a:txBody>
                  <a:tcPr/>
                </a:tc>
                <a:tc>
                  <a:txBody>
                    <a:bodyPr/>
                    <a:lstStyle/>
                    <a:p>
                      <a:pPr algn="r" fontAlgn="b"/>
                      <a:r>
                        <a:rPr lang="en-US" sz="1050" u="none" strike="noStrike" dirty="0">
                          <a:solidFill>
                            <a:srgbClr val="C00000"/>
                          </a:solidFill>
                          <a:effectLst/>
                          <a:latin typeface="+mn-lt"/>
                        </a:rPr>
                        <a:t>1845</a:t>
                      </a:r>
                      <a:endParaRPr lang="en-US" sz="1050" b="0" i="0" u="none" strike="noStrike" dirty="0">
                        <a:solidFill>
                          <a:srgbClr val="C00000"/>
                        </a:solidFill>
                        <a:effectLst/>
                        <a:latin typeface="+mn-lt"/>
                        <a:ea typeface="Arial Unicode MS" panose="020B0604020202020204" pitchFamily="34" charset="-128"/>
                      </a:endParaRPr>
                    </a:p>
                  </a:txBody>
                  <a:tcPr marL="9525" marR="9525" marT="9525" marB="0" anchor="b">
                    <a:noFill/>
                  </a:tcPr>
                </a:tc>
                <a:tc>
                  <a:txBody>
                    <a:bodyPr/>
                    <a:lstStyle/>
                    <a:p>
                      <a:pPr algn="r" fontAlgn="b"/>
                      <a:r>
                        <a:rPr lang="en-US" sz="1050" u="none" strike="noStrike">
                          <a:solidFill>
                            <a:srgbClr val="C00000"/>
                          </a:solidFill>
                          <a:effectLst/>
                          <a:latin typeface="+mn-lt"/>
                        </a:rPr>
                        <a:t>c.1702</a:t>
                      </a:r>
                      <a:endParaRPr lang="en-US" sz="1050" b="0" i="0" u="none" strike="noStrike">
                        <a:solidFill>
                          <a:srgbClr val="C00000"/>
                        </a:solidFill>
                        <a:effectLst/>
                        <a:latin typeface="+mn-lt"/>
                        <a:ea typeface="Arial Unicode MS" panose="020B0604020202020204" pitchFamily="34" charset="-128"/>
                      </a:endParaRPr>
                    </a:p>
                  </a:txBody>
                  <a:tcPr marL="9525" marR="9525" marT="9525" marB="0" anchor="b">
                    <a:noFill/>
                  </a:tcPr>
                </a:tc>
                <a:tc>
                  <a:txBody>
                    <a:bodyPr/>
                    <a:lstStyle/>
                    <a:p>
                      <a:pPr algn="r" fontAlgn="b"/>
                      <a:r>
                        <a:rPr lang="en-US" sz="1050" u="none" strike="noStrike" dirty="0">
                          <a:solidFill>
                            <a:srgbClr val="C00000"/>
                          </a:solidFill>
                          <a:effectLst/>
                          <a:latin typeface="+mn-lt"/>
                        </a:rPr>
                        <a:t>1847</a:t>
                      </a:r>
                      <a:endParaRPr lang="en-US" sz="1050" b="0" i="0" u="none" strike="noStrike" dirty="0">
                        <a:solidFill>
                          <a:srgbClr val="C00000"/>
                        </a:solidFill>
                        <a:effectLst/>
                        <a:latin typeface="+mn-lt"/>
                        <a:ea typeface="Arial Unicode MS" panose="020B0604020202020204" pitchFamily="34" charset="-128"/>
                      </a:endParaRPr>
                    </a:p>
                  </a:txBody>
                  <a:tcPr marL="9525" marR="9525" marT="9525" marB="0" anchor="b">
                    <a:noFill/>
                  </a:tcPr>
                </a:tc>
                <a:tc>
                  <a:txBody>
                    <a:bodyPr/>
                    <a:lstStyle/>
                    <a:p>
                      <a:pPr algn="r" fontAlgn="b"/>
                      <a:r>
                        <a:rPr lang="en-US" sz="1050" u="none" strike="noStrike" dirty="0">
                          <a:solidFill>
                            <a:srgbClr val="C00000"/>
                          </a:solidFill>
                          <a:effectLst/>
                          <a:latin typeface="+mn-lt"/>
                        </a:rPr>
                        <a:t>c.1704</a:t>
                      </a:r>
                      <a:endParaRPr lang="en-US" sz="1050" b="0" i="0" u="none" strike="noStrike" dirty="0">
                        <a:solidFill>
                          <a:srgbClr val="C00000"/>
                        </a:solidFill>
                        <a:effectLst/>
                        <a:latin typeface="+mn-lt"/>
                        <a:ea typeface="Arial Unicode MS" panose="020B0604020202020204" pitchFamily="34" charset="-128"/>
                      </a:endParaRPr>
                    </a:p>
                  </a:txBody>
                  <a:tcPr marL="9525" marR="9525" marT="9525" marB="0" anchor="b">
                    <a:noFill/>
                  </a:tcPr>
                </a:tc>
                <a:tc>
                  <a:txBody>
                    <a:bodyPr/>
                    <a:lstStyle/>
                    <a:p>
                      <a:pPr algn="r" fontAlgn="b"/>
                      <a:r>
                        <a:rPr lang="en-US" sz="1050" u="none" strike="noStrike" dirty="0">
                          <a:solidFill>
                            <a:srgbClr val="C00000"/>
                          </a:solidFill>
                          <a:effectLst/>
                          <a:latin typeface="+mn-lt"/>
                        </a:rPr>
                        <a:t>   38,287,897 </a:t>
                      </a:r>
                      <a:endParaRPr lang="en-US" sz="1050" b="0" i="0" u="none" strike="noStrike" dirty="0">
                        <a:solidFill>
                          <a:srgbClr val="C00000"/>
                        </a:solidFill>
                        <a:effectLst/>
                        <a:latin typeface="+mn-lt"/>
                        <a:ea typeface="Arial Unicode MS" panose="020B0604020202020204" pitchFamily="34" charset="-128"/>
                      </a:endParaRPr>
                    </a:p>
                  </a:txBody>
                  <a:tcPr marL="9525" marR="9525" marT="9525" marB="0" anchor="b">
                    <a:noFill/>
                  </a:tcPr>
                </a:tc>
                <a:tc>
                  <a:txBody>
                    <a:bodyPr/>
                    <a:lstStyle/>
                    <a:p>
                      <a:pPr algn="r" fontAlgn="b"/>
                      <a:endParaRPr lang="en-US" sz="1050" b="0" i="0" u="none" strike="noStrike" dirty="0">
                        <a:solidFill>
                          <a:srgbClr val="C00000"/>
                        </a:solidFill>
                        <a:effectLst/>
                        <a:latin typeface="+mn-lt"/>
                        <a:ea typeface="Arial Unicode MS" panose="020B0604020202020204" pitchFamily="34" charset="-128"/>
                      </a:endParaRPr>
                    </a:p>
                  </a:txBody>
                  <a:tcPr marL="9525" marR="9525" marT="9525" marB="0" anchor="b">
                    <a:noFill/>
                  </a:tcPr>
                </a:tc>
                <a:tc gridSpan="2">
                  <a:txBody>
                    <a:bodyPr/>
                    <a:lstStyle/>
                    <a:p>
                      <a:pPr algn="r" fontAlgn="b"/>
                      <a:endParaRPr lang="en-US" sz="1050" b="0" i="0" u="none" strike="noStrike" dirty="0">
                        <a:solidFill>
                          <a:srgbClr val="C00000"/>
                        </a:solidFill>
                        <a:effectLst/>
                        <a:latin typeface="+mn-lt"/>
                        <a:ea typeface="Arial Unicode MS" panose="020B0604020202020204" pitchFamily="34" charset="-128"/>
                      </a:endParaRPr>
                    </a:p>
                  </a:txBody>
                  <a:tcPr marL="9525" marR="9525" marT="9525" marB="0" anchor="b">
                    <a:noFill/>
                  </a:tcPr>
                </a:tc>
                <a:tc hMerge="1">
                  <a:txBody>
                    <a:bodyPr/>
                    <a:lstStyle/>
                    <a:p>
                      <a:pPr algn="r" fontAlgn="b"/>
                      <a:endParaRPr lang="en-US" sz="1050" b="0" i="0" u="none" strike="noStrike" dirty="0">
                        <a:solidFill>
                          <a:srgbClr val="C00000"/>
                        </a:solidFill>
                        <a:effectLst/>
                        <a:latin typeface="+mn-lt"/>
                        <a:ea typeface="Arial Unicode MS" panose="020B0604020202020204" pitchFamily="34" charset="-128"/>
                      </a:endParaRPr>
                    </a:p>
                  </a:txBody>
                  <a:tcPr marL="9525" marR="9525" marT="9525" marB="0" anchor="b">
                    <a:noFill/>
                  </a:tcPr>
                </a:tc>
                <a:tc>
                  <a:txBody>
                    <a:bodyPr/>
                    <a:lstStyle/>
                    <a:p>
                      <a:pPr algn="l" fontAlgn="b"/>
                      <a:endParaRPr lang="en-US" sz="1050" b="0" i="0" u="none" strike="noStrike">
                        <a:solidFill>
                          <a:srgbClr val="000000"/>
                        </a:solidFill>
                        <a:effectLst/>
                        <a:latin typeface="+mn-lt"/>
                      </a:endParaRPr>
                    </a:p>
                  </a:txBody>
                  <a:tcPr marL="9525" marR="9525" marT="9525" marB="0" anchor="b">
                    <a:noFill/>
                  </a:tcPr>
                </a:tc>
                <a:tc>
                  <a:txBody>
                    <a:bodyPr/>
                    <a:lstStyle/>
                    <a:p>
                      <a:pPr algn="l" fontAlgn="b"/>
                      <a:endParaRPr lang="en-US" sz="1050" b="0" i="0" u="none" strike="noStrike">
                        <a:solidFill>
                          <a:srgbClr val="000000"/>
                        </a:solidFill>
                        <a:effectLst/>
                        <a:latin typeface="+mn-lt"/>
                      </a:endParaRPr>
                    </a:p>
                  </a:txBody>
                  <a:tcPr marL="9525" marR="9525" marT="9525" marB="0" anchor="b">
                    <a:noFill/>
                  </a:tcPr>
                </a:tc>
                <a:tc>
                  <a:txBody>
                    <a:bodyPr/>
                    <a:lstStyle/>
                    <a:p>
                      <a:pPr algn="l" fontAlgn="b"/>
                      <a:endParaRPr lang="en-US" sz="1050" b="0" i="0" u="none" strike="noStrike">
                        <a:solidFill>
                          <a:srgbClr val="000000"/>
                        </a:solidFill>
                        <a:effectLst/>
                        <a:latin typeface="+mn-lt"/>
                      </a:endParaRPr>
                    </a:p>
                  </a:txBody>
                  <a:tcPr marL="9525" marR="9525" marT="9525" marB="0" anchor="b">
                    <a:noFill/>
                  </a:tcPr>
                </a:tc>
                <a:extLst>
                  <a:ext uri="{0D108BD9-81ED-4DB2-BD59-A6C34878D82A}">
                    <a16:rowId xmlns:a16="http://schemas.microsoft.com/office/drawing/2014/main" val="2738665613"/>
                  </a:ext>
                </a:extLst>
              </a:tr>
              <a:tr h="203200">
                <a:tc gridSpan="2">
                  <a:txBody>
                    <a:bodyPr/>
                    <a:lstStyle/>
                    <a:p>
                      <a:pPr algn="r" fontAlgn="b"/>
                      <a:r>
                        <a:rPr lang="en-US" sz="1050" u="none" strike="noStrike" dirty="0">
                          <a:solidFill>
                            <a:srgbClr val="0070C0"/>
                          </a:solidFill>
                          <a:effectLst/>
                          <a:latin typeface="+mn-lt"/>
                        </a:rPr>
                        <a:t>NMD predicted cutoff NM_000328.3</a:t>
                      </a:r>
                      <a:endParaRPr lang="en-US" sz="1050" b="0" i="0" u="none" strike="noStrike" dirty="0">
                        <a:solidFill>
                          <a:srgbClr val="0070C0"/>
                        </a:solidFill>
                        <a:effectLst/>
                        <a:latin typeface="+mn-lt"/>
                      </a:endParaRPr>
                    </a:p>
                  </a:txBody>
                  <a:tcPr marL="9525" marR="9525" marT="9525" marB="0" anchor="b">
                    <a:noFill/>
                  </a:tcPr>
                </a:tc>
                <a:tc hMerge="1">
                  <a:txBody>
                    <a:bodyPr/>
                    <a:lstStyle/>
                    <a:p>
                      <a:endParaRPr lang="en-US"/>
                    </a:p>
                  </a:txBody>
                  <a:tcPr/>
                </a:tc>
                <a:tc>
                  <a:txBody>
                    <a:bodyPr/>
                    <a:lstStyle/>
                    <a:p>
                      <a:pPr algn="r" fontAlgn="b"/>
                      <a:r>
                        <a:rPr lang="en-US" sz="1050" u="none" strike="noStrike" dirty="0">
                          <a:solidFill>
                            <a:srgbClr val="0070C0"/>
                          </a:solidFill>
                          <a:effectLst/>
                          <a:latin typeface="+mn-lt"/>
                        </a:rPr>
                        <a:t>2349</a:t>
                      </a:r>
                      <a:endParaRPr lang="en-US" sz="1050" b="0" i="0" u="none" strike="noStrike" dirty="0">
                        <a:solidFill>
                          <a:srgbClr val="0070C0"/>
                        </a:solidFill>
                        <a:effectLst/>
                        <a:latin typeface="+mn-lt"/>
                      </a:endParaRPr>
                    </a:p>
                  </a:txBody>
                  <a:tcPr marL="9525" marR="9525" marT="9525" marB="0" anchor="b">
                    <a:noFill/>
                  </a:tcPr>
                </a:tc>
                <a:tc>
                  <a:txBody>
                    <a:bodyPr/>
                    <a:lstStyle/>
                    <a:p>
                      <a:pPr algn="r" fontAlgn="b"/>
                      <a:r>
                        <a:rPr lang="en-US" sz="1050" u="none" strike="noStrike" dirty="0">
                          <a:solidFill>
                            <a:srgbClr val="0070C0"/>
                          </a:solidFill>
                          <a:effectLst/>
                          <a:latin typeface="+mn-lt"/>
                        </a:rPr>
                        <a:t>c.2106</a:t>
                      </a:r>
                      <a:endParaRPr lang="en-US" sz="1050" b="0" i="0" u="none" strike="noStrike" dirty="0">
                        <a:solidFill>
                          <a:srgbClr val="0070C0"/>
                        </a:solidFill>
                        <a:effectLst/>
                        <a:latin typeface="+mn-lt"/>
                      </a:endParaRPr>
                    </a:p>
                  </a:txBody>
                  <a:tcPr marL="9525" marR="9525" marT="9525" marB="0" anchor="b">
                    <a:noFill/>
                  </a:tcPr>
                </a:tc>
                <a:tc>
                  <a:txBody>
                    <a:bodyPr/>
                    <a:lstStyle/>
                    <a:p>
                      <a:pPr algn="r" fontAlgn="b"/>
                      <a:r>
                        <a:rPr lang="en-US" sz="1050" u="none" strike="noStrike" dirty="0">
                          <a:solidFill>
                            <a:srgbClr val="0070C0"/>
                          </a:solidFill>
                          <a:effectLst/>
                          <a:latin typeface="+mn-lt"/>
                        </a:rPr>
                        <a:t>2351</a:t>
                      </a:r>
                      <a:endParaRPr lang="en-US" sz="1050" b="0" i="0" u="none" strike="noStrike" dirty="0">
                        <a:solidFill>
                          <a:srgbClr val="0070C0"/>
                        </a:solidFill>
                        <a:effectLst/>
                        <a:latin typeface="+mn-lt"/>
                      </a:endParaRPr>
                    </a:p>
                  </a:txBody>
                  <a:tcPr marL="9525" marR="9525" marT="9525" marB="0" anchor="b">
                    <a:noFill/>
                  </a:tcPr>
                </a:tc>
                <a:tc>
                  <a:txBody>
                    <a:bodyPr/>
                    <a:lstStyle/>
                    <a:p>
                      <a:pPr algn="r" fontAlgn="b"/>
                      <a:r>
                        <a:rPr lang="en-US" sz="1050" u="none" strike="noStrike">
                          <a:solidFill>
                            <a:srgbClr val="0070C0"/>
                          </a:solidFill>
                          <a:effectLst/>
                          <a:latin typeface="+mn-lt"/>
                        </a:rPr>
                        <a:t>c.2108</a:t>
                      </a:r>
                      <a:endParaRPr lang="en-US" sz="1050" b="0" i="0" u="none" strike="noStrike">
                        <a:solidFill>
                          <a:srgbClr val="0070C0"/>
                        </a:solidFill>
                        <a:effectLst/>
                        <a:latin typeface="+mn-lt"/>
                      </a:endParaRPr>
                    </a:p>
                  </a:txBody>
                  <a:tcPr marL="9525" marR="9525" marT="9525" marB="0" anchor="b">
                    <a:noFill/>
                  </a:tcPr>
                </a:tc>
                <a:tc>
                  <a:txBody>
                    <a:bodyPr/>
                    <a:lstStyle/>
                    <a:p>
                      <a:pPr algn="r" fontAlgn="b"/>
                      <a:r>
                        <a:rPr lang="en-US" sz="1050" u="none" strike="noStrike" dirty="0">
                          <a:solidFill>
                            <a:srgbClr val="0070C0"/>
                          </a:solidFill>
                          <a:effectLst/>
                          <a:latin typeface="+mn-lt"/>
                        </a:rPr>
                        <a:t>      38,273,420 </a:t>
                      </a:r>
                      <a:endParaRPr lang="en-US" sz="1050" b="0" i="0" u="none" strike="noStrike" dirty="0">
                        <a:solidFill>
                          <a:srgbClr val="0070C0"/>
                        </a:solidFill>
                        <a:effectLst/>
                        <a:latin typeface="+mn-lt"/>
                      </a:endParaRPr>
                    </a:p>
                  </a:txBody>
                  <a:tcPr marL="9525" marR="9525" marT="9525" marB="0" anchor="b">
                    <a:noFill/>
                  </a:tcPr>
                </a:tc>
                <a:tc>
                  <a:txBody>
                    <a:bodyPr/>
                    <a:lstStyle/>
                    <a:p>
                      <a:pPr algn="r" fontAlgn="b"/>
                      <a:endParaRPr lang="en-US" sz="1050" b="0" i="0" u="none" strike="noStrike" dirty="0">
                        <a:solidFill>
                          <a:srgbClr val="0070C0"/>
                        </a:solidFill>
                        <a:effectLst/>
                        <a:latin typeface="+mn-lt"/>
                      </a:endParaRPr>
                    </a:p>
                  </a:txBody>
                  <a:tcPr marL="9525" marR="9525" marT="9525" marB="0" anchor="b">
                    <a:noFill/>
                  </a:tcPr>
                </a:tc>
                <a:tc gridSpan="2">
                  <a:txBody>
                    <a:bodyPr/>
                    <a:lstStyle/>
                    <a:p>
                      <a:pPr algn="r" fontAlgn="b"/>
                      <a:endParaRPr lang="en-US" sz="1050" b="0" i="0" u="none" strike="noStrike" dirty="0">
                        <a:solidFill>
                          <a:srgbClr val="0070C0"/>
                        </a:solidFill>
                        <a:effectLst/>
                        <a:latin typeface="+mn-lt"/>
                      </a:endParaRPr>
                    </a:p>
                  </a:txBody>
                  <a:tcPr marL="9525" marR="9525" marT="9525" marB="0" anchor="b">
                    <a:noFill/>
                  </a:tcPr>
                </a:tc>
                <a:tc hMerge="1">
                  <a:txBody>
                    <a:bodyPr/>
                    <a:lstStyle/>
                    <a:p>
                      <a:pPr algn="r" fontAlgn="b"/>
                      <a:endParaRPr lang="en-US" sz="1050" b="0" i="0" u="none" strike="noStrike" dirty="0">
                        <a:solidFill>
                          <a:srgbClr val="0070C0"/>
                        </a:solidFill>
                        <a:effectLst/>
                        <a:latin typeface="+mn-lt"/>
                      </a:endParaRPr>
                    </a:p>
                  </a:txBody>
                  <a:tcPr marL="9525" marR="9525" marT="9525" marB="0" anchor="b">
                    <a:noFill/>
                  </a:tcPr>
                </a:tc>
                <a:tc>
                  <a:txBody>
                    <a:bodyPr/>
                    <a:lstStyle/>
                    <a:p>
                      <a:pPr algn="l" fontAlgn="b"/>
                      <a:endParaRPr lang="en-US" sz="1050" b="0" i="0" u="none" strike="noStrike">
                        <a:solidFill>
                          <a:srgbClr val="000000"/>
                        </a:solidFill>
                        <a:effectLst/>
                        <a:latin typeface="+mn-lt"/>
                      </a:endParaRPr>
                    </a:p>
                  </a:txBody>
                  <a:tcPr marL="9525" marR="9525" marT="9525" marB="0" anchor="b">
                    <a:noFill/>
                  </a:tcPr>
                </a:tc>
                <a:tc>
                  <a:txBody>
                    <a:bodyPr/>
                    <a:lstStyle/>
                    <a:p>
                      <a:pPr algn="l" fontAlgn="b"/>
                      <a:endParaRPr lang="en-US" sz="1050" b="0" i="0" u="none" strike="noStrike">
                        <a:solidFill>
                          <a:srgbClr val="000000"/>
                        </a:solidFill>
                        <a:effectLst/>
                        <a:latin typeface="+mn-lt"/>
                      </a:endParaRPr>
                    </a:p>
                  </a:txBody>
                  <a:tcPr marL="9525" marR="9525" marT="9525" marB="0" anchor="b">
                    <a:noFill/>
                  </a:tcPr>
                </a:tc>
                <a:tc>
                  <a:txBody>
                    <a:bodyPr/>
                    <a:lstStyle/>
                    <a:p>
                      <a:pPr algn="l" fontAlgn="b"/>
                      <a:endParaRPr lang="en-US" sz="1050" b="0" i="0" u="none" strike="noStrike">
                        <a:solidFill>
                          <a:srgbClr val="000000"/>
                        </a:solidFill>
                        <a:effectLst/>
                        <a:latin typeface="+mn-lt"/>
                      </a:endParaRPr>
                    </a:p>
                  </a:txBody>
                  <a:tcPr marL="9525" marR="9525" marT="9525" marB="0" anchor="b">
                    <a:noFill/>
                  </a:tcPr>
                </a:tc>
                <a:extLst>
                  <a:ext uri="{0D108BD9-81ED-4DB2-BD59-A6C34878D82A}">
                    <a16:rowId xmlns:a16="http://schemas.microsoft.com/office/drawing/2014/main" val="2862655677"/>
                  </a:ext>
                </a:extLst>
              </a:tr>
              <a:tr h="203200">
                <a:tc gridSpan="2">
                  <a:txBody>
                    <a:bodyPr/>
                    <a:lstStyle/>
                    <a:p>
                      <a:pPr algn="r" fontAlgn="b"/>
                      <a:r>
                        <a:rPr lang="en-US" sz="1050" u="none" strike="noStrike" dirty="0">
                          <a:solidFill>
                            <a:srgbClr val="C00000"/>
                          </a:solidFill>
                          <a:effectLst/>
                          <a:latin typeface="+mn-lt"/>
                        </a:rPr>
                        <a:t>Stop codon after stop-loss in ORF15</a:t>
                      </a:r>
                      <a:endParaRPr lang="en-US" sz="1050" b="0" i="0" u="none" strike="noStrike" dirty="0">
                        <a:solidFill>
                          <a:srgbClr val="C00000"/>
                        </a:solidFill>
                        <a:effectLst/>
                        <a:latin typeface="+mn-lt"/>
                      </a:endParaRPr>
                    </a:p>
                  </a:txBody>
                  <a:tcPr marL="9525" marR="9525" marT="9525" marB="0" anchor="b">
                    <a:noFill/>
                  </a:tcPr>
                </a:tc>
                <a:tc hMerge="1">
                  <a:txBody>
                    <a:bodyPr/>
                    <a:lstStyle/>
                    <a:p>
                      <a:endParaRPr lang="en-US"/>
                    </a:p>
                  </a:txBody>
                  <a:tcPr/>
                </a:tc>
                <a:tc>
                  <a:txBody>
                    <a:bodyPr/>
                    <a:lstStyle/>
                    <a:p>
                      <a:pPr algn="r" fontAlgn="b"/>
                      <a:r>
                        <a:rPr lang="en-US" sz="1050" u="none" strike="noStrike" dirty="0">
                          <a:solidFill>
                            <a:srgbClr val="C00000"/>
                          </a:solidFill>
                          <a:effectLst/>
                          <a:latin typeface="+mn-lt"/>
                        </a:rPr>
                        <a:t>3710</a:t>
                      </a:r>
                      <a:endParaRPr lang="en-US" sz="1050" b="0" i="0" u="none" strike="noStrike" dirty="0">
                        <a:solidFill>
                          <a:srgbClr val="C00000"/>
                        </a:solidFill>
                        <a:effectLst/>
                        <a:latin typeface="+mn-lt"/>
                      </a:endParaRPr>
                    </a:p>
                  </a:txBody>
                  <a:tcPr marL="9525" marR="9525" marT="9525" marB="0" anchor="b">
                    <a:noFill/>
                  </a:tcPr>
                </a:tc>
                <a:tc>
                  <a:txBody>
                    <a:bodyPr/>
                    <a:lstStyle/>
                    <a:p>
                      <a:pPr algn="r" fontAlgn="b"/>
                      <a:r>
                        <a:rPr lang="en-US" sz="1050" u="none" strike="noStrike" dirty="0">
                          <a:solidFill>
                            <a:srgbClr val="C00000"/>
                          </a:solidFill>
                          <a:effectLst/>
                          <a:latin typeface="+mn-lt"/>
                        </a:rPr>
                        <a:t>c.3567</a:t>
                      </a:r>
                      <a:endParaRPr lang="en-US" sz="1050" b="0" i="0" u="none" strike="noStrike" dirty="0">
                        <a:solidFill>
                          <a:srgbClr val="C00000"/>
                        </a:solidFill>
                        <a:effectLst/>
                        <a:latin typeface="+mn-lt"/>
                      </a:endParaRPr>
                    </a:p>
                  </a:txBody>
                  <a:tcPr marL="9525" marR="9525" marT="9525" marB="0" anchor="b">
                    <a:noFill/>
                  </a:tcPr>
                </a:tc>
                <a:tc>
                  <a:txBody>
                    <a:bodyPr/>
                    <a:lstStyle/>
                    <a:p>
                      <a:pPr algn="r" fontAlgn="b"/>
                      <a:r>
                        <a:rPr lang="en-US" sz="1050" u="none" strike="noStrike" dirty="0">
                          <a:solidFill>
                            <a:srgbClr val="C00000"/>
                          </a:solidFill>
                          <a:effectLst/>
                          <a:latin typeface="+mn-lt"/>
                        </a:rPr>
                        <a:t>3712</a:t>
                      </a:r>
                      <a:endParaRPr lang="en-US" sz="1050" b="0" i="0" u="none" strike="noStrike" dirty="0">
                        <a:solidFill>
                          <a:srgbClr val="C00000"/>
                        </a:solidFill>
                        <a:effectLst/>
                        <a:latin typeface="+mn-lt"/>
                      </a:endParaRPr>
                    </a:p>
                  </a:txBody>
                  <a:tcPr marL="9525" marR="9525" marT="9525" marB="0" anchor="b">
                    <a:noFill/>
                  </a:tcPr>
                </a:tc>
                <a:tc>
                  <a:txBody>
                    <a:bodyPr/>
                    <a:lstStyle/>
                    <a:p>
                      <a:pPr algn="r" fontAlgn="b"/>
                      <a:r>
                        <a:rPr lang="en-US" sz="1050" u="none" strike="noStrike" dirty="0">
                          <a:solidFill>
                            <a:srgbClr val="C00000"/>
                          </a:solidFill>
                          <a:effectLst/>
                          <a:latin typeface="+mn-lt"/>
                        </a:rPr>
                        <a:t>c.3569</a:t>
                      </a:r>
                      <a:endParaRPr lang="en-US" sz="1050" b="0" i="0" u="none" strike="noStrike" dirty="0">
                        <a:solidFill>
                          <a:srgbClr val="C00000"/>
                        </a:solidFill>
                        <a:effectLst/>
                        <a:latin typeface="+mn-lt"/>
                      </a:endParaRPr>
                    </a:p>
                  </a:txBody>
                  <a:tcPr marL="9525" marR="9525" marT="9525" marB="0" anchor="b">
                    <a:noFill/>
                  </a:tcPr>
                </a:tc>
                <a:tc>
                  <a:txBody>
                    <a:bodyPr/>
                    <a:lstStyle/>
                    <a:p>
                      <a:pPr algn="r" fontAlgn="b"/>
                      <a:r>
                        <a:rPr lang="en-US" sz="1050" u="none" strike="noStrike" dirty="0">
                          <a:solidFill>
                            <a:srgbClr val="C00000"/>
                          </a:solidFill>
                          <a:effectLst/>
                          <a:latin typeface="+mn-lt"/>
                        </a:rPr>
                        <a:t>      38,285,431 </a:t>
                      </a:r>
                      <a:endParaRPr lang="en-US" sz="1050" b="0" i="0" u="none" strike="noStrike" dirty="0">
                        <a:solidFill>
                          <a:srgbClr val="C00000"/>
                        </a:solidFill>
                        <a:effectLst/>
                        <a:latin typeface="+mn-lt"/>
                      </a:endParaRPr>
                    </a:p>
                  </a:txBody>
                  <a:tcPr marL="9525" marR="9525" marT="9525" marB="0" anchor="b">
                    <a:noFill/>
                  </a:tcPr>
                </a:tc>
                <a:tc>
                  <a:txBody>
                    <a:bodyPr/>
                    <a:lstStyle/>
                    <a:p>
                      <a:pPr algn="r" fontAlgn="b"/>
                      <a:r>
                        <a:rPr lang="en-US" sz="1050" u="none" strike="noStrike" dirty="0">
                          <a:solidFill>
                            <a:srgbClr val="C00000"/>
                          </a:solidFill>
                          <a:effectLst/>
                          <a:latin typeface="+mn-lt"/>
                        </a:rPr>
                        <a:t> +37 codons</a:t>
                      </a:r>
                      <a:endParaRPr lang="en-US" sz="1050" b="0" i="0" u="none" strike="noStrike" dirty="0">
                        <a:solidFill>
                          <a:srgbClr val="C00000"/>
                        </a:solidFill>
                        <a:effectLst/>
                        <a:latin typeface="+mn-lt"/>
                      </a:endParaRPr>
                    </a:p>
                  </a:txBody>
                  <a:tcPr marL="9525" marR="9525" marT="9525" marB="0" anchor="b">
                    <a:noFill/>
                  </a:tcPr>
                </a:tc>
                <a:tc gridSpan="2">
                  <a:txBody>
                    <a:bodyPr/>
                    <a:lstStyle/>
                    <a:p>
                      <a:pPr algn="r" fontAlgn="b"/>
                      <a:endParaRPr lang="en-US" sz="1050" b="0" i="0" u="none" strike="noStrike" dirty="0">
                        <a:solidFill>
                          <a:srgbClr val="C00000"/>
                        </a:solidFill>
                        <a:effectLst/>
                        <a:latin typeface="+mn-lt"/>
                      </a:endParaRPr>
                    </a:p>
                  </a:txBody>
                  <a:tcPr marL="9525" marR="9525" marT="9525" marB="0" anchor="b">
                    <a:noFill/>
                  </a:tcPr>
                </a:tc>
                <a:tc hMerge="1">
                  <a:txBody>
                    <a:bodyPr/>
                    <a:lstStyle/>
                    <a:p>
                      <a:pPr algn="r" fontAlgn="b"/>
                      <a:endParaRPr lang="en-US" sz="1050" b="0" i="0" u="none" strike="noStrike" dirty="0">
                        <a:solidFill>
                          <a:srgbClr val="C00000"/>
                        </a:solidFill>
                        <a:effectLst/>
                        <a:latin typeface="+mn-lt"/>
                      </a:endParaRPr>
                    </a:p>
                  </a:txBody>
                  <a:tcPr marL="9525" marR="9525" marT="9525" marB="0" anchor="b">
                    <a:noFill/>
                  </a:tcPr>
                </a:tc>
                <a:tc>
                  <a:txBody>
                    <a:bodyPr/>
                    <a:lstStyle/>
                    <a:p>
                      <a:pPr algn="l" fontAlgn="b"/>
                      <a:endParaRPr lang="en-US" sz="1050" b="0" i="0" u="none" strike="noStrike">
                        <a:solidFill>
                          <a:srgbClr val="000000"/>
                        </a:solidFill>
                        <a:effectLst/>
                        <a:latin typeface="+mn-lt"/>
                      </a:endParaRPr>
                    </a:p>
                  </a:txBody>
                  <a:tcPr marL="9525" marR="9525" marT="9525" marB="0" anchor="b">
                    <a:noFill/>
                  </a:tcPr>
                </a:tc>
                <a:tc>
                  <a:txBody>
                    <a:bodyPr/>
                    <a:lstStyle/>
                    <a:p>
                      <a:pPr algn="l" fontAlgn="b"/>
                      <a:endParaRPr lang="en-US" sz="1050" b="0" i="0" u="none" strike="noStrike">
                        <a:solidFill>
                          <a:srgbClr val="000000"/>
                        </a:solidFill>
                        <a:effectLst/>
                        <a:latin typeface="+mn-lt"/>
                      </a:endParaRPr>
                    </a:p>
                  </a:txBody>
                  <a:tcPr marL="9525" marR="9525" marT="9525" marB="0" anchor="b">
                    <a:noFill/>
                  </a:tcPr>
                </a:tc>
                <a:tc>
                  <a:txBody>
                    <a:bodyPr/>
                    <a:lstStyle/>
                    <a:p>
                      <a:pPr algn="l" fontAlgn="b"/>
                      <a:endParaRPr lang="en-US" sz="1050" b="0" i="0" u="none" strike="noStrike">
                        <a:solidFill>
                          <a:srgbClr val="000000"/>
                        </a:solidFill>
                        <a:effectLst/>
                        <a:latin typeface="+mn-lt"/>
                      </a:endParaRPr>
                    </a:p>
                  </a:txBody>
                  <a:tcPr marL="9525" marR="9525" marT="9525" marB="0" anchor="b">
                    <a:noFill/>
                  </a:tcPr>
                </a:tc>
                <a:extLst>
                  <a:ext uri="{0D108BD9-81ED-4DB2-BD59-A6C34878D82A}">
                    <a16:rowId xmlns:a16="http://schemas.microsoft.com/office/drawing/2014/main" val="2550002260"/>
                  </a:ext>
                </a:extLst>
              </a:tr>
              <a:tr h="203200">
                <a:tc gridSpan="2">
                  <a:txBody>
                    <a:bodyPr/>
                    <a:lstStyle/>
                    <a:p>
                      <a:pPr algn="r" fontAlgn="b"/>
                      <a:r>
                        <a:rPr lang="en-US" sz="1050" u="none" strike="noStrike" dirty="0">
                          <a:solidFill>
                            <a:srgbClr val="0070C0"/>
                          </a:solidFill>
                          <a:effectLst/>
                          <a:latin typeface="+mn-lt"/>
                        </a:rPr>
                        <a:t>Stop codon after stop-loss in exon 19</a:t>
                      </a:r>
                      <a:endParaRPr lang="en-US" sz="1050" b="0" i="0" u="none" strike="noStrike" dirty="0">
                        <a:solidFill>
                          <a:srgbClr val="0070C0"/>
                        </a:solidFill>
                        <a:effectLst/>
                        <a:latin typeface="+mn-lt"/>
                      </a:endParaRPr>
                    </a:p>
                  </a:txBody>
                  <a:tcPr marL="9525" marR="9525" marT="9525" marB="0" anchor="b">
                    <a:noFill/>
                  </a:tcPr>
                </a:tc>
                <a:tc hMerge="1">
                  <a:txBody>
                    <a:bodyPr/>
                    <a:lstStyle/>
                    <a:p>
                      <a:endParaRPr lang="en-US"/>
                    </a:p>
                  </a:txBody>
                  <a:tcPr/>
                </a:tc>
                <a:tc>
                  <a:txBody>
                    <a:bodyPr/>
                    <a:lstStyle/>
                    <a:p>
                      <a:pPr algn="r" fontAlgn="b"/>
                      <a:r>
                        <a:rPr lang="en-US" sz="1050" u="none" strike="noStrike" dirty="0">
                          <a:solidFill>
                            <a:srgbClr val="0070C0"/>
                          </a:solidFill>
                          <a:effectLst/>
                          <a:latin typeface="+mn-lt"/>
                        </a:rPr>
                        <a:t>2639</a:t>
                      </a:r>
                      <a:endParaRPr lang="en-US" sz="1050" b="0" i="0" u="none" strike="noStrike" dirty="0">
                        <a:solidFill>
                          <a:srgbClr val="0070C0"/>
                        </a:solidFill>
                        <a:effectLst/>
                        <a:latin typeface="+mn-lt"/>
                      </a:endParaRPr>
                    </a:p>
                  </a:txBody>
                  <a:tcPr marL="9525" marR="9525" marT="9525" marB="0" anchor="b">
                    <a:noFill/>
                  </a:tcPr>
                </a:tc>
                <a:tc>
                  <a:txBody>
                    <a:bodyPr/>
                    <a:lstStyle/>
                    <a:p>
                      <a:pPr algn="r" fontAlgn="b"/>
                      <a:r>
                        <a:rPr lang="en-US" sz="1050" u="none" strike="noStrike" dirty="0">
                          <a:solidFill>
                            <a:srgbClr val="0070C0"/>
                          </a:solidFill>
                          <a:effectLst/>
                          <a:latin typeface="+mn-lt"/>
                        </a:rPr>
                        <a:t>c.2496</a:t>
                      </a:r>
                      <a:endParaRPr lang="en-US" sz="1050" b="0" i="0" u="none" strike="noStrike" dirty="0">
                        <a:solidFill>
                          <a:srgbClr val="0070C0"/>
                        </a:solidFill>
                        <a:effectLst/>
                        <a:latin typeface="+mn-lt"/>
                      </a:endParaRPr>
                    </a:p>
                  </a:txBody>
                  <a:tcPr marL="9525" marR="9525" marT="9525" marB="0" anchor="b">
                    <a:noFill/>
                  </a:tcPr>
                </a:tc>
                <a:tc>
                  <a:txBody>
                    <a:bodyPr/>
                    <a:lstStyle/>
                    <a:p>
                      <a:pPr algn="r" fontAlgn="b"/>
                      <a:r>
                        <a:rPr lang="en-US" sz="1050" u="none" strike="noStrike" dirty="0">
                          <a:solidFill>
                            <a:srgbClr val="0070C0"/>
                          </a:solidFill>
                          <a:effectLst/>
                          <a:latin typeface="+mn-lt"/>
                        </a:rPr>
                        <a:t>2641</a:t>
                      </a:r>
                      <a:endParaRPr lang="en-US" sz="1050" b="0" i="0" u="none" strike="noStrike" dirty="0">
                        <a:solidFill>
                          <a:srgbClr val="0070C0"/>
                        </a:solidFill>
                        <a:effectLst/>
                        <a:latin typeface="+mn-lt"/>
                      </a:endParaRPr>
                    </a:p>
                  </a:txBody>
                  <a:tcPr marL="9525" marR="9525" marT="9525" marB="0" anchor="b">
                    <a:noFill/>
                  </a:tcPr>
                </a:tc>
                <a:tc>
                  <a:txBody>
                    <a:bodyPr/>
                    <a:lstStyle/>
                    <a:p>
                      <a:pPr algn="r" fontAlgn="b"/>
                      <a:r>
                        <a:rPr lang="en-US" sz="1050" u="none" strike="noStrike" dirty="0">
                          <a:solidFill>
                            <a:srgbClr val="0070C0"/>
                          </a:solidFill>
                          <a:effectLst/>
                          <a:latin typeface="+mn-lt"/>
                        </a:rPr>
                        <a:t>c.2498</a:t>
                      </a:r>
                      <a:endParaRPr lang="en-US" sz="1050" b="0" i="0" u="none" strike="noStrike" dirty="0">
                        <a:solidFill>
                          <a:srgbClr val="0070C0"/>
                        </a:solidFill>
                        <a:effectLst/>
                        <a:latin typeface="+mn-lt"/>
                      </a:endParaRPr>
                    </a:p>
                  </a:txBody>
                  <a:tcPr marL="9525" marR="9525" marT="9525" marB="0" anchor="b">
                    <a:noFill/>
                  </a:tcPr>
                </a:tc>
                <a:tc>
                  <a:txBody>
                    <a:bodyPr/>
                    <a:lstStyle/>
                    <a:p>
                      <a:pPr algn="r" fontAlgn="b"/>
                      <a:r>
                        <a:rPr lang="en-US" sz="1050" u="none" strike="noStrike" dirty="0">
                          <a:solidFill>
                            <a:srgbClr val="0070C0"/>
                          </a:solidFill>
                          <a:effectLst/>
                          <a:latin typeface="+mn-lt"/>
                        </a:rPr>
                        <a:t>      38,269,577 </a:t>
                      </a:r>
                      <a:endParaRPr lang="en-US" sz="1050" b="0" i="0" u="none" strike="noStrike" dirty="0">
                        <a:solidFill>
                          <a:srgbClr val="0070C0"/>
                        </a:solidFill>
                        <a:effectLst/>
                        <a:latin typeface="+mn-lt"/>
                      </a:endParaRPr>
                    </a:p>
                  </a:txBody>
                  <a:tcPr marL="9525" marR="9525" marT="9525" marB="0" anchor="b">
                    <a:noFill/>
                  </a:tcPr>
                </a:tc>
                <a:tc>
                  <a:txBody>
                    <a:bodyPr/>
                    <a:lstStyle/>
                    <a:p>
                      <a:pPr algn="r" fontAlgn="b"/>
                      <a:r>
                        <a:rPr lang="en-US" sz="1050" u="none" strike="noStrike" dirty="0">
                          <a:solidFill>
                            <a:srgbClr val="0070C0"/>
                          </a:solidFill>
                          <a:effectLst/>
                          <a:latin typeface="+mn-lt"/>
                        </a:rPr>
                        <a:t> +17 codons</a:t>
                      </a:r>
                      <a:endParaRPr lang="en-US" sz="1050" b="0" i="0" u="none" strike="noStrike" dirty="0">
                        <a:solidFill>
                          <a:srgbClr val="0070C0"/>
                        </a:solidFill>
                        <a:effectLst/>
                        <a:latin typeface="+mn-lt"/>
                      </a:endParaRPr>
                    </a:p>
                  </a:txBody>
                  <a:tcPr marL="9525" marR="9525" marT="9525" marB="0" anchor="b">
                    <a:noFill/>
                  </a:tcPr>
                </a:tc>
                <a:tc gridSpan="2">
                  <a:txBody>
                    <a:bodyPr/>
                    <a:lstStyle/>
                    <a:p>
                      <a:pPr algn="r" fontAlgn="b"/>
                      <a:endParaRPr lang="en-US" sz="1050" b="0" i="0" u="none" strike="noStrike" dirty="0">
                        <a:solidFill>
                          <a:srgbClr val="0070C0"/>
                        </a:solidFill>
                        <a:effectLst/>
                        <a:latin typeface="+mn-lt"/>
                      </a:endParaRPr>
                    </a:p>
                  </a:txBody>
                  <a:tcPr marL="9525" marR="9525" marT="9525" marB="0" anchor="b">
                    <a:noFill/>
                  </a:tcPr>
                </a:tc>
                <a:tc hMerge="1">
                  <a:txBody>
                    <a:bodyPr/>
                    <a:lstStyle/>
                    <a:p>
                      <a:pPr algn="r" fontAlgn="b"/>
                      <a:endParaRPr lang="en-US" sz="1050" b="0" i="0" u="none" strike="noStrike" dirty="0">
                        <a:solidFill>
                          <a:srgbClr val="0070C0"/>
                        </a:solidFill>
                        <a:effectLst/>
                        <a:latin typeface="+mn-lt"/>
                      </a:endParaRPr>
                    </a:p>
                  </a:txBody>
                  <a:tcPr marL="9525" marR="9525" marT="9525" marB="0" anchor="b">
                    <a:noFill/>
                  </a:tcPr>
                </a:tc>
                <a:tc>
                  <a:txBody>
                    <a:bodyPr/>
                    <a:lstStyle/>
                    <a:p>
                      <a:pPr algn="l" fontAlgn="b"/>
                      <a:endParaRPr lang="en-US" sz="1050" b="0" i="0" u="none" strike="noStrike" dirty="0">
                        <a:solidFill>
                          <a:srgbClr val="000000"/>
                        </a:solidFill>
                        <a:effectLst/>
                        <a:latin typeface="+mn-lt"/>
                      </a:endParaRPr>
                    </a:p>
                  </a:txBody>
                  <a:tcPr marL="9525" marR="9525" marT="9525" marB="0" anchor="b">
                    <a:noFill/>
                  </a:tcPr>
                </a:tc>
                <a:tc>
                  <a:txBody>
                    <a:bodyPr/>
                    <a:lstStyle/>
                    <a:p>
                      <a:pPr algn="l" fontAlgn="b"/>
                      <a:endParaRPr lang="en-US" sz="1050" b="0" i="0" u="none" strike="noStrike">
                        <a:solidFill>
                          <a:srgbClr val="000000"/>
                        </a:solidFill>
                        <a:effectLst/>
                        <a:latin typeface="+mn-lt"/>
                      </a:endParaRPr>
                    </a:p>
                  </a:txBody>
                  <a:tcPr marL="9525" marR="9525" marT="9525" marB="0" anchor="b">
                    <a:noFill/>
                  </a:tcPr>
                </a:tc>
                <a:tc>
                  <a:txBody>
                    <a:bodyPr/>
                    <a:lstStyle/>
                    <a:p>
                      <a:pPr algn="l" fontAlgn="b"/>
                      <a:endParaRPr lang="en-US" sz="1050" b="0" i="0" u="none" strike="noStrike" dirty="0">
                        <a:solidFill>
                          <a:srgbClr val="000000"/>
                        </a:solidFill>
                        <a:effectLst/>
                        <a:latin typeface="+mn-lt"/>
                      </a:endParaRPr>
                    </a:p>
                  </a:txBody>
                  <a:tcPr marL="9525" marR="9525" marT="9525" marB="0" anchor="b">
                    <a:noFill/>
                  </a:tcPr>
                </a:tc>
                <a:extLst>
                  <a:ext uri="{0D108BD9-81ED-4DB2-BD59-A6C34878D82A}">
                    <a16:rowId xmlns:a16="http://schemas.microsoft.com/office/drawing/2014/main" val="3104423584"/>
                  </a:ext>
                </a:extLst>
              </a:tr>
            </a:tbl>
          </a:graphicData>
        </a:graphic>
      </p:graphicFrame>
    </p:spTree>
    <p:extLst>
      <p:ext uri="{BB962C8B-B14F-4D97-AF65-F5344CB8AC3E}">
        <p14:creationId xmlns:p14="http://schemas.microsoft.com/office/powerpoint/2010/main" val="229004977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17ACCB-40C1-5BBF-A9EC-C73FBEE26DD3}"/>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10C00098-2D91-37D2-BE5D-1769F2EAC231}"/>
              </a:ext>
            </a:extLst>
          </p:cNvPr>
          <p:cNvSpPr txBox="1"/>
          <p:nvPr/>
        </p:nvSpPr>
        <p:spPr>
          <a:xfrm>
            <a:off x="1102809" y="4767876"/>
            <a:ext cx="5439310" cy="307777"/>
          </a:xfrm>
          <a:prstGeom prst="rect">
            <a:avLst/>
          </a:prstGeom>
          <a:noFill/>
        </p:spPr>
        <p:txBody>
          <a:bodyPr wrap="none" rtlCol="0">
            <a:spAutoFit/>
          </a:bodyPr>
          <a:lstStyle/>
          <a:p>
            <a:r>
              <a:rPr lang="en-US" b="1" dirty="0"/>
              <a:t>(e) Generic PVS1 schematic – Figure 2 from Walker et al., 2023</a:t>
            </a:r>
          </a:p>
        </p:txBody>
      </p:sp>
      <p:sp>
        <p:nvSpPr>
          <p:cNvPr id="5" name="TextBox 4">
            <a:extLst>
              <a:ext uri="{FF2B5EF4-FFF2-40B4-BE49-F238E27FC236}">
                <a16:creationId xmlns:a16="http://schemas.microsoft.com/office/drawing/2014/main" id="{157FA51E-CACD-C8C6-EC3B-E7F84DC4F80D}"/>
              </a:ext>
            </a:extLst>
          </p:cNvPr>
          <p:cNvSpPr txBox="1"/>
          <p:nvPr/>
        </p:nvSpPr>
        <p:spPr>
          <a:xfrm>
            <a:off x="941166" y="1388417"/>
            <a:ext cx="10735019" cy="954107"/>
          </a:xfrm>
          <a:prstGeom prst="rect">
            <a:avLst/>
          </a:prstGeom>
          <a:noFill/>
        </p:spPr>
        <p:txBody>
          <a:bodyPr wrap="square" rtlCol="0">
            <a:spAutoFit/>
          </a:bodyPr>
          <a:lstStyle/>
          <a:p>
            <a:r>
              <a:rPr lang="en-US" b="1" dirty="0"/>
              <a:t>(d) RPGR exon map: The retinal-specific transcript NM_001034853.2 is on the top and  NM_00328.3 is on the bottom. Splice sites for exons 1-14 and the start of exon 15 or ORF15 are the same in both transcripts. The overhang shown at the top is a two-</a:t>
            </a:r>
            <a:r>
              <a:rPr lang="en-US" b="1" dirty="0" err="1"/>
              <a:t>nt</a:t>
            </a:r>
            <a:r>
              <a:rPr lang="en-US" b="1" dirty="0"/>
              <a:t> overhang, overhang on bottom is a one-</a:t>
            </a:r>
            <a:r>
              <a:rPr lang="en-US" b="1" dirty="0" err="1"/>
              <a:t>nt</a:t>
            </a:r>
            <a:r>
              <a:rPr lang="en-US" b="1" dirty="0"/>
              <a:t> overhang. Parallel lines represent in-frame junctions (e.g. deletion of exons 2+3 is in frame, deletion of 8+9 is out of frame.</a:t>
            </a:r>
          </a:p>
        </p:txBody>
      </p:sp>
      <p:pic>
        <p:nvPicPr>
          <p:cNvPr id="6" name="Picture 5">
            <a:extLst>
              <a:ext uri="{FF2B5EF4-FFF2-40B4-BE49-F238E27FC236}">
                <a16:creationId xmlns:a16="http://schemas.microsoft.com/office/drawing/2014/main" id="{80C1D31D-50AF-B71C-055D-615FEED20800}"/>
              </a:ext>
            </a:extLst>
          </p:cNvPr>
          <p:cNvPicPr>
            <a:picLocks noChangeAspect="1"/>
          </p:cNvPicPr>
          <p:nvPr/>
        </p:nvPicPr>
        <p:blipFill rotWithShape="1">
          <a:blip r:embed="rId2"/>
          <a:srcRect b="51400"/>
          <a:stretch/>
        </p:blipFill>
        <p:spPr>
          <a:xfrm>
            <a:off x="0" y="5135665"/>
            <a:ext cx="12344399" cy="7790321"/>
          </a:xfrm>
          <a:prstGeom prst="rect">
            <a:avLst/>
          </a:prstGeom>
        </p:spPr>
      </p:pic>
      <p:grpSp>
        <p:nvGrpSpPr>
          <p:cNvPr id="288" name="Group 287">
            <a:extLst>
              <a:ext uri="{FF2B5EF4-FFF2-40B4-BE49-F238E27FC236}">
                <a16:creationId xmlns:a16="http://schemas.microsoft.com/office/drawing/2014/main" id="{CA7F2C07-0ADD-DA29-697A-AFB853336344}"/>
              </a:ext>
            </a:extLst>
          </p:cNvPr>
          <p:cNvGrpSpPr/>
          <p:nvPr/>
        </p:nvGrpSpPr>
        <p:grpSpPr>
          <a:xfrm>
            <a:off x="1137395" y="2502727"/>
            <a:ext cx="9091201" cy="490655"/>
            <a:chOff x="1084386" y="2701513"/>
            <a:chExt cx="9091201" cy="490655"/>
          </a:xfrm>
        </p:grpSpPr>
        <p:grpSp>
          <p:nvGrpSpPr>
            <p:cNvPr id="189" name="Group 188">
              <a:extLst>
                <a:ext uri="{FF2B5EF4-FFF2-40B4-BE49-F238E27FC236}">
                  <a16:creationId xmlns:a16="http://schemas.microsoft.com/office/drawing/2014/main" id="{0BED01C2-1794-FAF2-19A3-C583604B1A13}"/>
                </a:ext>
              </a:extLst>
            </p:cNvPr>
            <p:cNvGrpSpPr/>
            <p:nvPr/>
          </p:nvGrpSpPr>
          <p:grpSpPr>
            <a:xfrm>
              <a:off x="1084386" y="2701513"/>
              <a:ext cx="7722104" cy="490655"/>
              <a:chOff x="1084386" y="2701513"/>
              <a:chExt cx="7722104" cy="490655"/>
            </a:xfrm>
          </p:grpSpPr>
          <p:grpSp>
            <p:nvGrpSpPr>
              <p:cNvPr id="156" name="Group 155">
                <a:extLst>
                  <a:ext uri="{FF2B5EF4-FFF2-40B4-BE49-F238E27FC236}">
                    <a16:creationId xmlns:a16="http://schemas.microsoft.com/office/drawing/2014/main" id="{DF9DCAB4-E70C-6C2E-5218-BC26DE732D1F}"/>
                  </a:ext>
                </a:extLst>
              </p:cNvPr>
              <p:cNvGrpSpPr/>
              <p:nvPr/>
            </p:nvGrpSpPr>
            <p:grpSpPr>
              <a:xfrm rot="10800000">
                <a:off x="7381065" y="2701514"/>
                <a:ext cx="720967" cy="457201"/>
                <a:chOff x="1635370" y="4671562"/>
                <a:chExt cx="720967" cy="457201"/>
              </a:xfrm>
            </p:grpSpPr>
            <p:grpSp>
              <p:nvGrpSpPr>
                <p:cNvPr id="157" name="Group 156">
                  <a:extLst>
                    <a:ext uri="{FF2B5EF4-FFF2-40B4-BE49-F238E27FC236}">
                      <a16:creationId xmlns:a16="http://schemas.microsoft.com/office/drawing/2014/main" id="{F19C4C0A-8C6E-478D-35C9-0A881EDDA989}"/>
                    </a:ext>
                  </a:extLst>
                </p:cNvPr>
                <p:cNvGrpSpPr/>
                <p:nvPr/>
              </p:nvGrpSpPr>
              <p:grpSpPr>
                <a:xfrm>
                  <a:off x="1641231" y="4671562"/>
                  <a:ext cx="715106" cy="457201"/>
                  <a:chOff x="1277817" y="2985106"/>
                  <a:chExt cx="715106" cy="457201"/>
                </a:xfrm>
                <a:solidFill>
                  <a:srgbClr val="009ACC"/>
                </a:solidFill>
              </p:grpSpPr>
              <p:sp>
                <p:nvSpPr>
                  <p:cNvPr id="162" name="Rectangle 161">
                    <a:extLst>
                      <a:ext uri="{FF2B5EF4-FFF2-40B4-BE49-F238E27FC236}">
                        <a16:creationId xmlns:a16="http://schemas.microsoft.com/office/drawing/2014/main" id="{230EF0BB-96F0-38F3-04B9-B8494477D02F}"/>
                      </a:ext>
                    </a:extLst>
                  </p:cNvPr>
                  <p:cNvSpPr/>
                  <p:nvPr/>
                </p:nvSpPr>
                <p:spPr>
                  <a:xfrm>
                    <a:off x="1277817" y="2985107"/>
                    <a:ext cx="398584" cy="45720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3" name="Triangle 162">
                    <a:extLst>
                      <a:ext uri="{FF2B5EF4-FFF2-40B4-BE49-F238E27FC236}">
                        <a16:creationId xmlns:a16="http://schemas.microsoft.com/office/drawing/2014/main" id="{C9B9B321-5F52-B1B2-4D5B-F9821B9262BF}"/>
                      </a:ext>
                    </a:extLst>
                  </p:cNvPr>
                  <p:cNvSpPr/>
                  <p:nvPr/>
                </p:nvSpPr>
                <p:spPr>
                  <a:xfrm>
                    <a:off x="1383323" y="2985106"/>
                    <a:ext cx="609600" cy="457200"/>
                  </a:xfrm>
                  <a:prstGeom prst="triangl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58" name="Straight Connector 157">
                  <a:extLst>
                    <a:ext uri="{FF2B5EF4-FFF2-40B4-BE49-F238E27FC236}">
                      <a16:creationId xmlns:a16="http://schemas.microsoft.com/office/drawing/2014/main" id="{C5507F74-9137-18BF-D95F-120E1FF5EA57}"/>
                    </a:ext>
                  </a:extLst>
                </p:cNvPr>
                <p:cNvCxnSpPr>
                  <a:endCxn id="163" idx="4"/>
                </p:cNvCxnSpPr>
                <p:nvPr/>
              </p:nvCxnSpPr>
              <p:spPr>
                <a:xfrm>
                  <a:off x="1641231" y="5128762"/>
                  <a:ext cx="715106"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9" name="Straight Connector 158">
                  <a:extLst>
                    <a:ext uri="{FF2B5EF4-FFF2-40B4-BE49-F238E27FC236}">
                      <a16:creationId xmlns:a16="http://schemas.microsoft.com/office/drawing/2014/main" id="{A8E4D420-7D6C-06A5-85EC-FC49392A08F4}"/>
                    </a:ext>
                  </a:extLst>
                </p:cNvPr>
                <p:cNvCxnSpPr>
                  <a:cxnSpLocks/>
                  <a:endCxn id="163" idx="0"/>
                </p:cNvCxnSpPr>
                <p:nvPr/>
              </p:nvCxnSpPr>
              <p:spPr>
                <a:xfrm>
                  <a:off x="1641231" y="4671562"/>
                  <a:ext cx="410306"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0" name="Straight Connector 159">
                  <a:extLst>
                    <a:ext uri="{FF2B5EF4-FFF2-40B4-BE49-F238E27FC236}">
                      <a16:creationId xmlns:a16="http://schemas.microsoft.com/office/drawing/2014/main" id="{1AF21738-D964-5C55-A5F3-151900382842}"/>
                    </a:ext>
                  </a:extLst>
                </p:cNvPr>
                <p:cNvCxnSpPr>
                  <a:cxnSpLocks/>
                </p:cNvCxnSpPr>
                <p:nvPr/>
              </p:nvCxnSpPr>
              <p:spPr>
                <a:xfrm>
                  <a:off x="1635370" y="4678237"/>
                  <a:ext cx="0" cy="45052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1" name="Straight Connector 160">
                  <a:extLst>
                    <a:ext uri="{FF2B5EF4-FFF2-40B4-BE49-F238E27FC236}">
                      <a16:creationId xmlns:a16="http://schemas.microsoft.com/office/drawing/2014/main" id="{AE1447A3-22D7-83D8-19A7-EB7503B8964A}"/>
                    </a:ext>
                  </a:extLst>
                </p:cNvPr>
                <p:cNvCxnSpPr>
                  <a:cxnSpLocks/>
                  <a:stCxn id="163" idx="0"/>
                  <a:endCxn id="163" idx="4"/>
                </p:cNvCxnSpPr>
                <p:nvPr/>
              </p:nvCxnSpPr>
              <p:spPr>
                <a:xfrm>
                  <a:off x="2051537" y="4671562"/>
                  <a:ext cx="304800" cy="4572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6" name="Group 15">
                <a:extLst>
                  <a:ext uri="{FF2B5EF4-FFF2-40B4-BE49-F238E27FC236}">
                    <a16:creationId xmlns:a16="http://schemas.microsoft.com/office/drawing/2014/main" id="{31E7F576-E22B-FF40-1BC2-3CBD41763981}"/>
                  </a:ext>
                </a:extLst>
              </p:cNvPr>
              <p:cNvGrpSpPr/>
              <p:nvPr/>
            </p:nvGrpSpPr>
            <p:grpSpPr>
              <a:xfrm flipV="1">
                <a:off x="1090247" y="2701513"/>
                <a:ext cx="715106" cy="490655"/>
                <a:chOff x="1277817" y="2951653"/>
                <a:chExt cx="715106" cy="490655"/>
              </a:xfrm>
              <a:solidFill>
                <a:srgbClr val="009ACC"/>
              </a:solidFill>
            </p:grpSpPr>
            <p:sp>
              <p:nvSpPr>
                <p:cNvPr id="9" name="Rectangle 8">
                  <a:extLst>
                    <a:ext uri="{FF2B5EF4-FFF2-40B4-BE49-F238E27FC236}">
                      <a16:creationId xmlns:a16="http://schemas.microsoft.com/office/drawing/2014/main" id="{A6D444DC-55D4-F7DC-0750-B43234975DB4}"/>
                    </a:ext>
                  </a:extLst>
                </p:cNvPr>
                <p:cNvSpPr/>
                <p:nvPr/>
              </p:nvSpPr>
              <p:spPr>
                <a:xfrm>
                  <a:off x="1277817" y="2951653"/>
                  <a:ext cx="398584" cy="490655"/>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riangle 12">
                  <a:extLst>
                    <a:ext uri="{FF2B5EF4-FFF2-40B4-BE49-F238E27FC236}">
                      <a16:creationId xmlns:a16="http://schemas.microsoft.com/office/drawing/2014/main" id="{7BD3ACC6-C109-5CD5-9BF7-1371EA82877F}"/>
                    </a:ext>
                  </a:extLst>
                </p:cNvPr>
                <p:cNvSpPr/>
                <p:nvPr/>
              </p:nvSpPr>
              <p:spPr>
                <a:xfrm>
                  <a:off x="1383323" y="2985106"/>
                  <a:ext cx="609600" cy="457200"/>
                </a:xfrm>
                <a:prstGeom prst="triangl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21" name="Straight Connector 20">
                <a:extLst>
                  <a:ext uri="{FF2B5EF4-FFF2-40B4-BE49-F238E27FC236}">
                    <a16:creationId xmlns:a16="http://schemas.microsoft.com/office/drawing/2014/main" id="{97790EE1-1762-C59B-EE0E-B928F013FB58}"/>
                  </a:ext>
                </a:extLst>
              </p:cNvPr>
              <p:cNvCxnSpPr>
                <a:endCxn id="13" idx="4"/>
              </p:cNvCxnSpPr>
              <p:nvPr/>
            </p:nvCxnSpPr>
            <p:spPr>
              <a:xfrm flipV="1">
                <a:off x="1090247" y="2701515"/>
                <a:ext cx="715106"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4E9629B7-E781-C24F-0F5D-A70BD4C093CD}"/>
                  </a:ext>
                </a:extLst>
              </p:cNvPr>
              <p:cNvCxnSpPr>
                <a:cxnSpLocks/>
                <a:endCxn id="13" idx="0"/>
              </p:cNvCxnSpPr>
              <p:nvPr/>
            </p:nvCxnSpPr>
            <p:spPr>
              <a:xfrm flipV="1">
                <a:off x="1090247" y="3158715"/>
                <a:ext cx="410306"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7DC6AF41-93A9-CCDB-C488-8ABECF5D5A4D}"/>
                  </a:ext>
                </a:extLst>
              </p:cNvPr>
              <p:cNvCxnSpPr>
                <a:cxnSpLocks/>
              </p:cNvCxnSpPr>
              <p:nvPr/>
            </p:nvCxnSpPr>
            <p:spPr>
              <a:xfrm flipV="1">
                <a:off x="1084386" y="2701515"/>
                <a:ext cx="0" cy="45052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9E2200CF-7683-4692-F9C2-5D6A0503520C}"/>
                  </a:ext>
                </a:extLst>
              </p:cNvPr>
              <p:cNvCxnSpPr>
                <a:cxnSpLocks/>
                <a:stCxn id="13" idx="0"/>
                <a:endCxn id="13" idx="4"/>
              </p:cNvCxnSpPr>
              <p:nvPr/>
            </p:nvCxnSpPr>
            <p:spPr>
              <a:xfrm flipV="1">
                <a:off x="1500553" y="2701515"/>
                <a:ext cx="304800" cy="4572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46" name="Group 45">
                <a:extLst>
                  <a:ext uri="{FF2B5EF4-FFF2-40B4-BE49-F238E27FC236}">
                    <a16:creationId xmlns:a16="http://schemas.microsoft.com/office/drawing/2014/main" id="{5CCD3D41-643F-DCBA-F4AB-9D1A54937E4D}"/>
                  </a:ext>
                </a:extLst>
              </p:cNvPr>
              <p:cNvGrpSpPr/>
              <p:nvPr/>
            </p:nvGrpSpPr>
            <p:grpSpPr>
              <a:xfrm>
                <a:off x="1511207" y="2701514"/>
                <a:ext cx="914401" cy="470709"/>
                <a:chOff x="1594337" y="2726227"/>
                <a:chExt cx="914401" cy="470709"/>
              </a:xfrm>
            </p:grpSpPr>
            <p:sp>
              <p:nvSpPr>
                <p:cNvPr id="15" name="Triangle 14">
                  <a:extLst>
                    <a:ext uri="{FF2B5EF4-FFF2-40B4-BE49-F238E27FC236}">
                      <a16:creationId xmlns:a16="http://schemas.microsoft.com/office/drawing/2014/main" id="{AAF1B0C9-3AB4-8341-FA38-8EC3EA2E196C}"/>
                    </a:ext>
                  </a:extLst>
                </p:cNvPr>
                <p:cNvSpPr/>
                <p:nvPr/>
              </p:nvSpPr>
              <p:spPr>
                <a:xfrm>
                  <a:off x="1594338" y="2739736"/>
                  <a:ext cx="609600" cy="457200"/>
                </a:xfrm>
                <a:prstGeom prst="triangle">
                  <a:avLst/>
                </a:prstGeom>
                <a:solidFill>
                  <a:srgbClr val="009AC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Triangle 37">
                  <a:extLst>
                    <a:ext uri="{FF2B5EF4-FFF2-40B4-BE49-F238E27FC236}">
                      <a16:creationId xmlns:a16="http://schemas.microsoft.com/office/drawing/2014/main" id="{2707D843-F766-96A2-F47A-5E0C729A3D15}"/>
                    </a:ext>
                  </a:extLst>
                </p:cNvPr>
                <p:cNvSpPr/>
                <p:nvPr/>
              </p:nvSpPr>
              <p:spPr>
                <a:xfrm flipV="1">
                  <a:off x="1899138" y="2739736"/>
                  <a:ext cx="609600" cy="457200"/>
                </a:xfrm>
                <a:prstGeom prst="triangle">
                  <a:avLst/>
                </a:prstGeom>
                <a:solidFill>
                  <a:srgbClr val="009AC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9" name="Straight Connector 38">
                  <a:extLst>
                    <a:ext uri="{FF2B5EF4-FFF2-40B4-BE49-F238E27FC236}">
                      <a16:creationId xmlns:a16="http://schemas.microsoft.com/office/drawing/2014/main" id="{A9FC66F3-2134-24FC-03DB-8F05BEE19BD8}"/>
                    </a:ext>
                  </a:extLst>
                </p:cNvPr>
                <p:cNvCxnSpPr>
                  <a:cxnSpLocks/>
                  <a:stCxn id="38" idx="0"/>
                </p:cNvCxnSpPr>
                <p:nvPr/>
              </p:nvCxnSpPr>
              <p:spPr>
                <a:xfrm flipH="1" flipV="1">
                  <a:off x="1594339" y="3194902"/>
                  <a:ext cx="609599" cy="2034"/>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284A4B78-D66E-3621-4F1F-FCA287EB5AFB}"/>
                    </a:ext>
                  </a:extLst>
                </p:cNvPr>
                <p:cNvCxnSpPr>
                  <a:cxnSpLocks/>
                </p:cNvCxnSpPr>
                <p:nvPr/>
              </p:nvCxnSpPr>
              <p:spPr>
                <a:xfrm flipH="1">
                  <a:off x="1594337" y="2726581"/>
                  <a:ext cx="304800" cy="4572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0DF39C4B-A770-6CC1-B5C6-D351946B33AE}"/>
                    </a:ext>
                  </a:extLst>
                </p:cNvPr>
                <p:cNvCxnSpPr>
                  <a:cxnSpLocks/>
                </p:cNvCxnSpPr>
                <p:nvPr/>
              </p:nvCxnSpPr>
              <p:spPr>
                <a:xfrm flipH="1">
                  <a:off x="2203934" y="2737702"/>
                  <a:ext cx="304800" cy="4572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DC3FC8FC-FA63-100D-1761-D4C6C01F390F}"/>
                    </a:ext>
                  </a:extLst>
                </p:cNvPr>
                <p:cNvCxnSpPr>
                  <a:cxnSpLocks/>
                </p:cNvCxnSpPr>
                <p:nvPr/>
              </p:nvCxnSpPr>
              <p:spPr>
                <a:xfrm flipH="1" flipV="1">
                  <a:off x="1899137" y="2726227"/>
                  <a:ext cx="609599" cy="2034"/>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47" name="Group 46">
                <a:extLst>
                  <a:ext uri="{FF2B5EF4-FFF2-40B4-BE49-F238E27FC236}">
                    <a16:creationId xmlns:a16="http://schemas.microsoft.com/office/drawing/2014/main" id="{C7A4B1F6-8190-C9A1-FF32-1D32080FCE95}"/>
                  </a:ext>
                </a:extLst>
              </p:cNvPr>
              <p:cNvGrpSpPr/>
              <p:nvPr/>
            </p:nvGrpSpPr>
            <p:grpSpPr>
              <a:xfrm>
                <a:off x="2117611" y="2701514"/>
                <a:ext cx="914401" cy="470709"/>
                <a:chOff x="1594337" y="2726227"/>
                <a:chExt cx="914401" cy="470709"/>
              </a:xfrm>
            </p:grpSpPr>
            <p:sp>
              <p:nvSpPr>
                <p:cNvPr id="48" name="Triangle 47">
                  <a:extLst>
                    <a:ext uri="{FF2B5EF4-FFF2-40B4-BE49-F238E27FC236}">
                      <a16:creationId xmlns:a16="http://schemas.microsoft.com/office/drawing/2014/main" id="{70FC2AD4-1F5E-6FBE-445E-48BC318466CA}"/>
                    </a:ext>
                  </a:extLst>
                </p:cNvPr>
                <p:cNvSpPr/>
                <p:nvPr/>
              </p:nvSpPr>
              <p:spPr>
                <a:xfrm>
                  <a:off x="1594338" y="2739736"/>
                  <a:ext cx="609600" cy="457200"/>
                </a:xfrm>
                <a:prstGeom prst="triangle">
                  <a:avLst/>
                </a:prstGeom>
                <a:solidFill>
                  <a:srgbClr val="009AC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Triangle 48">
                  <a:extLst>
                    <a:ext uri="{FF2B5EF4-FFF2-40B4-BE49-F238E27FC236}">
                      <a16:creationId xmlns:a16="http://schemas.microsoft.com/office/drawing/2014/main" id="{3656E94B-A4DB-E749-BFC7-A22629A2471D}"/>
                    </a:ext>
                  </a:extLst>
                </p:cNvPr>
                <p:cNvSpPr/>
                <p:nvPr/>
              </p:nvSpPr>
              <p:spPr>
                <a:xfrm flipV="1">
                  <a:off x="1899138" y="2739736"/>
                  <a:ext cx="609600" cy="457200"/>
                </a:xfrm>
                <a:prstGeom prst="triangle">
                  <a:avLst/>
                </a:prstGeom>
                <a:solidFill>
                  <a:srgbClr val="009AC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0" name="Straight Connector 49">
                  <a:extLst>
                    <a:ext uri="{FF2B5EF4-FFF2-40B4-BE49-F238E27FC236}">
                      <a16:creationId xmlns:a16="http://schemas.microsoft.com/office/drawing/2014/main" id="{0A6DF059-9913-5E93-F0B3-633C59F14315}"/>
                    </a:ext>
                  </a:extLst>
                </p:cNvPr>
                <p:cNvCxnSpPr>
                  <a:cxnSpLocks/>
                  <a:stCxn id="49" idx="0"/>
                </p:cNvCxnSpPr>
                <p:nvPr/>
              </p:nvCxnSpPr>
              <p:spPr>
                <a:xfrm flipH="1" flipV="1">
                  <a:off x="1594339" y="3194902"/>
                  <a:ext cx="609599" cy="2034"/>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C14C30FF-1A9E-CD39-6C34-E5282CC0D403}"/>
                    </a:ext>
                  </a:extLst>
                </p:cNvPr>
                <p:cNvCxnSpPr>
                  <a:cxnSpLocks/>
                </p:cNvCxnSpPr>
                <p:nvPr/>
              </p:nvCxnSpPr>
              <p:spPr>
                <a:xfrm flipH="1">
                  <a:off x="1594337" y="2726581"/>
                  <a:ext cx="304800" cy="4572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29264B65-7719-ABF0-A5CF-2B7010917954}"/>
                    </a:ext>
                  </a:extLst>
                </p:cNvPr>
                <p:cNvCxnSpPr>
                  <a:cxnSpLocks/>
                </p:cNvCxnSpPr>
                <p:nvPr/>
              </p:nvCxnSpPr>
              <p:spPr>
                <a:xfrm flipH="1">
                  <a:off x="2203934" y="2737702"/>
                  <a:ext cx="304800" cy="4572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A99A610A-653C-E662-1103-A06DF2B05B1F}"/>
                    </a:ext>
                  </a:extLst>
                </p:cNvPr>
                <p:cNvCxnSpPr>
                  <a:cxnSpLocks/>
                </p:cNvCxnSpPr>
                <p:nvPr/>
              </p:nvCxnSpPr>
              <p:spPr>
                <a:xfrm flipH="1" flipV="1">
                  <a:off x="1899137" y="2726227"/>
                  <a:ext cx="609599" cy="2034"/>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54" name="Group 53">
                <a:extLst>
                  <a:ext uri="{FF2B5EF4-FFF2-40B4-BE49-F238E27FC236}">
                    <a16:creationId xmlns:a16="http://schemas.microsoft.com/office/drawing/2014/main" id="{9AE31BE6-974F-2879-A8E2-7F775F0A16B8}"/>
                  </a:ext>
                </a:extLst>
              </p:cNvPr>
              <p:cNvGrpSpPr/>
              <p:nvPr/>
            </p:nvGrpSpPr>
            <p:grpSpPr>
              <a:xfrm>
                <a:off x="2724011" y="2701514"/>
                <a:ext cx="914401" cy="470709"/>
                <a:chOff x="1594337" y="2726227"/>
                <a:chExt cx="914401" cy="470709"/>
              </a:xfrm>
            </p:grpSpPr>
            <p:sp>
              <p:nvSpPr>
                <p:cNvPr id="55" name="Triangle 54">
                  <a:extLst>
                    <a:ext uri="{FF2B5EF4-FFF2-40B4-BE49-F238E27FC236}">
                      <a16:creationId xmlns:a16="http://schemas.microsoft.com/office/drawing/2014/main" id="{8D2F7D54-CEB6-0D47-2536-8945FE7CAD0A}"/>
                    </a:ext>
                  </a:extLst>
                </p:cNvPr>
                <p:cNvSpPr/>
                <p:nvPr/>
              </p:nvSpPr>
              <p:spPr>
                <a:xfrm>
                  <a:off x="1594338" y="2739736"/>
                  <a:ext cx="609600" cy="457200"/>
                </a:xfrm>
                <a:prstGeom prst="triangle">
                  <a:avLst/>
                </a:prstGeom>
                <a:solidFill>
                  <a:srgbClr val="009AC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Triangle 55">
                  <a:extLst>
                    <a:ext uri="{FF2B5EF4-FFF2-40B4-BE49-F238E27FC236}">
                      <a16:creationId xmlns:a16="http://schemas.microsoft.com/office/drawing/2014/main" id="{1BD9B742-9D9A-EC21-D409-CA1C5940FD03}"/>
                    </a:ext>
                  </a:extLst>
                </p:cNvPr>
                <p:cNvSpPr/>
                <p:nvPr/>
              </p:nvSpPr>
              <p:spPr>
                <a:xfrm flipV="1">
                  <a:off x="1899138" y="2739736"/>
                  <a:ext cx="609600" cy="457200"/>
                </a:xfrm>
                <a:prstGeom prst="triangle">
                  <a:avLst/>
                </a:prstGeom>
                <a:solidFill>
                  <a:srgbClr val="009AC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7" name="Straight Connector 56">
                  <a:extLst>
                    <a:ext uri="{FF2B5EF4-FFF2-40B4-BE49-F238E27FC236}">
                      <a16:creationId xmlns:a16="http://schemas.microsoft.com/office/drawing/2014/main" id="{8E252F5B-9C36-8D71-8F48-DA05A0875E75}"/>
                    </a:ext>
                  </a:extLst>
                </p:cNvPr>
                <p:cNvCxnSpPr>
                  <a:cxnSpLocks/>
                  <a:stCxn id="56" idx="0"/>
                </p:cNvCxnSpPr>
                <p:nvPr/>
              </p:nvCxnSpPr>
              <p:spPr>
                <a:xfrm flipH="1" flipV="1">
                  <a:off x="1594339" y="3194902"/>
                  <a:ext cx="609599" cy="2034"/>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9F53E797-BE4E-B3B9-D664-474E43D507A5}"/>
                    </a:ext>
                  </a:extLst>
                </p:cNvPr>
                <p:cNvCxnSpPr>
                  <a:cxnSpLocks/>
                </p:cNvCxnSpPr>
                <p:nvPr/>
              </p:nvCxnSpPr>
              <p:spPr>
                <a:xfrm flipH="1">
                  <a:off x="1594337" y="2726581"/>
                  <a:ext cx="304800" cy="4572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20D43089-1338-8DA5-E726-7FBD6E5E940D}"/>
                    </a:ext>
                  </a:extLst>
                </p:cNvPr>
                <p:cNvCxnSpPr>
                  <a:cxnSpLocks/>
                </p:cNvCxnSpPr>
                <p:nvPr/>
              </p:nvCxnSpPr>
              <p:spPr>
                <a:xfrm flipH="1">
                  <a:off x="2203934" y="2737702"/>
                  <a:ext cx="304800" cy="4572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02294C89-26E2-8639-4AB4-69767CE9AC35}"/>
                    </a:ext>
                  </a:extLst>
                </p:cNvPr>
                <p:cNvCxnSpPr>
                  <a:cxnSpLocks/>
                </p:cNvCxnSpPr>
                <p:nvPr/>
              </p:nvCxnSpPr>
              <p:spPr>
                <a:xfrm flipH="1" flipV="1">
                  <a:off x="1899137" y="2726227"/>
                  <a:ext cx="609599" cy="2034"/>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61" name="Group 60">
                <a:extLst>
                  <a:ext uri="{FF2B5EF4-FFF2-40B4-BE49-F238E27FC236}">
                    <a16:creationId xmlns:a16="http://schemas.microsoft.com/office/drawing/2014/main" id="{63A315AB-F288-E55D-BC99-69D7CF65279B}"/>
                  </a:ext>
                </a:extLst>
              </p:cNvPr>
              <p:cNvGrpSpPr/>
              <p:nvPr/>
            </p:nvGrpSpPr>
            <p:grpSpPr>
              <a:xfrm>
                <a:off x="3344272" y="2701514"/>
                <a:ext cx="914401" cy="470709"/>
                <a:chOff x="1594337" y="2726227"/>
                <a:chExt cx="914401" cy="470709"/>
              </a:xfrm>
            </p:grpSpPr>
            <p:sp>
              <p:nvSpPr>
                <p:cNvPr id="62" name="Triangle 61">
                  <a:extLst>
                    <a:ext uri="{FF2B5EF4-FFF2-40B4-BE49-F238E27FC236}">
                      <a16:creationId xmlns:a16="http://schemas.microsoft.com/office/drawing/2014/main" id="{C3D02799-0F19-1437-3C23-F3624BAA2684}"/>
                    </a:ext>
                  </a:extLst>
                </p:cNvPr>
                <p:cNvSpPr/>
                <p:nvPr/>
              </p:nvSpPr>
              <p:spPr>
                <a:xfrm>
                  <a:off x="1594338" y="2739736"/>
                  <a:ext cx="609600" cy="457200"/>
                </a:xfrm>
                <a:prstGeom prst="triangle">
                  <a:avLst/>
                </a:prstGeom>
                <a:solidFill>
                  <a:srgbClr val="009AC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Triangle 62">
                  <a:extLst>
                    <a:ext uri="{FF2B5EF4-FFF2-40B4-BE49-F238E27FC236}">
                      <a16:creationId xmlns:a16="http://schemas.microsoft.com/office/drawing/2014/main" id="{C2E9C9A2-D198-8395-E813-7FCAA390E950}"/>
                    </a:ext>
                  </a:extLst>
                </p:cNvPr>
                <p:cNvSpPr/>
                <p:nvPr/>
              </p:nvSpPr>
              <p:spPr>
                <a:xfrm flipV="1">
                  <a:off x="1899138" y="2739736"/>
                  <a:ext cx="609600" cy="457200"/>
                </a:xfrm>
                <a:prstGeom prst="triangle">
                  <a:avLst/>
                </a:prstGeom>
                <a:solidFill>
                  <a:srgbClr val="009AC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4" name="Straight Connector 63">
                  <a:extLst>
                    <a:ext uri="{FF2B5EF4-FFF2-40B4-BE49-F238E27FC236}">
                      <a16:creationId xmlns:a16="http://schemas.microsoft.com/office/drawing/2014/main" id="{939D1CA0-3052-C8CF-F0A6-0A77CAB79325}"/>
                    </a:ext>
                  </a:extLst>
                </p:cNvPr>
                <p:cNvCxnSpPr>
                  <a:cxnSpLocks/>
                  <a:stCxn id="63" idx="0"/>
                </p:cNvCxnSpPr>
                <p:nvPr/>
              </p:nvCxnSpPr>
              <p:spPr>
                <a:xfrm flipH="1" flipV="1">
                  <a:off x="1594339" y="3194902"/>
                  <a:ext cx="609599" cy="2034"/>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29191414-3F5C-112A-0A48-488471F0DAF7}"/>
                    </a:ext>
                  </a:extLst>
                </p:cNvPr>
                <p:cNvCxnSpPr>
                  <a:cxnSpLocks/>
                </p:cNvCxnSpPr>
                <p:nvPr/>
              </p:nvCxnSpPr>
              <p:spPr>
                <a:xfrm flipH="1">
                  <a:off x="1594337" y="2726581"/>
                  <a:ext cx="304800" cy="4572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FD8AF0CC-7898-EBAE-E1E3-4A6803C74C8C}"/>
                    </a:ext>
                  </a:extLst>
                </p:cNvPr>
                <p:cNvCxnSpPr>
                  <a:cxnSpLocks/>
                </p:cNvCxnSpPr>
                <p:nvPr/>
              </p:nvCxnSpPr>
              <p:spPr>
                <a:xfrm flipH="1">
                  <a:off x="2203934" y="2737702"/>
                  <a:ext cx="304800" cy="4572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8F41E44F-C89B-AE97-073C-4FB1197A0734}"/>
                    </a:ext>
                  </a:extLst>
                </p:cNvPr>
                <p:cNvCxnSpPr>
                  <a:cxnSpLocks/>
                </p:cNvCxnSpPr>
                <p:nvPr/>
              </p:nvCxnSpPr>
              <p:spPr>
                <a:xfrm flipH="1" flipV="1">
                  <a:off x="1899137" y="2726227"/>
                  <a:ext cx="609599" cy="2034"/>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68" name="Group 67">
                <a:extLst>
                  <a:ext uri="{FF2B5EF4-FFF2-40B4-BE49-F238E27FC236}">
                    <a16:creationId xmlns:a16="http://schemas.microsoft.com/office/drawing/2014/main" id="{839B3D3F-7396-4736-334E-1202B846438D}"/>
                  </a:ext>
                </a:extLst>
              </p:cNvPr>
              <p:cNvGrpSpPr/>
              <p:nvPr/>
            </p:nvGrpSpPr>
            <p:grpSpPr>
              <a:xfrm>
                <a:off x="3950672" y="2701514"/>
                <a:ext cx="914401" cy="470709"/>
                <a:chOff x="1594337" y="2726227"/>
                <a:chExt cx="914401" cy="470709"/>
              </a:xfrm>
            </p:grpSpPr>
            <p:sp>
              <p:nvSpPr>
                <p:cNvPr id="69" name="Triangle 68">
                  <a:extLst>
                    <a:ext uri="{FF2B5EF4-FFF2-40B4-BE49-F238E27FC236}">
                      <a16:creationId xmlns:a16="http://schemas.microsoft.com/office/drawing/2014/main" id="{932CA951-4949-2A30-1A2B-CC0BFB8417C5}"/>
                    </a:ext>
                  </a:extLst>
                </p:cNvPr>
                <p:cNvSpPr/>
                <p:nvPr/>
              </p:nvSpPr>
              <p:spPr>
                <a:xfrm>
                  <a:off x="1594338" y="2739736"/>
                  <a:ext cx="609600" cy="457200"/>
                </a:xfrm>
                <a:prstGeom prst="triangle">
                  <a:avLst/>
                </a:prstGeom>
                <a:solidFill>
                  <a:srgbClr val="009AC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Triangle 69">
                  <a:extLst>
                    <a:ext uri="{FF2B5EF4-FFF2-40B4-BE49-F238E27FC236}">
                      <a16:creationId xmlns:a16="http://schemas.microsoft.com/office/drawing/2014/main" id="{BAD1A2A3-C3DA-B2E6-8220-59B584E88A64}"/>
                    </a:ext>
                  </a:extLst>
                </p:cNvPr>
                <p:cNvSpPr/>
                <p:nvPr/>
              </p:nvSpPr>
              <p:spPr>
                <a:xfrm flipV="1">
                  <a:off x="1899138" y="2739736"/>
                  <a:ext cx="609600" cy="457200"/>
                </a:xfrm>
                <a:prstGeom prst="triangle">
                  <a:avLst/>
                </a:prstGeom>
                <a:solidFill>
                  <a:srgbClr val="009AC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1" name="Straight Connector 70">
                  <a:extLst>
                    <a:ext uri="{FF2B5EF4-FFF2-40B4-BE49-F238E27FC236}">
                      <a16:creationId xmlns:a16="http://schemas.microsoft.com/office/drawing/2014/main" id="{49F35C16-F473-D22B-789A-817ED797675D}"/>
                    </a:ext>
                  </a:extLst>
                </p:cNvPr>
                <p:cNvCxnSpPr>
                  <a:cxnSpLocks/>
                  <a:stCxn id="70" idx="0"/>
                </p:cNvCxnSpPr>
                <p:nvPr/>
              </p:nvCxnSpPr>
              <p:spPr>
                <a:xfrm flipH="1" flipV="1">
                  <a:off x="1594339" y="3194902"/>
                  <a:ext cx="609599" cy="2034"/>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0065D8D7-5F82-A74E-AD7B-7AE37AB29A7A}"/>
                    </a:ext>
                  </a:extLst>
                </p:cNvPr>
                <p:cNvCxnSpPr>
                  <a:cxnSpLocks/>
                </p:cNvCxnSpPr>
                <p:nvPr/>
              </p:nvCxnSpPr>
              <p:spPr>
                <a:xfrm flipH="1">
                  <a:off x="1594337" y="2726581"/>
                  <a:ext cx="304800" cy="4572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C800657C-ED53-08EE-B350-81976A548950}"/>
                    </a:ext>
                  </a:extLst>
                </p:cNvPr>
                <p:cNvCxnSpPr>
                  <a:cxnSpLocks/>
                </p:cNvCxnSpPr>
                <p:nvPr/>
              </p:nvCxnSpPr>
              <p:spPr>
                <a:xfrm flipH="1">
                  <a:off x="2203934" y="2737702"/>
                  <a:ext cx="304800" cy="4572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0159F3B9-DC9D-A04E-3AB9-E85CE8D0422B}"/>
                    </a:ext>
                  </a:extLst>
                </p:cNvPr>
                <p:cNvCxnSpPr>
                  <a:cxnSpLocks/>
                </p:cNvCxnSpPr>
                <p:nvPr/>
              </p:nvCxnSpPr>
              <p:spPr>
                <a:xfrm flipH="1" flipV="1">
                  <a:off x="1899137" y="2726227"/>
                  <a:ext cx="609599" cy="2034"/>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75" name="Group 74">
                <a:extLst>
                  <a:ext uri="{FF2B5EF4-FFF2-40B4-BE49-F238E27FC236}">
                    <a16:creationId xmlns:a16="http://schemas.microsoft.com/office/drawing/2014/main" id="{BC56B43E-A6DD-1A40-6A51-E5ECA1802DB6}"/>
                  </a:ext>
                </a:extLst>
              </p:cNvPr>
              <p:cNvGrpSpPr/>
              <p:nvPr/>
            </p:nvGrpSpPr>
            <p:grpSpPr>
              <a:xfrm>
                <a:off x="4557078" y="2701514"/>
                <a:ext cx="914401" cy="470709"/>
                <a:chOff x="1594337" y="2726227"/>
                <a:chExt cx="914401" cy="470709"/>
              </a:xfrm>
            </p:grpSpPr>
            <p:sp>
              <p:nvSpPr>
                <p:cNvPr id="76" name="Triangle 75">
                  <a:extLst>
                    <a:ext uri="{FF2B5EF4-FFF2-40B4-BE49-F238E27FC236}">
                      <a16:creationId xmlns:a16="http://schemas.microsoft.com/office/drawing/2014/main" id="{E6A0B289-EA63-BAEC-1C5A-19F88E5D2C87}"/>
                    </a:ext>
                  </a:extLst>
                </p:cNvPr>
                <p:cNvSpPr/>
                <p:nvPr/>
              </p:nvSpPr>
              <p:spPr>
                <a:xfrm>
                  <a:off x="1594338" y="2739736"/>
                  <a:ext cx="609600" cy="457200"/>
                </a:xfrm>
                <a:prstGeom prst="triangle">
                  <a:avLst/>
                </a:prstGeom>
                <a:solidFill>
                  <a:srgbClr val="009AC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Triangle 76">
                  <a:extLst>
                    <a:ext uri="{FF2B5EF4-FFF2-40B4-BE49-F238E27FC236}">
                      <a16:creationId xmlns:a16="http://schemas.microsoft.com/office/drawing/2014/main" id="{0DCE44E0-596B-8DC4-FFDB-084DC0D3EF3B}"/>
                    </a:ext>
                  </a:extLst>
                </p:cNvPr>
                <p:cNvSpPr/>
                <p:nvPr/>
              </p:nvSpPr>
              <p:spPr>
                <a:xfrm flipV="1">
                  <a:off x="1899138" y="2739736"/>
                  <a:ext cx="609600" cy="457200"/>
                </a:xfrm>
                <a:prstGeom prst="triangle">
                  <a:avLst/>
                </a:prstGeom>
                <a:solidFill>
                  <a:srgbClr val="009AC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8" name="Straight Connector 77">
                  <a:extLst>
                    <a:ext uri="{FF2B5EF4-FFF2-40B4-BE49-F238E27FC236}">
                      <a16:creationId xmlns:a16="http://schemas.microsoft.com/office/drawing/2014/main" id="{4F9A6D04-8DCC-10EB-2464-D959865E9D4B}"/>
                    </a:ext>
                  </a:extLst>
                </p:cNvPr>
                <p:cNvCxnSpPr>
                  <a:cxnSpLocks/>
                  <a:stCxn id="77" idx="0"/>
                </p:cNvCxnSpPr>
                <p:nvPr/>
              </p:nvCxnSpPr>
              <p:spPr>
                <a:xfrm flipH="1" flipV="1">
                  <a:off x="1594339" y="3194902"/>
                  <a:ext cx="609599" cy="2034"/>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D18A776E-8B9A-8C8D-C057-13827992AE9B}"/>
                    </a:ext>
                  </a:extLst>
                </p:cNvPr>
                <p:cNvCxnSpPr>
                  <a:cxnSpLocks/>
                </p:cNvCxnSpPr>
                <p:nvPr/>
              </p:nvCxnSpPr>
              <p:spPr>
                <a:xfrm flipH="1">
                  <a:off x="1594337" y="2726581"/>
                  <a:ext cx="304800" cy="4572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0" name="Straight Connector 79">
                  <a:extLst>
                    <a:ext uri="{FF2B5EF4-FFF2-40B4-BE49-F238E27FC236}">
                      <a16:creationId xmlns:a16="http://schemas.microsoft.com/office/drawing/2014/main" id="{F69137CE-427D-E11F-25D7-312D7CAD038B}"/>
                    </a:ext>
                  </a:extLst>
                </p:cNvPr>
                <p:cNvCxnSpPr>
                  <a:cxnSpLocks/>
                </p:cNvCxnSpPr>
                <p:nvPr/>
              </p:nvCxnSpPr>
              <p:spPr>
                <a:xfrm flipH="1">
                  <a:off x="2203934" y="2737702"/>
                  <a:ext cx="304800" cy="4572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1" name="Straight Connector 80">
                  <a:extLst>
                    <a:ext uri="{FF2B5EF4-FFF2-40B4-BE49-F238E27FC236}">
                      <a16:creationId xmlns:a16="http://schemas.microsoft.com/office/drawing/2014/main" id="{DA9C4838-BE41-7705-300F-DE4EA599AFCA}"/>
                    </a:ext>
                  </a:extLst>
                </p:cNvPr>
                <p:cNvCxnSpPr>
                  <a:cxnSpLocks/>
                </p:cNvCxnSpPr>
                <p:nvPr/>
              </p:nvCxnSpPr>
              <p:spPr>
                <a:xfrm flipH="1" flipV="1">
                  <a:off x="1899137" y="2726227"/>
                  <a:ext cx="609599" cy="2034"/>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82" name="Group 81">
                <a:extLst>
                  <a:ext uri="{FF2B5EF4-FFF2-40B4-BE49-F238E27FC236}">
                    <a16:creationId xmlns:a16="http://schemas.microsoft.com/office/drawing/2014/main" id="{5AFC6E01-0112-945B-E6D4-45F82315FA19}"/>
                  </a:ext>
                </a:extLst>
              </p:cNvPr>
              <p:cNvGrpSpPr/>
              <p:nvPr/>
            </p:nvGrpSpPr>
            <p:grpSpPr>
              <a:xfrm>
                <a:off x="5165610" y="2701514"/>
                <a:ext cx="914401" cy="470709"/>
                <a:chOff x="1594337" y="2726227"/>
                <a:chExt cx="914401" cy="470709"/>
              </a:xfrm>
            </p:grpSpPr>
            <p:sp>
              <p:nvSpPr>
                <p:cNvPr id="83" name="Triangle 82">
                  <a:extLst>
                    <a:ext uri="{FF2B5EF4-FFF2-40B4-BE49-F238E27FC236}">
                      <a16:creationId xmlns:a16="http://schemas.microsoft.com/office/drawing/2014/main" id="{EEA8E166-3468-72FB-D264-450357166266}"/>
                    </a:ext>
                  </a:extLst>
                </p:cNvPr>
                <p:cNvSpPr/>
                <p:nvPr/>
              </p:nvSpPr>
              <p:spPr>
                <a:xfrm>
                  <a:off x="1594338" y="2739736"/>
                  <a:ext cx="609600" cy="457200"/>
                </a:xfrm>
                <a:prstGeom prst="triangle">
                  <a:avLst/>
                </a:prstGeom>
                <a:solidFill>
                  <a:srgbClr val="009AC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 name="Triangle 83">
                  <a:extLst>
                    <a:ext uri="{FF2B5EF4-FFF2-40B4-BE49-F238E27FC236}">
                      <a16:creationId xmlns:a16="http://schemas.microsoft.com/office/drawing/2014/main" id="{F12DD425-E57D-6A07-1B96-9D59243EF805}"/>
                    </a:ext>
                  </a:extLst>
                </p:cNvPr>
                <p:cNvSpPr/>
                <p:nvPr/>
              </p:nvSpPr>
              <p:spPr>
                <a:xfrm flipV="1">
                  <a:off x="1899138" y="2739736"/>
                  <a:ext cx="609600" cy="457200"/>
                </a:xfrm>
                <a:prstGeom prst="triangle">
                  <a:avLst/>
                </a:prstGeom>
                <a:solidFill>
                  <a:srgbClr val="009AC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5" name="Straight Connector 84">
                  <a:extLst>
                    <a:ext uri="{FF2B5EF4-FFF2-40B4-BE49-F238E27FC236}">
                      <a16:creationId xmlns:a16="http://schemas.microsoft.com/office/drawing/2014/main" id="{1B2F97B5-3C4B-DF88-CA61-A49E5BED5E43}"/>
                    </a:ext>
                  </a:extLst>
                </p:cNvPr>
                <p:cNvCxnSpPr>
                  <a:cxnSpLocks/>
                  <a:stCxn id="84" idx="0"/>
                </p:cNvCxnSpPr>
                <p:nvPr/>
              </p:nvCxnSpPr>
              <p:spPr>
                <a:xfrm flipH="1" flipV="1">
                  <a:off x="1594339" y="3194902"/>
                  <a:ext cx="609599" cy="2034"/>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C606170A-6DE8-E6A1-C3EA-D802F1F2F0DC}"/>
                    </a:ext>
                  </a:extLst>
                </p:cNvPr>
                <p:cNvCxnSpPr>
                  <a:cxnSpLocks/>
                </p:cNvCxnSpPr>
                <p:nvPr/>
              </p:nvCxnSpPr>
              <p:spPr>
                <a:xfrm flipH="1">
                  <a:off x="1594337" y="2726581"/>
                  <a:ext cx="304800" cy="4572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00F90EA7-43EB-B10E-3B19-31108526B702}"/>
                    </a:ext>
                  </a:extLst>
                </p:cNvPr>
                <p:cNvCxnSpPr>
                  <a:cxnSpLocks/>
                </p:cNvCxnSpPr>
                <p:nvPr/>
              </p:nvCxnSpPr>
              <p:spPr>
                <a:xfrm flipH="1">
                  <a:off x="2203934" y="2737702"/>
                  <a:ext cx="304800" cy="4572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8" name="Straight Connector 87">
                  <a:extLst>
                    <a:ext uri="{FF2B5EF4-FFF2-40B4-BE49-F238E27FC236}">
                      <a16:creationId xmlns:a16="http://schemas.microsoft.com/office/drawing/2014/main" id="{B56116FC-DBFB-A1D9-45AA-C5BA46A7E517}"/>
                    </a:ext>
                  </a:extLst>
                </p:cNvPr>
                <p:cNvCxnSpPr>
                  <a:cxnSpLocks/>
                </p:cNvCxnSpPr>
                <p:nvPr/>
              </p:nvCxnSpPr>
              <p:spPr>
                <a:xfrm flipH="1" flipV="1">
                  <a:off x="1899137" y="2726227"/>
                  <a:ext cx="609599" cy="2034"/>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89" name="Group 88">
                <a:extLst>
                  <a:ext uri="{FF2B5EF4-FFF2-40B4-BE49-F238E27FC236}">
                    <a16:creationId xmlns:a16="http://schemas.microsoft.com/office/drawing/2014/main" id="{4BE36144-30AB-0907-B429-9352255CDFAE}"/>
                  </a:ext>
                </a:extLst>
              </p:cNvPr>
              <p:cNvGrpSpPr/>
              <p:nvPr/>
            </p:nvGrpSpPr>
            <p:grpSpPr>
              <a:xfrm flipV="1">
                <a:off x="6118701" y="2701514"/>
                <a:ext cx="914401" cy="470709"/>
                <a:chOff x="1594337" y="2726227"/>
                <a:chExt cx="914401" cy="470709"/>
              </a:xfrm>
            </p:grpSpPr>
            <p:sp>
              <p:nvSpPr>
                <p:cNvPr id="90" name="Triangle 89">
                  <a:extLst>
                    <a:ext uri="{FF2B5EF4-FFF2-40B4-BE49-F238E27FC236}">
                      <a16:creationId xmlns:a16="http://schemas.microsoft.com/office/drawing/2014/main" id="{D31D564D-9B5C-2C92-473B-81357B019073}"/>
                    </a:ext>
                  </a:extLst>
                </p:cNvPr>
                <p:cNvSpPr/>
                <p:nvPr/>
              </p:nvSpPr>
              <p:spPr>
                <a:xfrm>
                  <a:off x="1594338" y="2739736"/>
                  <a:ext cx="609600" cy="457200"/>
                </a:xfrm>
                <a:prstGeom prst="triangle">
                  <a:avLst/>
                </a:prstGeom>
                <a:solidFill>
                  <a:srgbClr val="009AC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 name="Triangle 90">
                  <a:extLst>
                    <a:ext uri="{FF2B5EF4-FFF2-40B4-BE49-F238E27FC236}">
                      <a16:creationId xmlns:a16="http://schemas.microsoft.com/office/drawing/2014/main" id="{97D7EDB1-8C82-5015-3C0D-18BE1DE46198}"/>
                    </a:ext>
                  </a:extLst>
                </p:cNvPr>
                <p:cNvSpPr/>
                <p:nvPr/>
              </p:nvSpPr>
              <p:spPr>
                <a:xfrm flipV="1">
                  <a:off x="1899138" y="2739736"/>
                  <a:ext cx="609600" cy="457200"/>
                </a:xfrm>
                <a:prstGeom prst="triangle">
                  <a:avLst/>
                </a:prstGeom>
                <a:solidFill>
                  <a:srgbClr val="009AC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2" name="Straight Connector 91">
                  <a:extLst>
                    <a:ext uri="{FF2B5EF4-FFF2-40B4-BE49-F238E27FC236}">
                      <a16:creationId xmlns:a16="http://schemas.microsoft.com/office/drawing/2014/main" id="{BAAF42F5-D6BC-40A7-36E0-5B97BC63352D}"/>
                    </a:ext>
                  </a:extLst>
                </p:cNvPr>
                <p:cNvCxnSpPr>
                  <a:cxnSpLocks/>
                  <a:stCxn id="91" idx="0"/>
                </p:cNvCxnSpPr>
                <p:nvPr/>
              </p:nvCxnSpPr>
              <p:spPr>
                <a:xfrm flipH="1" flipV="1">
                  <a:off x="1594339" y="3194902"/>
                  <a:ext cx="609599" cy="2034"/>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3" name="Straight Connector 92">
                  <a:extLst>
                    <a:ext uri="{FF2B5EF4-FFF2-40B4-BE49-F238E27FC236}">
                      <a16:creationId xmlns:a16="http://schemas.microsoft.com/office/drawing/2014/main" id="{930437EF-52AC-45AE-86BA-14FDC7054D31}"/>
                    </a:ext>
                  </a:extLst>
                </p:cNvPr>
                <p:cNvCxnSpPr>
                  <a:cxnSpLocks/>
                </p:cNvCxnSpPr>
                <p:nvPr/>
              </p:nvCxnSpPr>
              <p:spPr>
                <a:xfrm flipH="1">
                  <a:off x="1594337" y="2726581"/>
                  <a:ext cx="304800" cy="4572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4" name="Straight Connector 93">
                  <a:extLst>
                    <a:ext uri="{FF2B5EF4-FFF2-40B4-BE49-F238E27FC236}">
                      <a16:creationId xmlns:a16="http://schemas.microsoft.com/office/drawing/2014/main" id="{96E1020E-9F3F-914F-A9A9-B3FD3D2988FA}"/>
                    </a:ext>
                  </a:extLst>
                </p:cNvPr>
                <p:cNvCxnSpPr>
                  <a:cxnSpLocks/>
                </p:cNvCxnSpPr>
                <p:nvPr/>
              </p:nvCxnSpPr>
              <p:spPr>
                <a:xfrm flipH="1">
                  <a:off x="2203934" y="2737702"/>
                  <a:ext cx="304800" cy="4572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5" name="Straight Connector 94">
                  <a:extLst>
                    <a:ext uri="{FF2B5EF4-FFF2-40B4-BE49-F238E27FC236}">
                      <a16:creationId xmlns:a16="http://schemas.microsoft.com/office/drawing/2014/main" id="{5228F849-03D9-71B4-6284-384F618592B3}"/>
                    </a:ext>
                  </a:extLst>
                </p:cNvPr>
                <p:cNvCxnSpPr>
                  <a:cxnSpLocks/>
                </p:cNvCxnSpPr>
                <p:nvPr/>
              </p:nvCxnSpPr>
              <p:spPr>
                <a:xfrm flipH="1" flipV="1">
                  <a:off x="1899137" y="2726227"/>
                  <a:ext cx="609599" cy="2034"/>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24" name="TextBox 123">
                <a:extLst>
                  <a:ext uri="{FF2B5EF4-FFF2-40B4-BE49-F238E27FC236}">
                    <a16:creationId xmlns:a16="http://schemas.microsoft.com/office/drawing/2014/main" id="{007FEDD9-0E8B-CF92-8BB0-91074506E218}"/>
                  </a:ext>
                </a:extLst>
              </p:cNvPr>
              <p:cNvSpPr txBox="1"/>
              <p:nvPr/>
            </p:nvSpPr>
            <p:spPr>
              <a:xfrm>
                <a:off x="1797868" y="2804676"/>
                <a:ext cx="284052" cy="307777"/>
              </a:xfrm>
              <a:prstGeom prst="rect">
                <a:avLst/>
              </a:prstGeom>
              <a:noFill/>
            </p:spPr>
            <p:txBody>
              <a:bodyPr wrap="none" rtlCol="0">
                <a:spAutoFit/>
              </a:bodyPr>
              <a:lstStyle/>
              <a:p>
                <a:r>
                  <a:rPr lang="en-US" dirty="0"/>
                  <a:t>2</a:t>
                </a:r>
              </a:p>
            </p:txBody>
          </p:sp>
          <p:sp>
            <p:nvSpPr>
              <p:cNvPr id="125" name="TextBox 124">
                <a:extLst>
                  <a:ext uri="{FF2B5EF4-FFF2-40B4-BE49-F238E27FC236}">
                    <a16:creationId xmlns:a16="http://schemas.microsoft.com/office/drawing/2014/main" id="{D26BC066-0F97-3FE9-0B57-2A4B97F77E2C}"/>
                  </a:ext>
                </a:extLst>
              </p:cNvPr>
              <p:cNvSpPr txBox="1"/>
              <p:nvPr/>
            </p:nvSpPr>
            <p:spPr>
              <a:xfrm>
                <a:off x="1189891" y="2794991"/>
                <a:ext cx="304800" cy="307777"/>
              </a:xfrm>
              <a:prstGeom prst="rect">
                <a:avLst/>
              </a:prstGeom>
              <a:noFill/>
            </p:spPr>
            <p:txBody>
              <a:bodyPr wrap="square" rtlCol="0">
                <a:spAutoFit/>
              </a:bodyPr>
              <a:lstStyle/>
              <a:p>
                <a:r>
                  <a:rPr lang="en-US" dirty="0"/>
                  <a:t>1</a:t>
                </a:r>
              </a:p>
            </p:txBody>
          </p:sp>
          <p:sp>
            <p:nvSpPr>
              <p:cNvPr id="126" name="TextBox 125">
                <a:extLst>
                  <a:ext uri="{FF2B5EF4-FFF2-40B4-BE49-F238E27FC236}">
                    <a16:creationId xmlns:a16="http://schemas.microsoft.com/office/drawing/2014/main" id="{663063D5-3D1A-E200-6DD5-8AA60A87BFBD}"/>
                  </a:ext>
                </a:extLst>
              </p:cNvPr>
              <p:cNvSpPr txBox="1"/>
              <p:nvPr/>
            </p:nvSpPr>
            <p:spPr>
              <a:xfrm>
                <a:off x="2426609" y="2804676"/>
                <a:ext cx="284052" cy="307777"/>
              </a:xfrm>
              <a:prstGeom prst="rect">
                <a:avLst/>
              </a:prstGeom>
              <a:noFill/>
            </p:spPr>
            <p:txBody>
              <a:bodyPr wrap="none" rtlCol="0">
                <a:spAutoFit/>
              </a:bodyPr>
              <a:lstStyle/>
              <a:p>
                <a:r>
                  <a:rPr lang="en-US" dirty="0"/>
                  <a:t>3</a:t>
                </a:r>
              </a:p>
            </p:txBody>
          </p:sp>
          <p:sp>
            <p:nvSpPr>
              <p:cNvPr id="127" name="TextBox 126">
                <a:extLst>
                  <a:ext uri="{FF2B5EF4-FFF2-40B4-BE49-F238E27FC236}">
                    <a16:creationId xmlns:a16="http://schemas.microsoft.com/office/drawing/2014/main" id="{575E160D-1676-43C8-4E94-F1B5D8740269}"/>
                  </a:ext>
                </a:extLst>
              </p:cNvPr>
              <p:cNvSpPr txBox="1"/>
              <p:nvPr/>
            </p:nvSpPr>
            <p:spPr>
              <a:xfrm>
                <a:off x="3027637" y="2804676"/>
                <a:ext cx="284052" cy="307777"/>
              </a:xfrm>
              <a:prstGeom prst="rect">
                <a:avLst/>
              </a:prstGeom>
              <a:noFill/>
            </p:spPr>
            <p:txBody>
              <a:bodyPr wrap="none" rtlCol="0">
                <a:spAutoFit/>
              </a:bodyPr>
              <a:lstStyle/>
              <a:p>
                <a:r>
                  <a:rPr lang="en-US" dirty="0"/>
                  <a:t>4</a:t>
                </a:r>
              </a:p>
            </p:txBody>
          </p:sp>
          <p:sp>
            <p:nvSpPr>
              <p:cNvPr id="128" name="TextBox 127">
                <a:extLst>
                  <a:ext uri="{FF2B5EF4-FFF2-40B4-BE49-F238E27FC236}">
                    <a16:creationId xmlns:a16="http://schemas.microsoft.com/office/drawing/2014/main" id="{E5E4EA4B-9F36-22D8-2D5C-CA07F59BE333}"/>
                  </a:ext>
                </a:extLst>
              </p:cNvPr>
              <p:cNvSpPr txBox="1"/>
              <p:nvPr/>
            </p:nvSpPr>
            <p:spPr>
              <a:xfrm>
                <a:off x="3684089" y="2804676"/>
                <a:ext cx="284052" cy="307777"/>
              </a:xfrm>
              <a:prstGeom prst="rect">
                <a:avLst/>
              </a:prstGeom>
              <a:noFill/>
            </p:spPr>
            <p:txBody>
              <a:bodyPr wrap="none" rtlCol="0">
                <a:spAutoFit/>
              </a:bodyPr>
              <a:lstStyle/>
              <a:p>
                <a:r>
                  <a:rPr lang="en-US" dirty="0"/>
                  <a:t>5</a:t>
                </a:r>
              </a:p>
            </p:txBody>
          </p:sp>
          <p:sp>
            <p:nvSpPr>
              <p:cNvPr id="129" name="TextBox 128">
                <a:extLst>
                  <a:ext uri="{FF2B5EF4-FFF2-40B4-BE49-F238E27FC236}">
                    <a16:creationId xmlns:a16="http://schemas.microsoft.com/office/drawing/2014/main" id="{3FA39369-D98D-2F19-C66F-D4ADA0D66796}"/>
                  </a:ext>
                </a:extLst>
              </p:cNvPr>
              <p:cNvSpPr txBox="1"/>
              <p:nvPr/>
            </p:nvSpPr>
            <p:spPr>
              <a:xfrm>
                <a:off x="4229696" y="2804676"/>
                <a:ext cx="284052" cy="307777"/>
              </a:xfrm>
              <a:prstGeom prst="rect">
                <a:avLst/>
              </a:prstGeom>
              <a:noFill/>
            </p:spPr>
            <p:txBody>
              <a:bodyPr wrap="none" rtlCol="0">
                <a:spAutoFit/>
              </a:bodyPr>
              <a:lstStyle/>
              <a:p>
                <a:r>
                  <a:rPr lang="en-US" dirty="0"/>
                  <a:t>6</a:t>
                </a:r>
              </a:p>
            </p:txBody>
          </p:sp>
          <p:sp>
            <p:nvSpPr>
              <p:cNvPr id="130" name="TextBox 129">
                <a:extLst>
                  <a:ext uri="{FF2B5EF4-FFF2-40B4-BE49-F238E27FC236}">
                    <a16:creationId xmlns:a16="http://schemas.microsoft.com/office/drawing/2014/main" id="{E64D580B-5FCA-DEDF-AC37-3ACCAB8F4063}"/>
                  </a:ext>
                </a:extLst>
              </p:cNvPr>
              <p:cNvSpPr txBox="1"/>
              <p:nvPr/>
            </p:nvSpPr>
            <p:spPr>
              <a:xfrm>
                <a:off x="4844584" y="2804676"/>
                <a:ext cx="284052" cy="307777"/>
              </a:xfrm>
              <a:prstGeom prst="rect">
                <a:avLst/>
              </a:prstGeom>
              <a:noFill/>
            </p:spPr>
            <p:txBody>
              <a:bodyPr wrap="none" rtlCol="0">
                <a:spAutoFit/>
              </a:bodyPr>
              <a:lstStyle/>
              <a:p>
                <a:r>
                  <a:rPr lang="en-US" dirty="0"/>
                  <a:t>7</a:t>
                </a:r>
              </a:p>
            </p:txBody>
          </p:sp>
          <p:sp>
            <p:nvSpPr>
              <p:cNvPr id="19" name="Triangle 18">
                <a:extLst>
                  <a:ext uri="{FF2B5EF4-FFF2-40B4-BE49-F238E27FC236}">
                    <a16:creationId xmlns:a16="http://schemas.microsoft.com/office/drawing/2014/main" id="{1FAF2569-C2AE-3122-4BEC-109138E2B272}"/>
                  </a:ext>
                </a:extLst>
              </p:cNvPr>
              <p:cNvSpPr/>
              <p:nvPr/>
            </p:nvSpPr>
            <p:spPr>
              <a:xfrm rot="10800000" flipV="1">
                <a:off x="5803139" y="2715369"/>
                <a:ext cx="609600" cy="474765"/>
              </a:xfrm>
              <a:prstGeom prst="triangle">
                <a:avLst/>
              </a:prstGeom>
              <a:solidFill>
                <a:srgbClr val="009ACC"/>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1" name="TextBox 130">
                <a:extLst>
                  <a:ext uri="{FF2B5EF4-FFF2-40B4-BE49-F238E27FC236}">
                    <a16:creationId xmlns:a16="http://schemas.microsoft.com/office/drawing/2014/main" id="{301FA496-3482-9365-3C1E-51D3ED19FDE8}"/>
                  </a:ext>
                </a:extLst>
              </p:cNvPr>
              <p:cNvSpPr txBox="1"/>
              <p:nvPr/>
            </p:nvSpPr>
            <p:spPr>
              <a:xfrm>
                <a:off x="5464296" y="2794991"/>
                <a:ext cx="284052" cy="307777"/>
              </a:xfrm>
              <a:prstGeom prst="rect">
                <a:avLst/>
              </a:prstGeom>
              <a:noFill/>
            </p:spPr>
            <p:txBody>
              <a:bodyPr wrap="none" rtlCol="0">
                <a:spAutoFit/>
              </a:bodyPr>
              <a:lstStyle/>
              <a:p>
                <a:r>
                  <a:rPr lang="en-US" dirty="0"/>
                  <a:t>8</a:t>
                </a:r>
              </a:p>
            </p:txBody>
          </p:sp>
          <p:sp>
            <p:nvSpPr>
              <p:cNvPr id="132" name="TextBox 131">
                <a:extLst>
                  <a:ext uri="{FF2B5EF4-FFF2-40B4-BE49-F238E27FC236}">
                    <a16:creationId xmlns:a16="http://schemas.microsoft.com/office/drawing/2014/main" id="{03EF5FE2-A829-3DD7-9173-CC34977485B3}"/>
                  </a:ext>
                </a:extLst>
              </p:cNvPr>
              <p:cNvSpPr txBox="1"/>
              <p:nvPr/>
            </p:nvSpPr>
            <p:spPr>
              <a:xfrm>
                <a:off x="5975953" y="2856429"/>
                <a:ext cx="284052" cy="307777"/>
              </a:xfrm>
              <a:prstGeom prst="rect">
                <a:avLst/>
              </a:prstGeom>
              <a:noFill/>
            </p:spPr>
            <p:txBody>
              <a:bodyPr wrap="none" rtlCol="0">
                <a:spAutoFit/>
              </a:bodyPr>
              <a:lstStyle/>
              <a:p>
                <a:r>
                  <a:rPr lang="en-US" dirty="0"/>
                  <a:t>9</a:t>
                </a:r>
              </a:p>
            </p:txBody>
          </p:sp>
          <p:sp>
            <p:nvSpPr>
              <p:cNvPr id="133" name="TextBox 132">
                <a:extLst>
                  <a:ext uri="{FF2B5EF4-FFF2-40B4-BE49-F238E27FC236}">
                    <a16:creationId xmlns:a16="http://schemas.microsoft.com/office/drawing/2014/main" id="{EC687C9D-1C54-1168-010E-A93A5136073F}"/>
                  </a:ext>
                </a:extLst>
              </p:cNvPr>
              <p:cNvSpPr txBox="1"/>
              <p:nvPr/>
            </p:nvSpPr>
            <p:spPr>
              <a:xfrm>
                <a:off x="6386425" y="2794990"/>
                <a:ext cx="383438" cy="307777"/>
              </a:xfrm>
              <a:prstGeom prst="rect">
                <a:avLst/>
              </a:prstGeom>
              <a:noFill/>
            </p:spPr>
            <p:txBody>
              <a:bodyPr wrap="none" rtlCol="0">
                <a:spAutoFit/>
              </a:bodyPr>
              <a:lstStyle/>
              <a:p>
                <a:r>
                  <a:rPr lang="en-US" dirty="0"/>
                  <a:t>10</a:t>
                </a:r>
              </a:p>
            </p:txBody>
          </p:sp>
          <p:sp>
            <p:nvSpPr>
              <p:cNvPr id="136" name="TextBox 135">
                <a:extLst>
                  <a:ext uri="{FF2B5EF4-FFF2-40B4-BE49-F238E27FC236}">
                    <a16:creationId xmlns:a16="http://schemas.microsoft.com/office/drawing/2014/main" id="{4B38789B-8B22-2224-52BB-C539296F4DC4}"/>
                  </a:ext>
                </a:extLst>
              </p:cNvPr>
              <p:cNvSpPr txBox="1"/>
              <p:nvPr/>
            </p:nvSpPr>
            <p:spPr>
              <a:xfrm>
                <a:off x="7605512" y="2826680"/>
                <a:ext cx="383438" cy="307777"/>
              </a:xfrm>
              <a:prstGeom prst="rect">
                <a:avLst/>
              </a:prstGeom>
              <a:noFill/>
            </p:spPr>
            <p:txBody>
              <a:bodyPr wrap="none" rtlCol="0">
                <a:spAutoFit/>
              </a:bodyPr>
              <a:lstStyle/>
              <a:p>
                <a:r>
                  <a:rPr lang="en-US" dirty="0"/>
                  <a:t>13</a:t>
                </a:r>
              </a:p>
            </p:txBody>
          </p:sp>
          <p:sp>
            <p:nvSpPr>
              <p:cNvPr id="154" name="Triangle 153">
                <a:extLst>
                  <a:ext uri="{FF2B5EF4-FFF2-40B4-BE49-F238E27FC236}">
                    <a16:creationId xmlns:a16="http://schemas.microsoft.com/office/drawing/2014/main" id="{B7282EEC-C8A8-6D15-1582-9D3C432321F2}"/>
                  </a:ext>
                </a:extLst>
              </p:cNvPr>
              <p:cNvSpPr/>
              <p:nvPr/>
            </p:nvSpPr>
            <p:spPr>
              <a:xfrm flipV="1">
                <a:off x="6752912" y="2701514"/>
                <a:ext cx="609600" cy="457200"/>
              </a:xfrm>
              <a:prstGeom prst="triangle">
                <a:avLst/>
              </a:prstGeom>
              <a:solidFill>
                <a:srgbClr val="009ACC"/>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4" name="TextBox 133">
                <a:extLst>
                  <a:ext uri="{FF2B5EF4-FFF2-40B4-BE49-F238E27FC236}">
                    <a16:creationId xmlns:a16="http://schemas.microsoft.com/office/drawing/2014/main" id="{F651DECD-7294-5AD5-A4F1-1F72A304915F}"/>
                  </a:ext>
                </a:extLst>
              </p:cNvPr>
              <p:cNvSpPr txBox="1"/>
              <p:nvPr/>
            </p:nvSpPr>
            <p:spPr>
              <a:xfrm>
                <a:off x="6855267" y="2740470"/>
                <a:ext cx="412179" cy="317608"/>
              </a:xfrm>
              <a:prstGeom prst="rect">
                <a:avLst/>
              </a:prstGeom>
              <a:noFill/>
            </p:spPr>
            <p:txBody>
              <a:bodyPr wrap="square" rtlCol="0">
                <a:spAutoFit/>
              </a:bodyPr>
              <a:lstStyle/>
              <a:p>
                <a:r>
                  <a:rPr lang="en-US" dirty="0"/>
                  <a:t>11</a:t>
                </a:r>
              </a:p>
            </p:txBody>
          </p:sp>
          <p:sp>
            <p:nvSpPr>
              <p:cNvPr id="155" name="Triangle 154">
                <a:extLst>
                  <a:ext uri="{FF2B5EF4-FFF2-40B4-BE49-F238E27FC236}">
                    <a16:creationId xmlns:a16="http://schemas.microsoft.com/office/drawing/2014/main" id="{0C75E81B-7D5F-FF20-2EA6-19A200762F6F}"/>
                  </a:ext>
                </a:extLst>
              </p:cNvPr>
              <p:cNvSpPr/>
              <p:nvPr/>
            </p:nvSpPr>
            <p:spPr>
              <a:xfrm rot="10800000" flipV="1">
                <a:off x="7071746" y="2701513"/>
                <a:ext cx="609600" cy="468675"/>
              </a:xfrm>
              <a:prstGeom prst="triangle">
                <a:avLst/>
              </a:prstGeom>
              <a:solidFill>
                <a:srgbClr val="009ACC"/>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5" name="TextBox 134">
                <a:extLst>
                  <a:ext uri="{FF2B5EF4-FFF2-40B4-BE49-F238E27FC236}">
                    <a16:creationId xmlns:a16="http://schemas.microsoft.com/office/drawing/2014/main" id="{1345437E-1236-D1DF-340B-B7AAB6CF659D}"/>
                  </a:ext>
                </a:extLst>
              </p:cNvPr>
              <p:cNvSpPr txBox="1"/>
              <p:nvPr/>
            </p:nvSpPr>
            <p:spPr>
              <a:xfrm>
                <a:off x="7152688" y="2838047"/>
                <a:ext cx="383438" cy="307777"/>
              </a:xfrm>
              <a:prstGeom prst="rect">
                <a:avLst/>
              </a:prstGeom>
              <a:noFill/>
            </p:spPr>
            <p:txBody>
              <a:bodyPr wrap="none" rtlCol="0">
                <a:spAutoFit/>
              </a:bodyPr>
              <a:lstStyle/>
              <a:p>
                <a:r>
                  <a:rPr lang="en-US" dirty="0"/>
                  <a:t>12</a:t>
                </a:r>
              </a:p>
            </p:txBody>
          </p:sp>
          <p:grpSp>
            <p:nvGrpSpPr>
              <p:cNvPr id="164" name="Group 163">
                <a:extLst>
                  <a:ext uri="{FF2B5EF4-FFF2-40B4-BE49-F238E27FC236}">
                    <a16:creationId xmlns:a16="http://schemas.microsoft.com/office/drawing/2014/main" id="{4FFC68EA-BDB4-3715-B73F-9763C203D0F9}"/>
                  </a:ext>
                </a:extLst>
              </p:cNvPr>
              <p:cNvGrpSpPr/>
              <p:nvPr/>
            </p:nvGrpSpPr>
            <p:grpSpPr>
              <a:xfrm>
                <a:off x="8085523" y="2701514"/>
                <a:ext cx="720967" cy="457201"/>
                <a:chOff x="1635370" y="4671562"/>
                <a:chExt cx="720967" cy="457201"/>
              </a:xfrm>
            </p:grpSpPr>
            <p:grpSp>
              <p:nvGrpSpPr>
                <p:cNvPr id="165" name="Group 164">
                  <a:extLst>
                    <a:ext uri="{FF2B5EF4-FFF2-40B4-BE49-F238E27FC236}">
                      <a16:creationId xmlns:a16="http://schemas.microsoft.com/office/drawing/2014/main" id="{55BCC68C-28AE-70A4-CE36-FE589642BBBC}"/>
                    </a:ext>
                  </a:extLst>
                </p:cNvPr>
                <p:cNvGrpSpPr/>
                <p:nvPr/>
              </p:nvGrpSpPr>
              <p:grpSpPr>
                <a:xfrm>
                  <a:off x="1641231" y="4671562"/>
                  <a:ext cx="715106" cy="457201"/>
                  <a:chOff x="1277817" y="2985106"/>
                  <a:chExt cx="715106" cy="457201"/>
                </a:xfrm>
                <a:solidFill>
                  <a:srgbClr val="009ACC"/>
                </a:solidFill>
              </p:grpSpPr>
              <p:sp>
                <p:nvSpPr>
                  <p:cNvPr id="170" name="Rectangle 169">
                    <a:extLst>
                      <a:ext uri="{FF2B5EF4-FFF2-40B4-BE49-F238E27FC236}">
                        <a16:creationId xmlns:a16="http://schemas.microsoft.com/office/drawing/2014/main" id="{7544F678-411F-13EC-D204-62411F1F4DD1}"/>
                      </a:ext>
                    </a:extLst>
                  </p:cNvPr>
                  <p:cNvSpPr/>
                  <p:nvPr/>
                </p:nvSpPr>
                <p:spPr>
                  <a:xfrm>
                    <a:off x="1277817" y="2985107"/>
                    <a:ext cx="398584" cy="45720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1" name="Triangle 170">
                    <a:extLst>
                      <a:ext uri="{FF2B5EF4-FFF2-40B4-BE49-F238E27FC236}">
                        <a16:creationId xmlns:a16="http://schemas.microsoft.com/office/drawing/2014/main" id="{FEB55EE9-322E-3E2D-BEFD-7D84BE1F2563}"/>
                      </a:ext>
                    </a:extLst>
                  </p:cNvPr>
                  <p:cNvSpPr/>
                  <p:nvPr/>
                </p:nvSpPr>
                <p:spPr>
                  <a:xfrm>
                    <a:off x="1383323" y="2985106"/>
                    <a:ext cx="609600" cy="457200"/>
                  </a:xfrm>
                  <a:prstGeom prst="triangl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66" name="Straight Connector 165">
                  <a:extLst>
                    <a:ext uri="{FF2B5EF4-FFF2-40B4-BE49-F238E27FC236}">
                      <a16:creationId xmlns:a16="http://schemas.microsoft.com/office/drawing/2014/main" id="{D6CA4A8D-4DC6-AEC7-5416-27A3ACB83F77}"/>
                    </a:ext>
                  </a:extLst>
                </p:cNvPr>
                <p:cNvCxnSpPr>
                  <a:endCxn id="171" idx="4"/>
                </p:cNvCxnSpPr>
                <p:nvPr/>
              </p:nvCxnSpPr>
              <p:spPr>
                <a:xfrm>
                  <a:off x="1641231" y="5128762"/>
                  <a:ext cx="715106"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7" name="Straight Connector 166">
                  <a:extLst>
                    <a:ext uri="{FF2B5EF4-FFF2-40B4-BE49-F238E27FC236}">
                      <a16:creationId xmlns:a16="http://schemas.microsoft.com/office/drawing/2014/main" id="{5B23F86E-0CCF-FC51-BA70-BC3A30CB0B7B}"/>
                    </a:ext>
                  </a:extLst>
                </p:cNvPr>
                <p:cNvCxnSpPr>
                  <a:cxnSpLocks/>
                  <a:endCxn id="171" idx="0"/>
                </p:cNvCxnSpPr>
                <p:nvPr/>
              </p:nvCxnSpPr>
              <p:spPr>
                <a:xfrm>
                  <a:off x="1641231" y="4671562"/>
                  <a:ext cx="410306"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8" name="Straight Connector 167">
                  <a:extLst>
                    <a:ext uri="{FF2B5EF4-FFF2-40B4-BE49-F238E27FC236}">
                      <a16:creationId xmlns:a16="http://schemas.microsoft.com/office/drawing/2014/main" id="{2278D589-5DCE-61F9-E5B8-8C8FCAF328AD}"/>
                    </a:ext>
                  </a:extLst>
                </p:cNvPr>
                <p:cNvCxnSpPr>
                  <a:cxnSpLocks/>
                </p:cNvCxnSpPr>
                <p:nvPr/>
              </p:nvCxnSpPr>
              <p:spPr>
                <a:xfrm>
                  <a:off x="1635370" y="4678237"/>
                  <a:ext cx="0" cy="45052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9" name="Straight Connector 168">
                  <a:extLst>
                    <a:ext uri="{FF2B5EF4-FFF2-40B4-BE49-F238E27FC236}">
                      <a16:creationId xmlns:a16="http://schemas.microsoft.com/office/drawing/2014/main" id="{51F953F8-F293-321D-AF67-7AA5724E7A59}"/>
                    </a:ext>
                  </a:extLst>
                </p:cNvPr>
                <p:cNvCxnSpPr>
                  <a:cxnSpLocks/>
                  <a:stCxn id="171" idx="0"/>
                  <a:endCxn id="171" idx="4"/>
                </p:cNvCxnSpPr>
                <p:nvPr/>
              </p:nvCxnSpPr>
              <p:spPr>
                <a:xfrm>
                  <a:off x="2051537" y="4671562"/>
                  <a:ext cx="304800" cy="4572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37" name="TextBox 136">
                <a:extLst>
                  <a:ext uri="{FF2B5EF4-FFF2-40B4-BE49-F238E27FC236}">
                    <a16:creationId xmlns:a16="http://schemas.microsoft.com/office/drawing/2014/main" id="{861307F2-D85B-82CA-3846-DF115D9FD1C4}"/>
                  </a:ext>
                </a:extLst>
              </p:cNvPr>
              <p:cNvSpPr txBox="1"/>
              <p:nvPr/>
            </p:nvSpPr>
            <p:spPr>
              <a:xfrm>
                <a:off x="8165147" y="2766923"/>
                <a:ext cx="383438" cy="307777"/>
              </a:xfrm>
              <a:prstGeom prst="rect">
                <a:avLst/>
              </a:prstGeom>
              <a:noFill/>
            </p:spPr>
            <p:txBody>
              <a:bodyPr wrap="none" rtlCol="0">
                <a:spAutoFit/>
              </a:bodyPr>
              <a:lstStyle/>
              <a:p>
                <a:r>
                  <a:rPr lang="en-US" dirty="0"/>
                  <a:t>14</a:t>
                </a:r>
              </a:p>
            </p:txBody>
          </p:sp>
        </p:grpSp>
        <p:grpSp>
          <p:nvGrpSpPr>
            <p:cNvPr id="188" name="Group 187">
              <a:extLst>
                <a:ext uri="{FF2B5EF4-FFF2-40B4-BE49-F238E27FC236}">
                  <a16:creationId xmlns:a16="http://schemas.microsoft.com/office/drawing/2014/main" id="{0C5135A1-ECA4-C718-42DA-853047B57171}"/>
                </a:ext>
              </a:extLst>
            </p:cNvPr>
            <p:cNvGrpSpPr/>
            <p:nvPr/>
          </p:nvGrpSpPr>
          <p:grpSpPr>
            <a:xfrm>
              <a:off x="8513006" y="2703548"/>
              <a:ext cx="1662581" cy="459234"/>
              <a:chOff x="9503648" y="2701514"/>
              <a:chExt cx="1662581" cy="459234"/>
            </a:xfrm>
          </p:grpSpPr>
          <p:sp>
            <p:nvSpPr>
              <p:cNvPr id="179" name="Triangle 178">
                <a:extLst>
                  <a:ext uri="{FF2B5EF4-FFF2-40B4-BE49-F238E27FC236}">
                    <a16:creationId xmlns:a16="http://schemas.microsoft.com/office/drawing/2014/main" id="{71757D09-B42C-A822-1D33-FA3B75E4A522}"/>
                  </a:ext>
                </a:extLst>
              </p:cNvPr>
              <p:cNvSpPr/>
              <p:nvPr/>
            </p:nvSpPr>
            <p:spPr>
              <a:xfrm rot="10800000">
                <a:off x="9503648" y="2703548"/>
                <a:ext cx="609600" cy="457200"/>
              </a:xfrm>
              <a:prstGeom prst="triangle">
                <a:avLst/>
              </a:prstGeom>
              <a:solidFill>
                <a:srgbClr val="009AC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87" name="Group 186">
                <a:extLst>
                  <a:ext uri="{FF2B5EF4-FFF2-40B4-BE49-F238E27FC236}">
                    <a16:creationId xmlns:a16="http://schemas.microsoft.com/office/drawing/2014/main" id="{7A15830F-33CD-E644-8D8F-9CE1BF95BE71}"/>
                  </a:ext>
                </a:extLst>
              </p:cNvPr>
              <p:cNvGrpSpPr/>
              <p:nvPr/>
            </p:nvGrpSpPr>
            <p:grpSpPr>
              <a:xfrm>
                <a:off x="9503648" y="2701514"/>
                <a:ext cx="1662581" cy="459234"/>
                <a:chOff x="9503648" y="2701514"/>
                <a:chExt cx="1662581" cy="459234"/>
              </a:xfrm>
            </p:grpSpPr>
            <p:sp>
              <p:nvSpPr>
                <p:cNvPr id="178" name="Rectangle 177">
                  <a:extLst>
                    <a:ext uri="{FF2B5EF4-FFF2-40B4-BE49-F238E27FC236}">
                      <a16:creationId xmlns:a16="http://schemas.microsoft.com/office/drawing/2014/main" id="{9AC05A8D-BD0E-D924-1877-E00100571C7D}"/>
                    </a:ext>
                  </a:extLst>
                </p:cNvPr>
                <p:cNvSpPr/>
                <p:nvPr/>
              </p:nvSpPr>
              <p:spPr>
                <a:xfrm rot="10800000">
                  <a:off x="9848240" y="2703547"/>
                  <a:ext cx="1306267" cy="457200"/>
                </a:xfrm>
                <a:prstGeom prst="rect">
                  <a:avLst/>
                </a:prstGeom>
                <a:solidFill>
                  <a:srgbClr val="009AC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74" name="Straight Connector 173">
                  <a:extLst>
                    <a:ext uri="{FF2B5EF4-FFF2-40B4-BE49-F238E27FC236}">
                      <a16:creationId xmlns:a16="http://schemas.microsoft.com/office/drawing/2014/main" id="{B17D9602-9E6A-703A-2F49-2352212B67B3}"/>
                    </a:ext>
                  </a:extLst>
                </p:cNvPr>
                <p:cNvCxnSpPr>
                  <a:cxnSpLocks/>
                  <a:endCxn id="179" idx="4"/>
                </p:cNvCxnSpPr>
                <p:nvPr/>
              </p:nvCxnSpPr>
              <p:spPr>
                <a:xfrm flipH="1">
                  <a:off x="9503648" y="2701514"/>
                  <a:ext cx="1662581" cy="2034"/>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5" name="Straight Connector 174">
                  <a:extLst>
                    <a:ext uri="{FF2B5EF4-FFF2-40B4-BE49-F238E27FC236}">
                      <a16:creationId xmlns:a16="http://schemas.microsoft.com/office/drawing/2014/main" id="{44D5E38D-B141-5F80-37DD-320531C2C800}"/>
                    </a:ext>
                  </a:extLst>
                </p:cNvPr>
                <p:cNvCxnSpPr>
                  <a:cxnSpLocks/>
                  <a:endCxn id="179" idx="0"/>
                </p:cNvCxnSpPr>
                <p:nvPr/>
              </p:nvCxnSpPr>
              <p:spPr>
                <a:xfrm flipH="1">
                  <a:off x="9808448" y="3145824"/>
                  <a:ext cx="1346060" cy="14924"/>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6" name="Straight Connector 175">
                  <a:extLst>
                    <a:ext uri="{FF2B5EF4-FFF2-40B4-BE49-F238E27FC236}">
                      <a16:creationId xmlns:a16="http://schemas.microsoft.com/office/drawing/2014/main" id="{3AD19EAD-B675-CCD5-82A5-880B04FD0D0A}"/>
                    </a:ext>
                  </a:extLst>
                </p:cNvPr>
                <p:cNvCxnSpPr>
                  <a:cxnSpLocks/>
                </p:cNvCxnSpPr>
                <p:nvPr/>
              </p:nvCxnSpPr>
              <p:spPr>
                <a:xfrm flipV="1">
                  <a:off x="11154508" y="2710223"/>
                  <a:ext cx="0" cy="45052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77" name="Straight Connector 176">
                <a:extLst>
                  <a:ext uri="{FF2B5EF4-FFF2-40B4-BE49-F238E27FC236}">
                    <a16:creationId xmlns:a16="http://schemas.microsoft.com/office/drawing/2014/main" id="{BA92407C-58EB-6264-8F90-6832EC17A7F2}"/>
                  </a:ext>
                </a:extLst>
              </p:cNvPr>
              <p:cNvCxnSpPr>
                <a:cxnSpLocks/>
                <a:stCxn id="179" idx="0"/>
                <a:endCxn id="179" idx="4"/>
              </p:cNvCxnSpPr>
              <p:nvPr/>
            </p:nvCxnSpPr>
            <p:spPr>
              <a:xfrm rot="10800000">
                <a:off x="9503648" y="2703548"/>
                <a:ext cx="304800" cy="4572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43" name="TextBox 142">
                <a:extLst>
                  <a:ext uri="{FF2B5EF4-FFF2-40B4-BE49-F238E27FC236}">
                    <a16:creationId xmlns:a16="http://schemas.microsoft.com/office/drawing/2014/main" id="{9320397C-5692-E3DC-F0E8-DC64AEB26E10}"/>
                  </a:ext>
                </a:extLst>
              </p:cNvPr>
              <p:cNvSpPr txBox="1"/>
              <p:nvPr/>
            </p:nvSpPr>
            <p:spPr>
              <a:xfrm>
                <a:off x="10014934" y="2770517"/>
                <a:ext cx="761747" cy="307777"/>
              </a:xfrm>
              <a:prstGeom prst="rect">
                <a:avLst/>
              </a:prstGeom>
              <a:noFill/>
            </p:spPr>
            <p:txBody>
              <a:bodyPr wrap="none" rtlCol="0">
                <a:spAutoFit/>
              </a:bodyPr>
              <a:lstStyle/>
              <a:p>
                <a:r>
                  <a:rPr lang="en-US" dirty="0"/>
                  <a:t>ORF15</a:t>
                </a:r>
              </a:p>
            </p:txBody>
          </p:sp>
        </p:grpSp>
      </p:grpSp>
      <p:grpSp>
        <p:nvGrpSpPr>
          <p:cNvPr id="287" name="Group 286">
            <a:extLst>
              <a:ext uri="{FF2B5EF4-FFF2-40B4-BE49-F238E27FC236}">
                <a16:creationId xmlns:a16="http://schemas.microsoft.com/office/drawing/2014/main" id="{35881E39-4038-FE4B-AF8C-652317F06CAE}"/>
              </a:ext>
            </a:extLst>
          </p:cNvPr>
          <p:cNvGrpSpPr/>
          <p:nvPr/>
        </p:nvGrpSpPr>
        <p:grpSpPr>
          <a:xfrm>
            <a:off x="1137395" y="3075541"/>
            <a:ext cx="9586780" cy="511077"/>
            <a:chOff x="1084386" y="3539543"/>
            <a:chExt cx="9586780" cy="511077"/>
          </a:xfrm>
        </p:grpSpPr>
        <p:grpSp>
          <p:nvGrpSpPr>
            <p:cNvPr id="103" name="Group 102">
              <a:extLst>
                <a:ext uri="{FF2B5EF4-FFF2-40B4-BE49-F238E27FC236}">
                  <a16:creationId xmlns:a16="http://schemas.microsoft.com/office/drawing/2014/main" id="{BFA9D786-D51E-153A-ED9F-915AEFDC08D7}"/>
                </a:ext>
              </a:extLst>
            </p:cNvPr>
            <p:cNvGrpSpPr/>
            <p:nvPr/>
          </p:nvGrpSpPr>
          <p:grpSpPr>
            <a:xfrm>
              <a:off x="8809178" y="3539543"/>
              <a:ext cx="914401" cy="470709"/>
              <a:chOff x="1594337" y="2726227"/>
              <a:chExt cx="914401" cy="470709"/>
            </a:xfrm>
          </p:grpSpPr>
          <p:sp>
            <p:nvSpPr>
              <p:cNvPr id="104" name="Triangle 103">
                <a:extLst>
                  <a:ext uri="{FF2B5EF4-FFF2-40B4-BE49-F238E27FC236}">
                    <a16:creationId xmlns:a16="http://schemas.microsoft.com/office/drawing/2014/main" id="{0550A8CD-EA96-6456-98BA-DB6273D3F6BC}"/>
                  </a:ext>
                </a:extLst>
              </p:cNvPr>
              <p:cNvSpPr/>
              <p:nvPr/>
            </p:nvSpPr>
            <p:spPr>
              <a:xfrm>
                <a:off x="1594338" y="2739736"/>
                <a:ext cx="609600" cy="457200"/>
              </a:xfrm>
              <a:prstGeom prst="triangle">
                <a:avLst/>
              </a:prstGeom>
              <a:solidFill>
                <a:srgbClr val="009AC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 name="Triangle 104">
                <a:extLst>
                  <a:ext uri="{FF2B5EF4-FFF2-40B4-BE49-F238E27FC236}">
                    <a16:creationId xmlns:a16="http://schemas.microsoft.com/office/drawing/2014/main" id="{012BAE06-BFAD-B9B0-A8E1-262048521F6D}"/>
                  </a:ext>
                </a:extLst>
              </p:cNvPr>
              <p:cNvSpPr/>
              <p:nvPr/>
            </p:nvSpPr>
            <p:spPr>
              <a:xfrm flipV="1">
                <a:off x="1899138" y="2739736"/>
                <a:ext cx="609600" cy="457200"/>
              </a:xfrm>
              <a:prstGeom prst="triangle">
                <a:avLst/>
              </a:prstGeom>
              <a:solidFill>
                <a:srgbClr val="009AC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6" name="Straight Connector 105">
                <a:extLst>
                  <a:ext uri="{FF2B5EF4-FFF2-40B4-BE49-F238E27FC236}">
                    <a16:creationId xmlns:a16="http://schemas.microsoft.com/office/drawing/2014/main" id="{C784362E-CCCB-2788-73C0-0BA661FCC422}"/>
                  </a:ext>
                </a:extLst>
              </p:cNvPr>
              <p:cNvCxnSpPr>
                <a:cxnSpLocks/>
                <a:stCxn id="105" idx="0"/>
              </p:cNvCxnSpPr>
              <p:nvPr/>
            </p:nvCxnSpPr>
            <p:spPr>
              <a:xfrm flipH="1" flipV="1">
                <a:off x="1594339" y="3194902"/>
                <a:ext cx="609599" cy="2034"/>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7" name="Straight Connector 106">
                <a:extLst>
                  <a:ext uri="{FF2B5EF4-FFF2-40B4-BE49-F238E27FC236}">
                    <a16:creationId xmlns:a16="http://schemas.microsoft.com/office/drawing/2014/main" id="{0A7772F7-16DE-E229-C3B4-ECD95E00E394}"/>
                  </a:ext>
                </a:extLst>
              </p:cNvPr>
              <p:cNvCxnSpPr>
                <a:cxnSpLocks/>
              </p:cNvCxnSpPr>
              <p:nvPr/>
            </p:nvCxnSpPr>
            <p:spPr>
              <a:xfrm flipH="1">
                <a:off x="1594337" y="2726581"/>
                <a:ext cx="304800" cy="4572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8" name="Straight Connector 107">
                <a:extLst>
                  <a:ext uri="{FF2B5EF4-FFF2-40B4-BE49-F238E27FC236}">
                    <a16:creationId xmlns:a16="http://schemas.microsoft.com/office/drawing/2014/main" id="{7B1A4C74-0AC9-912F-DA39-3FFE793C582E}"/>
                  </a:ext>
                </a:extLst>
              </p:cNvPr>
              <p:cNvCxnSpPr>
                <a:cxnSpLocks/>
              </p:cNvCxnSpPr>
              <p:nvPr/>
            </p:nvCxnSpPr>
            <p:spPr>
              <a:xfrm flipH="1">
                <a:off x="2203934" y="2737702"/>
                <a:ext cx="304800" cy="4572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9" name="Straight Connector 108">
                <a:extLst>
                  <a:ext uri="{FF2B5EF4-FFF2-40B4-BE49-F238E27FC236}">
                    <a16:creationId xmlns:a16="http://schemas.microsoft.com/office/drawing/2014/main" id="{8D9D2CE7-D92E-7FC5-985B-AB22F2423ED3}"/>
                  </a:ext>
                </a:extLst>
              </p:cNvPr>
              <p:cNvCxnSpPr>
                <a:cxnSpLocks/>
              </p:cNvCxnSpPr>
              <p:nvPr/>
            </p:nvCxnSpPr>
            <p:spPr>
              <a:xfrm flipH="1" flipV="1">
                <a:off x="1899137" y="2726227"/>
                <a:ext cx="609599" cy="2034"/>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39" name="TextBox 138">
              <a:extLst>
                <a:ext uri="{FF2B5EF4-FFF2-40B4-BE49-F238E27FC236}">
                  <a16:creationId xmlns:a16="http://schemas.microsoft.com/office/drawing/2014/main" id="{518DA054-3F37-1F37-E344-A495AD549B2E}"/>
                </a:ext>
              </a:extLst>
            </p:cNvPr>
            <p:cNvSpPr txBox="1"/>
            <p:nvPr/>
          </p:nvSpPr>
          <p:spPr>
            <a:xfrm>
              <a:off x="9045042" y="3611801"/>
              <a:ext cx="383438" cy="307777"/>
            </a:xfrm>
            <a:prstGeom prst="rect">
              <a:avLst/>
            </a:prstGeom>
            <a:noFill/>
          </p:spPr>
          <p:txBody>
            <a:bodyPr wrap="none" rtlCol="0">
              <a:spAutoFit/>
            </a:bodyPr>
            <a:lstStyle/>
            <a:p>
              <a:r>
                <a:rPr lang="en-US" dirty="0"/>
                <a:t>16</a:t>
              </a:r>
            </a:p>
          </p:txBody>
        </p:sp>
        <p:sp>
          <p:nvSpPr>
            <p:cNvPr id="180" name="Triangle 179">
              <a:extLst>
                <a:ext uri="{FF2B5EF4-FFF2-40B4-BE49-F238E27FC236}">
                  <a16:creationId xmlns:a16="http://schemas.microsoft.com/office/drawing/2014/main" id="{725C924D-90DE-151C-C389-CD49DA8C232E}"/>
                </a:ext>
              </a:extLst>
            </p:cNvPr>
            <p:cNvSpPr/>
            <p:nvPr/>
          </p:nvSpPr>
          <p:spPr>
            <a:xfrm flipV="1">
              <a:off x="8521389" y="3564032"/>
              <a:ext cx="609600" cy="457200"/>
            </a:xfrm>
            <a:prstGeom prst="triangle">
              <a:avLst/>
            </a:prstGeom>
            <a:solidFill>
              <a:srgbClr val="009ACC"/>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8" name="TextBox 137">
              <a:extLst>
                <a:ext uri="{FF2B5EF4-FFF2-40B4-BE49-F238E27FC236}">
                  <a16:creationId xmlns:a16="http://schemas.microsoft.com/office/drawing/2014/main" id="{D8BDB535-EEDC-FED2-B6DF-1CE76C88F890}"/>
                </a:ext>
              </a:extLst>
            </p:cNvPr>
            <p:cNvSpPr txBox="1"/>
            <p:nvPr/>
          </p:nvSpPr>
          <p:spPr>
            <a:xfrm>
              <a:off x="8621294" y="3570597"/>
              <a:ext cx="383438" cy="307777"/>
            </a:xfrm>
            <a:prstGeom prst="rect">
              <a:avLst/>
            </a:prstGeom>
            <a:noFill/>
          </p:spPr>
          <p:txBody>
            <a:bodyPr wrap="none" rtlCol="0">
              <a:spAutoFit/>
            </a:bodyPr>
            <a:lstStyle/>
            <a:p>
              <a:r>
                <a:rPr lang="en-US" dirty="0"/>
                <a:t>15</a:t>
              </a:r>
            </a:p>
          </p:txBody>
        </p:sp>
        <p:sp>
          <p:nvSpPr>
            <p:cNvPr id="183" name="Triangle 182">
              <a:extLst>
                <a:ext uri="{FF2B5EF4-FFF2-40B4-BE49-F238E27FC236}">
                  <a16:creationId xmlns:a16="http://schemas.microsoft.com/office/drawing/2014/main" id="{3A2941D1-FFF8-7B1A-C6F1-6EBBFC8298AD}"/>
                </a:ext>
              </a:extLst>
            </p:cNvPr>
            <p:cNvSpPr/>
            <p:nvPr/>
          </p:nvSpPr>
          <p:spPr>
            <a:xfrm rot="10800000" flipV="1">
              <a:off x="9423928" y="3544931"/>
              <a:ext cx="609600" cy="457200"/>
            </a:xfrm>
            <a:prstGeom prst="triangle">
              <a:avLst/>
            </a:prstGeom>
            <a:solidFill>
              <a:srgbClr val="009ACC"/>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0" name="TextBox 139">
              <a:extLst>
                <a:ext uri="{FF2B5EF4-FFF2-40B4-BE49-F238E27FC236}">
                  <a16:creationId xmlns:a16="http://schemas.microsoft.com/office/drawing/2014/main" id="{705C1130-A5CB-2999-2A9A-211BF89316D8}"/>
                </a:ext>
              </a:extLst>
            </p:cNvPr>
            <p:cNvSpPr txBox="1"/>
            <p:nvPr/>
          </p:nvSpPr>
          <p:spPr>
            <a:xfrm>
              <a:off x="9553304" y="3683689"/>
              <a:ext cx="383438" cy="307777"/>
            </a:xfrm>
            <a:prstGeom prst="rect">
              <a:avLst/>
            </a:prstGeom>
            <a:noFill/>
          </p:spPr>
          <p:txBody>
            <a:bodyPr wrap="none" rtlCol="0">
              <a:spAutoFit/>
            </a:bodyPr>
            <a:lstStyle/>
            <a:p>
              <a:r>
                <a:rPr lang="en-US" dirty="0"/>
                <a:t>17</a:t>
              </a:r>
            </a:p>
          </p:txBody>
        </p:sp>
        <p:sp>
          <p:nvSpPr>
            <p:cNvPr id="184" name="Triangle 183">
              <a:extLst>
                <a:ext uri="{FF2B5EF4-FFF2-40B4-BE49-F238E27FC236}">
                  <a16:creationId xmlns:a16="http://schemas.microsoft.com/office/drawing/2014/main" id="{59EF5575-BF6C-5EDB-5B3B-9277418225DC}"/>
                </a:ext>
              </a:extLst>
            </p:cNvPr>
            <p:cNvSpPr/>
            <p:nvPr/>
          </p:nvSpPr>
          <p:spPr>
            <a:xfrm flipV="1">
              <a:off x="9745023" y="3552033"/>
              <a:ext cx="609600" cy="457200"/>
            </a:xfrm>
            <a:prstGeom prst="triangle">
              <a:avLst/>
            </a:prstGeom>
            <a:solidFill>
              <a:srgbClr val="009ACC"/>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1" name="TextBox 140">
              <a:extLst>
                <a:ext uri="{FF2B5EF4-FFF2-40B4-BE49-F238E27FC236}">
                  <a16:creationId xmlns:a16="http://schemas.microsoft.com/office/drawing/2014/main" id="{7FCEEB2C-46DC-05D7-238B-8CDE1BE4FCEE}"/>
                </a:ext>
              </a:extLst>
            </p:cNvPr>
            <p:cNvSpPr txBox="1"/>
            <p:nvPr/>
          </p:nvSpPr>
          <p:spPr>
            <a:xfrm>
              <a:off x="9830514" y="3575361"/>
              <a:ext cx="383438" cy="307777"/>
            </a:xfrm>
            <a:prstGeom prst="rect">
              <a:avLst/>
            </a:prstGeom>
            <a:noFill/>
          </p:spPr>
          <p:txBody>
            <a:bodyPr wrap="none" rtlCol="0">
              <a:spAutoFit/>
            </a:bodyPr>
            <a:lstStyle/>
            <a:p>
              <a:r>
                <a:rPr lang="en-US" dirty="0"/>
                <a:t>18</a:t>
              </a:r>
            </a:p>
          </p:txBody>
        </p:sp>
        <p:sp>
          <p:nvSpPr>
            <p:cNvPr id="185" name="Triangle 184">
              <a:extLst>
                <a:ext uri="{FF2B5EF4-FFF2-40B4-BE49-F238E27FC236}">
                  <a16:creationId xmlns:a16="http://schemas.microsoft.com/office/drawing/2014/main" id="{9376959A-BFDB-F589-FF23-ADD31C681A59}"/>
                </a:ext>
              </a:extLst>
            </p:cNvPr>
            <p:cNvSpPr/>
            <p:nvPr/>
          </p:nvSpPr>
          <p:spPr>
            <a:xfrm rot="10800000" flipV="1">
              <a:off x="10061566" y="3552033"/>
              <a:ext cx="609600" cy="457200"/>
            </a:xfrm>
            <a:prstGeom prst="triangle">
              <a:avLst/>
            </a:prstGeom>
            <a:solidFill>
              <a:srgbClr val="009ACC"/>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2" name="TextBox 141">
              <a:extLst>
                <a:ext uri="{FF2B5EF4-FFF2-40B4-BE49-F238E27FC236}">
                  <a16:creationId xmlns:a16="http://schemas.microsoft.com/office/drawing/2014/main" id="{F541399B-7398-BDF5-3A45-CA99B9DA9812}"/>
                </a:ext>
              </a:extLst>
            </p:cNvPr>
            <p:cNvSpPr txBox="1"/>
            <p:nvPr/>
          </p:nvSpPr>
          <p:spPr>
            <a:xfrm>
              <a:off x="10171257" y="3698354"/>
              <a:ext cx="383438" cy="307777"/>
            </a:xfrm>
            <a:prstGeom prst="rect">
              <a:avLst/>
            </a:prstGeom>
            <a:noFill/>
          </p:spPr>
          <p:txBody>
            <a:bodyPr wrap="none" rtlCol="0">
              <a:spAutoFit/>
            </a:bodyPr>
            <a:lstStyle/>
            <a:p>
              <a:r>
                <a:rPr lang="en-US" dirty="0"/>
                <a:t>19</a:t>
              </a:r>
            </a:p>
          </p:txBody>
        </p:sp>
        <p:grpSp>
          <p:nvGrpSpPr>
            <p:cNvPr id="190" name="Group 189">
              <a:extLst>
                <a:ext uri="{FF2B5EF4-FFF2-40B4-BE49-F238E27FC236}">
                  <a16:creationId xmlns:a16="http://schemas.microsoft.com/office/drawing/2014/main" id="{962E6EE6-3ACF-5C45-A1B7-40A9594A2331}"/>
                </a:ext>
              </a:extLst>
            </p:cNvPr>
            <p:cNvGrpSpPr/>
            <p:nvPr/>
          </p:nvGrpSpPr>
          <p:grpSpPr>
            <a:xfrm>
              <a:off x="1084386" y="3559965"/>
              <a:ext cx="7722104" cy="490655"/>
              <a:chOff x="1084386" y="2701513"/>
              <a:chExt cx="7722104" cy="490655"/>
            </a:xfrm>
          </p:grpSpPr>
          <p:grpSp>
            <p:nvGrpSpPr>
              <p:cNvPr id="191" name="Group 190">
                <a:extLst>
                  <a:ext uri="{FF2B5EF4-FFF2-40B4-BE49-F238E27FC236}">
                    <a16:creationId xmlns:a16="http://schemas.microsoft.com/office/drawing/2014/main" id="{D99CB84A-2BE4-4EE7-2594-8E5408E41132}"/>
                  </a:ext>
                </a:extLst>
              </p:cNvPr>
              <p:cNvGrpSpPr/>
              <p:nvPr/>
            </p:nvGrpSpPr>
            <p:grpSpPr>
              <a:xfrm rot="10800000">
                <a:off x="7381065" y="2701514"/>
                <a:ext cx="720967" cy="457201"/>
                <a:chOff x="1635370" y="4671562"/>
                <a:chExt cx="720967" cy="457201"/>
              </a:xfrm>
            </p:grpSpPr>
            <p:grpSp>
              <p:nvGrpSpPr>
                <p:cNvPr id="280" name="Group 279">
                  <a:extLst>
                    <a:ext uri="{FF2B5EF4-FFF2-40B4-BE49-F238E27FC236}">
                      <a16:creationId xmlns:a16="http://schemas.microsoft.com/office/drawing/2014/main" id="{95862C5A-89CD-6876-55B6-839FBBF0CF90}"/>
                    </a:ext>
                  </a:extLst>
                </p:cNvPr>
                <p:cNvGrpSpPr/>
                <p:nvPr/>
              </p:nvGrpSpPr>
              <p:grpSpPr>
                <a:xfrm>
                  <a:off x="1641231" y="4671562"/>
                  <a:ext cx="715106" cy="457201"/>
                  <a:chOff x="1277817" y="2985106"/>
                  <a:chExt cx="715106" cy="457201"/>
                </a:xfrm>
                <a:solidFill>
                  <a:srgbClr val="009ACC"/>
                </a:solidFill>
              </p:grpSpPr>
              <p:sp>
                <p:nvSpPr>
                  <p:cNvPr id="285" name="Rectangle 284">
                    <a:extLst>
                      <a:ext uri="{FF2B5EF4-FFF2-40B4-BE49-F238E27FC236}">
                        <a16:creationId xmlns:a16="http://schemas.microsoft.com/office/drawing/2014/main" id="{65017D17-30CE-9394-8499-771622B5F32E}"/>
                      </a:ext>
                    </a:extLst>
                  </p:cNvPr>
                  <p:cNvSpPr/>
                  <p:nvPr/>
                </p:nvSpPr>
                <p:spPr>
                  <a:xfrm>
                    <a:off x="1277817" y="2985107"/>
                    <a:ext cx="398584" cy="45720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6" name="Triangle 285">
                    <a:extLst>
                      <a:ext uri="{FF2B5EF4-FFF2-40B4-BE49-F238E27FC236}">
                        <a16:creationId xmlns:a16="http://schemas.microsoft.com/office/drawing/2014/main" id="{6B7E4329-E585-04CD-AE84-AB1B1F85133D}"/>
                      </a:ext>
                    </a:extLst>
                  </p:cNvPr>
                  <p:cNvSpPr/>
                  <p:nvPr/>
                </p:nvSpPr>
                <p:spPr>
                  <a:xfrm>
                    <a:off x="1383323" y="2985106"/>
                    <a:ext cx="609600" cy="457200"/>
                  </a:xfrm>
                  <a:prstGeom prst="triangl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281" name="Straight Connector 280">
                  <a:extLst>
                    <a:ext uri="{FF2B5EF4-FFF2-40B4-BE49-F238E27FC236}">
                      <a16:creationId xmlns:a16="http://schemas.microsoft.com/office/drawing/2014/main" id="{78F3952A-9821-5515-33E8-707EED209D09}"/>
                    </a:ext>
                  </a:extLst>
                </p:cNvPr>
                <p:cNvCxnSpPr>
                  <a:endCxn id="286" idx="4"/>
                </p:cNvCxnSpPr>
                <p:nvPr/>
              </p:nvCxnSpPr>
              <p:spPr>
                <a:xfrm>
                  <a:off x="1641231" y="5128762"/>
                  <a:ext cx="715106"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2" name="Straight Connector 281">
                  <a:extLst>
                    <a:ext uri="{FF2B5EF4-FFF2-40B4-BE49-F238E27FC236}">
                      <a16:creationId xmlns:a16="http://schemas.microsoft.com/office/drawing/2014/main" id="{336130F0-4DC5-8815-FB66-49A8E7EAD541}"/>
                    </a:ext>
                  </a:extLst>
                </p:cNvPr>
                <p:cNvCxnSpPr>
                  <a:cxnSpLocks/>
                  <a:endCxn id="286" idx="0"/>
                </p:cNvCxnSpPr>
                <p:nvPr/>
              </p:nvCxnSpPr>
              <p:spPr>
                <a:xfrm>
                  <a:off x="1641231" y="4671562"/>
                  <a:ext cx="410306"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3" name="Straight Connector 282">
                  <a:extLst>
                    <a:ext uri="{FF2B5EF4-FFF2-40B4-BE49-F238E27FC236}">
                      <a16:creationId xmlns:a16="http://schemas.microsoft.com/office/drawing/2014/main" id="{BE1A7417-CFD8-E531-1AE4-8BEA3C660CFC}"/>
                    </a:ext>
                  </a:extLst>
                </p:cNvPr>
                <p:cNvCxnSpPr>
                  <a:cxnSpLocks/>
                </p:cNvCxnSpPr>
                <p:nvPr/>
              </p:nvCxnSpPr>
              <p:spPr>
                <a:xfrm>
                  <a:off x="1635370" y="4678237"/>
                  <a:ext cx="0" cy="45052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4" name="Straight Connector 283">
                  <a:extLst>
                    <a:ext uri="{FF2B5EF4-FFF2-40B4-BE49-F238E27FC236}">
                      <a16:creationId xmlns:a16="http://schemas.microsoft.com/office/drawing/2014/main" id="{A7461D8A-521D-CA70-B1CC-8DFE18CF0531}"/>
                    </a:ext>
                  </a:extLst>
                </p:cNvPr>
                <p:cNvCxnSpPr>
                  <a:cxnSpLocks/>
                  <a:stCxn id="286" idx="0"/>
                  <a:endCxn id="286" idx="4"/>
                </p:cNvCxnSpPr>
                <p:nvPr/>
              </p:nvCxnSpPr>
              <p:spPr>
                <a:xfrm>
                  <a:off x="2051537" y="4671562"/>
                  <a:ext cx="304800" cy="4572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92" name="Group 191">
                <a:extLst>
                  <a:ext uri="{FF2B5EF4-FFF2-40B4-BE49-F238E27FC236}">
                    <a16:creationId xmlns:a16="http://schemas.microsoft.com/office/drawing/2014/main" id="{CDA444DD-2B1F-B007-B52D-A6DA0BDBADD2}"/>
                  </a:ext>
                </a:extLst>
              </p:cNvPr>
              <p:cNvGrpSpPr/>
              <p:nvPr/>
            </p:nvGrpSpPr>
            <p:grpSpPr>
              <a:xfrm flipV="1">
                <a:off x="1090247" y="2701513"/>
                <a:ext cx="715106" cy="490655"/>
                <a:chOff x="1277817" y="2951653"/>
                <a:chExt cx="715106" cy="490655"/>
              </a:xfrm>
              <a:solidFill>
                <a:srgbClr val="009ACC"/>
              </a:solidFill>
            </p:grpSpPr>
            <p:sp>
              <p:nvSpPr>
                <p:cNvPr id="278" name="Rectangle 277">
                  <a:extLst>
                    <a:ext uri="{FF2B5EF4-FFF2-40B4-BE49-F238E27FC236}">
                      <a16:creationId xmlns:a16="http://schemas.microsoft.com/office/drawing/2014/main" id="{0F3169DA-4F56-5433-B9E4-EE7ADD5A878E}"/>
                    </a:ext>
                  </a:extLst>
                </p:cNvPr>
                <p:cNvSpPr/>
                <p:nvPr/>
              </p:nvSpPr>
              <p:spPr>
                <a:xfrm>
                  <a:off x="1277817" y="2951653"/>
                  <a:ext cx="398584" cy="490655"/>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9" name="Triangle 278">
                  <a:extLst>
                    <a:ext uri="{FF2B5EF4-FFF2-40B4-BE49-F238E27FC236}">
                      <a16:creationId xmlns:a16="http://schemas.microsoft.com/office/drawing/2014/main" id="{67FE677C-D46B-A9B8-0A72-B543AC234169}"/>
                    </a:ext>
                  </a:extLst>
                </p:cNvPr>
                <p:cNvSpPr/>
                <p:nvPr/>
              </p:nvSpPr>
              <p:spPr>
                <a:xfrm>
                  <a:off x="1383323" y="2985106"/>
                  <a:ext cx="609600" cy="457200"/>
                </a:xfrm>
                <a:prstGeom prst="triangl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93" name="Straight Connector 192">
                <a:extLst>
                  <a:ext uri="{FF2B5EF4-FFF2-40B4-BE49-F238E27FC236}">
                    <a16:creationId xmlns:a16="http://schemas.microsoft.com/office/drawing/2014/main" id="{94BA9022-C95A-55DB-4442-BFECADC272BC}"/>
                  </a:ext>
                </a:extLst>
              </p:cNvPr>
              <p:cNvCxnSpPr>
                <a:endCxn id="279" idx="4"/>
              </p:cNvCxnSpPr>
              <p:nvPr/>
            </p:nvCxnSpPr>
            <p:spPr>
              <a:xfrm flipV="1">
                <a:off x="1090247" y="2701515"/>
                <a:ext cx="715106"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4" name="Straight Connector 193">
                <a:extLst>
                  <a:ext uri="{FF2B5EF4-FFF2-40B4-BE49-F238E27FC236}">
                    <a16:creationId xmlns:a16="http://schemas.microsoft.com/office/drawing/2014/main" id="{EC9734BF-A44B-EAA4-3E68-BA81449B3658}"/>
                  </a:ext>
                </a:extLst>
              </p:cNvPr>
              <p:cNvCxnSpPr>
                <a:cxnSpLocks/>
                <a:endCxn id="279" idx="0"/>
              </p:cNvCxnSpPr>
              <p:nvPr/>
            </p:nvCxnSpPr>
            <p:spPr>
              <a:xfrm flipV="1">
                <a:off x="1090247" y="3158715"/>
                <a:ext cx="410306"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5" name="Straight Connector 194">
                <a:extLst>
                  <a:ext uri="{FF2B5EF4-FFF2-40B4-BE49-F238E27FC236}">
                    <a16:creationId xmlns:a16="http://schemas.microsoft.com/office/drawing/2014/main" id="{C31CD176-DEFB-2A64-2077-210A13F0DEBD}"/>
                  </a:ext>
                </a:extLst>
              </p:cNvPr>
              <p:cNvCxnSpPr>
                <a:cxnSpLocks/>
              </p:cNvCxnSpPr>
              <p:nvPr/>
            </p:nvCxnSpPr>
            <p:spPr>
              <a:xfrm flipV="1">
                <a:off x="1084386" y="2701515"/>
                <a:ext cx="0" cy="45052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6" name="Straight Connector 195">
                <a:extLst>
                  <a:ext uri="{FF2B5EF4-FFF2-40B4-BE49-F238E27FC236}">
                    <a16:creationId xmlns:a16="http://schemas.microsoft.com/office/drawing/2014/main" id="{A3B83B2F-17B4-3C3A-9577-52717CDEAE38}"/>
                  </a:ext>
                </a:extLst>
              </p:cNvPr>
              <p:cNvCxnSpPr>
                <a:cxnSpLocks/>
                <a:stCxn id="279" idx="0"/>
                <a:endCxn id="279" idx="4"/>
              </p:cNvCxnSpPr>
              <p:nvPr/>
            </p:nvCxnSpPr>
            <p:spPr>
              <a:xfrm flipV="1">
                <a:off x="1500553" y="2701515"/>
                <a:ext cx="304800" cy="4572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97" name="Group 196">
                <a:extLst>
                  <a:ext uri="{FF2B5EF4-FFF2-40B4-BE49-F238E27FC236}">
                    <a16:creationId xmlns:a16="http://schemas.microsoft.com/office/drawing/2014/main" id="{0EAB5C9E-B936-1738-22CF-D4FA293A6479}"/>
                  </a:ext>
                </a:extLst>
              </p:cNvPr>
              <p:cNvGrpSpPr/>
              <p:nvPr/>
            </p:nvGrpSpPr>
            <p:grpSpPr>
              <a:xfrm>
                <a:off x="1511207" y="2701514"/>
                <a:ext cx="914401" cy="470709"/>
                <a:chOff x="1594337" y="2726227"/>
                <a:chExt cx="914401" cy="470709"/>
              </a:xfrm>
            </p:grpSpPr>
            <p:sp>
              <p:nvSpPr>
                <p:cNvPr id="272" name="Triangle 271">
                  <a:extLst>
                    <a:ext uri="{FF2B5EF4-FFF2-40B4-BE49-F238E27FC236}">
                      <a16:creationId xmlns:a16="http://schemas.microsoft.com/office/drawing/2014/main" id="{3C84D715-917B-D0B4-DABC-94AFAED39F02}"/>
                    </a:ext>
                  </a:extLst>
                </p:cNvPr>
                <p:cNvSpPr/>
                <p:nvPr/>
              </p:nvSpPr>
              <p:spPr>
                <a:xfrm>
                  <a:off x="1594338" y="2739736"/>
                  <a:ext cx="609600" cy="457200"/>
                </a:xfrm>
                <a:prstGeom prst="triangle">
                  <a:avLst/>
                </a:prstGeom>
                <a:solidFill>
                  <a:srgbClr val="009AC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3" name="Triangle 272">
                  <a:extLst>
                    <a:ext uri="{FF2B5EF4-FFF2-40B4-BE49-F238E27FC236}">
                      <a16:creationId xmlns:a16="http://schemas.microsoft.com/office/drawing/2014/main" id="{82A45642-55E7-8B92-DA1A-CAA706E6339E}"/>
                    </a:ext>
                  </a:extLst>
                </p:cNvPr>
                <p:cNvSpPr/>
                <p:nvPr/>
              </p:nvSpPr>
              <p:spPr>
                <a:xfrm flipV="1">
                  <a:off x="1899138" y="2739736"/>
                  <a:ext cx="609600" cy="457200"/>
                </a:xfrm>
                <a:prstGeom prst="triangle">
                  <a:avLst/>
                </a:prstGeom>
                <a:solidFill>
                  <a:srgbClr val="009AC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74" name="Straight Connector 273">
                  <a:extLst>
                    <a:ext uri="{FF2B5EF4-FFF2-40B4-BE49-F238E27FC236}">
                      <a16:creationId xmlns:a16="http://schemas.microsoft.com/office/drawing/2014/main" id="{48BB740A-0C46-2989-F30E-B6B300B34A9E}"/>
                    </a:ext>
                  </a:extLst>
                </p:cNvPr>
                <p:cNvCxnSpPr>
                  <a:cxnSpLocks/>
                  <a:stCxn id="273" idx="0"/>
                </p:cNvCxnSpPr>
                <p:nvPr/>
              </p:nvCxnSpPr>
              <p:spPr>
                <a:xfrm flipH="1" flipV="1">
                  <a:off x="1594339" y="3194902"/>
                  <a:ext cx="609599" cy="2034"/>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5" name="Straight Connector 274">
                  <a:extLst>
                    <a:ext uri="{FF2B5EF4-FFF2-40B4-BE49-F238E27FC236}">
                      <a16:creationId xmlns:a16="http://schemas.microsoft.com/office/drawing/2014/main" id="{CC53E25D-3C88-BEFD-3025-6888C177B4BC}"/>
                    </a:ext>
                  </a:extLst>
                </p:cNvPr>
                <p:cNvCxnSpPr>
                  <a:cxnSpLocks/>
                </p:cNvCxnSpPr>
                <p:nvPr/>
              </p:nvCxnSpPr>
              <p:spPr>
                <a:xfrm flipH="1">
                  <a:off x="1594337" y="2726581"/>
                  <a:ext cx="304800" cy="4572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6" name="Straight Connector 275">
                  <a:extLst>
                    <a:ext uri="{FF2B5EF4-FFF2-40B4-BE49-F238E27FC236}">
                      <a16:creationId xmlns:a16="http://schemas.microsoft.com/office/drawing/2014/main" id="{36E16076-2569-E85E-1068-B1D5A0483F8D}"/>
                    </a:ext>
                  </a:extLst>
                </p:cNvPr>
                <p:cNvCxnSpPr>
                  <a:cxnSpLocks/>
                </p:cNvCxnSpPr>
                <p:nvPr/>
              </p:nvCxnSpPr>
              <p:spPr>
                <a:xfrm flipH="1">
                  <a:off x="2203934" y="2737702"/>
                  <a:ext cx="304800" cy="4572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7" name="Straight Connector 276">
                  <a:extLst>
                    <a:ext uri="{FF2B5EF4-FFF2-40B4-BE49-F238E27FC236}">
                      <a16:creationId xmlns:a16="http://schemas.microsoft.com/office/drawing/2014/main" id="{BC73AD52-1D82-A8B3-88FB-57BA5BAC1809}"/>
                    </a:ext>
                  </a:extLst>
                </p:cNvPr>
                <p:cNvCxnSpPr>
                  <a:cxnSpLocks/>
                </p:cNvCxnSpPr>
                <p:nvPr/>
              </p:nvCxnSpPr>
              <p:spPr>
                <a:xfrm flipH="1" flipV="1">
                  <a:off x="1899137" y="2726227"/>
                  <a:ext cx="609599" cy="2034"/>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98" name="Group 197">
                <a:extLst>
                  <a:ext uri="{FF2B5EF4-FFF2-40B4-BE49-F238E27FC236}">
                    <a16:creationId xmlns:a16="http://schemas.microsoft.com/office/drawing/2014/main" id="{6100B049-5927-DFE2-2A69-B6075E391310}"/>
                  </a:ext>
                </a:extLst>
              </p:cNvPr>
              <p:cNvGrpSpPr/>
              <p:nvPr/>
            </p:nvGrpSpPr>
            <p:grpSpPr>
              <a:xfrm>
                <a:off x="2117611" y="2701514"/>
                <a:ext cx="914401" cy="470709"/>
                <a:chOff x="1594337" y="2726227"/>
                <a:chExt cx="914401" cy="470709"/>
              </a:xfrm>
            </p:grpSpPr>
            <p:sp>
              <p:nvSpPr>
                <p:cNvPr id="266" name="Triangle 265">
                  <a:extLst>
                    <a:ext uri="{FF2B5EF4-FFF2-40B4-BE49-F238E27FC236}">
                      <a16:creationId xmlns:a16="http://schemas.microsoft.com/office/drawing/2014/main" id="{34F7E793-F069-F26D-D1B3-02659A9C851D}"/>
                    </a:ext>
                  </a:extLst>
                </p:cNvPr>
                <p:cNvSpPr/>
                <p:nvPr/>
              </p:nvSpPr>
              <p:spPr>
                <a:xfrm>
                  <a:off x="1594338" y="2739736"/>
                  <a:ext cx="609600" cy="457200"/>
                </a:xfrm>
                <a:prstGeom prst="triangle">
                  <a:avLst/>
                </a:prstGeom>
                <a:solidFill>
                  <a:srgbClr val="009AC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7" name="Triangle 266">
                  <a:extLst>
                    <a:ext uri="{FF2B5EF4-FFF2-40B4-BE49-F238E27FC236}">
                      <a16:creationId xmlns:a16="http://schemas.microsoft.com/office/drawing/2014/main" id="{10F72A5A-C9D2-6FF1-FF33-6A9927E3CC89}"/>
                    </a:ext>
                  </a:extLst>
                </p:cNvPr>
                <p:cNvSpPr/>
                <p:nvPr/>
              </p:nvSpPr>
              <p:spPr>
                <a:xfrm flipV="1">
                  <a:off x="1899138" y="2739736"/>
                  <a:ext cx="609600" cy="457200"/>
                </a:xfrm>
                <a:prstGeom prst="triangle">
                  <a:avLst/>
                </a:prstGeom>
                <a:solidFill>
                  <a:srgbClr val="009AC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68" name="Straight Connector 267">
                  <a:extLst>
                    <a:ext uri="{FF2B5EF4-FFF2-40B4-BE49-F238E27FC236}">
                      <a16:creationId xmlns:a16="http://schemas.microsoft.com/office/drawing/2014/main" id="{18D3E84F-611B-98BB-CC30-6F070B85F56B}"/>
                    </a:ext>
                  </a:extLst>
                </p:cNvPr>
                <p:cNvCxnSpPr>
                  <a:cxnSpLocks/>
                  <a:stCxn id="267" idx="0"/>
                </p:cNvCxnSpPr>
                <p:nvPr/>
              </p:nvCxnSpPr>
              <p:spPr>
                <a:xfrm flipH="1" flipV="1">
                  <a:off x="1594339" y="3194902"/>
                  <a:ext cx="609599" cy="2034"/>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9" name="Straight Connector 268">
                  <a:extLst>
                    <a:ext uri="{FF2B5EF4-FFF2-40B4-BE49-F238E27FC236}">
                      <a16:creationId xmlns:a16="http://schemas.microsoft.com/office/drawing/2014/main" id="{7F596318-5912-E742-C512-87C75A54DDD4}"/>
                    </a:ext>
                  </a:extLst>
                </p:cNvPr>
                <p:cNvCxnSpPr>
                  <a:cxnSpLocks/>
                </p:cNvCxnSpPr>
                <p:nvPr/>
              </p:nvCxnSpPr>
              <p:spPr>
                <a:xfrm flipH="1">
                  <a:off x="1594337" y="2726581"/>
                  <a:ext cx="304800" cy="4572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0" name="Straight Connector 269">
                  <a:extLst>
                    <a:ext uri="{FF2B5EF4-FFF2-40B4-BE49-F238E27FC236}">
                      <a16:creationId xmlns:a16="http://schemas.microsoft.com/office/drawing/2014/main" id="{0746200C-7612-A2CC-384E-C2528CE2EE2B}"/>
                    </a:ext>
                  </a:extLst>
                </p:cNvPr>
                <p:cNvCxnSpPr>
                  <a:cxnSpLocks/>
                </p:cNvCxnSpPr>
                <p:nvPr/>
              </p:nvCxnSpPr>
              <p:spPr>
                <a:xfrm flipH="1">
                  <a:off x="2203934" y="2737702"/>
                  <a:ext cx="304800" cy="4572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1" name="Straight Connector 270">
                  <a:extLst>
                    <a:ext uri="{FF2B5EF4-FFF2-40B4-BE49-F238E27FC236}">
                      <a16:creationId xmlns:a16="http://schemas.microsoft.com/office/drawing/2014/main" id="{30DD88EE-BBEA-CD96-399F-0E96E5466388}"/>
                    </a:ext>
                  </a:extLst>
                </p:cNvPr>
                <p:cNvCxnSpPr>
                  <a:cxnSpLocks/>
                </p:cNvCxnSpPr>
                <p:nvPr/>
              </p:nvCxnSpPr>
              <p:spPr>
                <a:xfrm flipH="1" flipV="1">
                  <a:off x="1899137" y="2726227"/>
                  <a:ext cx="609599" cy="2034"/>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99" name="Group 198">
                <a:extLst>
                  <a:ext uri="{FF2B5EF4-FFF2-40B4-BE49-F238E27FC236}">
                    <a16:creationId xmlns:a16="http://schemas.microsoft.com/office/drawing/2014/main" id="{21D19EE5-F065-284F-1443-BF8BC6EAA009}"/>
                  </a:ext>
                </a:extLst>
              </p:cNvPr>
              <p:cNvGrpSpPr/>
              <p:nvPr/>
            </p:nvGrpSpPr>
            <p:grpSpPr>
              <a:xfrm>
                <a:off x="2724011" y="2701514"/>
                <a:ext cx="914401" cy="470709"/>
                <a:chOff x="1594337" y="2726227"/>
                <a:chExt cx="914401" cy="470709"/>
              </a:xfrm>
            </p:grpSpPr>
            <p:sp>
              <p:nvSpPr>
                <p:cNvPr id="260" name="Triangle 259">
                  <a:extLst>
                    <a:ext uri="{FF2B5EF4-FFF2-40B4-BE49-F238E27FC236}">
                      <a16:creationId xmlns:a16="http://schemas.microsoft.com/office/drawing/2014/main" id="{9ABACB01-3138-2F95-D04B-DC944340F0F1}"/>
                    </a:ext>
                  </a:extLst>
                </p:cNvPr>
                <p:cNvSpPr/>
                <p:nvPr/>
              </p:nvSpPr>
              <p:spPr>
                <a:xfrm>
                  <a:off x="1594338" y="2739736"/>
                  <a:ext cx="609600" cy="457200"/>
                </a:xfrm>
                <a:prstGeom prst="triangle">
                  <a:avLst/>
                </a:prstGeom>
                <a:solidFill>
                  <a:srgbClr val="009AC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1" name="Triangle 260">
                  <a:extLst>
                    <a:ext uri="{FF2B5EF4-FFF2-40B4-BE49-F238E27FC236}">
                      <a16:creationId xmlns:a16="http://schemas.microsoft.com/office/drawing/2014/main" id="{4A031610-DD77-BE94-AD71-84CA52E891F8}"/>
                    </a:ext>
                  </a:extLst>
                </p:cNvPr>
                <p:cNvSpPr/>
                <p:nvPr/>
              </p:nvSpPr>
              <p:spPr>
                <a:xfrm flipV="1">
                  <a:off x="1899138" y="2739736"/>
                  <a:ext cx="609600" cy="457200"/>
                </a:xfrm>
                <a:prstGeom prst="triangle">
                  <a:avLst/>
                </a:prstGeom>
                <a:solidFill>
                  <a:srgbClr val="009AC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62" name="Straight Connector 261">
                  <a:extLst>
                    <a:ext uri="{FF2B5EF4-FFF2-40B4-BE49-F238E27FC236}">
                      <a16:creationId xmlns:a16="http://schemas.microsoft.com/office/drawing/2014/main" id="{DA7D4742-515A-C808-6D0F-174373783627}"/>
                    </a:ext>
                  </a:extLst>
                </p:cNvPr>
                <p:cNvCxnSpPr>
                  <a:cxnSpLocks/>
                  <a:stCxn id="261" idx="0"/>
                </p:cNvCxnSpPr>
                <p:nvPr/>
              </p:nvCxnSpPr>
              <p:spPr>
                <a:xfrm flipH="1" flipV="1">
                  <a:off x="1594339" y="3194902"/>
                  <a:ext cx="609599" cy="2034"/>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3" name="Straight Connector 262">
                  <a:extLst>
                    <a:ext uri="{FF2B5EF4-FFF2-40B4-BE49-F238E27FC236}">
                      <a16:creationId xmlns:a16="http://schemas.microsoft.com/office/drawing/2014/main" id="{F5317139-4178-DE94-62F5-F44DDB81CBD6}"/>
                    </a:ext>
                  </a:extLst>
                </p:cNvPr>
                <p:cNvCxnSpPr>
                  <a:cxnSpLocks/>
                </p:cNvCxnSpPr>
                <p:nvPr/>
              </p:nvCxnSpPr>
              <p:spPr>
                <a:xfrm flipH="1">
                  <a:off x="1594337" y="2726581"/>
                  <a:ext cx="304800" cy="4572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4" name="Straight Connector 263">
                  <a:extLst>
                    <a:ext uri="{FF2B5EF4-FFF2-40B4-BE49-F238E27FC236}">
                      <a16:creationId xmlns:a16="http://schemas.microsoft.com/office/drawing/2014/main" id="{383E6902-0EF7-0CD8-8349-A298D813C38F}"/>
                    </a:ext>
                  </a:extLst>
                </p:cNvPr>
                <p:cNvCxnSpPr>
                  <a:cxnSpLocks/>
                </p:cNvCxnSpPr>
                <p:nvPr/>
              </p:nvCxnSpPr>
              <p:spPr>
                <a:xfrm flipH="1">
                  <a:off x="2203934" y="2737702"/>
                  <a:ext cx="304800" cy="4572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5" name="Straight Connector 264">
                  <a:extLst>
                    <a:ext uri="{FF2B5EF4-FFF2-40B4-BE49-F238E27FC236}">
                      <a16:creationId xmlns:a16="http://schemas.microsoft.com/office/drawing/2014/main" id="{28978F56-FE8E-E124-B0DC-A416373E8F1E}"/>
                    </a:ext>
                  </a:extLst>
                </p:cNvPr>
                <p:cNvCxnSpPr>
                  <a:cxnSpLocks/>
                </p:cNvCxnSpPr>
                <p:nvPr/>
              </p:nvCxnSpPr>
              <p:spPr>
                <a:xfrm flipH="1" flipV="1">
                  <a:off x="1899137" y="2726227"/>
                  <a:ext cx="609599" cy="2034"/>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0" name="Group 199">
                <a:extLst>
                  <a:ext uri="{FF2B5EF4-FFF2-40B4-BE49-F238E27FC236}">
                    <a16:creationId xmlns:a16="http://schemas.microsoft.com/office/drawing/2014/main" id="{34C6A427-D587-5BD2-3808-41D868346D5E}"/>
                  </a:ext>
                </a:extLst>
              </p:cNvPr>
              <p:cNvGrpSpPr/>
              <p:nvPr/>
            </p:nvGrpSpPr>
            <p:grpSpPr>
              <a:xfrm>
                <a:off x="3344272" y="2701514"/>
                <a:ext cx="914401" cy="470709"/>
                <a:chOff x="1594337" y="2726227"/>
                <a:chExt cx="914401" cy="470709"/>
              </a:xfrm>
            </p:grpSpPr>
            <p:sp>
              <p:nvSpPr>
                <p:cNvPr id="254" name="Triangle 253">
                  <a:extLst>
                    <a:ext uri="{FF2B5EF4-FFF2-40B4-BE49-F238E27FC236}">
                      <a16:creationId xmlns:a16="http://schemas.microsoft.com/office/drawing/2014/main" id="{F14758BD-70C1-94B5-63EA-5BC855BF8CA2}"/>
                    </a:ext>
                  </a:extLst>
                </p:cNvPr>
                <p:cNvSpPr/>
                <p:nvPr/>
              </p:nvSpPr>
              <p:spPr>
                <a:xfrm>
                  <a:off x="1594338" y="2739736"/>
                  <a:ext cx="609600" cy="457200"/>
                </a:xfrm>
                <a:prstGeom prst="triangle">
                  <a:avLst/>
                </a:prstGeom>
                <a:solidFill>
                  <a:srgbClr val="009AC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5" name="Triangle 254">
                  <a:extLst>
                    <a:ext uri="{FF2B5EF4-FFF2-40B4-BE49-F238E27FC236}">
                      <a16:creationId xmlns:a16="http://schemas.microsoft.com/office/drawing/2014/main" id="{34FB0005-5B83-69B3-0A91-79B9246E77D2}"/>
                    </a:ext>
                  </a:extLst>
                </p:cNvPr>
                <p:cNvSpPr/>
                <p:nvPr/>
              </p:nvSpPr>
              <p:spPr>
                <a:xfrm flipV="1">
                  <a:off x="1899138" y="2739736"/>
                  <a:ext cx="609600" cy="457200"/>
                </a:xfrm>
                <a:prstGeom prst="triangle">
                  <a:avLst/>
                </a:prstGeom>
                <a:solidFill>
                  <a:srgbClr val="009AC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56" name="Straight Connector 255">
                  <a:extLst>
                    <a:ext uri="{FF2B5EF4-FFF2-40B4-BE49-F238E27FC236}">
                      <a16:creationId xmlns:a16="http://schemas.microsoft.com/office/drawing/2014/main" id="{20A0F33E-E713-25E1-29C0-D2BB9B3E9179}"/>
                    </a:ext>
                  </a:extLst>
                </p:cNvPr>
                <p:cNvCxnSpPr>
                  <a:cxnSpLocks/>
                  <a:stCxn id="255" idx="0"/>
                </p:cNvCxnSpPr>
                <p:nvPr/>
              </p:nvCxnSpPr>
              <p:spPr>
                <a:xfrm flipH="1" flipV="1">
                  <a:off x="1594339" y="3194902"/>
                  <a:ext cx="609599" cy="2034"/>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7" name="Straight Connector 256">
                  <a:extLst>
                    <a:ext uri="{FF2B5EF4-FFF2-40B4-BE49-F238E27FC236}">
                      <a16:creationId xmlns:a16="http://schemas.microsoft.com/office/drawing/2014/main" id="{F21B1123-E589-1A56-6479-ADE364CE1A1E}"/>
                    </a:ext>
                  </a:extLst>
                </p:cNvPr>
                <p:cNvCxnSpPr>
                  <a:cxnSpLocks/>
                </p:cNvCxnSpPr>
                <p:nvPr/>
              </p:nvCxnSpPr>
              <p:spPr>
                <a:xfrm flipH="1">
                  <a:off x="1594337" y="2726581"/>
                  <a:ext cx="304800" cy="4572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8" name="Straight Connector 257">
                  <a:extLst>
                    <a:ext uri="{FF2B5EF4-FFF2-40B4-BE49-F238E27FC236}">
                      <a16:creationId xmlns:a16="http://schemas.microsoft.com/office/drawing/2014/main" id="{9FFA34CC-9A94-40E9-8036-FEB39FB6A5E1}"/>
                    </a:ext>
                  </a:extLst>
                </p:cNvPr>
                <p:cNvCxnSpPr>
                  <a:cxnSpLocks/>
                </p:cNvCxnSpPr>
                <p:nvPr/>
              </p:nvCxnSpPr>
              <p:spPr>
                <a:xfrm flipH="1">
                  <a:off x="2203934" y="2737702"/>
                  <a:ext cx="304800" cy="4572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9" name="Straight Connector 258">
                  <a:extLst>
                    <a:ext uri="{FF2B5EF4-FFF2-40B4-BE49-F238E27FC236}">
                      <a16:creationId xmlns:a16="http://schemas.microsoft.com/office/drawing/2014/main" id="{9DD1A278-379D-FD98-A526-B506197B7E5E}"/>
                    </a:ext>
                  </a:extLst>
                </p:cNvPr>
                <p:cNvCxnSpPr>
                  <a:cxnSpLocks/>
                </p:cNvCxnSpPr>
                <p:nvPr/>
              </p:nvCxnSpPr>
              <p:spPr>
                <a:xfrm flipH="1" flipV="1">
                  <a:off x="1899137" y="2726227"/>
                  <a:ext cx="609599" cy="2034"/>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1" name="Group 200">
                <a:extLst>
                  <a:ext uri="{FF2B5EF4-FFF2-40B4-BE49-F238E27FC236}">
                    <a16:creationId xmlns:a16="http://schemas.microsoft.com/office/drawing/2014/main" id="{27ACB415-34AD-98E9-79C8-F011CF4BFABF}"/>
                  </a:ext>
                </a:extLst>
              </p:cNvPr>
              <p:cNvGrpSpPr/>
              <p:nvPr/>
            </p:nvGrpSpPr>
            <p:grpSpPr>
              <a:xfrm>
                <a:off x="3950672" y="2701514"/>
                <a:ext cx="914401" cy="470709"/>
                <a:chOff x="1594337" y="2726227"/>
                <a:chExt cx="914401" cy="470709"/>
              </a:xfrm>
            </p:grpSpPr>
            <p:sp>
              <p:nvSpPr>
                <p:cNvPr id="248" name="Triangle 247">
                  <a:extLst>
                    <a:ext uri="{FF2B5EF4-FFF2-40B4-BE49-F238E27FC236}">
                      <a16:creationId xmlns:a16="http://schemas.microsoft.com/office/drawing/2014/main" id="{CC5E1948-C216-2E4A-6A53-7A7464A522E2}"/>
                    </a:ext>
                  </a:extLst>
                </p:cNvPr>
                <p:cNvSpPr/>
                <p:nvPr/>
              </p:nvSpPr>
              <p:spPr>
                <a:xfrm>
                  <a:off x="1594338" y="2739736"/>
                  <a:ext cx="609600" cy="457200"/>
                </a:xfrm>
                <a:prstGeom prst="triangle">
                  <a:avLst/>
                </a:prstGeom>
                <a:solidFill>
                  <a:srgbClr val="009AC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9" name="Triangle 248">
                  <a:extLst>
                    <a:ext uri="{FF2B5EF4-FFF2-40B4-BE49-F238E27FC236}">
                      <a16:creationId xmlns:a16="http://schemas.microsoft.com/office/drawing/2014/main" id="{43DCEB02-7F7E-AF4C-267F-23BD0EC6CBD3}"/>
                    </a:ext>
                  </a:extLst>
                </p:cNvPr>
                <p:cNvSpPr/>
                <p:nvPr/>
              </p:nvSpPr>
              <p:spPr>
                <a:xfrm flipV="1">
                  <a:off x="1899138" y="2739736"/>
                  <a:ext cx="609600" cy="457200"/>
                </a:xfrm>
                <a:prstGeom prst="triangle">
                  <a:avLst/>
                </a:prstGeom>
                <a:solidFill>
                  <a:srgbClr val="009AC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50" name="Straight Connector 249">
                  <a:extLst>
                    <a:ext uri="{FF2B5EF4-FFF2-40B4-BE49-F238E27FC236}">
                      <a16:creationId xmlns:a16="http://schemas.microsoft.com/office/drawing/2014/main" id="{DBF0E575-33E9-E65E-7EBD-31A194921935}"/>
                    </a:ext>
                  </a:extLst>
                </p:cNvPr>
                <p:cNvCxnSpPr>
                  <a:cxnSpLocks/>
                  <a:stCxn id="249" idx="0"/>
                </p:cNvCxnSpPr>
                <p:nvPr/>
              </p:nvCxnSpPr>
              <p:spPr>
                <a:xfrm flipH="1" flipV="1">
                  <a:off x="1594339" y="3194902"/>
                  <a:ext cx="609599" cy="2034"/>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1" name="Straight Connector 250">
                  <a:extLst>
                    <a:ext uri="{FF2B5EF4-FFF2-40B4-BE49-F238E27FC236}">
                      <a16:creationId xmlns:a16="http://schemas.microsoft.com/office/drawing/2014/main" id="{AC68F937-908A-73AC-F9F4-5A0B9F7D3FA9}"/>
                    </a:ext>
                  </a:extLst>
                </p:cNvPr>
                <p:cNvCxnSpPr>
                  <a:cxnSpLocks/>
                </p:cNvCxnSpPr>
                <p:nvPr/>
              </p:nvCxnSpPr>
              <p:spPr>
                <a:xfrm flipH="1">
                  <a:off x="1594337" y="2726581"/>
                  <a:ext cx="304800" cy="4572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2" name="Straight Connector 251">
                  <a:extLst>
                    <a:ext uri="{FF2B5EF4-FFF2-40B4-BE49-F238E27FC236}">
                      <a16:creationId xmlns:a16="http://schemas.microsoft.com/office/drawing/2014/main" id="{B118DB34-F738-C003-3644-FE1BEDF1DE08}"/>
                    </a:ext>
                  </a:extLst>
                </p:cNvPr>
                <p:cNvCxnSpPr>
                  <a:cxnSpLocks/>
                </p:cNvCxnSpPr>
                <p:nvPr/>
              </p:nvCxnSpPr>
              <p:spPr>
                <a:xfrm flipH="1">
                  <a:off x="2203934" y="2737702"/>
                  <a:ext cx="304800" cy="4572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3" name="Straight Connector 252">
                  <a:extLst>
                    <a:ext uri="{FF2B5EF4-FFF2-40B4-BE49-F238E27FC236}">
                      <a16:creationId xmlns:a16="http://schemas.microsoft.com/office/drawing/2014/main" id="{6C6C148D-90B5-9931-491E-170E44CBA52E}"/>
                    </a:ext>
                  </a:extLst>
                </p:cNvPr>
                <p:cNvCxnSpPr>
                  <a:cxnSpLocks/>
                </p:cNvCxnSpPr>
                <p:nvPr/>
              </p:nvCxnSpPr>
              <p:spPr>
                <a:xfrm flipH="1" flipV="1">
                  <a:off x="1899137" y="2726227"/>
                  <a:ext cx="609599" cy="2034"/>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2" name="Group 201">
                <a:extLst>
                  <a:ext uri="{FF2B5EF4-FFF2-40B4-BE49-F238E27FC236}">
                    <a16:creationId xmlns:a16="http://schemas.microsoft.com/office/drawing/2014/main" id="{5F7FAB32-B8CF-EDAB-21AE-E0E6454C9CDA}"/>
                  </a:ext>
                </a:extLst>
              </p:cNvPr>
              <p:cNvGrpSpPr/>
              <p:nvPr/>
            </p:nvGrpSpPr>
            <p:grpSpPr>
              <a:xfrm>
                <a:off x="4557078" y="2701514"/>
                <a:ext cx="914401" cy="470709"/>
                <a:chOff x="1594337" y="2726227"/>
                <a:chExt cx="914401" cy="470709"/>
              </a:xfrm>
            </p:grpSpPr>
            <p:sp>
              <p:nvSpPr>
                <p:cNvPr id="242" name="Triangle 241">
                  <a:extLst>
                    <a:ext uri="{FF2B5EF4-FFF2-40B4-BE49-F238E27FC236}">
                      <a16:creationId xmlns:a16="http://schemas.microsoft.com/office/drawing/2014/main" id="{851869DF-9B7A-3913-BECC-B2F393880903}"/>
                    </a:ext>
                  </a:extLst>
                </p:cNvPr>
                <p:cNvSpPr/>
                <p:nvPr/>
              </p:nvSpPr>
              <p:spPr>
                <a:xfrm>
                  <a:off x="1594338" y="2739736"/>
                  <a:ext cx="609600" cy="457200"/>
                </a:xfrm>
                <a:prstGeom prst="triangle">
                  <a:avLst/>
                </a:prstGeom>
                <a:solidFill>
                  <a:srgbClr val="009AC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3" name="Triangle 242">
                  <a:extLst>
                    <a:ext uri="{FF2B5EF4-FFF2-40B4-BE49-F238E27FC236}">
                      <a16:creationId xmlns:a16="http://schemas.microsoft.com/office/drawing/2014/main" id="{6E4DCEE8-60CF-DE1D-5969-A35E8AAB1875}"/>
                    </a:ext>
                  </a:extLst>
                </p:cNvPr>
                <p:cNvSpPr/>
                <p:nvPr/>
              </p:nvSpPr>
              <p:spPr>
                <a:xfrm flipV="1">
                  <a:off x="1899138" y="2739736"/>
                  <a:ext cx="609600" cy="457200"/>
                </a:xfrm>
                <a:prstGeom prst="triangle">
                  <a:avLst/>
                </a:prstGeom>
                <a:solidFill>
                  <a:srgbClr val="009AC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44" name="Straight Connector 243">
                  <a:extLst>
                    <a:ext uri="{FF2B5EF4-FFF2-40B4-BE49-F238E27FC236}">
                      <a16:creationId xmlns:a16="http://schemas.microsoft.com/office/drawing/2014/main" id="{F7EE6D44-1D78-0606-47B0-51AA3E0B4BE1}"/>
                    </a:ext>
                  </a:extLst>
                </p:cNvPr>
                <p:cNvCxnSpPr>
                  <a:cxnSpLocks/>
                  <a:stCxn id="243" idx="0"/>
                </p:cNvCxnSpPr>
                <p:nvPr/>
              </p:nvCxnSpPr>
              <p:spPr>
                <a:xfrm flipH="1" flipV="1">
                  <a:off x="1594339" y="3194902"/>
                  <a:ext cx="609599" cy="2034"/>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5" name="Straight Connector 244">
                  <a:extLst>
                    <a:ext uri="{FF2B5EF4-FFF2-40B4-BE49-F238E27FC236}">
                      <a16:creationId xmlns:a16="http://schemas.microsoft.com/office/drawing/2014/main" id="{1D35B909-F28F-9098-9F97-BF314629942C}"/>
                    </a:ext>
                  </a:extLst>
                </p:cNvPr>
                <p:cNvCxnSpPr>
                  <a:cxnSpLocks/>
                </p:cNvCxnSpPr>
                <p:nvPr/>
              </p:nvCxnSpPr>
              <p:spPr>
                <a:xfrm flipH="1">
                  <a:off x="1594337" y="2726581"/>
                  <a:ext cx="304800" cy="4572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6" name="Straight Connector 245">
                  <a:extLst>
                    <a:ext uri="{FF2B5EF4-FFF2-40B4-BE49-F238E27FC236}">
                      <a16:creationId xmlns:a16="http://schemas.microsoft.com/office/drawing/2014/main" id="{65FE91B4-AC73-E05F-AFE4-E23A294D2E2C}"/>
                    </a:ext>
                  </a:extLst>
                </p:cNvPr>
                <p:cNvCxnSpPr>
                  <a:cxnSpLocks/>
                </p:cNvCxnSpPr>
                <p:nvPr/>
              </p:nvCxnSpPr>
              <p:spPr>
                <a:xfrm flipH="1">
                  <a:off x="2203934" y="2737702"/>
                  <a:ext cx="304800" cy="4572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7" name="Straight Connector 246">
                  <a:extLst>
                    <a:ext uri="{FF2B5EF4-FFF2-40B4-BE49-F238E27FC236}">
                      <a16:creationId xmlns:a16="http://schemas.microsoft.com/office/drawing/2014/main" id="{B2F09703-0104-49E1-40A8-C452DC17EFC6}"/>
                    </a:ext>
                  </a:extLst>
                </p:cNvPr>
                <p:cNvCxnSpPr>
                  <a:cxnSpLocks/>
                </p:cNvCxnSpPr>
                <p:nvPr/>
              </p:nvCxnSpPr>
              <p:spPr>
                <a:xfrm flipH="1" flipV="1">
                  <a:off x="1899137" y="2726227"/>
                  <a:ext cx="609599" cy="2034"/>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3" name="Group 202">
                <a:extLst>
                  <a:ext uri="{FF2B5EF4-FFF2-40B4-BE49-F238E27FC236}">
                    <a16:creationId xmlns:a16="http://schemas.microsoft.com/office/drawing/2014/main" id="{247C06A4-3AF5-528A-9CCE-0D08FC304A0D}"/>
                  </a:ext>
                </a:extLst>
              </p:cNvPr>
              <p:cNvGrpSpPr/>
              <p:nvPr/>
            </p:nvGrpSpPr>
            <p:grpSpPr>
              <a:xfrm>
                <a:off x="5165610" y="2701514"/>
                <a:ext cx="914401" cy="470709"/>
                <a:chOff x="1594337" y="2726227"/>
                <a:chExt cx="914401" cy="470709"/>
              </a:xfrm>
            </p:grpSpPr>
            <p:sp>
              <p:nvSpPr>
                <p:cNvPr id="236" name="Triangle 235">
                  <a:extLst>
                    <a:ext uri="{FF2B5EF4-FFF2-40B4-BE49-F238E27FC236}">
                      <a16:creationId xmlns:a16="http://schemas.microsoft.com/office/drawing/2014/main" id="{8AF0F86D-902E-ADAB-BD49-84E310E4BDAD}"/>
                    </a:ext>
                  </a:extLst>
                </p:cNvPr>
                <p:cNvSpPr/>
                <p:nvPr/>
              </p:nvSpPr>
              <p:spPr>
                <a:xfrm>
                  <a:off x="1594338" y="2739736"/>
                  <a:ext cx="609600" cy="457200"/>
                </a:xfrm>
                <a:prstGeom prst="triangle">
                  <a:avLst/>
                </a:prstGeom>
                <a:solidFill>
                  <a:srgbClr val="009AC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7" name="Triangle 236">
                  <a:extLst>
                    <a:ext uri="{FF2B5EF4-FFF2-40B4-BE49-F238E27FC236}">
                      <a16:creationId xmlns:a16="http://schemas.microsoft.com/office/drawing/2014/main" id="{4B59FF6E-8800-D531-03E1-ACE7A02F9F34}"/>
                    </a:ext>
                  </a:extLst>
                </p:cNvPr>
                <p:cNvSpPr/>
                <p:nvPr/>
              </p:nvSpPr>
              <p:spPr>
                <a:xfrm flipV="1">
                  <a:off x="1899138" y="2739736"/>
                  <a:ext cx="609600" cy="457200"/>
                </a:xfrm>
                <a:prstGeom prst="triangle">
                  <a:avLst/>
                </a:prstGeom>
                <a:solidFill>
                  <a:srgbClr val="009AC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38" name="Straight Connector 237">
                  <a:extLst>
                    <a:ext uri="{FF2B5EF4-FFF2-40B4-BE49-F238E27FC236}">
                      <a16:creationId xmlns:a16="http://schemas.microsoft.com/office/drawing/2014/main" id="{C8929B86-2BB2-78BE-C20D-46C18DA0D01D}"/>
                    </a:ext>
                  </a:extLst>
                </p:cNvPr>
                <p:cNvCxnSpPr>
                  <a:cxnSpLocks/>
                  <a:stCxn id="237" idx="0"/>
                </p:cNvCxnSpPr>
                <p:nvPr/>
              </p:nvCxnSpPr>
              <p:spPr>
                <a:xfrm flipH="1" flipV="1">
                  <a:off x="1594339" y="3194902"/>
                  <a:ext cx="609599" cy="2034"/>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9" name="Straight Connector 238">
                  <a:extLst>
                    <a:ext uri="{FF2B5EF4-FFF2-40B4-BE49-F238E27FC236}">
                      <a16:creationId xmlns:a16="http://schemas.microsoft.com/office/drawing/2014/main" id="{E56D4250-5DD5-B569-C3E9-E21AF851390D}"/>
                    </a:ext>
                  </a:extLst>
                </p:cNvPr>
                <p:cNvCxnSpPr>
                  <a:cxnSpLocks/>
                </p:cNvCxnSpPr>
                <p:nvPr/>
              </p:nvCxnSpPr>
              <p:spPr>
                <a:xfrm flipH="1">
                  <a:off x="1594337" y="2726581"/>
                  <a:ext cx="304800" cy="4572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0" name="Straight Connector 239">
                  <a:extLst>
                    <a:ext uri="{FF2B5EF4-FFF2-40B4-BE49-F238E27FC236}">
                      <a16:creationId xmlns:a16="http://schemas.microsoft.com/office/drawing/2014/main" id="{3DBAADF6-5B90-478D-F400-FB2A4EF5003B}"/>
                    </a:ext>
                  </a:extLst>
                </p:cNvPr>
                <p:cNvCxnSpPr>
                  <a:cxnSpLocks/>
                </p:cNvCxnSpPr>
                <p:nvPr/>
              </p:nvCxnSpPr>
              <p:spPr>
                <a:xfrm flipH="1">
                  <a:off x="2203934" y="2737702"/>
                  <a:ext cx="304800" cy="4572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1" name="Straight Connector 240">
                  <a:extLst>
                    <a:ext uri="{FF2B5EF4-FFF2-40B4-BE49-F238E27FC236}">
                      <a16:creationId xmlns:a16="http://schemas.microsoft.com/office/drawing/2014/main" id="{5F007D7C-E05F-E01C-5F07-0BAB384A5124}"/>
                    </a:ext>
                  </a:extLst>
                </p:cNvPr>
                <p:cNvCxnSpPr>
                  <a:cxnSpLocks/>
                </p:cNvCxnSpPr>
                <p:nvPr/>
              </p:nvCxnSpPr>
              <p:spPr>
                <a:xfrm flipH="1" flipV="1">
                  <a:off x="1899137" y="2726227"/>
                  <a:ext cx="609599" cy="2034"/>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4" name="Group 203">
                <a:extLst>
                  <a:ext uri="{FF2B5EF4-FFF2-40B4-BE49-F238E27FC236}">
                    <a16:creationId xmlns:a16="http://schemas.microsoft.com/office/drawing/2014/main" id="{40FE2467-7CB9-AC27-AC49-E198A469FA22}"/>
                  </a:ext>
                </a:extLst>
              </p:cNvPr>
              <p:cNvGrpSpPr/>
              <p:nvPr/>
            </p:nvGrpSpPr>
            <p:grpSpPr>
              <a:xfrm flipV="1">
                <a:off x="6118701" y="2701514"/>
                <a:ext cx="914401" cy="470709"/>
                <a:chOff x="1594337" y="2726227"/>
                <a:chExt cx="914401" cy="470709"/>
              </a:xfrm>
            </p:grpSpPr>
            <p:sp>
              <p:nvSpPr>
                <p:cNvPr id="230" name="Triangle 229">
                  <a:extLst>
                    <a:ext uri="{FF2B5EF4-FFF2-40B4-BE49-F238E27FC236}">
                      <a16:creationId xmlns:a16="http://schemas.microsoft.com/office/drawing/2014/main" id="{1E389E9E-0605-0E06-9ACF-FA11630B847D}"/>
                    </a:ext>
                  </a:extLst>
                </p:cNvPr>
                <p:cNvSpPr/>
                <p:nvPr/>
              </p:nvSpPr>
              <p:spPr>
                <a:xfrm>
                  <a:off x="1594338" y="2739736"/>
                  <a:ext cx="609600" cy="457200"/>
                </a:xfrm>
                <a:prstGeom prst="triangle">
                  <a:avLst/>
                </a:prstGeom>
                <a:solidFill>
                  <a:srgbClr val="009AC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1" name="Triangle 230">
                  <a:extLst>
                    <a:ext uri="{FF2B5EF4-FFF2-40B4-BE49-F238E27FC236}">
                      <a16:creationId xmlns:a16="http://schemas.microsoft.com/office/drawing/2014/main" id="{9B647E6E-E005-7DD0-0796-FA1F5FCAFAF9}"/>
                    </a:ext>
                  </a:extLst>
                </p:cNvPr>
                <p:cNvSpPr/>
                <p:nvPr/>
              </p:nvSpPr>
              <p:spPr>
                <a:xfrm flipV="1">
                  <a:off x="1899138" y="2739736"/>
                  <a:ext cx="609600" cy="457200"/>
                </a:xfrm>
                <a:prstGeom prst="triangle">
                  <a:avLst/>
                </a:prstGeom>
                <a:solidFill>
                  <a:srgbClr val="009AC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32" name="Straight Connector 231">
                  <a:extLst>
                    <a:ext uri="{FF2B5EF4-FFF2-40B4-BE49-F238E27FC236}">
                      <a16:creationId xmlns:a16="http://schemas.microsoft.com/office/drawing/2014/main" id="{F24A6F70-BD1D-404A-2FB3-35221FDB8117}"/>
                    </a:ext>
                  </a:extLst>
                </p:cNvPr>
                <p:cNvCxnSpPr>
                  <a:cxnSpLocks/>
                  <a:stCxn id="231" idx="0"/>
                </p:cNvCxnSpPr>
                <p:nvPr/>
              </p:nvCxnSpPr>
              <p:spPr>
                <a:xfrm flipH="1" flipV="1">
                  <a:off x="1594339" y="3194902"/>
                  <a:ext cx="609599" cy="2034"/>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3" name="Straight Connector 232">
                  <a:extLst>
                    <a:ext uri="{FF2B5EF4-FFF2-40B4-BE49-F238E27FC236}">
                      <a16:creationId xmlns:a16="http://schemas.microsoft.com/office/drawing/2014/main" id="{67B4091C-D1B4-7055-013C-6E24C7C1E69B}"/>
                    </a:ext>
                  </a:extLst>
                </p:cNvPr>
                <p:cNvCxnSpPr>
                  <a:cxnSpLocks/>
                </p:cNvCxnSpPr>
                <p:nvPr/>
              </p:nvCxnSpPr>
              <p:spPr>
                <a:xfrm flipH="1">
                  <a:off x="1594337" y="2726581"/>
                  <a:ext cx="304800" cy="4572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4" name="Straight Connector 233">
                  <a:extLst>
                    <a:ext uri="{FF2B5EF4-FFF2-40B4-BE49-F238E27FC236}">
                      <a16:creationId xmlns:a16="http://schemas.microsoft.com/office/drawing/2014/main" id="{E43E06AF-F611-9C3D-2FB7-22650E74CAA7}"/>
                    </a:ext>
                  </a:extLst>
                </p:cNvPr>
                <p:cNvCxnSpPr>
                  <a:cxnSpLocks/>
                </p:cNvCxnSpPr>
                <p:nvPr/>
              </p:nvCxnSpPr>
              <p:spPr>
                <a:xfrm flipH="1">
                  <a:off x="2203934" y="2737702"/>
                  <a:ext cx="304800" cy="4572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5" name="Straight Connector 234">
                  <a:extLst>
                    <a:ext uri="{FF2B5EF4-FFF2-40B4-BE49-F238E27FC236}">
                      <a16:creationId xmlns:a16="http://schemas.microsoft.com/office/drawing/2014/main" id="{66185D1A-3941-B77A-8636-157B0165537F}"/>
                    </a:ext>
                  </a:extLst>
                </p:cNvPr>
                <p:cNvCxnSpPr>
                  <a:cxnSpLocks/>
                </p:cNvCxnSpPr>
                <p:nvPr/>
              </p:nvCxnSpPr>
              <p:spPr>
                <a:xfrm flipH="1" flipV="1">
                  <a:off x="1899137" y="2726227"/>
                  <a:ext cx="609599" cy="2034"/>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05" name="TextBox 204">
                <a:extLst>
                  <a:ext uri="{FF2B5EF4-FFF2-40B4-BE49-F238E27FC236}">
                    <a16:creationId xmlns:a16="http://schemas.microsoft.com/office/drawing/2014/main" id="{0602F549-AA10-59D0-1D8A-9A203A3542EC}"/>
                  </a:ext>
                </a:extLst>
              </p:cNvPr>
              <p:cNvSpPr txBox="1"/>
              <p:nvPr/>
            </p:nvSpPr>
            <p:spPr>
              <a:xfrm>
                <a:off x="1797868" y="2804676"/>
                <a:ext cx="284052" cy="307777"/>
              </a:xfrm>
              <a:prstGeom prst="rect">
                <a:avLst/>
              </a:prstGeom>
              <a:noFill/>
            </p:spPr>
            <p:txBody>
              <a:bodyPr wrap="none" rtlCol="0">
                <a:spAutoFit/>
              </a:bodyPr>
              <a:lstStyle/>
              <a:p>
                <a:r>
                  <a:rPr lang="en-US" dirty="0"/>
                  <a:t>2</a:t>
                </a:r>
              </a:p>
            </p:txBody>
          </p:sp>
          <p:sp>
            <p:nvSpPr>
              <p:cNvPr id="206" name="TextBox 205">
                <a:extLst>
                  <a:ext uri="{FF2B5EF4-FFF2-40B4-BE49-F238E27FC236}">
                    <a16:creationId xmlns:a16="http://schemas.microsoft.com/office/drawing/2014/main" id="{6129A54A-F1BB-F227-DB70-0EB583C434A8}"/>
                  </a:ext>
                </a:extLst>
              </p:cNvPr>
              <p:cNvSpPr txBox="1"/>
              <p:nvPr/>
            </p:nvSpPr>
            <p:spPr>
              <a:xfrm>
                <a:off x="1189891" y="2794991"/>
                <a:ext cx="304800" cy="307777"/>
              </a:xfrm>
              <a:prstGeom prst="rect">
                <a:avLst/>
              </a:prstGeom>
              <a:noFill/>
            </p:spPr>
            <p:txBody>
              <a:bodyPr wrap="square" rtlCol="0">
                <a:spAutoFit/>
              </a:bodyPr>
              <a:lstStyle/>
              <a:p>
                <a:r>
                  <a:rPr lang="en-US" dirty="0"/>
                  <a:t>1</a:t>
                </a:r>
              </a:p>
            </p:txBody>
          </p:sp>
          <p:sp>
            <p:nvSpPr>
              <p:cNvPr id="207" name="TextBox 206">
                <a:extLst>
                  <a:ext uri="{FF2B5EF4-FFF2-40B4-BE49-F238E27FC236}">
                    <a16:creationId xmlns:a16="http://schemas.microsoft.com/office/drawing/2014/main" id="{8F5EB0B4-2454-09B4-D562-BAC14911CDF6}"/>
                  </a:ext>
                </a:extLst>
              </p:cNvPr>
              <p:cNvSpPr txBox="1"/>
              <p:nvPr/>
            </p:nvSpPr>
            <p:spPr>
              <a:xfrm>
                <a:off x="2426609" y="2804676"/>
                <a:ext cx="284052" cy="307777"/>
              </a:xfrm>
              <a:prstGeom prst="rect">
                <a:avLst/>
              </a:prstGeom>
              <a:noFill/>
            </p:spPr>
            <p:txBody>
              <a:bodyPr wrap="none" rtlCol="0">
                <a:spAutoFit/>
              </a:bodyPr>
              <a:lstStyle/>
              <a:p>
                <a:r>
                  <a:rPr lang="en-US" dirty="0"/>
                  <a:t>3</a:t>
                </a:r>
              </a:p>
            </p:txBody>
          </p:sp>
          <p:sp>
            <p:nvSpPr>
              <p:cNvPr id="208" name="TextBox 207">
                <a:extLst>
                  <a:ext uri="{FF2B5EF4-FFF2-40B4-BE49-F238E27FC236}">
                    <a16:creationId xmlns:a16="http://schemas.microsoft.com/office/drawing/2014/main" id="{8236C6E6-9449-E1AE-4A6B-25F830AA6C43}"/>
                  </a:ext>
                </a:extLst>
              </p:cNvPr>
              <p:cNvSpPr txBox="1"/>
              <p:nvPr/>
            </p:nvSpPr>
            <p:spPr>
              <a:xfrm>
                <a:off x="3027637" y="2804676"/>
                <a:ext cx="284052" cy="307777"/>
              </a:xfrm>
              <a:prstGeom prst="rect">
                <a:avLst/>
              </a:prstGeom>
              <a:noFill/>
            </p:spPr>
            <p:txBody>
              <a:bodyPr wrap="none" rtlCol="0">
                <a:spAutoFit/>
              </a:bodyPr>
              <a:lstStyle/>
              <a:p>
                <a:r>
                  <a:rPr lang="en-US" dirty="0"/>
                  <a:t>4</a:t>
                </a:r>
              </a:p>
            </p:txBody>
          </p:sp>
          <p:sp>
            <p:nvSpPr>
              <p:cNvPr id="209" name="TextBox 208">
                <a:extLst>
                  <a:ext uri="{FF2B5EF4-FFF2-40B4-BE49-F238E27FC236}">
                    <a16:creationId xmlns:a16="http://schemas.microsoft.com/office/drawing/2014/main" id="{5B275535-C732-6AA5-900F-73796ADEA32F}"/>
                  </a:ext>
                </a:extLst>
              </p:cNvPr>
              <p:cNvSpPr txBox="1"/>
              <p:nvPr/>
            </p:nvSpPr>
            <p:spPr>
              <a:xfrm>
                <a:off x="3684089" y="2804676"/>
                <a:ext cx="284052" cy="307777"/>
              </a:xfrm>
              <a:prstGeom prst="rect">
                <a:avLst/>
              </a:prstGeom>
              <a:noFill/>
            </p:spPr>
            <p:txBody>
              <a:bodyPr wrap="none" rtlCol="0">
                <a:spAutoFit/>
              </a:bodyPr>
              <a:lstStyle/>
              <a:p>
                <a:r>
                  <a:rPr lang="en-US" dirty="0"/>
                  <a:t>5</a:t>
                </a:r>
              </a:p>
            </p:txBody>
          </p:sp>
          <p:sp>
            <p:nvSpPr>
              <p:cNvPr id="210" name="TextBox 209">
                <a:extLst>
                  <a:ext uri="{FF2B5EF4-FFF2-40B4-BE49-F238E27FC236}">
                    <a16:creationId xmlns:a16="http://schemas.microsoft.com/office/drawing/2014/main" id="{DF8DC645-A459-3586-F15C-01AF302FA847}"/>
                  </a:ext>
                </a:extLst>
              </p:cNvPr>
              <p:cNvSpPr txBox="1"/>
              <p:nvPr/>
            </p:nvSpPr>
            <p:spPr>
              <a:xfrm>
                <a:off x="4229696" y="2804676"/>
                <a:ext cx="284052" cy="307777"/>
              </a:xfrm>
              <a:prstGeom prst="rect">
                <a:avLst/>
              </a:prstGeom>
              <a:noFill/>
            </p:spPr>
            <p:txBody>
              <a:bodyPr wrap="none" rtlCol="0">
                <a:spAutoFit/>
              </a:bodyPr>
              <a:lstStyle/>
              <a:p>
                <a:r>
                  <a:rPr lang="en-US" dirty="0"/>
                  <a:t>6</a:t>
                </a:r>
              </a:p>
            </p:txBody>
          </p:sp>
          <p:sp>
            <p:nvSpPr>
              <p:cNvPr id="211" name="TextBox 210">
                <a:extLst>
                  <a:ext uri="{FF2B5EF4-FFF2-40B4-BE49-F238E27FC236}">
                    <a16:creationId xmlns:a16="http://schemas.microsoft.com/office/drawing/2014/main" id="{8903314E-B97D-B596-BE8D-8C90BCC71BC6}"/>
                  </a:ext>
                </a:extLst>
              </p:cNvPr>
              <p:cNvSpPr txBox="1"/>
              <p:nvPr/>
            </p:nvSpPr>
            <p:spPr>
              <a:xfrm>
                <a:off x="4844584" y="2804676"/>
                <a:ext cx="284052" cy="307777"/>
              </a:xfrm>
              <a:prstGeom prst="rect">
                <a:avLst/>
              </a:prstGeom>
              <a:noFill/>
            </p:spPr>
            <p:txBody>
              <a:bodyPr wrap="none" rtlCol="0">
                <a:spAutoFit/>
              </a:bodyPr>
              <a:lstStyle/>
              <a:p>
                <a:r>
                  <a:rPr lang="en-US" dirty="0"/>
                  <a:t>7</a:t>
                </a:r>
              </a:p>
            </p:txBody>
          </p:sp>
          <p:sp>
            <p:nvSpPr>
              <p:cNvPr id="212" name="Triangle 211">
                <a:extLst>
                  <a:ext uri="{FF2B5EF4-FFF2-40B4-BE49-F238E27FC236}">
                    <a16:creationId xmlns:a16="http://schemas.microsoft.com/office/drawing/2014/main" id="{5909CA09-F1C5-9B9C-14D1-337FF0EF5FC4}"/>
                  </a:ext>
                </a:extLst>
              </p:cNvPr>
              <p:cNvSpPr/>
              <p:nvPr/>
            </p:nvSpPr>
            <p:spPr>
              <a:xfrm rot="10800000" flipV="1">
                <a:off x="5803139" y="2715369"/>
                <a:ext cx="609600" cy="474765"/>
              </a:xfrm>
              <a:prstGeom prst="triangle">
                <a:avLst/>
              </a:prstGeom>
              <a:solidFill>
                <a:srgbClr val="009ACC"/>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3" name="TextBox 212">
                <a:extLst>
                  <a:ext uri="{FF2B5EF4-FFF2-40B4-BE49-F238E27FC236}">
                    <a16:creationId xmlns:a16="http://schemas.microsoft.com/office/drawing/2014/main" id="{9B9BFA5C-943B-1EE3-2190-85B8075576B7}"/>
                  </a:ext>
                </a:extLst>
              </p:cNvPr>
              <p:cNvSpPr txBox="1"/>
              <p:nvPr/>
            </p:nvSpPr>
            <p:spPr>
              <a:xfrm>
                <a:off x="5464296" y="2794991"/>
                <a:ext cx="284052" cy="307777"/>
              </a:xfrm>
              <a:prstGeom prst="rect">
                <a:avLst/>
              </a:prstGeom>
              <a:noFill/>
            </p:spPr>
            <p:txBody>
              <a:bodyPr wrap="none" rtlCol="0">
                <a:spAutoFit/>
              </a:bodyPr>
              <a:lstStyle/>
              <a:p>
                <a:r>
                  <a:rPr lang="en-US" dirty="0"/>
                  <a:t>8</a:t>
                </a:r>
              </a:p>
            </p:txBody>
          </p:sp>
          <p:sp>
            <p:nvSpPr>
              <p:cNvPr id="214" name="TextBox 213">
                <a:extLst>
                  <a:ext uri="{FF2B5EF4-FFF2-40B4-BE49-F238E27FC236}">
                    <a16:creationId xmlns:a16="http://schemas.microsoft.com/office/drawing/2014/main" id="{79425E4F-35C3-8C62-E2C3-E464CD33AB98}"/>
                  </a:ext>
                </a:extLst>
              </p:cNvPr>
              <p:cNvSpPr txBox="1"/>
              <p:nvPr/>
            </p:nvSpPr>
            <p:spPr>
              <a:xfrm>
                <a:off x="5975953" y="2856429"/>
                <a:ext cx="284052" cy="307777"/>
              </a:xfrm>
              <a:prstGeom prst="rect">
                <a:avLst/>
              </a:prstGeom>
              <a:noFill/>
            </p:spPr>
            <p:txBody>
              <a:bodyPr wrap="none" rtlCol="0">
                <a:spAutoFit/>
              </a:bodyPr>
              <a:lstStyle/>
              <a:p>
                <a:r>
                  <a:rPr lang="en-US" dirty="0"/>
                  <a:t>9</a:t>
                </a:r>
              </a:p>
            </p:txBody>
          </p:sp>
          <p:sp>
            <p:nvSpPr>
              <p:cNvPr id="215" name="TextBox 214">
                <a:extLst>
                  <a:ext uri="{FF2B5EF4-FFF2-40B4-BE49-F238E27FC236}">
                    <a16:creationId xmlns:a16="http://schemas.microsoft.com/office/drawing/2014/main" id="{EEFD5B09-4B6C-12A0-915C-58C93A07CBA6}"/>
                  </a:ext>
                </a:extLst>
              </p:cNvPr>
              <p:cNvSpPr txBox="1"/>
              <p:nvPr/>
            </p:nvSpPr>
            <p:spPr>
              <a:xfrm>
                <a:off x="6386425" y="2794990"/>
                <a:ext cx="383438" cy="307777"/>
              </a:xfrm>
              <a:prstGeom prst="rect">
                <a:avLst/>
              </a:prstGeom>
              <a:noFill/>
            </p:spPr>
            <p:txBody>
              <a:bodyPr wrap="none" rtlCol="0">
                <a:spAutoFit/>
              </a:bodyPr>
              <a:lstStyle/>
              <a:p>
                <a:r>
                  <a:rPr lang="en-US" dirty="0"/>
                  <a:t>10</a:t>
                </a:r>
              </a:p>
            </p:txBody>
          </p:sp>
          <p:sp>
            <p:nvSpPr>
              <p:cNvPr id="216" name="TextBox 215">
                <a:extLst>
                  <a:ext uri="{FF2B5EF4-FFF2-40B4-BE49-F238E27FC236}">
                    <a16:creationId xmlns:a16="http://schemas.microsoft.com/office/drawing/2014/main" id="{52562568-8DA5-A3CB-A927-FDC7198253A4}"/>
                  </a:ext>
                </a:extLst>
              </p:cNvPr>
              <p:cNvSpPr txBox="1"/>
              <p:nvPr/>
            </p:nvSpPr>
            <p:spPr>
              <a:xfrm>
                <a:off x="7605512" y="2826680"/>
                <a:ext cx="383438" cy="307777"/>
              </a:xfrm>
              <a:prstGeom prst="rect">
                <a:avLst/>
              </a:prstGeom>
              <a:noFill/>
            </p:spPr>
            <p:txBody>
              <a:bodyPr wrap="none" rtlCol="0">
                <a:spAutoFit/>
              </a:bodyPr>
              <a:lstStyle/>
              <a:p>
                <a:r>
                  <a:rPr lang="en-US" dirty="0"/>
                  <a:t>13</a:t>
                </a:r>
              </a:p>
            </p:txBody>
          </p:sp>
          <p:sp>
            <p:nvSpPr>
              <p:cNvPr id="217" name="Triangle 216">
                <a:extLst>
                  <a:ext uri="{FF2B5EF4-FFF2-40B4-BE49-F238E27FC236}">
                    <a16:creationId xmlns:a16="http://schemas.microsoft.com/office/drawing/2014/main" id="{5730FF5B-8397-BF14-5427-E65BC69F06B0}"/>
                  </a:ext>
                </a:extLst>
              </p:cNvPr>
              <p:cNvSpPr/>
              <p:nvPr/>
            </p:nvSpPr>
            <p:spPr>
              <a:xfrm flipV="1">
                <a:off x="6752912" y="2701514"/>
                <a:ext cx="609600" cy="457200"/>
              </a:xfrm>
              <a:prstGeom prst="triangle">
                <a:avLst/>
              </a:prstGeom>
              <a:solidFill>
                <a:srgbClr val="009ACC"/>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8" name="TextBox 217">
                <a:extLst>
                  <a:ext uri="{FF2B5EF4-FFF2-40B4-BE49-F238E27FC236}">
                    <a16:creationId xmlns:a16="http://schemas.microsoft.com/office/drawing/2014/main" id="{6D9FE3A4-B358-85D6-F57B-B0E7F76406D5}"/>
                  </a:ext>
                </a:extLst>
              </p:cNvPr>
              <p:cNvSpPr txBox="1"/>
              <p:nvPr/>
            </p:nvSpPr>
            <p:spPr>
              <a:xfrm>
                <a:off x="6855267" y="2740470"/>
                <a:ext cx="412179" cy="317608"/>
              </a:xfrm>
              <a:prstGeom prst="rect">
                <a:avLst/>
              </a:prstGeom>
              <a:noFill/>
            </p:spPr>
            <p:txBody>
              <a:bodyPr wrap="square" rtlCol="0">
                <a:spAutoFit/>
              </a:bodyPr>
              <a:lstStyle/>
              <a:p>
                <a:r>
                  <a:rPr lang="en-US" dirty="0"/>
                  <a:t>11</a:t>
                </a:r>
              </a:p>
            </p:txBody>
          </p:sp>
          <p:sp>
            <p:nvSpPr>
              <p:cNvPr id="219" name="Triangle 218">
                <a:extLst>
                  <a:ext uri="{FF2B5EF4-FFF2-40B4-BE49-F238E27FC236}">
                    <a16:creationId xmlns:a16="http://schemas.microsoft.com/office/drawing/2014/main" id="{6BD7ACE4-CF5F-FA14-1B54-E5C25F78B80C}"/>
                  </a:ext>
                </a:extLst>
              </p:cNvPr>
              <p:cNvSpPr/>
              <p:nvPr/>
            </p:nvSpPr>
            <p:spPr>
              <a:xfrm rot="10800000" flipV="1">
                <a:off x="7071746" y="2701513"/>
                <a:ext cx="609600" cy="468675"/>
              </a:xfrm>
              <a:prstGeom prst="triangle">
                <a:avLst/>
              </a:prstGeom>
              <a:solidFill>
                <a:srgbClr val="009ACC"/>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0" name="TextBox 219">
                <a:extLst>
                  <a:ext uri="{FF2B5EF4-FFF2-40B4-BE49-F238E27FC236}">
                    <a16:creationId xmlns:a16="http://schemas.microsoft.com/office/drawing/2014/main" id="{0D361B9C-DCFD-9D82-A430-EAACC6D30C5B}"/>
                  </a:ext>
                </a:extLst>
              </p:cNvPr>
              <p:cNvSpPr txBox="1"/>
              <p:nvPr/>
            </p:nvSpPr>
            <p:spPr>
              <a:xfrm>
                <a:off x="7152688" y="2838047"/>
                <a:ext cx="383438" cy="307777"/>
              </a:xfrm>
              <a:prstGeom prst="rect">
                <a:avLst/>
              </a:prstGeom>
              <a:noFill/>
            </p:spPr>
            <p:txBody>
              <a:bodyPr wrap="none" rtlCol="0">
                <a:spAutoFit/>
              </a:bodyPr>
              <a:lstStyle/>
              <a:p>
                <a:r>
                  <a:rPr lang="en-US" dirty="0"/>
                  <a:t>12</a:t>
                </a:r>
              </a:p>
            </p:txBody>
          </p:sp>
          <p:grpSp>
            <p:nvGrpSpPr>
              <p:cNvPr id="221" name="Group 220">
                <a:extLst>
                  <a:ext uri="{FF2B5EF4-FFF2-40B4-BE49-F238E27FC236}">
                    <a16:creationId xmlns:a16="http://schemas.microsoft.com/office/drawing/2014/main" id="{DD628F54-1C17-1593-55E3-7464DFB90EE1}"/>
                  </a:ext>
                </a:extLst>
              </p:cNvPr>
              <p:cNvGrpSpPr/>
              <p:nvPr/>
            </p:nvGrpSpPr>
            <p:grpSpPr>
              <a:xfrm>
                <a:off x="8085523" y="2701514"/>
                <a:ext cx="720967" cy="457201"/>
                <a:chOff x="1635370" y="4671562"/>
                <a:chExt cx="720967" cy="457201"/>
              </a:xfrm>
            </p:grpSpPr>
            <p:grpSp>
              <p:nvGrpSpPr>
                <p:cNvPr id="223" name="Group 222">
                  <a:extLst>
                    <a:ext uri="{FF2B5EF4-FFF2-40B4-BE49-F238E27FC236}">
                      <a16:creationId xmlns:a16="http://schemas.microsoft.com/office/drawing/2014/main" id="{05F9D2BD-2386-16E3-83DD-EFC85FA75DED}"/>
                    </a:ext>
                  </a:extLst>
                </p:cNvPr>
                <p:cNvGrpSpPr/>
                <p:nvPr/>
              </p:nvGrpSpPr>
              <p:grpSpPr>
                <a:xfrm>
                  <a:off x="1641231" y="4671562"/>
                  <a:ext cx="715106" cy="457201"/>
                  <a:chOff x="1277817" y="2985106"/>
                  <a:chExt cx="715106" cy="457201"/>
                </a:xfrm>
                <a:solidFill>
                  <a:srgbClr val="009ACC"/>
                </a:solidFill>
              </p:grpSpPr>
              <p:sp>
                <p:nvSpPr>
                  <p:cNvPr id="228" name="Rectangle 227">
                    <a:extLst>
                      <a:ext uri="{FF2B5EF4-FFF2-40B4-BE49-F238E27FC236}">
                        <a16:creationId xmlns:a16="http://schemas.microsoft.com/office/drawing/2014/main" id="{F255F4DB-9732-4A1B-FBC9-26AEB0C35613}"/>
                      </a:ext>
                    </a:extLst>
                  </p:cNvPr>
                  <p:cNvSpPr/>
                  <p:nvPr/>
                </p:nvSpPr>
                <p:spPr>
                  <a:xfrm>
                    <a:off x="1277817" y="2985107"/>
                    <a:ext cx="398584" cy="45720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9" name="Triangle 228">
                    <a:extLst>
                      <a:ext uri="{FF2B5EF4-FFF2-40B4-BE49-F238E27FC236}">
                        <a16:creationId xmlns:a16="http://schemas.microsoft.com/office/drawing/2014/main" id="{1A357595-C944-2073-6201-817AB5817F66}"/>
                      </a:ext>
                    </a:extLst>
                  </p:cNvPr>
                  <p:cNvSpPr/>
                  <p:nvPr/>
                </p:nvSpPr>
                <p:spPr>
                  <a:xfrm>
                    <a:off x="1383323" y="2985106"/>
                    <a:ext cx="609600" cy="457200"/>
                  </a:xfrm>
                  <a:prstGeom prst="triangl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224" name="Straight Connector 223">
                  <a:extLst>
                    <a:ext uri="{FF2B5EF4-FFF2-40B4-BE49-F238E27FC236}">
                      <a16:creationId xmlns:a16="http://schemas.microsoft.com/office/drawing/2014/main" id="{7787C0AD-D7C8-661B-4AD6-EF81D1FA6B11}"/>
                    </a:ext>
                  </a:extLst>
                </p:cNvPr>
                <p:cNvCxnSpPr>
                  <a:endCxn id="229" idx="4"/>
                </p:cNvCxnSpPr>
                <p:nvPr/>
              </p:nvCxnSpPr>
              <p:spPr>
                <a:xfrm>
                  <a:off x="1641231" y="5128762"/>
                  <a:ext cx="715106"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5" name="Straight Connector 224">
                  <a:extLst>
                    <a:ext uri="{FF2B5EF4-FFF2-40B4-BE49-F238E27FC236}">
                      <a16:creationId xmlns:a16="http://schemas.microsoft.com/office/drawing/2014/main" id="{070B7BFE-4B83-D7C0-EC8E-E289C2B9ABFA}"/>
                    </a:ext>
                  </a:extLst>
                </p:cNvPr>
                <p:cNvCxnSpPr>
                  <a:cxnSpLocks/>
                  <a:endCxn id="229" idx="0"/>
                </p:cNvCxnSpPr>
                <p:nvPr/>
              </p:nvCxnSpPr>
              <p:spPr>
                <a:xfrm>
                  <a:off x="1641231" y="4671562"/>
                  <a:ext cx="410306"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6" name="Straight Connector 225">
                  <a:extLst>
                    <a:ext uri="{FF2B5EF4-FFF2-40B4-BE49-F238E27FC236}">
                      <a16:creationId xmlns:a16="http://schemas.microsoft.com/office/drawing/2014/main" id="{A68C76E7-6063-D806-DEA9-CCD8FCC7F1FD}"/>
                    </a:ext>
                  </a:extLst>
                </p:cNvPr>
                <p:cNvCxnSpPr>
                  <a:cxnSpLocks/>
                </p:cNvCxnSpPr>
                <p:nvPr/>
              </p:nvCxnSpPr>
              <p:spPr>
                <a:xfrm>
                  <a:off x="1635370" y="4678237"/>
                  <a:ext cx="0" cy="45052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7" name="Straight Connector 226">
                  <a:extLst>
                    <a:ext uri="{FF2B5EF4-FFF2-40B4-BE49-F238E27FC236}">
                      <a16:creationId xmlns:a16="http://schemas.microsoft.com/office/drawing/2014/main" id="{21FF9132-CCD3-9ED0-03B8-80533E4D8ED6}"/>
                    </a:ext>
                  </a:extLst>
                </p:cNvPr>
                <p:cNvCxnSpPr>
                  <a:cxnSpLocks/>
                  <a:stCxn id="229" idx="0"/>
                  <a:endCxn id="229" idx="4"/>
                </p:cNvCxnSpPr>
                <p:nvPr/>
              </p:nvCxnSpPr>
              <p:spPr>
                <a:xfrm>
                  <a:off x="2051537" y="4671562"/>
                  <a:ext cx="304800" cy="4572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22" name="TextBox 221">
                <a:extLst>
                  <a:ext uri="{FF2B5EF4-FFF2-40B4-BE49-F238E27FC236}">
                    <a16:creationId xmlns:a16="http://schemas.microsoft.com/office/drawing/2014/main" id="{2A4FFD73-19DE-86EF-F0E6-26B97C88E0BD}"/>
                  </a:ext>
                </a:extLst>
              </p:cNvPr>
              <p:cNvSpPr txBox="1"/>
              <p:nvPr/>
            </p:nvSpPr>
            <p:spPr>
              <a:xfrm>
                <a:off x="8165147" y="2766923"/>
                <a:ext cx="383438" cy="307777"/>
              </a:xfrm>
              <a:prstGeom prst="rect">
                <a:avLst/>
              </a:prstGeom>
              <a:noFill/>
            </p:spPr>
            <p:txBody>
              <a:bodyPr wrap="none" rtlCol="0">
                <a:spAutoFit/>
              </a:bodyPr>
              <a:lstStyle/>
              <a:p>
                <a:r>
                  <a:rPr lang="en-US" dirty="0"/>
                  <a:t>14</a:t>
                </a:r>
              </a:p>
            </p:txBody>
          </p:sp>
        </p:grpSp>
      </p:grpSp>
      <p:sp>
        <p:nvSpPr>
          <p:cNvPr id="2" name="TextBox 1">
            <a:extLst>
              <a:ext uri="{FF2B5EF4-FFF2-40B4-BE49-F238E27FC236}">
                <a16:creationId xmlns:a16="http://schemas.microsoft.com/office/drawing/2014/main" id="{41711884-77D2-21A7-C340-FDC1501D781B}"/>
              </a:ext>
            </a:extLst>
          </p:cNvPr>
          <p:cNvSpPr txBox="1"/>
          <p:nvPr/>
        </p:nvSpPr>
        <p:spPr>
          <a:xfrm>
            <a:off x="1242900" y="13301330"/>
            <a:ext cx="10293426" cy="954107"/>
          </a:xfrm>
          <a:prstGeom prst="rect">
            <a:avLst/>
          </a:prstGeom>
          <a:noFill/>
        </p:spPr>
        <p:txBody>
          <a:bodyPr wrap="square" rtlCol="0">
            <a:spAutoFit/>
          </a:bodyPr>
          <a:lstStyle/>
          <a:p>
            <a:r>
              <a:rPr lang="en-US" b="1" dirty="0"/>
              <a:t>XLIRD VCEP proposes to add:</a:t>
            </a:r>
          </a:p>
          <a:p>
            <a:r>
              <a:rPr lang="en-US" dirty="0"/>
              <a:t>(J, edit of H) Exon skipping or use of a cryptic splice motif disrupts reading frame and is not predicted to undergo NMD, and removes a region (&lt;10% of the protein) </a:t>
            </a:r>
            <a:r>
              <a:rPr lang="en-US" dirty="0">
                <a:solidFill>
                  <a:schemeClr val="tx1"/>
                </a:solidFill>
              </a:rPr>
              <a:t>which has not been established </a:t>
            </a:r>
            <a:r>
              <a:rPr lang="en-US" dirty="0"/>
              <a:t>as critical to protein function</a:t>
            </a:r>
            <a:r>
              <a:rPr lang="en-US" dirty="0">
                <a:solidFill>
                  <a:srgbClr val="0070C0"/>
                </a:solidFill>
              </a:rPr>
              <a:t>, but it disrupts a region in the next exon which has been established as critical to protein function. PVS1</a:t>
            </a:r>
          </a:p>
        </p:txBody>
      </p:sp>
      <p:sp>
        <p:nvSpPr>
          <p:cNvPr id="4" name="Rectangle 3">
            <a:extLst>
              <a:ext uri="{FF2B5EF4-FFF2-40B4-BE49-F238E27FC236}">
                <a16:creationId xmlns:a16="http://schemas.microsoft.com/office/drawing/2014/main" id="{DD586B6C-0FBC-B8B9-3A3B-701443B33D72}"/>
              </a:ext>
            </a:extLst>
          </p:cNvPr>
          <p:cNvSpPr/>
          <p:nvPr/>
        </p:nvSpPr>
        <p:spPr>
          <a:xfrm>
            <a:off x="941166" y="13131209"/>
            <a:ext cx="10850341" cy="1531089"/>
          </a:xfrm>
          <a:prstGeom prst="rect">
            <a:avLst/>
          </a:prstGeom>
          <a:noFill/>
          <a:ln w="69850">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154834747"/>
      </p:ext>
    </p:extLst>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178405</TotalTime>
  <Words>7605</Words>
  <Application>Microsoft Macintosh PowerPoint</Application>
  <PresentationFormat>Custom</PresentationFormat>
  <Paragraphs>1003</Paragraphs>
  <Slides>15</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Times New Roman</vt:lpstr>
      <vt:lpstr>Simple Light</vt:lpstr>
      <vt:lpstr>RPGR</vt:lpstr>
      <vt:lpstr>Template</vt:lpstr>
      <vt:lpstr>Instructions</vt:lpstr>
      <vt:lpstr>PowerPoint Presentation</vt:lpstr>
      <vt:lpstr>PowerPoint Presentation</vt:lpstr>
      <vt:lpstr>PowerPoint Presentation</vt:lpstr>
      <vt:lpstr>RPGR</vt:lpstr>
      <vt:lpstr>PowerPoint Presentation</vt:lpstr>
      <vt:lpstr>PowerPoint Presentation</vt:lpstr>
      <vt:lpstr>RPGR</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Worley, Kim Carlyle</cp:lastModifiedBy>
  <cp:revision>102</cp:revision>
  <cp:lastPrinted>2024-07-31T18:57:06Z</cp:lastPrinted>
  <dcterms:modified xsi:type="dcterms:W3CDTF">2024-07-31T19:35:37Z</dcterms:modified>
</cp:coreProperties>
</file>