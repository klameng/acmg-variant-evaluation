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108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use, Amanda" userId="08e9fc0f-92ac-4595-ab91-dd80063314a5" providerId="ADAL" clId="{7A345A7B-883B-4812-8D82-577CD2E6FC58}"/>
    <pc:docChg chg="modSld">
      <pc:chgData name="Clause, Amanda" userId="08e9fc0f-92ac-4595-ab91-dd80063314a5" providerId="ADAL" clId="{7A345A7B-883B-4812-8D82-577CD2E6FC58}" dt="2024-12-11T20:04:09.497" v="3" actId="20577"/>
      <pc:docMkLst>
        <pc:docMk/>
      </pc:docMkLst>
      <pc:sldChg chg="modSp mod">
        <pc:chgData name="Clause, Amanda" userId="08e9fc0f-92ac-4595-ab91-dd80063314a5" providerId="ADAL" clId="{7A345A7B-883B-4812-8D82-577CD2E6FC58}" dt="2024-12-11T20:04:09.497" v="3" actId="20577"/>
        <pc:sldMkLst>
          <pc:docMk/>
          <pc:sldMk cId="2702162915" sldId="256"/>
        </pc:sldMkLst>
        <pc:spChg chg="mod">
          <ac:chgData name="Clause, Amanda" userId="08e9fc0f-92ac-4595-ab91-dd80063314a5" providerId="ADAL" clId="{7A345A7B-883B-4812-8D82-577CD2E6FC58}" dt="2024-12-11T20:04:09.497" v="3" actId="20577"/>
          <ac:spMkLst>
            <pc:docMk/>
            <pc:sldMk cId="2702162915" sldId="256"/>
            <ac:spMk id="5" creationId="{7BA0014B-32F6-9C0C-EDB8-CB119B7A58A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56901-61C1-8F59-812E-DC19599FEA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E2380E-F9BE-6CF5-367C-573389FE3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E208E-4598-1870-D0EA-7806CB764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4C03B-78E7-BAA6-8221-67621166F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851A5-97F6-0DCA-E677-DAF409AF3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30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2CC03-94CA-E990-D4E6-C94C1302B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F2C7C-6E92-5CB7-5935-90BA3E699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533BC-AD08-04CB-8CDF-62BD2DB71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7E56F-C94C-1965-12DC-EF429D50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FDA6B-E6A0-453B-1332-A4CCB48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326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6664A-8DE4-6415-AA0B-9BDA871BF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A4AD3-BBD3-1F22-34C2-12D758837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31F20-3B74-DCA7-613D-2056454CB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56B76-4BCB-FD25-4444-C3FDD717F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ACFE3-E2A9-CE3B-61C3-BBC875FDB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505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5D75E-13FB-FFA0-87B8-7EC13B81B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0231E-D52F-98B5-2548-9E6648DE06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029498-4AF0-50A7-9328-EF587C228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9B34F-A270-10EC-BA03-DD0BF45B0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F494D4-6AF3-9B96-90D5-21D9F22E9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4413A-DC6C-4128-D5A1-6F5A5B56A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040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450D5-19FA-F1CE-8647-7A1AD0CD1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6873E-898A-13A0-8F89-B9FFDE8FA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92091C-9EB7-3E5B-BC3D-18F85DD4C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C09488-EB5B-2F83-3502-BA8238BF97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BACFD5-3692-F946-DF47-589339726C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5A4428-26E8-9A5B-40A6-657B2003B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F966C3-A967-38A5-6D24-787E927D8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20CD8B-39C3-65A1-A54C-82963E3EE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14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B43BF-0478-7DE4-6AB5-7679ADA05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DD8EB5-7F74-D7FD-E395-647BF71EC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6573B6-ED5E-BCE7-896F-9230FE463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6CC3E7-9CEA-B565-58E6-B41AE28E4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02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08DF32-A788-3F90-8F3D-A8479C167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A2350A-D114-FECF-EF1B-740FDFBC9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40E4D-75F5-1E0D-9B5B-68CBCD8C9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51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9CAF1-6BE2-17C9-D980-186A422A0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0D2DF-F05C-D8A7-247C-D4680AD07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0771C7-2AF1-5B80-E87B-8B2576DCD1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6F7AF-44DA-D4B9-C002-75ABE1F68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DB156B-C84F-2523-E383-038E8C6FF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A8415-E0C3-5813-9110-5B7E9F976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52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7C651-EB70-712F-EDCF-E38D145A2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3535C4-3FD1-B0C7-54B7-73D883DEDC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CCD759-8449-B0B1-416E-B1B971494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9C3E6-0A6D-ED1C-F673-ACFB4CE6F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57C6E0-7953-A21B-C2D3-409C3B360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A5C3DC-2E18-1D3A-10C0-45E9A8BAF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025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F409B-DDA5-1E72-0901-3093A33C3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2CB027-C8E8-EEC0-FDFE-7827AC23A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C5C99-48A5-B32E-BD37-70B8593D7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9962F-7E58-A44B-6DF9-56388ADDF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DEA8F-23AA-315C-0758-9FACB6687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262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34E687-C602-4DED-F3E3-B6E9FE51D6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8CC369-3557-BEA3-3B50-61F88A121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896F4-8875-C7B4-ECB8-007416298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C8E6E-7074-1DEA-3138-57BA630E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AB77C-C2ED-ED46-E652-EA6CD6DEF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056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F3CA60-201D-04AF-4386-E368F7B83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13360-56B1-A4B5-CFDF-D75D0CC18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6E094-2EA8-CB29-CBC7-0A7F74C579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76803-D0CC-9F7C-52D9-69F9749369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8C00A-CBA5-CA19-CC7B-335EF357E3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82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93008A-E2AD-59DF-A3CC-E2797BB2B4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665679"/>
              </p:ext>
            </p:extLst>
          </p:nvPr>
        </p:nvGraphicFramePr>
        <p:xfrm>
          <a:off x="559293" y="47922"/>
          <a:ext cx="8788892" cy="3484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2993">
                  <a:extLst>
                    <a:ext uri="{9D8B030D-6E8A-4147-A177-3AD203B41FA5}">
                      <a16:colId xmlns:a16="http://schemas.microsoft.com/office/drawing/2014/main" val="624936601"/>
                    </a:ext>
                  </a:extLst>
                </a:gridCol>
                <a:gridCol w="3750040">
                  <a:extLst>
                    <a:ext uri="{9D8B030D-6E8A-4147-A177-3AD203B41FA5}">
                      <a16:colId xmlns:a16="http://schemas.microsoft.com/office/drawing/2014/main" val="249831635"/>
                    </a:ext>
                  </a:extLst>
                </a:gridCol>
                <a:gridCol w="1660124">
                  <a:extLst>
                    <a:ext uri="{9D8B030D-6E8A-4147-A177-3AD203B41FA5}">
                      <a16:colId xmlns:a16="http://schemas.microsoft.com/office/drawing/2014/main" val="2937390591"/>
                    </a:ext>
                  </a:extLst>
                </a:gridCol>
                <a:gridCol w="1615735">
                  <a:extLst>
                    <a:ext uri="{9D8B030D-6E8A-4147-A177-3AD203B41FA5}">
                      <a16:colId xmlns:a16="http://schemas.microsoft.com/office/drawing/2014/main" val="4214215320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PP4 Strength</a:t>
                      </a:r>
                      <a:r>
                        <a:rPr lang="en-US" baseline="30000" dirty="0"/>
                        <a:t>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681634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Supporting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Strong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824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clinical</a:t>
                      </a:r>
                      <a:r>
                        <a:rPr lang="en-US" baseline="300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progressive limb-girdle pattern of muscle weakness observed over ≥6 </a:t>
                      </a:r>
                      <a:r>
                        <a:rPr lang="en-US" dirty="0" err="1"/>
                        <a:t>mo</a:t>
                      </a:r>
                      <a:r>
                        <a:rPr lang="en-US" dirty="0"/>
                        <a:t> OR clinical suspicion of LGMD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637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genetic testing</a:t>
                      </a:r>
                      <a:r>
                        <a:rPr lang="en-US" baseline="300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presumed diagnostic</a:t>
                      </a:r>
                      <a:r>
                        <a:rPr lang="en-US" baseline="30000" dirty="0"/>
                        <a:t>3</a:t>
                      </a:r>
                      <a:r>
                        <a:rPr lang="en-US" dirty="0"/>
                        <a:t> variants in </a:t>
                      </a:r>
                      <a:r>
                        <a:rPr lang="en-US" i="1" dirty="0"/>
                        <a:t>SGCA</a:t>
                      </a:r>
                      <a:r>
                        <a:rPr lang="en-US" dirty="0"/>
                        <a:t>, 1 of which is the variant under curation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962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protein expression in patient tissue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reduced</a:t>
                      </a:r>
                      <a:r>
                        <a:rPr lang="en-US" baseline="30000" dirty="0"/>
                        <a:t>4</a:t>
                      </a:r>
                      <a:r>
                        <a:rPr lang="en-US" dirty="0"/>
                        <a:t> expression or membrane localization of full-length protein in skeletal muscle (e.g., WB or IHC)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9164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BA0014B-32F6-9C0C-EDB8-CB119B7A58A6}"/>
              </a:ext>
            </a:extLst>
          </p:cNvPr>
          <p:cNvSpPr txBox="1"/>
          <p:nvPr/>
        </p:nvSpPr>
        <p:spPr>
          <a:xfrm>
            <a:off x="559293" y="3545857"/>
            <a:ext cx="87888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 – Required to apply PP4 at specified strength level; N – Not required to apply PP4 at specified strength level.</a:t>
            </a:r>
          </a:p>
          <a:p>
            <a:r>
              <a:rPr lang="en-US" sz="1200" baseline="30000" dirty="0"/>
              <a:t>1</a:t>
            </a:r>
            <a:r>
              <a:rPr lang="en-US" sz="1200" dirty="0"/>
              <a:t> May be accompanied by supporting EMG, MRI, muscle histology, elevated CK but not required.</a:t>
            </a:r>
          </a:p>
          <a:p>
            <a:r>
              <a:rPr lang="en-US" sz="1200" baseline="30000" dirty="0"/>
              <a:t>2</a:t>
            </a:r>
            <a:r>
              <a:rPr lang="en-US" sz="1200" dirty="0"/>
              <a:t> Screening of all exons and exon/intron boundaries of </a:t>
            </a:r>
            <a:r>
              <a:rPr lang="en-US" sz="1200" i="1" dirty="0"/>
              <a:t>SGCA</a:t>
            </a:r>
            <a:r>
              <a:rPr lang="en-US" sz="1200" dirty="0"/>
              <a:t> required for Supporting. To apply at Strong,</a:t>
            </a:r>
            <a:r>
              <a:rPr lang="en-US" sz="1200" i="1" dirty="0"/>
              <a:t> </a:t>
            </a:r>
            <a:r>
              <a:rPr lang="en-US" sz="1200" dirty="0"/>
              <a:t>screening of </a:t>
            </a:r>
            <a:r>
              <a:rPr lang="en-US" sz="1200" i="1" dirty="0"/>
              <a:t>SGCB</a:t>
            </a:r>
            <a:r>
              <a:rPr lang="en-US" sz="1200" dirty="0"/>
              <a:t>,</a:t>
            </a:r>
            <a:r>
              <a:rPr lang="en-US" sz="1200" i="1" dirty="0"/>
              <a:t> SGCG</a:t>
            </a:r>
            <a:r>
              <a:rPr lang="en-US" sz="1200" dirty="0"/>
              <a:t>, and </a:t>
            </a:r>
            <a:r>
              <a:rPr lang="en-US" sz="1200" i="1" dirty="0"/>
              <a:t>SGCD</a:t>
            </a:r>
            <a:r>
              <a:rPr lang="en-US" sz="1200" dirty="0"/>
              <a:t> also required. Do not apply if 2 presumed diagnostic variants also identified in </a:t>
            </a:r>
            <a:r>
              <a:rPr lang="en-US" sz="1200" i="1" dirty="0"/>
              <a:t>SGCB</a:t>
            </a:r>
            <a:r>
              <a:rPr lang="en-US" sz="1200" dirty="0"/>
              <a:t>, </a:t>
            </a:r>
            <a:r>
              <a:rPr lang="en-US" sz="1200" i="1" dirty="0"/>
              <a:t>SGCG</a:t>
            </a:r>
            <a:r>
              <a:rPr lang="en-US" sz="1200" dirty="0"/>
              <a:t>, or </a:t>
            </a:r>
            <a:r>
              <a:rPr lang="en-US" sz="1200" i="1" dirty="0"/>
              <a:t>SGCD</a:t>
            </a:r>
            <a:r>
              <a:rPr lang="en-US" sz="1200" dirty="0"/>
              <a:t>. Screening of additional neuromuscular disease genes (e.g., through a panel) is recommended but not required. </a:t>
            </a:r>
          </a:p>
          <a:p>
            <a:r>
              <a:rPr lang="en-US" sz="1200" baseline="30000" dirty="0"/>
              <a:t>3</a:t>
            </a:r>
            <a:r>
              <a:rPr lang="en-US" sz="1200" dirty="0"/>
              <a:t> If variants have not yet been curated by the LGMD VCEP, confirm they cannot be classified as LB or B (e.g., through application of BA1, BS1, and/or BP4/BP7). If phase is unknown, do not apply if the identified variants were ever confirmed in cis or if </a:t>
            </a:r>
            <a:r>
              <a:rPr lang="en-US" sz="1200" dirty="0" err="1"/>
              <a:t>gnomAD</a:t>
            </a:r>
            <a:r>
              <a:rPr lang="en-US" sz="1200" dirty="0"/>
              <a:t> co-occurrence data (https://gnomad.broadinstitute.org/variant-cooccurrence) predict the variants may be part of the same haplotype in at least one genetic ancestry group.</a:t>
            </a:r>
          </a:p>
          <a:p>
            <a:r>
              <a:rPr lang="en-US" sz="1200" baseline="30000" dirty="0"/>
              <a:t>4</a:t>
            </a:r>
            <a:r>
              <a:rPr lang="en-US" sz="1200" dirty="0"/>
              <a:t> &lt;~30% normal; may be described as “severely” / “drastically” / “strongly” reduced or as “absent”, “trace”, or “barely </a:t>
            </a:r>
            <a:r>
              <a:rPr lang="en-US" sz="1200"/>
              <a:t>detectable”. </a:t>
            </a:r>
            <a:endParaRPr lang="en-US" sz="1200" dirty="0"/>
          </a:p>
          <a:p>
            <a:r>
              <a:rPr lang="en-US" sz="1200" dirty="0"/>
              <a:t>*Note: When applied together, PP1 and PP4 cannot exceed 5 Bayesian pts (Supporting + Strong or Moderate + Moderate). If PP1_Moderate is applied and the criteria for PP4_Strong are also met, a downgraded PP4_Moderate can be applied.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02162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3108</TotalTime>
  <Words>360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Washington University in St. Louis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Clause, Amanda</dc:creator>
  <cp:lastModifiedBy>Clause, Amanda</cp:lastModifiedBy>
  <cp:revision>4</cp:revision>
  <dcterms:created xsi:type="dcterms:W3CDTF">2024-09-04T20:20:17Z</dcterms:created>
  <dcterms:modified xsi:type="dcterms:W3CDTF">2024-12-11T20:04:10Z</dcterms:modified>
</cp:coreProperties>
</file>