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6459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42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88" y="-4056"/>
      </p:cViewPr>
      <p:guideLst>
        <p:guide orient="horz" pos="204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se, Amanda" userId="08e9fc0f-92ac-4595-ab91-dd80063314a5" providerId="ADAL" clId="{48273AFC-BBA1-4244-84C4-CFE457EC98D8}"/>
    <pc:docChg chg="modSld">
      <pc:chgData name="Clause, Amanda" userId="08e9fc0f-92ac-4595-ab91-dd80063314a5" providerId="ADAL" clId="{48273AFC-BBA1-4244-84C4-CFE457EC98D8}" dt="2025-06-05T18:00:52.639" v="3" actId="20577"/>
      <pc:docMkLst>
        <pc:docMk/>
      </pc:docMkLst>
      <pc:sldChg chg="modSp mod">
        <pc:chgData name="Clause, Amanda" userId="08e9fc0f-92ac-4595-ab91-dd80063314a5" providerId="ADAL" clId="{48273AFC-BBA1-4244-84C4-CFE457EC98D8}" dt="2025-06-05T18:00:52.639" v="3" actId="20577"/>
        <pc:sldMkLst>
          <pc:docMk/>
          <pc:sldMk cId="0" sldId="257"/>
        </pc:sldMkLst>
        <pc:spChg chg="mod">
          <ac:chgData name="Clause, Amanda" userId="08e9fc0f-92ac-4595-ab91-dd80063314a5" providerId="ADAL" clId="{48273AFC-BBA1-4244-84C4-CFE457EC98D8}" dt="2025-06-05T18:00:52.639" v="3" actId="20577"/>
          <ac:spMkLst>
            <pc:docMk/>
            <pc:sldMk cId="0" sldId="257"/>
            <ac:spMk id="8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382640"/>
            <a:ext cx="11502900" cy="656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9069199"/>
            <a:ext cx="11502900" cy="253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882720"/>
            <a:ext cx="11502900" cy="269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777920"/>
            <a:ext cx="3790800" cy="241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446720"/>
            <a:ext cx="3790800" cy="1017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440480"/>
            <a:ext cx="8596500" cy="13090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400"/>
            <a:ext cx="6172200" cy="1645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946160"/>
            <a:ext cx="5460900" cy="474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969840"/>
            <a:ext cx="5460900" cy="395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317039"/>
            <a:ext cx="5180100" cy="1182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3537840"/>
            <a:ext cx="8098500" cy="193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539600"/>
            <a:ext cx="11502900" cy="628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10087120"/>
            <a:ext cx="11502900" cy="41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115029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liceailookup.broadinstitute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911472"/>
            <a:ext cx="1105800" cy="332747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61" name="Google Shape;61;p1"/>
          <p:cNvSpPr/>
          <p:nvPr/>
        </p:nvSpPr>
        <p:spPr>
          <a:xfrm>
            <a:off x="1643625" y="902125"/>
            <a:ext cx="2395150" cy="96570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tx1"/>
              </a:solidFill>
            </a:endParaRPr>
          </a:p>
          <a:p>
            <a:pPr algn="ctr">
              <a:buSzPts val="1200"/>
            </a:pPr>
            <a:endParaRPr lang="en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(Premature truncation in codons 35-2050)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239441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63" name="Google Shape;63;p1"/>
          <p:cNvSpPr/>
          <p:nvPr/>
        </p:nvSpPr>
        <p:spPr>
          <a:xfrm>
            <a:off x="4536350" y="8785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NM_003494.4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13070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NM_003494.4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87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10945225" y="1307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4529000" y="17985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21729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6201875" y="21828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70" name="Google Shape;70;p1"/>
          <p:cNvSpPr/>
          <p:nvPr/>
        </p:nvSpPr>
        <p:spPr>
          <a:xfrm>
            <a:off x="10945225" y="179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71" name="Google Shape;71;p1"/>
          <p:cNvSpPr/>
          <p:nvPr/>
        </p:nvSpPr>
        <p:spPr>
          <a:xfrm>
            <a:off x="10945225" y="22280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10945225" y="28162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10945225" y="33188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6201875" y="27520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7520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9204825" y="327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9784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32415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cxnSpLocks/>
            <a:endCxn id="61" idx="1"/>
          </p:cNvCxnSpPr>
          <p:nvPr/>
        </p:nvCxnSpPr>
        <p:spPr>
          <a:xfrm flipV="1">
            <a:off x="1193712" y="1384979"/>
            <a:ext cx="449913" cy="152399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cxnSpLocks/>
          </p:cNvCxnSpPr>
          <p:nvPr/>
        </p:nvCxnSpPr>
        <p:spPr>
          <a:xfrm>
            <a:off x="1184860" y="2901600"/>
            <a:ext cx="463645" cy="294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cxnSpLocks/>
            <a:stCxn id="61" idx="3"/>
            <a:endCxn id="63" idx="1"/>
          </p:cNvCxnSpPr>
          <p:nvPr/>
        </p:nvCxnSpPr>
        <p:spPr>
          <a:xfrm flipV="1">
            <a:off x="4038775" y="1016950"/>
            <a:ext cx="497575" cy="36802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cxnSpLocks/>
            <a:stCxn id="61" idx="3"/>
            <a:endCxn id="64" idx="1"/>
          </p:cNvCxnSpPr>
          <p:nvPr/>
        </p:nvCxnSpPr>
        <p:spPr>
          <a:xfrm>
            <a:off x="4038775" y="1384979"/>
            <a:ext cx="497500" cy="6054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flipV="1">
            <a:off x="4038775" y="1936950"/>
            <a:ext cx="490225" cy="93686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2873815"/>
            <a:ext cx="518800" cy="368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24137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8775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4470788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</a:p>
          <a:p>
            <a:pPr algn="ctr">
              <a:buSzPts val="1200"/>
            </a:pPr>
            <a:endParaRPr lang="en" sz="1200" b="1" baseline="30000" dirty="0">
              <a:latin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Use the SpliceAI prediction of the most likely splice effect and then determine the expected protein consequence </a:t>
            </a: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https://spliceailookup.broadinstitute.org</a:t>
            </a:r>
            <a:endParaRPr lang="en-US" sz="12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4570038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89" name="Google Shape;89;p1"/>
          <p:cNvSpPr/>
          <p:nvPr/>
        </p:nvSpPr>
        <p:spPr>
          <a:xfrm>
            <a:off x="1654125" y="7551638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/>
          </a:p>
          <a:p>
            <a:pPr>
              <a:buSzPts val="1200"/>
            </a:pPr>
            <a:endParaRPr lang="en" sz="1200" dirty="0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Inframe exons for which exon skipping is not expected to result in NMD: 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7, 8, 9, 14, 17, 19, 24, 25, 30, 32, 34, 35, 36, 37, 38, 41, 42, 43</a:t>
            </a:r>
            <a:r>
              <a:rPr lang="en-US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45, 49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55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44938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NM_003494.4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53761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49224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NM_003494.4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57506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6180650" y="57605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6180650" y="63300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NM_003494.4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63300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533750" y="90136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44938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0945225" y="49224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10945225" y="53761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1" name="Google Shape;101;p1"/>
          <p:cNvSpPr/>
          <p:nvPr/>
        </p:nvSpPr>
        <p:spPr>
          <a:xfrm>
            <a:off x="10945225" y="58056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10945225" y="63942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10945225" y="6896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0945225" y="90204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5" name="Google Shape;105;p1"/>
          <p:cNvSpPr/>
          <p:nvPr/>
        </p:nvSpPr>
        <p:spPr>
          <a:xfrm>
            <a:off x="9183600" y="68562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1643625" y="5577062"/>
            <a:ext cx="2395200" cy="18143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predicted to undergo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4971338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cxnSpLocks/>
            <a:stCxn id="87" idx="3"/>
            <a:endCxn id="106" idx="1"/>
          </p:cNvCxnSpPr>
          <p:nvPr/>
        </p:nvCxnSpPr>
        <p:spPr>
          <a:xfrm flipV="1">
            <a:off x="1186125" y="6484250"/>
            <a:ext cx="457500" cy="38668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6870938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rot="10800000" flipH="1">
            <a:off x="4038775" y="4632288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4971288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cxnSpLocks/>
            <a:stCxn id="106" idx="3"/>
            <a:endCxn id="91" idx="1"/>
          </p:cNvCxnSpPr>
          <p:nvPr/>
        </p:nvCxnSpPr>
        <p:spPr>
          <a:xfrm flipV="1">
            <a:off x="4038825" y="5514613"/>
            <a:ext cx="468950" cy="96963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cxnSpLocks/>
            <a:stCxn id="106" idx="3"/>
            <a:endCxn id="93" idx="1"/>
          </p:cNvCxnSpPr>
          <p:nvPr/>
        </p:nvCxnSpPr>
        <p:spPr>
          <a:xfrm>
            <a:off x="4038825" y="6484250"/>
            <a:ext cx="497525" cy="4546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59915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65297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65564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68195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1016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1445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9369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24137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9784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35045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4632288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506086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551461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59913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65564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7082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9152138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9500113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400"/>
            </a:pPr>
            <a:endParaRPr/>
          </a:p>
        </p:txBody>
      </p:sp>
      <p:sp>
        <p:nvSpPr>
          <p:cNvPr id="132" name="Google Shape;132;p1"/>
          <p:cNvSpPr/>
          <p:nvPr/>
        </p:nvSpPr>
        <p:spPr>
          <a:xfrm>
            <a:off x="1701200" y="999953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1701200" y="1216548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34" name="Google Shape;134;p1"/>
          <p:cNvSpPr/>
          <p:nvPr/>
        </p:nvSpPr>
        <p:spPr>
          <a:xfrm>
            <a:off x="1701200" y="9515088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4572975" y="99233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NM_003494.4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108056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baseline="30000" dirty="0"/>
          </a:p>
        </p:txBody>
      </p:sp>
      <p:sp>
        <p:nvSpPr>
          <p:cNvPr id="137" name="Google Shape;137;p1"/>
          <p:cNvSpPr/>
          <p:nvPr/>
        </p:nvSpPr>
        <p:spPr>
          <a:xfrm>
            <a:off x="4572900" y="103519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NM_003494.4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11180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dirty="0"/>
          </a:p>
        </p:txBody>
      </p:sp>
      <p:sp>
        <p:nvSpPr>
          <p:cNvPr id="139" name="Google Shape;139;p1"/>
          <p:cNvSpPr/>
          <p:nvPr/>
        </p:nvSpPr>
        <p:spPr>
          <a:xfrm>
            <a:off x="6217275" y="111900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140" name="Google Shape;140;p1"/>
          <p:cNvSpPr/>
          <p:nvPr/>
        </p:nvSpPr>
        <p:spPr>
          <a:xfrm>
            <a:off x="10945225" y="95150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/>
          </a:p>
        </p:txBody>
      </p:sp>
      <p:sp>
        <p:nvSpPr>
          <p:cNvPr id="141" name="Google Shape;141;p1"/>
          <p:cNvSpPr/>
          <p:nvPr/>
        </p:nvSpPr>
        <p:spPr>
          <a:xfrm>
            <a:off x="4544400" y="128235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99233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10945225" y="103519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10945225" y="108056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5" name="Google Shape;145;p1"/>
          <p:cNvSpPr/>
          <p:nvPr/>
        </p:nvSpPr>
        <p:spPr>
          <a:xfrm>
            <a:off x="10945225" y="112351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10945225" y="118237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10945225" y="123263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10945225" y="128235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3346663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3313713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1701200" y="13832813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1701200" y="14329613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4533725" y="13312551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4533625" y="136799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 predicted to occur</a:t>
            </a:r>
            <a:endParaRPr dirty="0"/>
          </a:p>
        </p:txBody>
      </p:sp>
      <p:sp>
        <p:nvSpPr>
          <p:cNvPr id="155" name="Google Shape;155;p1"/>
          <p:cNvSpPr/>
          <p:nvPr/>
        </p:nvSpPr>
        <p:spPr>
          <a:xfrm>
            <a:off x="4533750" y="1407963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6" name="Google Shape;156;p1"/>
          <p:cNvSpPr/>
          <p:nvPr/>
        </p:nvSpPr>
        <p:spPr>
          <a:xfrm>
            <a:off x="10945225" y="13312551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7" name="Google Shape;157;p1"/>
          <p:cNvSpPr/>
          <p:nvPr/>
        </p:nvSpPr>
        <p:spPr>
          <a:xfrm>
            <a:off x="10945225" y="13679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0945225" y="140796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9" name="Google Shape;159;p1"/>
          <p:cNvSpPr/>
          <p:nvPr/>
        </p:nvSpPr>
        <p:spPr>
          <a:xfrm>
            <a:off x="10945225" y="144220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5017011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Initiation Codon</a:t>
            </a:r>
            <a:endParaRPr b="1" dirty="0"/>
          </a:p>
        </p:txBody>
      </p:sp>
      <p:sp>
        <p:nvSpPr>
          <p:cNvPr id="161" name="Google Shape;161;p1"/>
          <p:cNvSpPr/>
          <p:nvPr/>
        </p:nvSpPr>
        <p:spPr>
          <a:xfrm>
            <a:off x="1659400" y="15633488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dirty="0"/>
          </a:p>
        </p:txBody>
      </p:sp>
      <p:sp>
        <p:nvSpPr>
          <p:cNvPr id="162" name="Google Shape;162;p1"/>
          <p:cNvSpPr/>
          <p:nvPr/>
        </p:nvSpPr>
        <p:spPr>
          <a:xfrm>
            <a:off x="1659400" y="15040863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4533801" y="15045388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5423388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strike="sngStrike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54220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trike="sngStrike" dirty="0"/>
          </a:p>
        </p:txBody>
      </p:sp>
      <p:sp>
        <p:nvSpPr>
          <p:cNvPr id="166" name="Google Shape;166;p1"/>
          <p:cNvSpPr/>
          <p:nvPr/>
        </p:nvSpPr>
        <p:spPr>
          <a:xfrm>
            <a:off x="10945225" y="150417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7" name="Google Shape;167;p1"/>
          <p:cNvSpPr/>
          <p:nvPr/>
        </p:nvSpPr>
        <p:spPr>
          <a:xfrm>
            <a:off x="10945225" y="15772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trike="sngStrike" dirty="0"/>
          </a:p>
        </p:txBody>
      </p:sp>
      <p:sp>
        <p:nvSpPr>
          <p:cNvPr id="168" name="Google Shape;168;p1"/>
          <p:cNvSpPr/>
          <p:nvPr/>
        </p:nvSpPr>
        <p:spPr>
          <a:xfrm>
            <a:off x="1680250" y="11029663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9653563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10400863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1328763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1328763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9653538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10061788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10400788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10944163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1484763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1959238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2566738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14210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19592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100617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104903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1094411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14208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296203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3499513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4057813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4087213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3499413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3818413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4057813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3451001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381843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42180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5182613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5318813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5911438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5180088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5560488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5318811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5554911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17595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NM_003494.4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17595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05" name="Google Shape;205;p1"/>
          <p:cNvSpPr/>
          <p:nvPr/>
        </p:nvSpPr>
        <p:spPr>
          <a:xfrm>
            <a:off x="9220225" y="122857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19859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22490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1985913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25120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7372451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11" name="Google Shape;211;p1"/>
          <p:cNvSpPr/>
          <p:nvPr/>
        </p:nvSpPr>
        <p:spPr>
          <a:xfrm>
            <a:off x="6180650" y="73607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 </a:t>
            </a:r>
            <a:endParaRPr dirty="0"/>
          </a:p>
        </p:txBody>
      </p:sp>
      <p:sp>
        <p:nvSpPr>
          <p:cNvPr id="212" name="Google Shape;212;p1"/>
          <p:cNvSpPr/>
          <p:nvPr/>
        </p:nvSpPr>
        <p:spPr>
          <a:xfrm>
            <a:off x="6180650" y="79302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NM_003494.4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79302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14" name="Google Shape;214;p1"/>
          <p:cNvSpPr/>
          <p:nvPr/>
        </p:nvSpPr>
        <p:spPr>
          <a:xfrm>
            <a:off x="10945225" y="7405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215" name="Google Shape;215;p1"/>
          <p:cNvSpPr/>
          <p:nvPr/>
        </p:nvSpPr>
        <p:spPr>
          <a:xfrm>
            <a:off x="10945225" y="79944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6" name="Google Shape;216;p1"/>
          <p:cNvSpPr/>
          <p:nvPr/>
        </p:nvSpPr>
        <p:spPr>
          <a:xfrm>
            <a:off x="10945225" y="84970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217" name="Google Shape;217;p1"/>
          <p:cNvSpPr/>
          <p:nvPr/>
        </p:nvSpPr>
        <p:spPr>
          <a:xfrm>
            <a:off x="9183600" y="84564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7591588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81299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81566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84197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7591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81566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86827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8151638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8330738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4560463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3451113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B1F3ADF-291C-4323-E6D5-658AF01056F4}"/>
              </a:ext>
            </a:extLst>
          </p:cNvPr>
          <p:cNvSpPr/>
          <p:nvPr/>
        </p:nvSpPr>
        <p:spPr>
          <a:xfrm>
            <a:off x="4557474" y="3842075"/>
            <a:ext cx="5878625" cy="4027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B8008-3A41-A2E7-854D-BBECF48B83DF}"/>
              </a:ext>
            </a:extLst>
          </p:cNvPr>
          <p:cNvSpPr txBox="1"/>
          <p:nvPr/>
        </p:nvSpPr>
        <p:spPr>
          <a:xfrm>
            <a:off x="4572800" y="3900926"/>
            <a:ext cx="5012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Premature truncation within the first 100 bp (codons 1-34) (PMID: 27618451)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73;p1">
            <a:extLst>
              <a:ext uri="{FF2B5EF4-FFF2-40B4-BE49-F238E27FC236}">
                <a16:creationId xmlns:a16="http://schemas.microsoft.com/office/drawing/2014/main" id="{4A2B60B2-40C2-C2C4-CFAC-98B5C00791FD}"/>
              </a:ext>
            </a:extLst>
          </p:cNvPr>
          <p:cNvSpPr/>
          <p:nvPr/>
        </p:nvSpPr>
        <p:spPr>
          <a:xfrm>
            <a:off x="10945100" y="38554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cxnSp>
        <p:nvCxnSpPr>
          <p:cNvPr id="9" name="Google Shape;123;p1">
            <a:extLst>
              <a:ext uri="{FF2B5EF4-FFF2-40B4-BE49-F238E27FC236}">
                <a16:creationId xmlns:a16="http://schemas.microsoft.com/office/drawing/2014/main" id="{FB24ED6A-F63F-4D1A-DC0E-DC3DA4BEE604}"/>
              </a:ext>
            </a:extLst>
          </p:cNvPr>
          <p:cNvCxnSpPr>
            <a:endCxn id="8" idx="1"/>
          </p:cNvCxnSpPr>
          <p:nvPr/>
        </p:nvCxnSpPr>
        <p:spPr>
          <a:xfrm>
            <a:off x="10436200" y="40411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80;p1">
            <a:extLst>
              <a:ext uri="{FF2B5EF4-FFF2-40B4-BE49-F238E27FC236}">
                <a16:creationId xmlns:a16="http://schemas.microsoft.com/office/drawing/2014/main" id="{B51DCC38-9AA5-3D52-481F-D77DB9F405FE}"/>
              </a:ext>
            </a:extLst>
          </p:cNvPr>
          <p:cNvCxnSpPr>
            <a:cxnSpLocks/>
            <a:stCxn id="62" idx="3"/>
            <a:endCxn id="6" idx="1"/>
          </p:cNvCxnSpPr>
          <p:nvPr/>
        </p:nvCxnSpPr>
        <p:spPr>
          <a:xfrm>
            <a:off x="4038775" y="2873815"/>
            <a:ext cx="518699" cy="116964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B5C3E4-0DE0-AD56-7B45-27A67255080C}"/>
              </a:ext>
            </a:extLst>
          </p:cNvPr>
          <p:cNvSpPr txBox="1"/>
          <p:nvPr/>
        </p:nvSpPr>
        <p:spPr>
          <a:xfrm>
            <a:off x="0" y="188588"/>
            <a:ext cx="2496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PVS1 decision tree for DYSF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7B41C8-D9F9-7C90-70FA-916379A8CB98}"/>
              </a:ext>
            </a:extLst>
          </p:cNvPr>
          <p:cNvSpPr txBox="1"/>
          <p:nvPr/>
        </p:nvSpPr>
        <p:spPr>
          <a:xfrm>
            <a:off x="3889841" y="16175727"/>
            <a:ext cx="84545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*The MANE Select transcript, NM_001130987, is not significantly expressed in skeletal muscle (PMID</a:t>
            </a:r>
            <a:r>
              <a:rPr lang="en-US" sz="1200"/>
              <a:t>: 19221801; </a:t>
            </a:r>
            <a:r>
              <a:rPr lang="en-US" sz="1200" dirty="0" err="1"/>
              <a:t>GTEx</a:t>
            </a:r>
            <a:r>
              <a:rPr lang="en-US" sz="1200" dirty="0"/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923</Words>
  <Application>Microsoft Office PowerPoint</Application>
  <PresentationFormat>Custom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Amanda Clause</dc:creator>
  <cp:lastModifiedBy>Clause, Amanda</cp:lastModifiedBy>
  <cp:revision>3</cp:revision>
  <dcterms:modified xsi:type="dcterms:W3CDTF">2025-06-05T18:01:00Z</dcterms:modified>
</cp:coreProperties>
</file>