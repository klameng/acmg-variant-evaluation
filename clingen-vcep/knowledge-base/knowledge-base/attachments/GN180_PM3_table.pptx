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73AB9517-6745-42C3-A3F5-AA8D3E745979}"/>
    <pc:docChg chg="modSld">
      <pc:chgData name="Clause, Amanda" userId="08e9fc0f-92ac-4595-ab91-dd80063314a5" providerId="ADAL" clId="{73AB9517-6745-42C3-A3F5-AA8D3E745979}" dt="2024-10-08T16:05:46.931" v="64" actId="20577"/>
      <pc:docMkLst>
        <pc:docMk/>
      </pc:docMkLst>
      <pc:sldChg chg="modSp mod">
        <pc:chgData name="Clause, Amanda" userId="08e9fc0f-92ac-4595-ab91-dd80063314a5" providerId="ADAL" clId="{73AB9517-6745-42C3-A3F5-AA8D3E745979}" dt="2024-10-08T16:05:46.931" v="64" actId="20577"/>
        <pc:sldMkLst>
          <pc:docMk/>
          <pc:sldMk cId="358113566" sldId="256"/>
        </pc:sldMkLst>
        <pc:spChg chg="mod">
          <ac:chgData name="Clause, Amanda" userId="08e9fc0f-92ac-4595-ab91-dd80063314a5" providerId="ADAL" clId="{73AB9517-6745-42C3-A3F5-AA8D3E745979}" dt="2024-10-08T16:05:46.931" v="64" actId="20577"/>
          <ac:spMkLst>
            <pc:docMk/>
            <pc:sldMk cId="358113566" sldId="256"/>
            <ac:spMk id="2" creationId="{AE2FA7C4-C208-3FE4-436B-E8C2E0D1BA06}"/>
          </ac:spMkLst>
        </pc:spChg>
        <pc:graphicFrameChg chg="modGraphic">
          <ac:chgData name="Clause, Amanda" userId="08e9fc0f-92ac-4595-ab91-dd80063314a5" providerId="ADAL" clId="{73AB9517-6745-42C3-A3F5-AA8D3E745979}" dt="2024-10-08T15:59:44.047" v="3" actId="20577"/>
          <ac:graphicFrameMkLst>
            <pc:docMk/>
            <pc:sldMk cId="358113566" sldId="256"/>
            <ac:graphicFrameMk id="4" creationId="{0853F844-AFE6-1F45-6C15-CA74F91BDDE3}"/>
          </ac:graphicFrameMkLst>
        </pc:graphicFrameChg>
      </pc:sldChg>
    </pc:docChg>
  </pc:docChgLst>
  <pc:docChgLst>
    <pc:chgData name="Clause, Amanda" userId="08e9fc0f-92ac-4595-ab91-dd80063314a5" providerId="ADAL" clId="{143C4EC6-2D99-4F45-9287-AF1381E4A504}"/>
    <pc:docChg chg="undo custSel modSld">
      <pc:chgData name="Clause, Amanda" userId="08e9fc0f-92ac-4595-ab91-dd80063314a5" providerId="ADAL" clId="{143C4EC6-2D99-4F45-9287-AF1381E4A504}" dt="2024-09-16T14:31:58.894" v="412" actId="947"/>
      <pc:docMkLst>
        <pc:docMk/>
      </pc:docMkLst>
      <pc:sldChg chg="addSp modSp mod">
        <pc:chgData name="Clause, Amanda" userId="08e9fc0f-92ac-4595-ab91-dd80063314a5" providerId="ADAL" clId="{143C4EC6-2D99-4F45-9287-AF1381E4A504}" dt="2024-09-16T14:31:58.894" v="412" actId="947"/>
        <pc:sldMkLst>
          <pc:docMk/>
          <pc:sldMk cId="358113566" sldId="256"/>
        </pc:sldMkLst>
        <pc:spChg chg="add mod">
          <ac:chgData name="Clause, Amanda" userId="08e9fc0f-92ac-4595-ab91-dd80063314a5" providerId="ADAL" clId="{143C4EC6-2D99-4F45-9287-AF1381E4A504}" dt="2024-09-16T14:31:58.894" v="412" actId="947"/>
          <ac:spMkLst>
            <pc:docMk/>
            <pc:sldMk cId="358113566" sldId="256"/>
            <ac:spMk id="2" creationId="{AE2FA7C4-C208-3FE4-436B-E8C2E0D1BA06}"/>
          </ac:spMkLst>
        </pc:spChg>
        <pc:graphicFrameChg chg="mod modGraphic">
          <ac:chgData name="Clause, Amanda" userId="08e9fc0f-92ac-4595-ab91-dd80063314a5" providerId="ADAL" clId="{143C4EC6-2D99-4F45-9287-AF1381E4A504}" dt="2024-09-16T14:31:14.603" v="408" actId="1035"/>
          <ac:graphicFrameMkLst>
            <pc:docMk/>
            <pc:sldMk cId="358113566" sldId="256"/>
            <ac:graphicFrameMk id="4" creationId="{0853F844-AFE6-1F45-6C15-CA74F91BDDE3}"/>
          </ac:graphicFrameMkLst>
        </pc:graphicFrameChg>
        <pc:graphicFrameChg chg="mod modGraphic">
          <ac:chgData name="Clause, Amanda" userId="08e9fc0f-92ac-4595-ab91-dd80063314a5" providerId="ADAL" clId="{143C4EC6-2D99-4F45-9287-AF1381E4A504}" dt="2024-09-16T14:31:14.603" v="408" actId="1035"/>
          <ac:graphicFrameMkLst>
            <pc:docMk/>
            <pc:sldMk cId="358113566" sldId="256"/>
            <ac:graphicFrameMk id="7" creationId="{B66FF8D8-C271-CC0E-6F9E-8D9C9A53EB1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0D7F5-9FF4-6D60-4772-74F2F85C4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6A147-96CA-FACA-C891-8286C67C6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47D40-C683-9212-C803-5FE92C0E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08F1C-26B9-2A57-7D7C-254ADDDA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ED254-6166-E8D0-674E-8192A88B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9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5B9D-EA3B-0B03-B1CB-25623D15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F1CCF-54E0-072E-79B7-C4C7D03D6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96022-10FD-5A69-0304-530D2F9E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E3A75-9B09-8165-A2CC-2C7885AB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B793A-8DAF-19F4-910F-C9016F10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5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68F08-DDA0-D0F9-416D-EADDE7FC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03559-7C6D-A2EF-2D3A-FE1F1B27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19F7B-E4EE-682F-6DF7-72CF3960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4721B-E588-3F47-FE35-4C669412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1DDD-D040-9720-AA09-1D96039B6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8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D0F6-D809-3ECB-41A9-1BD7C94D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4F37-EEEE-CD95-3953-310E8668B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6C5D6-3120-5491-5769-9769C4866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88670-44A7-6ACF-A95C-02FA5CC8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4160F-71DF-D884-D328-6EC267D6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7B18A-02DA-BB33-FA56-6F702626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3432-87DE-E99E-65F4-71EB8F21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62799-367A-267E-D399-75945BE9F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AD7A9-A085-C9E1-7236-38E489C53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4B8D3-C316-6ACC-7482-63E5DB1AD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5DD93-BA7F-F364-F6F1-DE5EBEED7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43D36-0C91-2184-A0E0-A46178C0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0CE2E-C75C-5306-F64C-ADF3764C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83F93-55A9-7571-0A35-971A0EA1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6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95C5-AAE2-BD2A-1EAD-A3D84F13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F423C-EEBD-3E8C-9CCA-56FDF4941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C670C-9795-4349-8C53-3E2E42B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816EB-1366-0379-5F4A-4CE0A635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5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AB6E5-9A48-EFEA-1596-6DB7B87B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07267-91D0-9BA0-ACA5-5C441B13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365C9-376A-999F-A9B3-137B2185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1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57DA-EEE2-5729-ECCA-3A4565C0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A032-2AB4-EAC8-F41B-2C4EE4A3E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483D8-3C3A-A0E1-0D81-53DE577B7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E0944-AD62-EFCC-EBDA-A45636F2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F92D3-9428-54A5-5489-01307D80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1A725-8BA5-2AF0-33B4-9D228429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8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1CF0-E403-58C5-6F57-AFFDC92B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57808-F411-4FD6-674A-20C1CF193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72143-EA5C-9FBA-103A-CAA99056B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71109-3346-7897-6FBE-4B0677AF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062F0-B297-DED7-1526-30703529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D7789-3A41-CFC2-CFFA-AE12246B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73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C092-9D06-F77F-F7F0-F7602B0A4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BF57A-FCED-399D-27E1-D0FB32483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56344-C70F-C3C2-67E0-A4E96101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25C2-C2D0-164B-7EEF-FE250D19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3DF-EA60-92C1-5837-7D3B7456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8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7E61B-21A0-3B8F-729C-A1DA18A75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6575-EDD4-2CFE-D69A-0BC3EE09C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98E4-EEDF-AD74-B842-E72CC59E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A9D62-252F-6674-D470-F0E76F60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E0C20-CBD5-4C3B-9FBA-58943F94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3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601C5-C526-BA66-65BA-6A3C92C3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35550-BA10-35B7-FC4A-3ACBD8EDD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E68DF-05E8-EE2C-49C5-0D94F6ED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17A6C-D616-48BA-9532-DB62274D5C1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7D15E-FBDE-2955-9F09-0178D1BE0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56B37-1F27-43E8-B6C5-C5D7F62D3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3DAD3-8B3E-4F39-8793-ECB07494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nomad.broadinstitute.org/variant-cooccurrenc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53F844-AFE6-1F45-6C15-CA74F91BD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009604"/>
              </p:ext>
            </p:extLst>
          </p:nvPr>
        </p:nvGraphicFramePr>
        <p:xfrm>
          <a:off x="1740026" y="268984"/>
          <a:ext cx="8389399" cy="284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6790">
                  <a:extLst>
                    <a:ext uri="{9D8B030D-6E8A-4147-A177-3AD203B41FA5}">
                      <a16:colId xmlns:a16="http://schemas.microsoft.com/office/drawing/2014/main" val="2868732227"/>
                    </a:ext>
                  </a:extLst>
                </a:gridCol>
                <a:gridCol w="2210539">
                  <a:extLst>
                    <a:ext uri="{9D8B030D-6E8A-4147-A177-3AD203B41FA5}">
                      <a16:colId xmlns:a16="http://schemas.microsoft.com/office/drawing/2014/main" val="3347607294"/>
                    </a:ext>
                  </a:extLst>
                </a:gridCol>
                <a:gridCol w="1882070">
                  <a:extLst>
                    <a:ext uri="{9D8B030D-6E8A-4147-A177-3AD203B41FA5}">
                      <a16:colId xmlns:a16="http://schemas.microsoft.com/office/drawing/2014/main" val="124790115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Classification/zygosity of other variant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Points per proband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399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Confirmed </a:t>
                      </a:r>
                      <a:r>
                        <a:rPr lang="en-US" sz="1600" i="1" dirty="0"/>
                        <a:t>in trans</a:t>
                      </a:r>
                      <a:r>
                        <a:rPr lang="en-US" sz="1600" i="0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unknown</a:t>
                      </a:r>
                      <a:r>
                        <a:rPr lang="en-US" sz="1600" baseline="30000" dirty="0"/>
                        <a:t>2</a:t>
                      </a:r>
                      <a:endParaRPr lang="en-US" sz="1600" i="1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5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Pathogenic or Likely pathogenic variant</a:t>
                      </a:r>
                      <a:r>
                        <a:rPr lang="en-US" baseline="30000" dirty="0"/>
                        <a:t>3</a:t>
                      </a:r>
                      <a:endParaRPr lang="en-US" sz="16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 (P)</a:t>
                      </a:r>
                    </a:p>
                    <a:p>
                      <a:pPr algn="ctr"/>
                      <a:r>
                        <a:rPr lang="en-US" dirty="0"/>
                        <a:t>0.25 (LP)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92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Homozygous occurrence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0" dirty="0"/>
                        <a:t>Max 1.0 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0" dirty="0"/>
                        <a:t>Downgrade to 0.25 pts for consanguinity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31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Uncertain significance variant</a:t>
                      </a:r>
                      <a:r>
                        <a:rPr lang="en-US" baseline="30000" dirty="0"/>
                        <a:t>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Max 0.5 pts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4436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6FF8D8-C271-CC0E-6F9E-8D9C9A53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57098"/>
              </p:ext>
            </p:extLst>
          </p:nvPr>
        </p:nvGraphicFramePr>
        <p:xfrm>
          <a:off x="639192" y="3187831"/>
          <a:ext cx="949022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831">
                  <a:extLst>
                    <a:ext uri="{9D8B030D-6E8A-4147-A177-3AD203B41FA5}">
                      <a16:colId xmlns:a16="http://schemas.microsoft.com/office/drawing/2014/main" val="2917132968"/>
                    </a:ext>
                  </a:extLst>
                </a:gridCol>
                <a:gridCol w="2024109">
                  <a:extLst>
                    <a:ext uri="{9D8B030D-6E8A-4147-A177-3AD203B41FA5}">
                      <a16:colId xmlns:a16="http://schemas.microsoft.com/office/drawing/2014/main" val="843577652"/>
                    </a:ext>
                  </a:extLst>
                </a:gridCol>
                <a:gridCol w="2059619">
                  <a:extLst>
                    <a:ext uri="{9D8B030D-6E8A-4147-A177-3AD203B41FA5}">
                      <a16:colId xmlns:a16="http://schemas.microsoft.com/office/drawing/2014/main" val="2520635884"/>
                    </a:ext>
                  </a:extLst>
                </a:gridCol>
                <a:gridCol w="2107507">
                  <a:extLst>
                    <a:ext uri="{9D8B030D-6E8A-4147-A177-3AD203B41FA5}">
                      <a16:colId xmlns:a16="http://schemas.microsoft.com/office/drawing/2014/main" val="3535985570"/>
                    </a:ext>
                  </a:extLst>
                </a:gridCol>
                <a:gridCol w="2198160">
                  <a:extLst>
                    <a:ext uri="{9D8B030D-6E8A-4147-A177-3AD203B41FA5}">
                      <a16:colId xmlns:a16="http://schemas.microsoft.com/office/drawing/2014/main" val="293290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PM3_Supporting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PM3_Strong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PM3_Very 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8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points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4.0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0745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2FA7C4-C208-3FE4-436B-E8C2E0D1BA06}"/>
              </a:ext>
            </a:extLst>
          </p:cNvPr>
          <p:cNvSpPr txBox="1"/>
          <p:nvPr/>
        </p:nvSpPr>
        <p:spPr>
          <a:xfrm>
            <a:off x="1740027" y="4033013"/>
            <a:ext cx="8389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 dirty="0"/>
              <a:t>1</a:t>
            </a:r>
            <a:r>
              <a:rPr lang="en-US" sz="1200" dirty="0"/>
              <a:t> Author assertions on phase, including based on allele-specific transcript expression, are acceptable.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For variants identified in unknown phase, PM3 points should not be awarded under the following circumstances: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The same variants were ever confirmed </a:t>
            </a:r>
            <a:r>
              <a:rPr lang="en-US" sz="1200" i="1" dirty="0"/>
              <a:t>in cis</a:t>
            </a:r>
            <a:r>
              <a:rPr lang="en-US" sz="1200" dirty="0"/>
              <a:t> (e.g., in a different patient in the literature)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gnomAD</a:t>
            </a:r>
            <a:r>
              <a:rPr lang="en-US" sz="1200" dirty="0"/>
              <a:t> co-occurrence data (</a:t>
            </a:r>
            <a:r>
              <a:rPr lang="en-US" sz="1200" dirty="0">
                <a:hlinkClick r:id="rId2"/>
              </a:rPr>
              <a:t>https://gnomad.broadinstitute.org/variant-cooccurrence</a:t>
            </a:r>
            <a:r>
              <a:rPr lang="en-US" sz="1200" dirty="0"/>
              <a:t>) predict the variants may be part of the same haplotype in at least one genetic ancestry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More than 2 variants are reported in the patient, none of which can be classified as likely benign or benign</a:t>
            </a:r>
            <a:r>
              <a:rPr lang="en-US" sz="1200"/>
              <a:t>. </a:t>
            </a:r>
            <a:endParaRPr lang="en-US" sz="1200" dirty="0"/>
          </a:p>
          <a:p>
            <a:r>
              <a:rPr lang="en-US" sz="1200" baseline="30000" dirty="0"/>
              <a:t>3</a:t>
            </a:r>
            <a:r>
              <a:rPr lang="en-US" sz="1200" dirty="0"/>
              <a:t> Any variant awarded points as likely pathogenic or pathogenic must have been classified using the LGMD VCEP specifications. 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For any variant awarded points as VUS, benign frequency codes (BA1, BS1) cannot be applicable.</a:t>
            </a:r>
          </a:p>
          <a:p>
            <a:r>
              <a:rPr lang="en-US" sz="1200" dirty="0"/>
              <a:t>Note: It is possible to award PM3 points to both variants identified in an individual as long as the evidence related to their co-observation in that individual does not contribute to the variant classification that determines the number of points applied. This excludes all evidence derived from the co-observation, including inter-dependent PM3 points (pathogenicity of variant in trans/unknown phase), PP1 (genotype-phenotype co-segregation), and PP4 (phenotype specificity). Please see examples in supplementary file “PM3 co-application examples”.</a:t>
            </a:r>
          </a:p>
        </p:txBody>
      </p:sp>
    </p:spTree>
    <p:extLst>
      <p:ext uri="{BB962C8B-B14F-4D97-AF65-F5344CB8AC3E}">
        <p14:creationId xmlns:p14="http://schemas.microsoft.com/office/powerpoint/2010/main" val="35811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306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2</cp:revision>
  <dcterms:created xsi:type="dcterms:W3CDTF">2024-09-03T18:15:56Z</dcterms:created>
  <dcterms:modified xsi:type="dcterms:W3CDTF">2024-10-08T16:05:55Z</dcterms:modified>
</cp:coreProperties>
</file>