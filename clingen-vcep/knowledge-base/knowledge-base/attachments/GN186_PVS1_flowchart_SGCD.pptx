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7" r:id="rId2"/>
  </p:sldIdLst>
  <p:sldSz cx="12344400" cy="164592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042" userDrawn="1">
          <p15:clr>
            <a:srgbClr val="A4A3A4"/>
          </p15:clr>
        </p15:guide>
        <p15:guide id="2" pos="3888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8" roundtripDataSignature="AMtx7mhE5CM89sIJY3oPbbhw6VH2Sftk+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-984" y="-3988"/>
      </p:cViewPr>
      <p:guideLst>
        <p:guide orient="horz" pos="2042"/>
        <p:guide pos="38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customschemas.google.com/relationships/presentationmetadata" Target="metadata"/><Relationship Id="rId13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heme" Target="theme/theme1.xml"/><Relationship Id="rId10" Type="http://schemas.openxmlformats.org/officeDocument/2006/relationships/viewProps" Target="viewProps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lause, Amanda" userId="08e9fc0f-92ac-4595-ab91-dd80063314a5" providerId="ADAL" clId="{B846DAFA-6514-4777-8857-1C6C69D44624}"/>
    <pc:docChg chg="modSld">
      <pc:chgData name="Clause, Amanda" userId="08e9fc0f-92ac-4595-ab91-dd80063314a5" providerId="ADAL" clId="{B846DAFA-6514-4777-8857-1C6C69D44624}" dt="2025-06-05T19:53:39.282" v="7" actId="20577"/>
      <pc:docMkLst>
        <pc:docMk/>
      </pc:docMkLst>
      <pc:sldChg chg="modSp mod">
        <pc:chgData name="Clause, Amanda" userId="08e9fc0f-92ac-4595-ab91-dd80063314a5" providerId="ADAL" clId="{B846DAFA-6514-4777-8857-1C6C69D44624}" dt="2025-06-05T19:53:39.282" v="7" actId="20577"/>
        <pc:sldMkLst>
          <pc:docMk/>
          <pc:sldMk cId="0" sldId="257"/>
        </pc:sldMkLst>
        <pc:spChg chg="mod">
          <ac:chgData name="Clause, Amanda" userId="08e9fc0f-92ac-4595-ab91-dd80063314a5" providerId="ADAL" clId="{B846DAFA-6514-4777-8857-1C6C69D44624}" dt="2025-06-05T19:53:39.282" v="7" actId="20577"/>
          <ac:spMkLst>
            <pc:docMk/>
            <pc:sldMk cId="0" sldId="257"/>
            <ac:spMk id="89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33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8" name="Google Shape;5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PLEASE NOTE – highlighted areas are where the VCEP should provide guidance for each gene under specification. </a:t>
            </a: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n"/>
              <a:t>Weights may be adjusted if appropriate (e.g start codon)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 txBox="1">
            <a:spLocks noGrp="1"/>
          </p:cNvSpPr>
          <p:nvPr>
            <p:ph type="ctrTitle"/>
          </p:nvPr>
        </p:nvSpPr>
        <p:spPr>
          <a:xfrm>
            <a:off x="420806" y="2382640"/>
            <a:ext cx="11502900" cy="6568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800"/>
              <a:buNone/>
              <a:defRPr sz="9800"/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subTitle" idx="1"/>
          </p:nvPr>
        </p:nvSpPr>
        <p:spPr>
          <a:xfrm>
            <a:off x="420795" y="9069199"/>
            <a:ext cx="11502900" cy="2536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title"/>
          </p:nvPr>
        </p:nvSpPr>
        <p:spPr>
          <a:xfrm>
            <a:off x="420795" y="6882720"/>
            <a:ext cx="11502900" cy="2693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800"/>
              <a:buNone/>
              <a:defRPr sz="6800"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6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6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3" name="Google Shape;23;p6"/>
          <p:cNvSpPr txBox="1">
            <a:spLocks noGrp="1"/>
          </p:cNvSpPr>
          <p:nvPr>
            <p:ph type="body" idx="2"/>
          </p:nvPr>
        </p:nvSpPr>
        <p:spPr>
          <a:xfrm>
            <a:off x="6523740" y="3687920"/>
            <a:ext cx="53997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937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Char char="●"/>
              <a:defRPr sz="26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3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"/>
          <p:cNvSpPr txBox="1">
            <a:spLocks noGrp="1"/>
          </p:cNvSpPr>
          <p:nvPr>
            <p:ph type="title"/>
          </p:nvPr>
        </p:nvSpPr>
        <p:spPr>
          <a:xfrm>
            <a:off x="420795" y="1777920"/>
            <a:ext cx="3790800" cy="241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1"/>
          </p:nvPr>
        </p:nvSpPr>
        <p:spPr>
          <a:xfrm>
            <a:off x="420795" y="4446720"/>
            <a:ext cx="3790800" cy="101739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3746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300"/>
              <a:buChar char="●"/>
              <a:defRPr sz="2300"/>
            </a:lvl1pPr>
            <a:lvl2pPr marL="914400" lvl="1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2pPr>
            <a:lvl3pPr marL="1371600" lvl="2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3pPr>
            <a:lvl4pPr marL="1828800" lvl="3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4pPr>
            <a:lvl5pPr marL="2286000" lvl="4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5pPr>
            <a:lvl6pPr marL="2743200" lvl="5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■"/>
              <a:defRPr sz="2300"/>
            </a:lvl6pPr>
            <a:lvl7pPr marL="3200400" lvl="6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●"/>
              <a:defRPr sz="2300"/>
            </a:lvl7pPr>
            <a:lvl8pPr marL="3657600" lvl="7" indent="-37465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300"/>
              <a:buChar char="○"/>
              <a:defRPr sz="2300"/>
            </a:lvl8pPr>
            <a:lvl9pPr marL="4114800" lvl="8" indent="-37465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300"/>
              <a:buChar char="■"/>
              <a:defRPr sz="2300"/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 txBox="1">
            <a:spLocks noGrp="1"/>
          </p:cNvSpPr>
          <p:nvPr>
            <p:ph type="title"/>
          </p:nvPr>
        </p:nvSpPr>
        <p:spPr>
          <a:xfrm>
            <a:off x="661838" y="1440480"/>
            <a:ext cx="8596500" cy="13090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100"/>
              <a:buNone/>
              <a:defRPr sz="9100"/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0"/>
          <p:cNvSpPr/>
          <p:nvPr/>
        </p:nvSpPr>
        <p:spPr>
          <a:xfrm>
            <a:off x="6172200" y="-400"/>
            <a:ext cx="6172200" cy="16459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0"/>
          <p:cNvSpPr txBox="1">
            <a:spLocks noGrp="1"/>
          </p:cNvSpPr>
          <p:nvPr>
            <p:ph type="title"/>
          </p:nvPr>
        </p:nvSpPr>
        <p:spPr>
          <a:xfrm>
            <a:off x="358425" y="3946160"/>
            <a:ext cx="5460900" cy="4743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900"/>
              <a:buNone/>
              <a:defRPr sz="7900"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ubTitle" idx="1"/>
          </p:nvPr>
        </p:nvSpPr>
        <p:spPr>
          <a:xfrm>
            <a:off x="358425" y="8969840"/>
            <a:ext cx="5460900" cy="3952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39" name="Google Shape;39;p10"/>
          <p:cNvSpPr txBox="1">
            <a:spLocks noGrp="1"/>
          </p:cNvSpPr>
          <p:nvPr>
            <p:ph type="body" idx="2"/>
          </p:nvPr>
        </p:nvSpPr>
        <p:spPr>
          <a:xfrm>
            <a:off x="6668325" y="2317039"/>
            <a:ext cx="5180100" cy="118243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444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l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l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10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420795" y="13537840"/>
            <a:ext cx="8098500" cy="1936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2"/>
          <p:cNvSpPr txBox="1">
            <a:spLocks noGrp="1"/>
          </p:cNvSpPr>
          <p:nvPr>
            <p:ph type="title" hasCustomPrompt="1"/>
          </p:nvPr>
        </p:nvSpPr>
        <p:spPr>
          <a:xfrm>
            <a:off x="420795" y="3539600"/>
            <a:ext cx="11502900" cy="628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700"/>
              <a:buNone/>
              <a:defRPr sz="22700"/>
            </a:lvl9pPr>
          </a:lstStyle>
          <a:p>
            <a:r>
              <a:t>xx%</a:t>
            </a:r>
          </a:p>
        </p:txBody>
      </p:sp>
      <p:sp>
        <p:nvSpPr>
          <p:cNvPr id="46" name="Google Shape;46;p12"/>
          <p:cNvSpPr txBox="1">
            <a:spLocks noGrp="1"/>
          </p:cNvSpPr>
          <p:nvPr>
            <p:ph type="body" idx="1"/>
          </p:nvPr>
        </p:nvSpPr>
        <p:spPr>
          <a:xfrm>
            <a:off x="420795" y="10087120"/>
            <a:ext cx="11502900" cy="41625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lvl="0" indent="-444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400"/>
              <a:buChar char="●"/>
              <a:defRPr/>
            </a:lvl1pPr>
            <a:lvl2pPr marL="914400" lvl="1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2pPr>
            <a:lvl3pPr marL="1371600" lvl="2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3pPr>
            <a:lvl4pPr marL="1828800" lvl="3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4pPr>
            <a:lvl5pPr marL="2286000" lvl="4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5pPr>
            <a:lvl6pPr marL="2743200" lvl="5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■"/>
              <a:defRPr/>
            </a:lvl6pPr>
            <a:lvl7pPr marL="3200400" lvl="6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●"/>
              <a:defRPr/>
            </a:lvl7pPr>
            <a:lvl8pPr marL="3657600" lvl="7" indent="-393700" algn="ctr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SzPts val="2600"/>
              <a:buChar char="○"/>
              <a:defRPr/>
            </a:lvl8pPr>
            <a:lvl9pPr marL="4114800" lvl="8" indent="-393700" algn="ctr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SzPts val="26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420795" y="1424081"/>
            <a:ext cx="11502900" cy="1832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00"/>
              <a:buFont typeface="Arial"/>
              <a:buNone/>
              <a:defRPr sz="5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420795" y="3687920"/>
            <a:ext cx="11502900" cy="109325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t" anchorCtr="0">
            <a:noAutofit/>
          </a:bodyPr>
          <a:lstStyle>
            <a:lvl1pPr marL="457200" marR="0" lvl="0" indent="-444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Font typeface="Arial"/>
              <a:buChar char="●"/>
              <a:defRPr sz="3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●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93700" algn="l" rtl="0">
              <a:lnSpc>
                <a:spcPct val="115000"/>
              </a:lnSpc>
              <a:spcBef>
                <a:spcPts val="30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Arial"/>
              <a:buChar char="○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93700" algn="l" rtl="0">
              <a:lnSpc>
                <a:spcPct val="115000"/>
              </a:lnSpc>
              <a:spcBef>
                <a:spcPts val="3000"/>
              </a:spcBef>
              <a:spcAft>
                <a:spcPts val="3000"/>
              </a:spcAft>
              <a:buClr>
                <a:schemeClr val="dk2"/>
              </a:buClr>
              <a:buSzPts val="2600"/>
              <a:buFont typeface="Arial"/>
              <a:buChar char="■"/>
              <a:defRPr sz="26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sldNum" idx="12"/>
          </p:nvPr>
        </p:nvSpPr>
        <p:spPr>
          <a:xfrm>
            <a:off x="11437818" y="14922293"/>
            <a:ext cx="740700" cy="12596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72700" tIns="172700" rIns="172700" bIns="172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  <a:defRPr sz="19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pliceailookup.broadinstitute.org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"/>
          <p:cNvSpPr txBox="1"/>
          <p:nvPr/>
        </p:nvSpPr>
        <p:spPr>
          <a:xfrm>
            <a:off x="80325" y="911472"/>
            <a:ext cx="1105800" cy="332747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Nonsense or Frameshift</a:t>
            </a:r>
            <a:endParaRPr b="1"/>
          </a:p>
        </p:txBody>
      </p:sp>
      <p:sp>
        <p:nvSpPr>
          <p:cNvPr id="61" name="Google Shape;61;p1"/>
          <p:cNvSpPr/>
          <p:nvPr/>
        </p:nvSpPr>
        <p:spPr>
          <a:xfrm>
            <a:off x="1643625" y="902125"/>
            <a:ext cx="2395150" cy="96570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Predicted to undergo NMD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>
              <a:solidFill>
                <a:schemeClr val="tx1"/>
              </a:solidFill>
            </a:endParaRPr>
          </a:p>
          <a:p>
            <a:pPr algn="ctr">
              <a:buSzPts val="1200"/>
            </a:pPr>
            <a:endParaRPr lang="en"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(Premature truncation in codons 35-214)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2" name="Google Shape;62;p1"/>
          <p:cNvSpPr/>
          <p:nvPr/>
        </p:nvSpPr>
        <p:spPr>
          <a:xfrm>
            <a:off x="1664575" y="2394415"/>
            <a:ext cx="2374200" cy="958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Not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63" name="Google Shape;63;p1"/>
          <p:cNvSpPr/>
          <p:nvPr/>
        </p:nvSpPr>
        <p:spPr>
          <a:xfrm>
            <a:off x="4536350" y="878500"/>
            <a:ext cx="5868000" cy="2769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64" name="Google Shape;64;p1"/>
          <p:cNvSpPr/>
          <p:nvPr/>
        </p:nvSpPr>
        <p:spPr>
          <a:xfrm>
            <a:off x="4536275" y="1307075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1"/>
          <p:cNvSpPr/>
          <p:nvPr/>
        </p:nvSpPr>
        <p:spPr>
          <a:xfrm>
            <a:off x="10945225" y="87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66" name="Google Shape;66;p1"/>
          <p:cNvSpPr/>
          <p:nvPr/>
        </p:nvSpPr>
        <p:spPr>
          <a:xfrm>
            <a:off x="10945225" y="1307075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67" name="Google Shape;67;p1"/>
          <p:cNvSpPr/>
          <p:nvPr/>
        </p:nvSpPr>
        <p:spPr>
          <a:xfrm>
            <a:off x="4529000" y="1798500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1"/>
          <p:cNvSpPr/>
          <p:nvPr/>
        </p:nvSpPr>
        <p:spPr>
          <a:xfrm>
            <a:off x="4557575" y="2172950"/>
            <a:ext cx="1080900" cy="1409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69" name="Google Shape;69;p1"/>
          <p:cNvSpPr/>
          <p:nvPr/>
        </p:nvSpPr>
        <p:spPr>
          <a:xfrm>
            <a:off x="6201875" y="2182875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70" name="Google Shape;70;p1"/>
          <p:cNvSpPr/>
          <p:nvPr/>
        </p:nvSpPr>
        <p:spPr>
          <a:xfrm>
            <a:off x="10945225" y="1798500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71" name="Google Shape;71;p1"/>
          <p:cNvSpPr/>
          <p:nvPr/>
        </p:nvSpPr>
        <p:spPr>
          <a:xfrm>
            <a:off x="10945225" y="22280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72" name="Google Shape;72;p1"/>
          <p:cNvSpPr/>
          <p:nvPr/>
        </p:nvSpPr>
        <p:spPr>
          <a:xfrm>
            <a:off x="10945225" y="2816250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73" name="Google Shape;73;p1"/>
          <p:cNvSpPr/>
          <p:nvPr/>
        </p:nvSpPr>
        <p:spPr>
          <a:xfrm>
            <a:off x="10945225" y="331887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74" name="Google Shape;74;p1"/>
          <p:cNvSpPr/>
          <p:nvPr/>
        </p:nvSpPr>
        <p:spPr>
          <a:xfrm>
            <a:off x="6201875" y="2752050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endParaRPr sz="12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1"/>
          <p:cNvSpPr/>
          <p:nvPr/>
        </p:nvSpPr>
        <p:spPr>
          <a:xfrm>
            <a:off x="9204900" y="2752050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76" name="Google Shape;76;p1"/>
          <p:cNvSpPr/>
          <p:nvPr/>
        </p:nvSpPr>
        <p:spPr>
          <a:xfrm>
            <a:off x="9204825" y="3278225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77" name="Google Shape;77;p1"/>
          <p:cNvCxnSpPr>
            <a:stCxn id="74" idx="3"/>
            <a:endCxn id="75" idx="1"/>
          </p:cNvCxnSpPr>
          <p:nvPr/>
        </p:nvCxnSpPr>
        <p:spPr>
          <a:xfrm rot="10800000" flipH="1">
            <a:off x="8819975" y="29784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8" name="Google Shape;78;p1"/>
          <p:cNvCxnSpPr>
            <a:stCxn id="74" idx="3"/>
            <a:endCxn id="76" idx="1"/>
          </p:cNvCxnSpPr>
          <p:nvPr/>
        </p:nvCxnSpPr>
        <p:spPr>
          <a:xfrm>
            <a:off x="8819975" y="3241500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79" name="Google Shape;79;p1"/>
          <p:cNvCxnSpPr>
            <a:cxnSpLocks/>
            <a:endCxn id="61" idx="1"/>
          </p:cNvCxnSpPr>
          <p:nvPr/>
        </p:nvCxnSpPr>
        <p:spPr>
          <a:xfrm flipV="1">
            <a:off x="1193712" y="1384979"/>
            <a:ext cx="449913" cy="152399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0" name="Google Shape;80;p1"/>
          <p:cNvCxnSpPr>
            <a:cxnSpLocks/>
          </p:cNvCxnSpPr>
          <p:nvPr/>
        </p:nvCxnSpPr>
        <p:spPr>
          <a:xfrm>
            <a:off x="1184860" y="2901600"/>
            <a:ext cx="463645" cy="2944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1" name="Google Shape;81;p1"/>
          <p:cNvCxnSpPr>
            <a:cxnSpLocks/>
            <a:stCxn id="61" idx="3"/>
            <a:endCxn id="63" idx="1"/>
          </p:cNvCxnSpPr>
          <p:nvPr/>
        </p:nvCxnSpPr>
        <p:spPr>
          <a:xfrm flipV="1">
            <a:off x="4038775" y="1016950"/>
            <a:ext cx="497575" cy="368029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2" name="Google Shape;82;p1"/>
          <p:cNvCxnSpPr>
            <a:cxnSpLocks/>
            <a:stCxn id="61" idx="3"/>
            <a:endCxn id="64" idx="1"/>
          </p:cNvCxnSpPr>
          <p:nvPr/>
        </p:nvCxnSpPr>
        <p:spPr>
          <a:xfrm>
            <a:off x="4038775" y="1384979"/>
            <a:ext cx="497500" cy="60546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3" name="Google Shape;83;p1"/>
          <p:cNvCxnSpPr>
            <a:stCxn id="62" idx="3"/>
            <a:endCxn id="67" idx="1"/>
          </p:cNvCxnSpPr>
          <p:nvPr/>
        </p:nvCxnSpPr>
        <p:spPr>
          <a:xfrm flipV="1">
            <a:off x="4038775" y="1936950"/>
            <a:ext cx="490225" cy="93686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4" name="Google Shape;84;p1"/>
          <p:cNvCxnSpPr>
            <a:stCxn id="62" idx="3"/>
            <a:endCxn id="68" idx="1"/>
          </p:cNvCxnSpPr>
          <p:nvPr/>
        </p:nvCxnSpPr>
        <p:spPr>
          <a:xfrm>
            <a:off x="4038775" y="2873815"/>
            <a:ext cx="518800" cy="3685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5" name="Google Shape;85;p1"/>
          <p:cNvCxnSpPr>
            <a:stCxn id="68" idx="3"/>
            <a:endCxn id="69" idx="1"/>
          </p:cNvCxnSpPr>
          <p:nvPr/>
        </p:nvCxnSpPr>
        <p:spPr>
          <a:xfrm rot="10800000" flipH="1">
            <a:off x="5638475" y="2413700"/>
            <a:ext cx="563400" cy="463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86" name="Google Shape;86;p1"/>
          <p:cNvCxnSpPr>
            <a:stCxn id="68" idx="3"/>
            <a:endCxn id="74" idx="1"/>
          </p:cNvCxnSpPr>
          <p:nvPr/>
        </p:nvCxnSpPr>
        <p:spPr>
          <a:xfrm>
            <a:off x="5638475" y="2877500"/>
            <a:ext cx="563400" cy="363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87" name="Google Shape;87;p1"/>
          <p:cNvSpPr txBox="1"/>
          <p:nvPr/>
        </p:nvSpPr>
        <p:spPr>
          <a:xfrm>
            <a:off x="80325" y="4470788"/>
            <a:ext cx="1105800" cy="4800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GT--AG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1,2 splice </a:t>
            </a:r>
            <a:endParaRPr sz="1200" b="1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sites </a:t>
            </a:r>
            <a:r>
              <a:rPr lang="en" sz="1200" b="1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</a:p>
          <a:p>
            <a:pPr algn="ctr">
              <a:buSzPts val="1200"/>
            </a:pPr>
            <a:endParaRPr lang="en" sz="1200" b="1" baseline="30000" dirty="0">
              <a:latin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latin typeface="Times New Roman"/>
                <a:cs typeface="Times New Roman"/>
                <a:sym typeface="Times New Roman"/>
              </a:rPr>
              <a:t>Use </a:t>
            </a:r>
            <a:r>
              <a:rPr lang="en" sz="1200">
                <a:latin typeface="Times New Roman"/>
                <a:cs typeface="Times New Roman"/>
                <a:sym typeface="Times New Roman"/>
              </a:rPr>
              <a:t>the SpliceAI </a:t>
            </a:r>
            <a:r>
              <a:rPr lang="en" sz="1200" dirty="0">
                <a:latin typeface="Times New Roman"/>
                <a:cs typeface="Times New Roman"/>
                <a:sym typeface="Times New Roman"/>
              </a:rPr>
              <a:t>prediction of the most likely splice effect and then determine the expected protein consequence </a:t>
            </a: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r>
              <a:rPr lang="en-US" sz="1200" dirty="0">
                <a:solidFill>
                  <a:srgbClr val="FF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https://spliceailookup.broadinstitute.org</a:t>
            </a:r>
            <a:endParaRPr lang="en-US" sz="1200" dirty="0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>
              <a:buSzPts val="1200"/>
            </a:pPr>
            <a:endParaRPr lang="en" sz="1200" dirty="0">
              <a:latin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1"/>
          <p:cNvSpPr/>
          <p:nvPr/>
        </p:nvSpPr>
        <p:spPr>
          <a:xfrm>
            <a:off x="1664575" y="4570038"/>
            <a:ext cx="23742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predicted to undergo NMD</a:t>
            </a:r>
            <a:r>
              <a:rPr lang="en" sz="12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dirty="0"/>
          </a:p>
        </p:txBody>
      </p:sp>
      <p:sp>
        <p:nvSpPr>
          <p:cNvPr id="89" name="Google Shape;89;p1"/>
          <p:cNvSpPr/>
          <p:nvPr/>
        </p:nvSpPr>
        <p:spPr>
          <a:xfrm>
            <a:off x="1654125" y="7551638"/>
            <a:ext cx="23742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preserves reading frame</a:t>
            </a:r>
            <a:endParaRPr dirty="0"/>
          </a:p>
          <a:p>
            <a:pPr>
              <a:buSzPts val="1200"/>
            </a:pPr>
            <a:endParaRPr lang="en" sz="1200" dirty="0">
              <a:solidFill>
                <a:srgbClr val="FF0000"/>
              </a:solidFill>
              <a:highlight>
                <a:srgbClr val="FFFF00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Inframe exons for which exon skipping is not expected to result in NMD: 2, 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3, 4</a:t>
            </a:r>
            <a:r>
              <a:rPr lang="en-US" sz="120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6, 9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0" name="Google Shape;90;p1"/>
          <p:cNvSpPr/>
          <p:nvPr/>
        </p:nvSpPr>
        <p:spPr>
          <a:xfrm>
            <a:off x="4536350" y="44938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4507775" y="53761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1"/>
          <p:cNvSpPr/>
          <p:nvPr/>
        </p:nvSpPr>
        <p:spPr>
          <a:xfrm>
            <a:off x="4536275" y="49224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4536350" y="57506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6180650" y="57605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biologically-relevant transcript(s)</a:t>
            </a:r>
            <a:endParaRPr/>
          </a:p>
        </p:txBody>
      </p:sp>
      <p:sp>
        <p:nvSpPr>
          <p:cNvPr id="95" name="Google Shape;95;p1"/>
          <p:cNvSpPr/>
          <p:nvPr/>
        </p:nvSpPr>
        <p:spPr>
          <a:xfrm>
            <a:off x="6180650" y="63300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1"/>
          <p:cNvSpPr/>
          <p:nvPr/>
        </p:nvSpPr>
        <p:spPr>
          <a:xfrm>
            <a:off x="9183675" y="63300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4533750" y="90136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10945225" y="44938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99" name="Google Shape;99;p1"/>
          <p:cNvSpPr/>
          <p:nvPr/>
        </p:nvSpPr>
        <p:spPr>
          <a:xfrm>
            <a:off x="10945225" y="49224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0" name="Google Shape;100;p1"/>
          <p:cNvSpPr/>
          <p:nvPr/>
        </p:nvSpPr>
        <p:spPr>
          <a:xfrm>
            <a:off x="10945225" y="53761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1" name="Google Shape;101;p1"/>
          <p:cNvSpPr/>
          <p:nvPr/>
        </p:nvSpPr>
        <p:spPr>
          <a:xfrm>
            <a:off x="10945225" y="58056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10945225" y="63942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03" name="Google Shape;103;p1"/>
          <p:cNvSpPr/>
          <p:nvPr/>
        </p:nvSpPr>
        <p:spPr>
          <a:xfrm>
            <a:off x="10945225" y="6896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04" name="Google Shape;104;p1"/>
          <p:cNvSpPr/>
          <p:nvPr/>
        </p:nvSpPr>
        <p:spPr>
          <a:xfrm>
            <a:off x="10945225" y="90204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05" name="Google Shape;105;p1"/>
          <p:cNvSpPr/>
          <p:nvPr/>
        </p:nvSpPr>
        <p:spPr>
          <a:xfrm>
            <a:off x="9183600" y="68562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>
            <a:off x="1643625" y="5577062"/>
            <a:ext cx="2395200" cy="1814375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Exon skipping or use of a cryptic splice site disrupts reading frame and is </a:t>
            </a: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predicted to undergo 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 lang="en" sz="1200" baseline="30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07" name="Google Shape;107;p1"/>
          <p:cNvCxnSpPr>
            <a:stCxn id="87" idx="3"/>
            <a:endCxn id="88" idx="1"/>
          </p:cNvCxnSpPr>
          <p:nvPr/>
        </p:nvCxnSpPr>
        <p:spPr>
          <a:xfrm rot="10800000" flipH="1">
            <a:off x="1186125" y="4971338"/>
            <a:ext cx="478500" cy="1899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8" name="Google Shape;108;p1"/>
          <p:cNvCxnSpPr>
            <a:cxnSpLocks/>
            <a:stCxn id="87" idx="3"/>
            <a:endCxn id="106" idx="1"/>
          </p:cNvCxnSpPr>
          <p:nvPr/>
        </p:nvCxnSpPr>
        <p:spPr>
          <a:xfrm flipV="1">
            <a:off x="1186125" y="6484250"/>
            <a:ext cx="457500" cy="386688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09" name="Google Shape;109;p1"/>
          <p:cNvCxnSpPr>
            <a:stCxn id="87" idx="3"/>
            <a:endCxn id="89" idx="1"/>
          </p:cNvCxnSpPr>
          <p:nvPr/>
        </p:nvCxnSpPr>
        <p:spPr>
          <a:xfrm>
            <a:off x="1186125" y="6870938"/>
            <a:ext cx="468000" cy="145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0" name="Google Shape;110;p1"/>
          <p:cNvCxnSpPr>
            <a:stCxn id="88" idx="3"/>
            <a:endCxn id="90" idx="1"/>
          </p:cNvCxnSpPr>
          <p:nvPr/>
        </p:nvCxnSpPr>
        <p:spPr>
          <a:xfrm rot="10800000" flipH="1">
            <a:off x="4038775" y="4632288"/>
            <a:ext cx="4977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1" name="Google Shape;111;p1"/>
          <p:cNvCxnSpPr>
            <a:stCxn id="88" idx="3"/>
            <a:endCxn id="92" idx="1"/>
          </p:cNvCxnSpPr>
          <p:nvPr/>
        </p:nvCxnSpPr>
        <p:spPr>
          <a:xfrm>
            <a:off x="4038775" y="4971288"/>
            <a:ext cx="4974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2" name="Google Shape;112;p1"/>
          <p:cNvCxnSpPr>
            <a:cxnSpLocks/>
            <a:stCxn id="106" idx="3"/>
            <a:endCxn id="91" idx="1"/>
          </p:cNvCxnSpPr>
          <p:nvPr/>
        </p:nvCxnSpPr>
        <p:spPr>
          <a:xfrm flipV="1">
            <a:off x="4038825" y="5514613"/>
            <a:ext cx="468950" cy="969637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3" name="Google Shape;113;p1"/>
          <p:cNvCxnSpPr>
            <a:cxnSpLocks/>
            <a:stCxn id="106" idx="3"/>
            <a:endCxn id="93" idx="1"/>
          </p:cNvCxnSpPr>
          <p:nvPr/>
        </p:nvCxnSpPr>
        <p:spPr>
          <a:xfrm>
            <a:off x="4038825" y="6484250"/>
            <a:ext cx="497525" cy="45463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4" name="Google Shape;114;p1"/>
          <p:cNvCxnSpPr>
            <a:stCxn id="93" idx="3"/>
            <a:endCxn id="94" idx="1"/>
          </p:cNvCxnSpPr>
          <p:nvPr/>
        </p:nvCxnSpPr>
        <p:spPr>
          <a:xfrm rot="10800000" flipH="1">
            <a:off x="5617250" y="59915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5" name="Google Shape;115;p1"/>
          <p:cNvCxnSpPr>
            <a:stCxn id="93" idx="3"/>
            <a:endCxn id="95" idx="1"/>
          </p:cNvCxnSpPr>
          <p:nvPr/>
        </p:nvCxnSpPr>
        <p:spPr>
          <a:xfrm>
            <a:off x="5617250" y="65297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6" name="Google Shape;116;p1"/>
          <p:cNvCxnSpPr>
            <a:stCxn id="95" idx="3"/>
            <a:endCxn id="96" idx="1"/>
          </p:cNvCxnSpPr>
          <p:nvPr/>
        </p:nvCxnSpPr>
        <p:spPr>
          <a:xfrm rot="10800000" flipH="1">
            <a:off x="8798750" y="65564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7" name="Google Shape;117;p1"/>
          <p:cNvCxnSpPr>
            <a:stCxn id="95" idx="3"/>
            <a:endCxn id="105" idx="1"/>
          </p:cNvCxnSpPr>
          <p:nvPr/>
        </p:nvCxnSpPr>
        <p:spPr>
          <a:xfrm>
            <a:off x="8798750" y="68195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8" name="Google Shape;118;p1"/>
          <p:cNvCxnSpPr>
            <a:stCxn id="63" idx="3"/>
            <a:endCxn id="65" idx="1"/>
          </p:cNvCxnSpPr>
          <p:nvPr/>
        </p:nvCxnSpPr>
        <p:spPr>
          <a:xfrm>
            <a:off x="10404350" y="1016950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19" name="Google Shape;119;p1"/>
          <p:cNvCxnSpPr>
            <a:stCxn id="64" idx="3"/>
            <a:endCxn id="66" idx="1"/>
          </p:cNvCxnSpPr>
          <p:nvPr/>
        </p:nvCxnSpPr>
        <p:spPr>
          <a:xfrm>
            <a:off x="10404275" y="1445525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0" name="Google Shape;120;p1"/>
          <p:cNvCxnSpPr>
            <a:stCxn id="67" idx="3"/>
            <a:endCxn id="70" idx="1"/>
          </p:cNvCxnSpPr>
          <p:nvPr/>
        </p:nvCxnSpPr>
        <p:spPr>
          <a:xfrm>
            <a:off x="10425500" y="1936950"/>
            <a:ext cx="519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1" name="Google Shape;121;p1"/>
          <p:cNvCxnSpPr>
            <a:stCxn id="69" idx="3"/>
            <a:endCxn id="71" idx="1"/>
          </p:cNvCxnSpPr>
          <p:nvPr/>
        </p:nvCxnSpPr>
        <p:spPr>
          <a:xfrm>
            <a:off x="10436375" y="24137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2" name="Google Shape;122;p1"/>
          <p:cNvCxnSpPr>
            <a:stCxn id="75" idx="3"/>
            <a:endCxn id="72" idx="1"/>
          </p:cNvCxnSpPr>
          <p:nvPr/>
        </p:nvCxnSpPr>
        <p:spPr>
          <a:xfrm>
            <a:off x="10436400" y="2978400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3" name="Google Shape;123;p1"/>
          <p:cNvCxnSpPr>
            <a:stCxn id="76" idx="3"/>
            <a:endCxn id="73" idx="1"/>
          </p:cNvCxnSpPr>
          <p:nvPr/>
        </p:nvCxnSpPr>
        <p:spPr>
          <a:xfrm>
            <a:off x="10436325" y="350457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4" name="Google Shape;124;p1"/>
          <p:cNvCxnSpPr>
            <a:stCxn id="90" idx="3"/>
            <a:endCxn id="98" idx="1"/>
          </p:cNvCxnSpPr>
          <p:nvPr/>
        </p:nvCxnSpPr>
        <p:spPr>
          <a:xfrm>
            <a:off x="10404350" y="4632288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5" name="Google Shape;125;p1"/>
          <p:cNvCxnSpPr>
            <a:stCxn id="92" idx="3"/>
            <a:endCxn id="99" idx="1"/>
          </p:cNvCxnSpPr>
          <p:nvPr/>
        </p:nvCxnSpPr>
        <p:spPr>
          <a:xfrm>
            <a:off x="10404275" y="506086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6" name="Google Shape;126;p1"/>
          <p:cNvCxnSpPr>
            <a:stCxn id="91" idx="3"/>
            <a:endCxn id="100" idx="1"/>
          </p:cNvCxnSpPr>
          <p:nvPr/>
        </p:nvCxnSpPr>
        <p:spPr>
          <a:xfrm>
            <a:off x="10404275" y="5514613"/>
            <a:ext cx="5409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7" name="Google Shape;127;p1"/>
          <p:cNvCxnSpPr>
            <a:stCxn id="94" idx="3"/>
            <a:endCxn id="101" idx="1"/>
          </p:cNvCxnSpPr>
          <p:nvPr/>
        </p:nvCxnSpPr>
        <p:spPr>
          <a:xfrm>
            <a:off x="10415150" y="59913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8" name="Google Shape;128;p1"/>
          <p:cNvCxnSpPr>
            <a:stCxn id="96" idx="3"/>
            <a:endCxn id="102" idx="1"/>
          </p:cNvCxnSpPr>
          <p:nvPr/>
        </p:nvCxnSpPr>
        <p:spPr>
          <a:xfrm>
            <a:off x="10415175" y="65564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9" name="Google Shape;129;p1"/>
          <p:cNvCxnSpPr>
            <a:stCxn id="105" idx="3"/>
            <a:endCxn id="103" idx="1"/>
          </p:cNvCxnSpPr>
          <p:nvPr/>
        </p:nvCxnSpPr>
        <p:spPr>
          <a:xfrm>
            <a:off x="10415100" y="7082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30" name="Google Shape;130;p1"/>
          <p:cNvCxnSpPr>
            <a:stCxn id="97" idx="3"/>
            <a:endCxn id="104" idx="1"/>
          </p:cNvCxnSpPr>
          <p:nvPr/>
        </p:nvCxnSpPr>
        <p:spPr>
          <a:xfrm>
            <a:off x="10441050" y="9152138"/>
            <a:ext cx="504300" cy="69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131" name="Google Shape;131;p1"/>
          <p:cNvSpPr txBox="1"/>
          <p:nvPr/>
        </p:nvSpPr>
        <p:spPr>
          <a:xfrm>
            <a:off x="80325" y="9500113"/>
            <a:ext cx="1105800" cy="3657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Deletion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(Single exon to full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400"/>
            </a:pPr>
            <a:endParaRPr/>
          </a:p>
        </p:txBody>
      </p:sp>
      <p:sp>
        <p:nvSpPr>
          <p:cNvPr id="132" name="Google Shape;132;p1"/>
          <p:cNvSpPr/>
          <p:nvPr/>
        </p:nvSpPr>
        <p:spPr>
          <a:xfrm>
            <a:off x="1701200" y="999953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sp>
        <p:nvSpPr>
          <p:cNvPr id="133" name="Google Shape;133;p1"/>
          <p:cNvSpPr/>
          <p:nvPr/>
        </p:nvSpPr>
        <p:spPr>
          <a:xfrm>
            <a:off x="1701200" y="12165488"/>
            <a:ext cx="2327100" cy="802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Preserves reading frame</a:t>
            </a:r>
            <a:endParaRPr/>
          </a:p>
        </p:txBody>
      </p:sp>
      <p:sp>
        <p:nvSpPr>
          <p:cNvPr id="134" name="Google Shape;134;p1"/>
          <p:cNvSpPr/>
          <p:nvPr/>
        </p:nvSpPr>
        <p:spPr>
          <a:xfrm>
            <a:off x="1701200" y="9515088"/>
            <a:ext cx="23271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Full gene deletion</a:t>
            </a:r>
            <a:endParaRPr/>
          </a:p>
        </p:txBody>
      </p:sp>
      <p:sp>
        <p:nvSpPr>
          <p:cNvPr id="135" name="Google Shape;135;p1"/>
          <p:cNvSpPr/>
          <p:nvPr/>
        </p:nvSpPr>
        <p:spPr>
          <a:xfrm>
            <a:off x="4572975" y="9923338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</a:endParaRPr>
          </a:p>
        </p:txBody>
      </p:sp>
      <p:sp>
        <p:nvSpPr>
          <p:cNvPr id="136" name="Google Shape;136;p1"/>
          <p:cNvSpPr/>
          <p:nvPr/>
        </p:nvSpPr>
        <p:spPr>
          <a:xfrm>
            <a:off x="4544400" y="10805663"/>
            <a:ext cx="58965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 (none specified)</a:t>
            </a:r>
            <a:endParaRPr baseline="30000" dirty="0"/>
          </a:p>
        </p:txBody>
      </p:sp>
      <p:sp>
        <p:nvSpPr>
          <p:cNvPr id="137" name="Google Shape;137;p1"/>
          <p:cNvSpPr/>
          <p:nvPr/>
        </p:nvSpPr>
        <p:spPr>
          <a:xfrm>
            <a:off x="4572900" y="10351913"/>
            <a:ext cx="5868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Exon is absent from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8" name="Google Shape;138;p1"/>
          <p:cNvSpPr/>
          <p:nvPr/>
        </p:nvSpPr>
        <p:spPr>
          <a:xfrm>
            <a:off x="4572975" y="11180113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 dirty="0"/>
          </a:p>
        </p:txBody>
      </p:sp>
      <p:sp>
        <p:nvSpPr>
          <p:cNvPr id="139" name="Google Shape;139;p1"/>
          <p:cNvSpPr/>
          <p:nvPr/>
        </p:nvSpPr>
        <p:spPr>
          <a:xfrm>
            <a:off x="6217275" y="111900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</a:t>
            </a:r>
            <a:endParaRPr dirty="0"/>
          </a:p>
        </p:txBody>
      </p:sp>
      <p:sp>
        <p:nvSpPr>
          <p:cNvPr id="140" name="Google Shape;140;p1"/>
          <p:cNvSpPr/>
          <p:nvPr/>
        </p:nvSpPr>
        <p:spPr>
          <a:xfrm>
            <a:off x="10945225" y="95150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 </a:t>
            </a:r>
            <a:r>
              <a:rPr lang="en" sz="1200" baseline="30000">
                <a:latin typeface="Times New Roman"/>
                <a:ea typeface="Times New Roman"/>
                <a:cs typeface="Times New Roman"/>
                <a:sym typeface="Times New Roman"/>
              </a:rPr>
              <a:t>d</a:t>
            </a:r>
            <a:endParaRPr baseline="30000"/>
          </a:p>
        </p:txBody>
      </p:sp>
      <p:sp>
        <p:nvSpPr>
          <p:cNvPr id="141" name="Google Shape;141;p1"/>
          <p:cNvSpPr/>
          <p:nvPr/>
        </p:nvSpPr>
        <p:spPr>
          <a:xfrm>
            <a:off x="4544400" y="128235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Truncated/altered region is critical to protein function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 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(none specified)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2" name="Google Shape;142;p1"/>
          <p:cNvSpPr/>
          <p:nvPr/>
        </p:nvSpPr>
        <p:spPr>
          <a:xfrm>
            <a:off x="10945225" y="99233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43" name="Google Shape;143;p1"/>
          <p:cNvSpPr/>
          <p:nvPr/>
        </p:nvSpPr>
        <p:spPr>
          <a:xfrm>
            <a:off x="10945225" y="103519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4" name="Google Shape;144;p1"/>
          <p:cNvSpPr/>
          <p:nvPr/>
        </p:nvSpPr>
        <p:spPr>
          <a:xfrm>
            <a:off x="10945225" y="1080566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5" name="Google Shape;145;p1"/>
          <p:cNvSpPr/>
          <p:nvPr/>
        </p:nvSpPr>
        <p:spPr>
          <a:xfrm>
            <a:off x="10945225" y="112351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46" name="Google Shape;146;p1"/>
          <p:cNvSpPr/>
          <p:nvPr/>
        </p:nvSpPr>
        <p:spPr>
          <a:xfrm>
            <a:off x="10945225" y="118237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47" name="Google Shape;147;p1"/>
          <p:cNvSpPr/>
          <p:nvPr/>
        </p:nvSpPr>
        <p:spPr>
          <a:xfrm>
            <a:off x="10945225" y="123263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148" name="Google Shape;148;p1"/>
          <p:cNvSpPr/>
          <p:nvPr/>
        </p:nvSpPr>
        <p:spPr>
          <a:xfrm>
            <a:off x="10945225" y="128235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 strike="sngStrike" dirty="0"/>
          </a:p>
        </p:txBody>
      </p:sp>
      <p:sp>
        <p:nvSpPr>
          <p:cNvPr id="149" name="Google Shape;149;p1"/>
          <p:cNvSpPr txBox="1"/>
          <p:nvPr/>
        </p:nvSpPr>
        <p:spPr>
          <a:xfrm>
            <a:off x="80325" y="13346663"/>
            <a:ext cx="1105800" cy="14811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Duplication</a:t>
            </a:r>
            <a:endParaRPr sz="1200" b="1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algn="ctr">
              <a:buSzPts val="1000"/>
            </a:pPr>
            <a:r>
              <a:rPr lang="en" sz="1000">
                <a:latin typeface="Times New Roman"/>
                <a:ea typeface="Times New Roman"/>
                <a:cs typeface="Times New Roman"/>
                <a:sym typeface="Times New Roman"/>
              </a:rPr>
              <a:t>(≥1 exon in size and must be completely contained within gene)</a:t>
            </a:r>
            <a:endParaRPr sz="1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0" name="Google Shape;150;p1"/>
          <p:cNvSpPr/>
          <p:nvPr/>
        </p:nvSpPr>
        <p:spPr>
          <a:xfrm>
            <a:off x="1701200" y="13313713"/>
            <a:ext cx="23271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in tandem</a:t>
            </a:r>
            <a:endParaRPr/>
          </a:p>
        </p:txBody>
      </p:sp>
      <p:sp>
        <p:nvSpPr>
          <p:cNvPr id="151" name="Google Shape;151;p1"/>
          <p:cNvSpPr/>
          <p:nvPr/>
        </p:nvSpPr>
        <p:spPr>
          <a:xfrm>
            <a:off x="1701200" y="13832813"/>
            <a:ext cx="2327100" cy="4500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Presumed in tandem</a:t>
            </a:r>
            <a:endParaRPr/>
          </a:p>
        </p:txBody>
      </p:sp>
      <p:sp>
        <p:nvSpPr>
          <p:cNvPr id="152" name="Google Shape;152;p1"/>
          <p:cNvSpPr/>
          <p:nvPr/>
        </p:nvSpPr>
        <p:spPr>
          <a:xfrm>
            <a:off x="1701200" y="14329613"/>
            <a:ext cx="23271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Proven not in tandem</a:t>
            </a:r>
            <a:endParaRPr/>
          </a:p>
        </p:txBody>
      </p:sp>
      <p:sp>
        <p:nvSpPr>
          <p:cNvPr id="153" name="Google Shape;153;p1"/>
          <p:cNvSpPr/>
          <p:nvPr/>
        </p:nvSpPr>
        <p:spPr>
          <a:xfrm>
            <a:off x="4533725" y="13312551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disrupted and NMD predicted to occur</a:t>
            </a:r>
            <a:endParaRPr/>
          </a:p>
        </p:txBody>
      </p:sp>
      <p:sp>
        <p:nvSpPr>
          <p:cNvPr id="154" name="Google Shape;154;p1"/>
          <p:cNvSpPr/>
          <p:nvPr/>
        </p:nvSpPr>
        <p:spPr>
          <a:xfrm>
            <a:off x="4533625" y="1367998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 or unknown impact on reading frame and NMD predicted to occur</a:t>
            </a:r>
            <a:endParaRPr dirty="0"/>
          </a:p>
        </p:txBody>
      </p:sp>
      <p:sp>
        <p:nvSpPr>
          <p:cNvPr id="155" name="Google Shape;155;p1"/>
          <p:cNvSpPr/>
          <p:nvPr/>
        </p:nvSpPr>
        <p:spPr>
          <a:xfrm>
            <a:off x="4533750" y="14079638"/>
            <a:ext cx="59073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Reading frame presumed disrupted and NMD predicted to occur</a:t>
            </a:r>
            <a:endParaRPr/>
          </a:p>
        </p:txBody>
      </p:sp>
      <p:sp>
        <p:nvSpPr>
          <p:cNvPr id="156" name="Google Shape;156;p1"/>
          <p:cNvSpPr/>
          <p:nvPr/>
        </p:nvSpPr>
        <p:spPr>
          <a:xfrm>
            <a:off x="10945225" y="13312551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</a:t>
            </a:r>
            <a:endParaRPr/>
          </a:p>
        </p:txBody>
      </p:sp>
      <p:sp>
        <p:nvSpPr>
          <p:cNvPr id="157" name="Google Shape;157;p1"/>
          <p:cNvSpPr/>
          <p:nvPr/>
        </p:nvSpPr>
        <p:spPr>
          <a:xfrm>
            <a:off x="10945225" y="13679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58" name="Google Shape;158;p1"/>
          <p:cNvSpPr/>
          <p:nvPr/>
        </p:nvSpPr>
        <p:spPr>
          <a:xfrm>
            <a:off x="10945225" y="140796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159" name="Google Shape;159;p1"/>
          <p:cNvSpPr/>
          <p:nvPr/>
        </p:nvSpPr>
        <p:spPr>
          <a:xfrm>
            <a:off x="10945225" y="14422013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160" name="Google Shape;160;p1"/>
          <p:cNvSpPr txBox="1"/>
          <p:nvPr/>
        </p:nvSpPr>
        <p:spPr>
          <a:xfrm>
            <a:off x="80325" y="15017011"/>
            <a:ext cx="1105800" cy="10758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b="1" dirty="0">
                <a:latin typeface="Times New Roman"/>
                <a:ea typeface="Times New Roman"/>
                <a:cs typeface="Times New Roman"/>
                <a:sym typeface="Times New Roman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Initiation Codon</a:t>
            </a:r>
            <a:endParaRPr b="1" dirty="0"/>
          </a:p>
        </p:txBody>
      </p:sp>
      <p:sp>
        <p:nvSpPr>
          <p:cNvPr id="161" name="Google Shape;161;p1"/>
          <p:cNvSpPr/>
          <p:nvPr/>
        </p:nvSpPr>
        <p:spPr>
          <a:xfrm>
            <a:off x="1659400" y="15633488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Different functional transcript uses alternative start codon</a:t>
            </a:r>
            <a:endParaRPr strike="sngStrike" dirty="0"/>
          </a:p>
        </p:txBody>
      </p:sp>
      <p:sp>
        <p:nvSpPr>
          <p:cNvPr id="162" name="Google Shape;162;p1"/>
          <p:cNvSpPr/>
          <p:nvPr/>
        </p:nvSpPr>
        <p:spPr>
          <a:xfrm>
            <a:off x="1659400" y="15040863"/>
            <a:ext cx="2327100" cy="555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No known alternative start codon in other transcripts</a:t>
            </a:r>
            <a:endParaRPr/>
          </a:p>
        </p:txBody>
      </p:sp>
      <p:sp>
        <p:nvSpPr>
          <p:cNvPr id="163" name="Google Shape;163;p1"/>
          <p:cNvSpPr/>
          <p:nvPr/>
        </p:nvSpPr>
        <p:spPr>
          <a:xfrm>
            <a:off x="4533801" y="15045388"/>
            <a:ext cx="57816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≥1 pathogenic variant(s) upstream of closest potential in-frame start codon</a:t>
            </a:r>
            <a:endParaRPr sz="1000" strike="sngStrike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4" name="Google Shape;164;p1"/>
          <p:cNvSpPr/>
          <p:nvPr/>
        </p:nvSpPr>
        <p:spPr>
          <a:xfrm>
            <a:off x="4533800" y="15423388"/>
            <a:ext cx="5762700" cy="274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No pathogenic variant(s) upstream of closest potential in-frame start codon</a:t>
            </a:r>
            <a:endParaRPr sz="100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"/>
          <p:cNvSpPr/>
          <p:nvPr/>
        </p:nvSpPr>
        <p:spPr>
          <a:xfrm>
            <a:off x="10945225" y="154220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dirty="0"/>
          </a:p>
        </p:txBody>
      </p:sp>
      <p:sp>
        <p:nvSpPr>
          <p:cNvPr id="166" name="Google Shape;166;p1"/>
          <p:cNvSpPr/>
          <p:nvPr/>
        </p:nvSpPr>
        <p:spPr>
          <a:xfrm>
            <a:off x="10945225" y="1504173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 strike="sngStrike" dirty="0"/>
          </a:p>
        </p:txBody>
      </p:sp>
      <p:sp>
        <p:nvSpPr>
          <p:cNvPr id="167" name="Google Shape;167;p1"/>
          <p:cNvSpPr/>
          <p:nvPr/>
        </p:nvSpPr>
        <p:spPr>
          <a:xfrm>
            <a:off x="10945225" y="15772988"/>
            <a:ext cx="1281000" cy="276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strike="sngStrike" dirty="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 strike="sngStrike" dirty="0"/>
          </a:p>
        </p:txBody>
      </p:sp>
      <p:sp>
        <p:nvSpPr>
          <p:cNvPr id="168" name="Google Shape;168;p1"/>
          <p:cNvSpPr/>
          <p:nvPr/>
        </p:nvSpPr>
        <p:spPr>
          <a:xfrm>
            <a:off x="1680250" y="11029663"/>
            <a:ext cx="2327100" cy="91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Single to multi exon deletion – </a:t>
            </a:r>
            <a:endParaRPr/>
          </a:p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Disrupts reading frame and is </a:t>
            </a:r>
            <a:r>
              <a:rPr lang="en" sz="1200" b="1">
                <a:latin typeface="Times New Roman"/>
                <a:ea typeface="Times New Roman"/>
                <a:cs typeface="Times New Roman"/>
                <a:sym typeface="Times New Roman"/>
              </a:rPr>
              <a:t>NOT</a:t>
            </a: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 predicted to undergo NMD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200" baseline="30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</a:t>
            </a:r>
            <a:endParaRPr/>
          </a:p>
        </p:txBody>
      </p:sp>
      <p:cxnSp>
        <p:nvCxnSpPr>
          <p:cNvPr id="169" name="Google Shape;169;p1"/>
          <p:cNvCxnSpPr>
            <a:stCxn id="131" idx="3"/>
            <a:endCxn id="134" idx="1"/>
          </p:cNvCxnSpPr>
          <p:nvPr/>
        </p:nvCxnSpPr>
        <p:spPr>
          <a:xfrm rot="10800000" flipH="1">
            <a:off x="1186125" y="9653563"/>
            <a:ext cx="515100" cy="1675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0" name="Google Shape;170;p1"/>
          <p:cNvCxnSpPr>
            <a:stCxn id="131" idx="3"/>
            <a:endCxn id="132" idx="1"/>
          </p:cNvCxnSpPr>
          <p:nvPr/>
        </p:nvCxnSpPr>
        <p:spPr>
          <a:xfrm rot="10800000" flipH="1">
            <a:off x="1186125" y="10400863"/>
            <a:ext cx="515100" cy="927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1" name="Google Shape;171;p1"/>
          <p:cNvCxnSpPr>
            <a:stCxn id="131" idx="3"/>
            <a:endCxn id="168" idx="1"/>
          </p:cNvCxnSpPr>
          <p:nvPr/>
        </p:nvCxnSpPr>
        <p:spPr>
          <a:xfrm>
            <a:off x="1186125" y="11328763"/>
            <a:ext cx="494100" cy="156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2" name="Google Shape;172;p1"/>
          <p:cNvCxnSpPr>
            <a:stCxn id="131" idx="3"/>
            <a:endCxn id="133" idx="1"/>
          </p:cNvCxnSpPr>
          <p:nvPr/>
        </p:nvCxnSpPr>
        <p:spPr>
          <a:xfrm>
            <a:off x="1186125" y="11328763"/>
            <a:ext cx="515100" cy="1238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3" name="Google Shape;173;p1"/>
          <p:cNvCxnSpPr>
            <a:stCxn id="134" idx="3"/>
            <a:endCxn id="140" idx="1"/>
          </p:cNvCxnSpPr>
          <p:nvPr/>
        </p:nvCxnSpPr>
        <p:spPr>
          <a:xfrm>
            <a:off x="4028300" y="9653538"/>
            <a:ext cx="6916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4" name="Google Shape;174;p1"/>
          <p:cNvCxnSpPr>
            <a:stCxn id="132" idx="3"/>
            <a:endCxn id="135" idx="1"/>
          </p:cNvCxnSpPr>
          <p:nvPr/>
        </p:nvCxnSpPr>
        <p:spPr>
          <a:xfrm rot="10800000" flipH="1">
            <a:off x="4028300" y="10061788"/>
            <a:ext cx="544800" cy="3390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5" name="Google Shape;175;p1"/>
          <p:cNvCxnSpPr>
            <a:stCxn id="132" idx="3"/>
            <a:endCxn id="137" idx="1"/>
          </p:cNvCxnSpPr>
          <p:nvPr/>
        </p:nvCxnSpPr>
        <p:spPr>
          <a:xfrm>
            <a:off x="4028300" y="10400788"/>
            <a:ext cx="544500" cy="89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6" name="Google Shape;176;p1"/>
          <p:cNvCxnSpPr>
            <a:stCxn id="168" idx="3"/>
            <a:endCxn id="136" idx="1"/>
          </p:cNvCxnSpPr>
          <p:nvPr/>
        </p:nvCxnSpPr>
        <p:spPr>
          <a:xfrm rot="10800000" flipH="1">
            <a:off x="4007350" y="10944163"/>
            <a:ext cx="537000" cy="540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7" name="Google Shape;177;p1"/>
          <p:cNvCxnSpPr>
            <a:stCxn id="168" idx="3"/>
            <a:endCxn id="138" idx="1"/>
          </p:cNvCxnSpPr>
          <p:nvPr/>
        </p:nvCxnSpPr>
        <p:spPr>
          <a:xfrm>
            <a:off x="4007350" y="11484763"/>
            <a:ext cx="565500" cy="4746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8" name="Google Shape;178;p1"/>
          <p:cNvCxnSpPr>
            <a:stCxn id="133" idx="3"/>
            <a:endCxn id="138" idx="1"/>
          </p:cNvCxnSpPr>
          <p:nvPr/>
        </p:nvCxnSpPr>
        <p:spPr>
          <a:xfrm rot="10800000" flipH="1">
            <a:off x="4028300" y="11959238"/>
            <a:ext cx="544800" cy="6075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79" name="Google Shape;179;p1"/>
          <p:cNvCxnSpPr>
            <a:stCxn id="133" idx="3"/>
            <a:endCxn id="141" idx="1"/>
          </p:cNvCxnSpPr>
          <p:nvPr/>
        </p:nvCxnSpPr>
        <p:spPr>
          <a:xfrm>
            <a:off x="4028300" y="12566738"/>
            <a:ext cx="516000" cy="395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0" name="Google Shape;180;p1"/>
          <p:cNvCxnSpPr>
            <a:stCxn id="138" idx="3"/>
            <a:endCxn id="139" idx="1"/>
          </p:cNvCxnSpPr>
          <p:nvPr/>
        </p:nvCxnSpPr>
        <p:spPr>
          <a:xfrm rot="10800000" flipH="1">
            <a:off x="5653875" y="11421013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1" name="Google Shape;181;p1"/>
          <p:cNvCxnSpPr>
            <a:stCxn id="138" idx="3"/>
          </p:cNvCxnSpPr>
          <p:nvPr/>
        </p:nvCxnSpPr>
        <p:spPr>
          <a:xfrm>
            <a:off x="5653875" y="119592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2" name="Google Shape;182;p1"/>
          <p:cNvCxnSpPr>
            <a:stCxn id="135" idx="3"/>
            <a:endCxn id="142" idx="1"/>
          </p:cNvCxnSpPr>
          <p:nvPr/>
        </p:nvCxnSpPr>
        <p:spPr>
          <a:xfrm>
            <a:off x="10440975" y="100617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3" name="Google Shape;183;p1"/>
          <p:cNvCxnSpPr>
            <a:stCxn id="137" idx="3"/>
            <a:endCxn id="143" idx="1"/>
          </p:cNvCxnSpPr>
          <p:nvPr/>
        </p:nvCxnSpPr>
        <p:spPr>
          <a:xfrm>
            <a:off x="10440900" y="1049036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4" name="Google Shape;184;p1"/>
          <p:cNvCxnSpPr>
            <a:stCxn id="136" idx="3"/>
            <a:endCxn id="144" idx="1"/>
          </p:cNvCxnSpPr>
          <p:nvPr/>
        </p:nvCxnSpPr>
        <p:spPr>
          <a:xfrm>
            <a:off x="10440900" y="10944113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5" name="Google Shape;185;p1"/>
          <p:cNvCxnSpPr>
            <a:stCxn id="139" idx="3"/>
            <a:endCxn id="145" idx="1"/>
          </p:cNvCxnSpPr>
          <p:nvPr/>
        </p:nvCxnSpPr>
        <p:spPr>
          <a:xfrm>
            <a:off x="10451775" y="114208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6" name="Google Shape;186;p1"/>
          <p:cNvCxnSpPr>
            <a:stCxn id="141" idx="3"/>
            <a:endCxn id="148" idx="1"/>
          </p:cNvCxnSpPr>
          <p:nvPr/>
        </p:nvCxnSpPr>
        <p:spPr>
          <a:xfrm>
            <a:off x="10451700" y="1296203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7" name="Google Shape;187;p1"/>
          <p:cNvCxnSpPr>
            <a:stCxn id="149" idx="3"/>
            <a:endCxn id="150" idx="1"/>
          </p:cNvCxnSpPr>
          <p:nvPr/>
        </p:nvCxnSpPr>
        <p:spPr>
          <a:xfrm rot="10800000" flipH="1">
            <a:off x="1186125" y="13499513"/>
            <a:ext cx="515100" cy="5877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8" name="Google Shape;188;p1"/>
          <p:cNvCxnSpPr>
            <a:stCxn id="149" idx="3"/>
            <a:endCxn id="151" idx="1"/>
          </p:cNvCxnSpPr>
          <p:nvPr/>
        </p:nvCxnSpPr>
        <p:spPr>
          <a:xfrm rot="10800000" flipH="1">
            <a:off x="1186125" y="14057813"/>
            <a:ext cx="515100" cy="2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89" name="Google Shape;189;p1"/>
          <p:cNvCxnSpPr>
            <a:stCxn id="149" idx="3"/>
            <a:endCxn id="152" idx="1"/>
          </p:cNvCxnSpPr>
          <p:nvPr/>
        </p:nvCxnSpPr>
        <p:spPr>
          <a:xfrm>
            <a:off x="1186125" y="14087213"/>
            <a:ext cx="515100" cy="473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0" name="Google Shape;190;p1"/>
          <p:cNvCxnSpPr>
            <a:stCxn id="150" idx="3"/>
            <a:endCxn id="154" idx="1"/>
          </p:cNvCxnSpPr>
          <p:nvPr/>
        </p:nvCxnSpPr>
        <p:spPr>
          <a:xfrm>
            <a:off x="4028300" y="13499413"/>
            <a:ext cx="505200" cy="3189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1" name="Google Shape;191;p1"/>
          <p:cNvCxnSpPr>
            <a:stCxn id="151" idx="3"/>
            <a:endCxn id="154" idx="1"/>
          </p:cNvCxnSpPr>
          <p:nvPr/>
        </p:nvCxnSpPr>
        <p:spPr>
          <a:xfrm rot="10800000" flipH="1">
            <a:off x="4028300" y="13818413"/>
            <a:ext cx="505200" cy="239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2" name="Google Shape;192;p1"/>
          <p:cNvCxnSpPr>
            <a:stCxn id="151" idx="3"/>
            <a:endCxn id="155" idx="1"/>
          </p:cNvCxnSpPr>
          <p:nvPr/>
        </p:nvCxnSpPr>
        <p:spPr>
          <a:xfrm>
            <a:off x="4028300" y="14057813"/>
            <a:ext cx="505500" cy="160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3" name="Google Shape;193;p1"/>
          <p:cNvCxnSpPr>
            <a:stCxn id="153" idx="3"/>
            <a:endCxn id="156" idx="1"/>
          </p:cNvCxnSpPr>
          <p:nvPr/>
        </p:nvCxnSpPr>
        <p:spPr>
          <a:xfrm>
            <a:off x="10441025" y="13451001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4" name="Google Shape;194;p1"/>
          <p:cNvCxnSpPr>
            <a:stCxn id="154" idx="3"/>
            <a:endCxn id="157" idx="1"/>
          </p:cNvCxnSpPr>
          <p:nvPr/>
        </p:nvCxnSpPr>
        <p:spPr>
          <a:xfrm>
            <a:off x="10440925" y="1381843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5" name="Google Shape;195;p1"/>
          <p:cNvCxnSpPr>
            <a:stCxn id="155" idx="3"/>
            <a:endCxn id="158" idx="1"/>
          </p:cNvCxnSpPr>
          <p:nvPr/>
        </p:nvCxnSpPr>
        <p:spPr>
          <a:xfrm>
            <a:off x="10441050" y="14218088"/>
            <a:ext cx="5043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6" name="Google Shape;196;p1"/>
          <p:cNvCxnSpPr>
            <a:stCxn id="162" idx="3"/>
            <a:endCxn id="163" idx="1"/>
          </p:cNvCxnSpPr>
          <p:nvPr/>
        </p:nvCxnSpPr>
        <p:spPr>
          <a:xfrm rot="10800000" flipH="1">
            <a:off x="3986500" y="15182613"/>
            <a:ext cx="547200" cy="136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7" name="Google Shape;197;p1"/>
          <p:cNvCxnSpPr>
            <a:stCxn id="162" idx="3"/>
            <a:endCxn id="164" idx="1"/>
          </p:cNvCxnSpPr>
          <p:nvPr/>
        </p:nvCxnSpPr>
        <p:spPr>
          <a:xfrm>
            <a:off x="3986500" y="15318813"/>
            <a:ext cx="547200" cy="241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8" name="Google Shape;198;p1"/>
          <p:cNvCxnSpPr>
            <a:stCxn id="161" idx="3"/>
            <a:endCxn id="167" idx="1"/>
          </p:cNvCxnSpPr>
          <p:nvPr/>
        </p:nvCxnSpPr>
        <p:spPr>
          <a:xfrm>
            <a:off x="3986500" y="15911438"/>
            <a:ext cx="69588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99" name="Google Shape;199;p1"/>
          <p:cNvCxnSpPr>
            <a:stCxn id="163" idx="3"/>
            <a:endCxn id="166" idx="1"/>
          </p:cNvCxnSpPr>
          <p:nvPr/>
        </p:nvCxnSpPr>
        <p:spPr>
          <a:xfrm rot="10800000" flipH="1">
            <a:off x="10315401" y="15180088"/>
            <a:ext cx="629700" cy="2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0" name="Google Shape;200;p1"/>
          <p:cNvCxnSpPr>
            <a:stCxn id="164" idx="3"/>
            <a:endCxn id="165" idx="1"/>
          </p:cNvCxnSpPr>
          <p:nvPr/>
        </p:nvCxnSpPr>
        <p:spPr>
          <a:xfrm>
            <a:off x="10296500" y="15560488"/>
            <a:ext cx="648600" cy="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1" name="Google Shape;201;p1"/>
          <p:cNvCxnSpPr>
            <a:stCxn id="160" idx="3"/>
            <a:endCxn id="162" idx="1"/>
          </p:cNvCxnSpPr>
          <p:nvPr/>
        </p:nvCxnSpPr>
        <p:spPr>
          <a:xfrm rot="10800000" flipH="1">
            <a:off x="1186125" y="15318811"/>
            <a:ext cx="473400" cy="236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2" name="Google Shape;202;p1"/>
          <p:cNvCxnSpPr>
            <a:stCxn id="160" idx="3"/>
            <a:endCxn id="161" idx="1"/>
          </p:cNvCxnSpPr>
          <p:nvPr/>
        </p:nvCxnSpPr>
        <p:spPr>
          <a:xfrm>
            <a:off x="1186125" y="15554911"/>
            <a:ext cx="473400" cy="3564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03" name="Google Shape;203;p1"/>
          <p:cNvSpPr/>
          <p:nvPr/>
        </p:nvSpPr>
        <p:spPr>
          <a:xfrm>
            <a:off x="6217275" y="117595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"/>
          <p:cNvSpPr/>
          <p:nvPr/>
        </p:nvSpPr>
        <p:spPr>
          <a:xfrm>
            <a:off x="9220300" y="117595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05" name="Google Shape;205;p1"/>
          <p:cNvSpPr/>
          <p:nvPr/>
        </p:nvSpPr>
        <p:spPr>
          <a:xfrm>
            <a:off x="9220225" y="122857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06" name="Google Shape;206;p1"/>
          <p:cNvCxnSpPr>
            <a:stCxn id="203" idx="3"/>
            <a:endCxn id="204" idx="1"/>
          </p:cNvCxnSpPr>
          <p:nvPr/>
        </p:nvCxnSpPr>
        <p:spPr>
          <a:xfrm rot="10800000" flipH="1">
            <a:off x="8835375" y="119859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7" name="Google Shape;207;p1"/>
          <p:cNvCxnSpPr>
            <a:stCxn id="203" idx="3"/>
            <a:endCxn id="205" idx="1"/>
          </p:cNvCxnSpPr>
          <p:nvPr/>
        </p:nvCxnSpPr>
        <p:spPr>
          <a:xfrm>
            <a:off x="8835375" y="122490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8" name="Google Shape;208;p1"/>
          <p:cNvCxnSpPr>
            <a:stCxn id="204" idx="3"/>
            <a:endCxn id="146" idx="1"/>
          </p:cNvCxnSpPr>
          <p:nvPr/>
        </p:nvCxnSpPr>
        <p:spPr>
          <a:xfrm>
            <a:off x="10451800" y="11985913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09" name="Google Shape;209;p1"/>
          <p:cNvCxnSpPr>
            <a:stCxn id="205" idx="3"/>
            <a:endCxn id="147" idx="1"/>
          </p:cNvCxnSpPr>
          <p:nvPr/>
        </p:nvCxnSpPr>
        <p:spPr>
          <a:xfrm>
            <a:off x="10451725" y="12512088"/>
            <a:ext cx="4935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210" name="Google Shape;210;p1"/>
          <p:cNvSpPr/>
          <p:nvPr/>
        </p:nvSpPr>
        <p:spPr>
          <a:xfrm>
            <a:off x="4536350" y="7372451"/>
            <a:ext cx="1080900" cy="1558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Role of region in protein function is unknown</a:t>
            </a:r>
            <a:endParaRPr/>
          </a:p>
        </p:txBody>
      </p:sp>
      <p:sp>
        <p:nvSpPr>
          <p:cNvPr id="211" name="Google Shape;211;p1"/>
          <p:cNvSpPr/>
          <p:nvPr/>
        </p:nvSpPr>
        <p:spPr>
          <a:xfrm>
            <a:off x="6180650" y="7360738"/>
            <a:ext cx="4234500" cy="46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frequent in the general population and/or exon is absent from biologically relevant transcript(s) </a:t>
            </a:r>
            <a:endParaRPr dirty="0"/>
          </a:p>
        </p:txBody>
      </p:sp>
      <p:sp>
        <p:nvSpPr>
          <p:cNvPr id="212" name="Google Shape;212;p1"/>
          <p:cNvSpPr/>
          <p:nvPr/>
        </p:nvSpPr>
        <p:spPr>
          <a:xfrm>
            <a:off x="6180650" y="7930263"/>
            <a:ext cx="2618100" cy="9789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 dirty="0">
                <a:latin typeface="Times New Roman"/>
                <a:ea typeface="Times New Roman"/>
                <a:cs typeface="Times New Roman"/>
                <a:sym typeface="Times New Roman"/>
              </a:rPr>
              <a:t>LoF variants in this exon are not frequent in the general population and exon is present in biologically relevant transcript(s)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(</a:t>
            </a:r>
            <a:r>
              <a:rPr lang="en-US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NM_000337.6</a:t>
            </a:r>
            <a:r>
              <a:rPr lang="en" sz="1200" dirty="0">
                <a:solidFill>
                  <a:schemeClr val="tx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 sz="1200" dirty="0">
              <a:solidFill>
                <a:schemeClr val="tx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3" name="Google Shape;213;p1"/>
          <p:cNvSpPr/>
          <p:nvPr/>
        </p:nvSpPr>
        <p:spPr>
          <a:xfrm>
            <a:off x="9183675" y="7930263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&gt;10% of protein</a:t>
            </a:r>
            <a:endParaRPr/>
          </a:p>
        </p:txBody>
      </p:sp>
      <p:sp>
        <p:nvSpPr>
          <p:cNvPr id="214" name="Google Shape;214;p1"/>
          <p:cNvSpPr/>
          <p:nvPr/>
        </p:nvSpPr>
        <p:spPr>
          <a:xfrm>
            <a:off x="10945225" y="74058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N/A</a:t>
            </a:r>
            <a:endParaRPr/>
          </a:p>
        </p:txBody>
      </p:sp>
      <p:sp>
        <p:nvSpPr>
          <p:cNvPr id="215" name="Google Shape;215;p1"/>
          <p:cNvSpPr/>
          <p:nvPr/>
        </p:nvSpPr>
        <p:spPr>
          <a:xfrm>
            <a:off x="10945225" y="7994463"/>
            <a:ext cx="1281000" cy="324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PVS1_Strong</a:t>
            </a:r>
            <a:endParaRPr/>
          </a:p>
        </p:txBody>
      </p:sp>
      <p:sp>
        <p:nvSpPr>
          <p:cNvPr id="216" name="Google Shape;216;p1"/>
          <p:cNvSpPr/>
          <p:nvPr/>
        </p:nvSpPr>
        <p:spPr>
          <a:xfrm>
            <a:off x="10945225" y="8497088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PVS1_Moderate</a:t>
            </a:r>
            <a:endParaRPr/>
          </a:p>
        </p:txBody>
      </p:sp>
      <p:sp>
        <p:nvSpPr>
          <p:cNvPr id="217" name="Google Shape;217;p1"/>
          <p:cNvSpPr/>
          <p:nvPr/>
        </p:nvSpPr>
        <p:spPr>
          <a:xfrm>
            <a:off x="9183600" y="8456438"/>
            <a:ext cx="1231500" cy="452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Variant removes &lt;10% of protein</a:t>
            </a:r>
            <a:endParaRPr/>
          </a:p>
        </p:txBody>
      </p:sp>
      <p:cxnSp>
        <p:nvCxnSpPr>
          <p:cNvPr id="218" name="Google Shape;218;p1"/>
          <p:cNvCxnSpPr>
            <a:endCxn id="211" idx="1"/>
          </p:cNvCxnSpPr>
          <p:nvPr/>
        </p:nvCxnSpPr>
        <p:spPr>
          <a:xfrm rot="10800000" flipH="1">
            <a:off x="5617250" y="7591588"/>
            <a:ext cx="563400" cy="5382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19" name="Google Shape;219;p1"/>
          <p:cNvCxnSpPr>
            <a:endCxn id="212" idx="1"/>
          </p:cNvCxnSpPr>
          <p:nvPr/>
        </p:nvCxnSpPr>
        <p:spPr>
          <a:xfrm>
            <a:off x="5617250" y="8129913"/>
            <a:ext cx="563400" cy="2898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0" name="Google Shape;220;p1"/>
          <p:cNvCxnSpPr>
            <a:stCxn id="212" idx="3"/>
            <a:endCxn id="213" idx="1"/>
          </p:cNvCxnSpPr>
          <p:nvPr/>
        </p:nvCxnSpPr>
        <p:spPr>
          <a:xfrm rot="10800000" flipH="1">
            <a:off x="8798750" y="81566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1" name="Google Shape;221;p1"/>
          <p:cNvCxnSpPr>
            <a:stCxn id="212" idx="3"/>
            <a:endCxn id="217" idx="1"/>
          </p:cNvCxnSpPr>
          <p:nvPr/>
        </p:nvCxnSpPr>
        <p:spPr>
          <a:xfrm>
            <a:off x="8798750" y="8419713"/>
            <a:ext cx="384900" cy="263100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2" name="Google Shape;222;p1"/>
          <p:cNvCxnSpPr>
            <a:stCxn id="211" idx="3"/>
            <a:endCxn id="214" idx="1"/>
          </p:cNvCxnSpPr>
          <p:nvPr/>
        </p:nvCxnSpPr>
        <p:spPr>
          <a:xfrm>
            <a:off x="10415150" y="75915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3" name="Google Shape;223;p1"/>
          <p:cNvCxnSpPr>
            <a:stCxn id="213" idx="3"/>
            <a:endCxn id="215" idx="1"/>
          </p:cNvCxnSpPr>
          <p:nvPr/>
        </p:nvCxnSpPr>
        <p:spPr>
          <a:xfrm>
            <a:off x="10415175" y="8156613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4" name="Google Shape;224;p1"/>
          <p:cNvCxnSpPr>
            <a:stCxn id="217" idx="3"/>
            <a:endCxn id="216" idx="1"/>
          </p:cNvCxnSpPr>
          <p:nvPr/>
        </p:nvCxnSpPr>
        <p:spPr>
          <a:xfrm>
            <a:off x="10415100" y="8682788"/>
            <a:ext cx="5301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5" name="Google Shape;225;p1"/>
          <p:cNvCxnSpPr>
            <a:stCxn id="89" idx="3"/>
            <a:endCxn id="210" idx="1"/>
          </p:cNvCxnSpPr>
          <p:nvPr/>
        </p:nvCxnSpPr>
        <p:spPr>
          <a:xfrm rot="10800000" flipH="1">
            <a:off x="4028325" y="8151638"/>
            <a:ext cx="507900" cy="1791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6" name="Google Shape;226;p1"/>
          <p:cNvCxnSpPr>
            <a:stCxn id="89" idx="3"/>
            <a:endCxn id="97" idx="1"/>
          </p:cNvCxnSpPr>
          <p:nvPr/>
        </p:nvCxnSpPr>
        <p:spPr>
          <a:xfrm>
            <a:off x="4028325" y="8330738"/>
            <a:ext cx="505500" cy="8214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7" name="Google Shape;227;p1"/>
          <p:cNvCxnSpPr>
            <a:stCxn id="152" idx="3"/>
            <a:endCxn id="159" idx="1"/>
          </p:cNvCxnSpPr>
          <p:nvPr/>
        </p:nvCxnSpPr>
        <p:spPr>
          <a:xfrm>
            <a:off x="4028300" y="14560463"/>
            <a:ext cx="6916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228" name="Google Shape;228;p1"/>
          <p:cNvCxnSpPr>
            <a:stCxn id="150" idx="3"/>
            <a:endCxn id="153" idx="1"/>
          </p:cNvCxnSpPr>
          <p:nvPr/>
        </p:nvCxnSpPr>
        <p:spPr>
          <a:xfrm rot="10800000" flipH="1">
            <a:off x="4028300" y="13451113"/>
            <a:ext cx="505500" cy="48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0B1F3ADF-291C-4323-E6D5-658AF01056F4}"/>
              </a:ext>
            </a:extLst>
          </p:cNvPr>
          <p:cNvSpPr/>
          <p:nvPr/>
        </p:nvSpPr>
        <p:spPr>
          <a:xfrm>
            <a:off x="4557474" y="3842075"/>
            <a:ext cx="5878625" cy="402762"/>
          </a:xfrm>
          <a:prstGeom prst="rect">
            <a:avLst/>
          </a:prstGeom>
          <a:noFill/>
          <a:ln w="952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B8008-3A41-A2E7-854D-BBECF48B83DF}"/>
              </a:ext>
            </a:extLst>
          </p:cNvPr>
          <p:cNvSpPr txBox="1"/>
          <p:nvPr/>
        </p:nvSpPr>
        <p:spPr>
          <a:xfrm>
            <a:off x="4572800" y="3900926"/>
            <a:ext cx="501291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Premature truncation within the first 100 bp (codons 1-34) (PMID: 27618451)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Google Shape;73;p1">
            <a:extLst>
              <a:ext uri="{FF2B5EF4-FFF2-40B4-BE49-F238E27FC236}">
                <a16:creationId xmlns:a16="http://schemas.microsoft.com/office/drawing/2014/main" id="{4A2B60B2-40C2-C2C4-CFAC-98B5C00791FD}"/>
              </a:ext>
            </a:extLst>
          </p:cNvPr>
          <p:cNvSpPr/>
          <p:nvPr/>
        </p:nvSpPr>
        <p:spPr>
          <a:xfrm>
            <a:off x="10945100" y="3855425"/>
            <a:ext cx="1281000" cy="37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SzPts val="1200"/>
            </a:pPr>
            <a:r>
              <a:rPr lang="en" sz="1200">
                <a:latin typeface="Times New Roman"/>
                <a:ea typeface="Times New Roman"/>
                <a:cs typeface="Times New Roman"/>
                <a:sym typeface="Times New Roman"/>
              </a:rPr>
              <a:t>PVS1_Supp</a:t>
            </a:r>
            <a:endParaRPr dirty="0"/>
          </a:p>
        </p:txBody>
      </p:sp>
      <p:cxnSp>
        <p:nvCxnSpPr>
          <p:cNvPr id="9" name="Google Shape;123;p1">
            <a:extLst>
              <a:ext uri="{FF2B5EF4-FFF2-40B4-BE49-F238E27FC236}">
                <a16:creationId xmlns:a16="http://schemas.microsoft.com/office/drawing/2014/main" id="{FB24ED6A-F63F-4D1A-DC0E-DC3DA4BEE604}"/>
              </a:ext>
            </a:extLst>
          </p:cNvPr>
          <p:cNvCxnSpPr>
            <a:endCxn id="8" idx="1"/>
          </p:cNvCxnSpPr>
          <p:nvPr/>
        </p:nvCxnSpPr>
        <p:spPr>
          <a:xfrm>
            <a:off x="10436200" y="4041125"/>
            <a:ext cx="5088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12" name="Google Shape;80;p1">
            <a:extLst>
              <a:ext uri="{FF2B5EF4-FFF2-40B4-BE49-F238E27FC236}">
                <a16:creationId xmlns:a16="http://schemas.microsoft.com/office/drawing/2014/main" id="{B51DCC38-9AA5-3D52-481F-D77DB9F405FE}"/>
              </a:ext>
            </a:extLst>
          </p:cNvPr>
          <p:cNvCxnSpPr>
            <a:cxnSpLocks/>
            <a:stCxn id="62" idx="3"/>
            <a:endCxn id="6" idx="1"/>
          </p:cNvCxnSpPr>
          <p:nvPr/>
        </p:nvCxnSpPr>
        <p:spPr>
          <a:xfrm>
            <a:off x="4038775" y="2873815"/>
            <a:ext cx="518699" cy="1169641"/>
          </a:xfrm>
          <a:prstGeom prst="straightConnector1">
            <a:avLst/>
          </a:prstGeom>
          <a:noFill/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85B5C3E4-0DE0-AD56-7B45-27A67255080C}"/>
              </a:ext>
            </a:extLst>
          </p:cNvPr>
          <p:cNvSpPr txBox="1"/>
          <p:nvPr/>
        </p:nvSpPr>
        <p:spPr>
          <a:xfrm>
            <a:off x="0" y="188588"/>
            <a:ext cx="25362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PVS1 decision tree for SGCD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866</Words>
  <Application>Microsoft Office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Times New Roman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Amanda Clause</dc:creator>
  <cp:lastModifiedBy>Clause, Amanda</cp:lastModifiedBy>
  <cp:revision>7</cp:revision>
  <dcterms:modified xsi:type="dcterms:W3CDTF">2025-06-05T19:53:44Z</dcterms:modified>
</cp:coreProperties>
</file>