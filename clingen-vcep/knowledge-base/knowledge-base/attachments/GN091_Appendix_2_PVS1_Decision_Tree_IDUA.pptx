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3"/>
  </p:notesMasterIdLst>
  <p:sldIdLst>
    <p:sldId id="257" r:id="rId2"/>
  </p:sldIdLst>
  <p:sldSz cx="12344400" cy="150876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872">
          <p15:clr>
            <a:srgbClr val="A4A3A4"/>
          </p15:clr>
        </p15:guide>
        <p15:guide id="2" pos="3888">
          <p15:clr>
            <a:srgbClr val="A4A3A4"/>
          </p15:clr>
        </p15:guide>
      </p15:sldGuideLst>
    </p:ext>
    <p:ext uri="http://customooxmlschemas.google.com/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8" roundtripDataSignature="AMtx7mhE5CM89sIJY3oPbbhw6VH2Sftk+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453" autoAdjust="0"/>
    <p:restoredTop sz="94660"/>
  </p:normalViewPr>
  <p:slideViewPr>
    <p:cSldViewPr snapToGrid="0">
      <p:cViewPr varScale="1">
        <p:scale>
          <a:sx n="28" d="100"/>
          <a:sy n="28" d="100"/>
        </p:scale>
        <p:origin x="1956" y="68"/>
      </p:cViewPr>
      <p:guideLst>
        <p:guide orient="horz" pos="1872"/>
        <p:guide pos="3888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customschemas.google.com/relationships/presentationmetadata" Target="metadata"/><Relationship Id="rId3" Type="http://schemas.openxmlformats.org/officeDocument/2006/relationships/notesMaster" Target="notesMasters/notesMaster1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11" Type="http://schemas.openxmlformats.org/officeDocument/2006/relationships/theme" Target="theme/theme1.xml"/><Relationship Id="rId10" Type="http://schemas.openxmlformats.org/officeDocument/2006/relationships/viewProps" Target="viewProps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2026544" y="685800"/>
            <a:ext cx="28056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2027238" y="685800"/>
            <a:ext cx="2805112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8" name="Google Shape;58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/>
              <a:t>PLEASE NOTE – highlighted areas are where the VCEP should provide guidance for each gene under specification. 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/>
              <a:t>Weights may be adjusted if appropriate (e.g start codon)</a:t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3"/>
          <p:cNvSpPr txBox="1">
            <a:spLocks noGrp="1"/>
          </p:cNvSpPr>
          <p:nvPr>
            <p:ph type="ctrTitle"/>
          </p:nvPr>
        </p:nvSpPr>
        <p:spPr>
          <a:xfrm>
            <a:off x="420806" y="2184087"/>
            <a:ext cx="11502900" cy="602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72700" tIns="172700" rIns="172700" bIns="172700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800"/>
              <a:buNone/>
              <a:defRPr sz="9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800"/>
              <a:buNone/>
              <a:defRPr sz="9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800"/>
              <a:buNone/>
              <a:defRPr sz="9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800"/>
              <a:buNone/>
              <a:defRPr sz="9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800"/>
              <a:buNone/>
              <a:defRPr sz="9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800"/>
              <a:buNone/>
              <a:defRPr sz="9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800"/>
              <a:buNone/>
              <a:defRPr sz="9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800"/>
              <a:buNone/>
              <a:defRPr sz="9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800"/>
              <a:buNone/>
              <a:defRPr sz="9800"/>
            </a:lvl9pPr>
          </a:lstStyle>
          <a:p>
            <a:endParaRPr/>
          </a:p>
        </p:txBody>
      </p:sp>
      <p:sp>
        <p:nvSpPr>
          <p:cNvPr id="11" name="Google Shape;11;p3"/>
          <p:cNvSpPr txBox="1">
            <a:spLocks noGrp="1"/>
          </p:cNvSpPr>
          <p:nvPr>
            <p:ph type="subTitle" idx="1"/>
          </p:nvPr>
        </p:nvSpPr>
        <p:spPr>
          <a:xfrm>
            <a:off x="420795" y="8313433"/>
            <a:ext cx="11502900" cy="232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72700" tIns="172700" rIns="172700" bIns="172700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9pPr>
          </a:lstStyle>
          <a:p>
            <a:endParaRPr/>
          </a:p>
        </p:txBody>
      </p:sp>
      <p:sp>
        <p:nvSpPr>
          <p:cNvPr id="12" name="Google Shape;12;p3"/>
          <p:cNvSpPr txBox="1">
            <a:spLocks noGrp="1"/>
          </p:cNvSpPr>
          <p:nvPr>
            <p:ph type="sldNum" idx="12"/>
          </p:nvPr>
        </p:nvSpPr>
        <p:spPr>
          <a:xfrm>
            <a:off x="11437818" y="13678769"/>
            <a:ext cx="740700" cy="115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72700" tIns="172700" rIns="172700" bIns="172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4"/>
          <p:cNvSpPr txBox="1">
            <a:spLocks noGrp="1"/>
          </p:cNvSpPr>
          <p:nvPr>
            <p:ph type="title"/>
          </p:nvPr>
        </p:nvSpPr>
        <p:spPr>
          <a:xfrm>
            <a:off x="420795" y="6309160"/>
            <a:ext cx="11502900" cy="24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72700" tIns="172700" rIns="172700" bIns="172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800"/>
              <a:buNone/>
              <a:defRPr sz="6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800"/>
              <a:buNone/>
              <a:defRPr sz="6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800"/>
              <a:buNone/>
              <a:defRPr sz="6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800"/>
              <a:buNone/>
              <a:defRPr sz="6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800"/>
              <a:buNone/>
              <a:defRPr sz="6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800"/>
              <a:buNone/>
              <a:defRPr sz="6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800"/>
              <a:buNone/>
              <a:defRPr sz="6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800"/>
              <a:buNone/>
              <a:defRPr sz="6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800"/>
              <a:buNone/>
              <a:defRPr sz="6800"/>
            </a:lvl9pPr>
          </a:lstStyle>
          <a:p>
            <a:endParaRPr/>
          </a:p>
        </p:txBody>
      </p:sp>
      <p:sp>
        <p:nvSpPr>
          <p:cNvPr id="15" name="Google Shape;15;p4"/>
          <p:cNvSpPr txBox="1">
            <a:spLocks noGrp="1"/>
          </p:cNvSpPr>
          <p:nvPr>
            <p:ph type="sldNum" idx="12"/>
          </p:nvPr>
        </p:nvSpPr>
        <p:spPr>
          <a:xfrm>
            <a:off x="11437818" y="13678769"/>
            <a:ext cx="740700" cy="115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72700" tIns="172700" rIns="172700" bIns="172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6"/>
          <p:cNvSpPr txBox="1">
            <a:spLocks noGrp="1"/>
          </p:cNvSpPr>
          <p:nvPr>
            <p:ph type="title"/>
          </p:nvPr>
        </p:nvSpPr>
        <p:spPr>
          <a:xfrm>
            <a:off x="420795" y="1305407"/>
            <a:ext cx="11502900" cy="168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72700" tIns="172700" rIns="172700" bIns="172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3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3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3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3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3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3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3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3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3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6"/>
          <p:cNvSpPr txBox="1">
            <a:spLocks noGrp="1"/>
          </p:cNvSpPr>
          <p:nvPr>
            <p:ph type="body" idx="1"/>
          </p:nvPr>
        </p:nvSpPr>
        <p:spPr>
          <a:xfrm>
            <a:off x="420795" y="3380593"/>
            <a:ext cx="5399700" cy="1002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72700" tIns="172700" rIns="172700" bIns="172700" anchor="t" anchorCtr="0">
            <a:noAutofit/>
          </a:bodyPr>
          <a:lstStyle>
            <a:lvl1pPr marL="457200" lvl="0" indent="-3937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Char char="●"/>
              <a:defRPr sz="2600"/>
            </a:lvl1pPr>
            <a:lvl2pPr marL="914400" lvl="1" indent="-374650" algn="l">
              <a:lnSpc>
                <a:spcPct val="115000"/>
              </a:lnSpc>
              <a:spcBef>
                <a:spcPts val="3000"/>
              </a:spcBef>
              <a:spcAft>
                <a:spcPts val="0"/>
              </a:spcAft>
              <a:buSzPts val="2300"/>
              <a:buChar char="○"/>
              <a:defRPr sz="2300"/>
            </a:lvl2pPr>
            <a:lvl3pPr marL="1371600" lvl="2" indent="-374650" algn="l">
              <a:lnSpc>
                <a:spcPct val="115000"/>
              </a:lnSpc>
              <a:spcBef>
                <a:spcPts val="3000"/>
              </a:spcBef>
              <a:spcAft>
                <a:spcPts val="0"/>
              </a:spcAft>
              <a:buSzPts val="2300"/>
              <a:buChar char="■"/>
              <a:defRPr sz="2300"/>
            </a:lvl3pPr>
            <a:lvl4pPr marL="1828800" lvl="3" indent="-374650" algn="l">
              <a:lnSpc>
                <a:spcPct val="115000"/>
              </a:lnSpc>
              <a:spcBef>
                <a:spcPts val="3000"/>
              </a:spcBef>
              <a:spcAft>
                <a:spcPts val="0"/>
              </a:spcAft>
              <a:buSzPts val="2300"/>
              <a:buChar char="●"/>
              <a:defRPr sz="2300"/>
            </a:lvl4pPr>
            <a:lvl5pPr marL="2286000" lvl="4" indent="-374650" algn="l">
              <a:lnSpc>
                <a:spcPct val="115000"/>
              </a:lnSpc>
              <a:spcBef>
                <a:spcPts val="3000"/>
              </a:spcBef>
              <a:spcAft>
                <a:spcPts val="0"/>
              </a:spcAft>
              <a:buSzPts val="2300"/>
              <a:buChar char="○"/>
              <a:defRPr sz="2300"/>
            </a:lvl5pPr>
            <a:lvl6pPr marL="2743200" lvl="5" indent="-374650" algn="l">
              <a:lnSpc>
                <a:spcPct val="115000"/>
              </a:lnSpc>
              <a:spcBef>
                <a:spcPts val="3000"/>
              </a:spcBef>
              <a:spcAft>
                <a:spcPts val="0"/>
              </a:spcAft>
              <a:buSzPts val="2300"/>
              <a:buChar char="■"/>
              <a:defRPr sz="2300"/>
            </a:lvl6pPr>
            <a:lvl7pPr marL="3200400" lvl="6" indent="-374650" algn="l">
              <a:lnSpc>
                <a:spcPct val="115000"/>
              </a:lnSpc>
              <a:spcBef>
                <a:spcPts val="3000"/>
              </a:spcBef>
              <a:spcAft>
                <a:spcPts val="0"/>
              </a:spcAft>
              <a:buSzPts val="2300"/>
              <a:buChar char="●"/>
              <a:defRPr sz="2300"/>
            </a:lvl7pPr>
            <a:lvl8pPr marL="3657600" lvl="7" indent="-374650" algn="l">
              <a:lnSpc>
                <a:spcPct val="115000"/>
              </a:lnSpc>
              <a:spcBef>
                <a:spcPts val="3000"/>
              </a:spcBef>
              <a:spcAft>
                <a:spcPts val="0"/>
              </a:spcAft>
              <a:buSzPts val="2300"/>
              <a:buChar char="○"/>
              <a:defRPr sz="2300"/>
            </a:lvl8pPr>
            <a:lvl9pPr marL="4114800" lvl="8" indent="-374650" algn="l">
              <a:lnSpc>
                <a:spcPct val="115000"/>
              </a:lnSpc>
              <a:spcBef>
                <a:spcPts val="3000"/>
              </a:spcBef>
              <a:spcAft>
                <a:spcPts val="3000"/>
              </a:spcAft>
              <a:buSzPts val="2300"/>
              <a:buChar char="■"/>
              <a:defRPr sz="2300"/>
            </a:lvl9pPr>
          </a:lstStyle>
          <a:p>
            <a:endParaRPr/>
          </a:p>
        </p:txBody>
      </p:sp>
      <p:sp>
        <p:nvSpPr>
          <p:cNvPr id="23" name="Google Shape;23;p6"/>
          <p:cNvSpPr txBox="1">
            <a:spLocks noGrp="1"/>
          </p:cNvSpPr>
          <p:nvPr>
            <p:ph type="body" idx="2"/>
          </p:nvPr>
        </p:nvSpPr>
        <p:spPr>
          <a:xfrm>
            <a:off x="6523740" y="3380593"/>
            <a:ext cx="5399700" cy="1002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72700" tIns="172700" rIns="172700" bIns="172700" anchor="t" anchorCtr="0">
            <a:noAutofit/>
          </a:bodyPr>
          <a:lstStyle>
            <a:lvl1pPr marL="457200" lvl="0" indent="-3937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Char char="●"/>
              <a:defRPr sz="2600"/>
            </a:lvl1pPr>
            <a:lvl2pPr marL="914400" lvl="1" indent="-374650" algn="l">
              <a:lnSpc>
                <a:spcPct val="115000"/>
              </a:lnSpc>
              <a:spcBef>
                <a:spcPts val="3000"/>
              </a:spcBef>
              <a:spcAft>
                <a:spcPts val="0"/>
              </a:spcAft>
              <a:buSzPts val="2300"/>
              <a:buChar char="○"/>
              <a:defRPr sz="2300"/>
            </a:lvl2pPr>
            <a:lvl3pPr marL="1371600" lvl="2" indent="-374650" algn="l">
              <a:lnSpc>
                <a:spcPct val="115000"/>
              </a:lnSpc>
              <a:spcBef>
                <a:spcPts val="3000"/>
              </a:spcBef>
              <a:spcAft>
                <a:spcPts val="0"/>
              </a:spcAft>
              <a:buSzPts val="2300"/>
              <a:buChar char="■"/>
              <a:defRPr sz="2300"/>
            </a:lvl3pPr>
            <a:lvl4pPr marL="1828800" lvl="3" indent="-374650" algn="l">
              <a:lnSpc>
                <a:spcPct val="115000"/>
              </a:lnSpc>
              <a:spcBef>
                <a:spcPts val="3000"/>
              </a:spcBef>
              <a:spcAft>
                <a:spcPts val="0"/>
              </a:spcAft>
              <a:buSzPts val="2300"/>
              <a:buChar char="●"/>
              <a:defRPr sz="2300"/>
            </a:lvl4pPr>
            <a:lvl5pPr marL="2286000" lvl="4" indent="-374650" algn="l">
              <a:lnSpc>
                <a:spcPct val="115000"/>
              </a:lnSpc>
              <a:spcBef>
                <a:spcPts val="3000"/>
              </a:spcBef>
              <a:spcAft>
                <a:spcPts val="0"/>
              </a:spcAft>
              <a:buSzPts val="2300"/>
              <a:buChar char="○"/>
              <a:defRPr sz="2300"/>
            </a:lvl5pPr>
            <a:lvl6pPr marL="2743200" lvl="5" indent="-374650" algn="l">
              <a:lnSpc>
                <a:spcPct val="115000"/>
              </a:lnSpc>
              <a:spcBef>
                <a:spcPts val="3000"/>
              </a:spcBef>
              <a:spcAft>
                <a:spcPts val="0"/>
              </a:spcAft>
              <a:buSzPts val="2300"/>
              <a:buChar char="■"/>
              <a:defRPr sz="2300"/>
            </a:lvl6pPr>
            <a:lvl7pPr marL="3200400" lvl="6" indent="-374650" algn="l">
              <a:lnSpc>
                <a:spcPct val="115000"/>
              </a:lnSpc>
              <a:spcBef>
                <a:spcPts val="3000"/>
              </a:spcBef>
              <a:spcAft>
                <a:spcPts val="0"/>
              </a:spcAft>
              <a:buSzPts val="2300"/>
              <a:buChar char="●"/>
              <a:defRPr sz="2300"/>
            </a:lvl7pPr>
            <a:lvl8pPr marL="3657600" lvl="7" indent="-374650" algn="l">
              <a:lnSpc>
                <a:spcPct val="115000"/>
              </a:lnSpc>
              <a:spcBef>
                <a:spcPts val="3000"/>
              </a:spcBef>
              <a:spcAft>
                <a:spcPts val="0"/>
              </a:spcAft>
              <a:buSzPts val="2300"/>
              <a:buChar char="○"/>
              <a:defRPr sz="2300"/>
            </a:lvl8pPr>
            <a:lvl9pPr marL="4114800" lvl="8" indent="-374650" algn="l">
              <a:lnSpc>
                <a:spcPct val="115000"/>
              </a:lnSpc>
              <a:spcBef>
                <a:spcPts val="3000"/>
              </a:spcBef>
              <a:spcAft>
                <a:spcPts val="3000"/>
              </a:spcAft>
              <a:buSzPts val="2300"/>
              <a:buChar char="■"/>
              <a:defRPr sz="2300"/>
            </a:lvl9pPr>
          </a:lstStyle>
          <a:p>
            <a:endParaRPr/>
          </a:p>
        </p:txBody>
      </p:sp>
      <p:sp>
        <p:nvSpPr>
          <p:cNvPr id="24" name="Google Shape;24;p6"/>
          <p:cNvSpPr txBox="1">
            <a:spLocks noGrp="1"/>
          </p:cNvSpPr>
          <p:nvPr>
            <p:ph type="sldNum" idx="12"/>
          </p:nvPr>
        </p:nvSpPr>
        <p:spPr>
          <a:xfrm>
            <a:off x="11437818" y="13678769"/>
            <a:ext cx="740700" cy="115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72700" tIns="172700" rIns="172700" bIns="172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7"/>
          <p:cNvSpPr txBox="1">
            <a:spLocks noGrp="1"/>
          </p:cNvSpPr>
          <p:nvPr>
            <p:ph type="title"/>
          </p:nvPr>
        </p:nvSpPr>
        <p:spPr>
          <a:xfrm>
            <a:off x="420795" y="1305407"/>
            <a:ext cx="11502900" cy="168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72700" tIns="172700" rIns="172700" bIns="172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3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3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3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3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3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3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3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3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3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7"/>
          <p:cNvSpPr txBox="1">
            <a:spLocks noGrp="1"/>
          </p:cNvSpPr>
          <p:nvPr>
            <p:ph type="sldNum" idx="12"/>
          </p:nvPr>
        </p:nvSpPr>
        <p:spPr>
          <a:xfrm>
            <a:off x="11437818" y="13678769"/>
            <a:ext cx="740700" cy="115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72700" tIns="172700" rIns="172700" bIns="172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8"/>
          <p:cNvSpPr txBox="1">
            <a:spLocks noGrp="1"/>
          </p:cNvSpPr>
          <p:nvPr>
            <p:ph type="title"/>
          </p:nvPr>
        </p:nvSpPr>
        <p:spPr>
          <a:xfrm>
            <a:off x="420795" y="1629760"/>
            <a:ext cx="3790800" cy="221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72700" tIns="172700" rIns="172700" bIns="172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9pPr>
          </a:lstStyle>
          <a:p>
            <a:endParaRPr/>
          </a:p>
        </p:txBody>
      </p:sp>
      <p:sp>
        <p:nvSpPr>
          <p:cNvPr id="30" name="Google Shape;30;p8"/>
          <p:cNvSpPr txBox="1">
            <a:spLocks noGrp="1"/>
          </p:cNvSpPr>
          <p:nvPr>
            <p:ph type="body" idx="1"/>
          </p:nvPr>
        </p:nvSpPr>
        <p:spPr>
          <a:xfrm>
            <a:off x="420795" y="4076160"/>
            <a:ext cx="3790800" cy="93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72700" tIns="172700" rIns="172700" bIns="172700" anchor="t" anchorCtr="0">
            <a:noAutofit/>
          </a:bodyPr>
          <a:lstStyle>
            <a:lvl1pPr marL="457200" lvl="0" indent="-3746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300"/>
              <a:buChar char="●"/>
              <a:defRPr sz="2300"/>
            </a:lvl1pPr>
            <a:lvl2pPr marL="914400" lvl="1" indent="-374650" algn="l">
              <a:lnSpc>
                <a:spcPct val="115000"/>
              </a:lnSpc>
              <a:spcBef>
                <a:spcPts val="3000"/>
              </a:spcBef>
              <a:spcAft>
                <a:spcPts val="0"/>
              </a:spcAft>
              <a:buSzPts val="2300"/>
              <a:buChar char="○"/>
              <a:defRPr sz="2300"/>
            </a:lvl2pPr>
            <a:lvl3pPr marL="1371600" lvl="2" indent="-374650" algn="l">
              <a:lnSpc>
                <a:spcPct val="115000"/>
              </a:lnSpc>
              <a:spcBef>
                <a:spcPts val="3000"/>
              </a:spcBef>
              <a:spcAft>
                <a:spcPts val="0"/>
              </a:spcAft>
              <a:buSzPts val="2300"/>
              <a:buChar char="■"/>
              <a:defRPr sz="2300"/>
            </a:lvl3pPr>
            <a:lvl4pPr marL="1828800" lvl="3" indent="-374650" algn="l">
              <a:lnSpc>
                <a:spcPct val="115000"/>
              </a:lnSpc>
              <a:spcBef>
                <a:spcPts val="3000"/>
              </a:spcBef>
              <a:spcAft>
                <a:spcPts val="0"/>
              </a:spcAft>
              <a:buSzPts val="2300"/>
              <a:buChar char="●"/>
              <a:defRPr sz="2300"/>
            </a:lvl4pPr>
            <a:lvl5pPr marL="2286000" lvl="4" indent="-374650" algn="l">
              <a:lnSpc>
                <a:spcPct val="115000"/>
              </a:lnSpc>
              <a:spcBef>
                <a:spcPts val="3000"/>
              </a:spcBef>
              <a:spcAft>
                <a:spcPts val="0"/>
              </a:spcAft>
              <a:buSzPts val="2300"/>
              <a:buChar char="○"/>
              <a:defRPr sz="2300"/>
            </a:lvl5pPr>
            <a:lvl6pPr marL="2743200" lvl="5" indent="-374650" algn="l">
              <a:lnSpc>
                <a:spcPct val="115000"/>
              </a:lnSpc>
              <a:spcBef>
                <a:spcPts val="3000"/>
              </a:spcBef>
              <a:spcAft>
                <a:spcPts val="0"/>
              </a:spcAft>
              <a:buSzPts val="2300"/>
              <a:buChar char="■"/>
              <a:defRPr sz="2300"/>
            </a:lvl6pPr>
            <a:lvl7pPr marL="3200400" lvl="6" indent="-374650" algn="l">
              <a:lnSpc>
                <a:spcPct val="115000"/>
              </a:lnSpc>
              <a:spcBef>
                <a:spcPts val="3000"/>
              </a:spcBef>
              <a:spcAft>
                <a:spcPts val="0"/>
              </a:spcAft>
              <a:buSzPts val="2300"/>
              <a:buChar char="●"/>
              <a:defRPr sz="2300"/>
            </a:lvl7pPr>
            <a:lvl8pPr marL="3657600" lvl="7" indent="-374650" algn="l">
              <a:lnSpc>
                <a:spcPct val="115000"/>
              </a:lnSpc>
              <a:spcBef>
                <a:spcPts val="3000"/>
              </a:spcBef>
              <a:spcAft>
                <a:spcPts val="0"/>
              </a:spcAft>
              <a:buSzPts val="2300"/>
              <a:buChar char="○"/>
              <a:defRPr sz="2300"/>
            </a:lvl8pPr>
            <a:lvl9pPr marL="4114800" lvl="8" indent="-374650" algn="l">
              <a:lnSpc>
                <a:spcPct val="115000"/>
              </a:lnSpc>
              <a:spcBef>
                <a:spcPts val="3000"/>
              </a:spcBef>
              <a:spcAft>
                <a:spcPts val="3000"/>
              </a:spcAft>
              <a:buSzPts val="2300"/>
              <a:buChar char="■"/>
              <a:defRPr sz="2300"/>
            </a:lvl9pPr>
          </a:lstStyle>
          <a:p>
            <a:endParaRPr/>
          </a:p>
        </p:txBody>
      </p:sp>
      <p:sp>
        <p:nvSpPr>
          <p:cNvPr id="31" name="Google Shape;31;p8"/>
          <p:cNvSpPr txBox="1">
            <a:spLocks noGrp="1"/>
          </p:cNvSpPr>
          <p:nvPr>
            <p:ph type="sldNum" idx="12"/>
          </p:nvPr>
        </p:nvSpPr>
        <p:spPr>
          <a:xfrm>
            <a:off x="11437818" y="13678769"/>
            <a:ext cx="740700" cy="115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72700" tIns="172700" rIns="172700" bIns="172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9"/>
          <p:cNvSpPr txBox="1">
            <a:spLocks noGrp="1"/>
          </p:cNvSpPr>
          <p:nvPr>
            <p:ph type="title"/>
          </p:nvPr>
        </p:nvSpPr>
        <p:spPr>
          <a:xfrm>
            <a:off x="661838" y="1320440"/>
            <a:ext cx="8596500" cy="1199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72700" tIns="172700" rIns="172700" bIns="172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100"/>
              <a:buNone/>
              <a:defRPr sz="91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100"/>
              <a:buNone/>
              <a:defRPr sz="91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100"/>
              <a:buNone/>
              <a:defRPr sz="91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100"/>
              <a:buNone/>
              <a:defRPr sz="91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100"/>
              <a:buNone/>
              <a:defRPr sz="91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100"/>
              <a:buNone/>
              <a:defRPr sz="91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100"/>
              <a:buNone/>
              <a:defRPr sz="91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100"/>
              <a:buNone/>
              <a:defRPr sz="91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100"/>
              <a:buNone/>
              <a:defRPr sz="9100"/>
            </a:lvl9pPr>
          </a:lstStyle>
          <a:p>
            <a:endParaRPr/>
          </a:p>
        </p:txBody>
      </p:sp>
      <p:sp>
        <p:nvSpPr>
          <p:cNvPr id="34" name="Google Shape;34;p9"/>
          <p:cNvSpPr txBox="1">
            <a:spLocks noGrp="1"/>
          </p:cNvSpPr>
          <p:nvPr>
            <p:ph type="sldNum" idx="12"/>
          </p:nvPr>
        </p:nvSpPr>
        <p:spPr>
          <a:xfrm>
            <a:off x="11437818" y="13678769"/>
            <a:ext cx="740700" cy="115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72700" tIns="172700" rIns="172700" bIns="172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10"/>
          <p:cNvSpPr/>
          <p:nvPr/>
        </p:nvSpPr>
        <p:spPr>
          <a:xfrm>
            <a:off x="6172200" y="-367"/>
            <a:ext cx="6172200" cy="150876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172700" tIns="172700" rIns="172700" bIns="172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" name="Google Shape;37;p10"/>
          <p:cNvSpPr txBox="1">
            <a:spLocks noGrp="1"/>
          </p:cNvSpPr>
          <p:nvPr>
            <p:ph type="title"/>
          </p:nvPr>
        </p:nvSpPr>
        <p:spPr>
          <a:xfrm>
            <a:off x="358425" y="3617313"/>
            <a:ext cx="5460900" cy="434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72700" tIns="172700" rIns="172700" bIns="172700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900"/>
              <a:buNone/>
              <a:defRPr sz="79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900"/>
              <a:buNone/>
              <a:defRPr sz="79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900"/>
              <a:buNone/>
              <a:defRPr sz="79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900"/>
              <a:buNone/>
              <a:defRPr sz="79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900"/>
              <a:buNone/>
              <a:defRPr sz="79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900"/>
              <a:buNone/>
              <a:defRPr sz="79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900"/>
              <a:buNone/>
              <a:defRPr sz="79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900"/>
              <a:buNone/>
              <a:defRPr sz="79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900"/>
              <a:buNone/>
              <a:defRPr sz="7900"/>
            </a:lvl9pPr>
          </a:lstStyle>
          <a:p>
            <a:endParaRPr/>
          </a:p>
        </p:txBody>
      </p:sp>
      <p:sp>
        <p:nvSpPr>
          <p:cNvPr id="38" name="Google Shape;38;p10"/>
          <p:cNvSpPr txBox="1">
            <a:spLocks noGrp="1"/>
          </p:cNvSpPr>
          <p:nvPr>
            <p:ph type="subTitle" idx="1"/>
          </p:nvPr>
        </p:nvSpPr>
        <p:spPr>
          <a:xfrm>
            <a:off x="358425" y="8222353"/>
            <a:ext cx="5460900" cy="362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72700" tIns="172700" rIns="172700" bIns="172700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>
            <a:endParaRPr/>
          </a:p>
        </p:txBody>
      </p:sp>
      <p:sp>
        <p:nvSpPr>
          <p:cNvPr id="39" name="Google Shape;39;p10"/>
          <p:cNvSpPr txBox="1">
            <a:spLocks noGrp="1"/>
          </p:cNvSpPr>
          <p:nvPr>
            <p:ph type="body" idx="2"/>
          </p:nvPr>
        </p:nvSpPr>
        <p:spPr>
          <a:xfrm>
            <a:off x="6668325" y="2123953"/>
            <a:ext cx="5180100" cy="1083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72700" tIns="172700" rIns="172700" bIns="172700" anchor="ctr" anchorCtr="0">
            <a:noAutofit/>
          </a:bodyPr>
          <a:lstStyle>
            <a:lvl1pPr marL="457200" lvl="0" indent="-444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400"/>
              <a:buChar char="●"/>
              <a:defRPr/>
            </a:lvl1pPr>
            <a:lvl2pPr marL="914400" lvl="1" indent="-393700" algn="l">
              <a:lnSpc>
                <a:spcPct val="115000"/>
              </a:lnSpc>
              <a:spcBef>
                <a:spcPts val="3000"/>
              </a:spcBef>
              <a:spcAft>
                <a:spcPts val="0"/>
              </a:spcAft>
              <a:buSzPts val="2600"/>
              <a:buChar char="○"/>
              <a:defRPr/>
            </a:lvl2pPr>
            <a:lvl3pPr marL="1371600" lvl="2" indent="-393700" algn="l">
              <a:lnSpc>
                <a:spcPct val="115000"/>
              </a:lnSpc>
              <a:spcBef>
                <a:spcPts val="3000"/>
              </a:spcBef>
              <a:spcAft>
                <a:spcPts val="0"/>
              </a:spcAft>
              <a:buSzPts val="2600"/>
              <a:buChar char="■"/>
              <a:defRPr/>
            </a:lvl3pPr>
            <a:lvl4pPr marL="1828800" lvl="3" indent="-393700" algn="l">
              <a:lnSpc>
                <a:spcPct val="115000"/>
              </a:lnSpc>
              <a:spcBef>
                <a:spcPts val="3000"/>
              </a:spcBef>
              <a:spcAft>
                <a:spcPts val="0"/>
              </a:spcAft>
              <a:buSzPts val="2600"/>
              <a:buChar char="●"/>
              <a:defRPr/>
            </a:lvl4pPr>
            <a:lvl5pPr marL="2286000" lvl="4" indent="-393700" algn="l">
              <a:lnSpc>
                <a:spcPct val="115000"/>
              </a:lnSpc>
              <a:spcBef>
                <a:spcPts val="3000"/>
              </a:spcBef>
              <a:spcAft>
                <a:spcPts val="0"/>
              </a:spcAft>
              <a:buSzPts val="2600"/>
              <a:buChar char="○"/>
              <a:defRPr/>
            </a:lvl5pPr>
            <a:lvl6pPr marL="2743200" lvl="5" indent="-393700" algn="l">
              <a:lnSpc>
                <a:spcPct val="115000"/>
              </a:lnSpc>
              <a:spcBef>
                <a:spcPts val="3000"/>
              </a:spcBef>
              <a:spcAft>
                <a:spcPts val="0"/>
              </a:spcAft>
              <a:buSzPts val="2600"/>
              <a:buChar char="■"/>
              <a:defRPr/>
            </a:lvl6pPr>
            <a:lvl7pPr marL="3200400" lvl="6" indent="-393700" algn="l">
              <a:lnSpc>
                <a:spcPct val="115000"/>
              </a:lnSpc>
              <a:spcBef>
                <a:spcPts val="3000"/>
              </a:spcBef>
              <a:spcAft>
                <a:spcPts val="0"/>
              </a:spcAft>
              <a:buSzPts val="2600"/>
              <a:buChar char="●"/>
              <a:defRPr/>
            </a:lvl7pPr>
            <a:lvl8pPr marL="3657600" lvl="7" indent="-393700" algn="l">
              <a:lnSpc>
                <a:spcPct val="115000"/>
              </a:lnSpc>
              <a:spcBef>
                <a:spcPts val="3000"/>
              </a:spcBef>
              <a:spcAft>
                <a:spcPts val="0"/>
              </a:spcAft>
              <a:buSzPts val="2600"/>
              <a:buChar char="○"/>
              <a:defRPr/>
            </a:lvl8pPr>
            <a:lvl9pPr marL="4114800" lvl="8" indent="-393700" algn="l">
              <a:lnSpc>
                <a:spcPct val="115000"/>
              </a:lnSpc>
              <a:spcBef>
                <a:spcPts val="3000"/>
              </a:spcBef>
              <a:spcAft>
                <a:spcPts val="3000"/>
              </a:spcAft>
              <a:buSzPts val="26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10"/>
          <p:cNvSpPr txBox="1">
            <a:spLocks noGrp="1"/>
          </p:cNvSpPr>
          <p:nvPr>
            <p:ph type="sldNum" idx="12"/>
          </p:nvPr>
        </p:nvSpPr>
        <p:spPr>
          <a:xfrm>
            <a:off x="11437818" y="13678769"/>
            <a:ext cx="740700" cy="115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72700" tIns="172700" rIns="172700" bIns="172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1"/>
          <p:cNvSpPr txBox="1">
            <a:spLocks noGrp="1"/>
          </p:cNvSpPr>
          <p:nvPr>
            <p:ph type="body" idx="1"/>
          </p:nvPr>
        </p:nvSpPr>
        <p:spPr>
          <a:xfrm>
            <a:off x="420795" y="12409687"/>
            <a:ext cx="8098500" cy="177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72700" tIns="172700" rIns="172700" bIns="172700" anchor="ctr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1"/>
          <p:cNvSpPr txBox="1">
            <a:spLocks noGrp="1"/>
          </p:cNvSpPr>
          <p:nvPr>
            <p:ph type="sldNum" idx="12"/>
          </p:nvPr>
        </p:nvSpPr>
        <p:spPr>
          <a:xfrm>
            <a:off x="11437818" y="13678769"/>
            <a:ext cx="740700" cy="115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72700" tIns="172700" rIns="172700" bIns="172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2"/>
          <p:cNvSpPr txBox="1">
            <a:spLocks noGrp="1"/>
          </p:cNvSpPr>
          <p:nvPr>
            <p:ph type="title" hasCustomPrompt="1"/>
          </p:nvPr>
        </p:nvSpPr>
        <p:spPr>
          <a:xfrm>
            <a:off x="420795" y="3244633"/>
            <a:ext cx="11502900" cy="575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72700" tIns="172700" rIns="172700" bIns="172700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700"/>
              <a:buNone/>
              <a:defRPr sz="227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700"/>
              <a:buNone/>
              <a:defRPr sz="227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700"/>
              <a:buNone/>
              <a:defRPr sz="227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700"/>
              <a:buNone/>
              <a:defRPr sz="227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700"/>
              <a:buNone/>
              <a:defRPr sz="227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700"/>
              <a:buNone/>
              <a:defRPr sz="227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700"/>
              <a:buNone/>
              <a:defRPr sz="227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700"/>
              <a:buNone/>
              <a:defRPr sz="227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700"/>
              <a:buNone/>
              <a:defRPr sz="22700"/>
            </a:lvl9pPr>
          </a:lstStyle>
          <a:p>
            <a:r>
              <a:t>xx%</a:t>
            </a:r>
          </a:p>
        </p:txBody>
      </p:sp>
      <p:sp>
        <p:nvSpPr>
          <p:cNvPr id="46" name="Google Shape;46;p12"/>
          <p:cNvSpPr txBox="1">
            <a:spLocks noGrp="1"/>
          </p:cNvSpPr>
          <p:nvPr>
            <p:ph type="body" idx="1"/>
          </p:nvPr>
        </p:nvSpPr>
        <p:spPr>
          <a:xfrm>
            <a:off x="420795" y="9246527"/>
            <a:ext cx="11502900" cy="381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72700" tIns="172700" rIns="172700" bIns="172700" anchor="t" anchorCtr="0">
            <a:noAutofit/>
          </a:bodyPr>
          <a:lstStyle>
            <a:lvl1pPr marL="457200" lvl="0" indent="-444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400"/>
              <a:buChar char="●"/>
              <a:defRPr/>
            </a:lvl1pPr>
            <a:lvl2pPr marL="914400" lvl="1" indent="-393700" algn="ctr">
              <a:lnSpc>
                <a:spcPct val="115000"/>
              </a:lnSpc>
              <a:spcBef>
                <a:spcPts val="3000"/>
              </a:spcBef>
              <a:spcAft>
                <a:spcPts val="0"/>
              </a:spcAft>
              <a:buSzPts val="2600"/>
              <a:buChar char="○"/>
              <a:defRPr/>
            </a:lvl2pPr>
            <a:lvl3pPr marL="1371600" lvl="2" indent="-393700" algn="ctr">
              <a:lnSpc>
                <a:spcPct val="115000"/>
              </a:lnSpc>
              <a:spcBef>
                <a:spcPts val="3000"/>
              </a:spcBef>
              <a:spcAft>
                <a:spcPts val="0"/>
              </a:spcAft>
              <a:buSzPts val="2600"/>
              <a:buChar char="■"/>
              <a:defRPr/>
            </a:lvl3pPr>
            <a:lvl4pPr marL="1828800" lvl="3" indent="-393700" algn="ctr">
              <a:lnSpc>
                <a:spcPct val="115000"/>
              </a:lnSpc>
              <a:spcBef>
                <a:spcPts val="3000"/>
              </a:spcBef>
              <a:spcAft>
                <a:spcPts val="0"/>
              </a:spcAft>
              <a:buSzPts val="2600"/>
              <a:buChar char="●"/>
              <a:defRPr/>
            </a:lvl4pPr>
            <a:lvl5pPr marL="2286000" lvl="4" indent="-393700" algn="ctr">
              <a:lnSpc>
                <a:spcPct val="115000"/>
              </a:lnSpc>
              <a:spcBef>
                <a:spcPts val="3000"/>
              </a:spcBef>
              <a:spcAft>
                <a:spcPts val="0"/>
              </a:spcAft>
              <a:buSzPts val="2600"/>
              <a:buChar char="○"/>
              <a:defRPr/>
            </a:lvl5pPr>
            <a:lvl6pPr marL="2743200" lvl="5" indent="-393700" algn="ctr">
              <a:lnSpc>
                <a:spcPct val="115000"/>
              </a:lnSpc>
              <a:spcBef>
                <a:spcPts val="3000"/>
              </a:spcBef>
              <a:spcAft>
                <a:spcPts val="0"/>
              </a:spcAft>
              <a:buSzPts val="2600"/>
              <a:buChar char="■"/>
              <a:defRPr/>
            </a:lvl6pPr>
            <a:lvl7pPr marL="3200400" lvl="6" indent="-393700" algn="ctr">
              <a:lnSpc>
                <a:spcPct val="115000"/>
              </a:lnSpc>
              <a:spcBef>
                <a:spcPts val="3000"/>
              </a:spcBef>
              <a:spcAft>
                <a:spcPts val="0"/>
              </a:spcAft>
              <a:buSzPts val="2600"/>
              <a:buChar char="●"/>
              <a:defRPr/>
            </a:lvl7pPr>
            <a:lvl8pPr marL="3657600" lvl="7" indent="-393700" algn="ctr">
              <a:lnSpc>
                <a:spcPct val="115000"/>
              </a:lnSpc>
              <a:spcBef>
                <a:spcPts val="3000"/>
              </a:spcBef>
              <a:spcAft>
                <a:spcPts val="0"/>
              </a:spcAft>
              <a:buSzPts val="2600"/>
              <a:buChar char="○"/>
              <a:defRPr/>
            </a:lvl8pPr>
            <a:lvl9pPr marL="4114800" lvl="8" indent="-393700" algn="ctr">
              <a:lnSpc>
                <a:spcPct val="115000"/>
              </a:lnSpc>
              <a:spcBef>
                <a:spcPts val="3000"/>
              </a:spcBef>
              <a:spcAft>
                <a:spcPts val="3000"/>
              </a:spcAft>
              <a:buSzPts val="26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2"/>
          <p:cNvSpPr txBox="1">
            <a:spLocks noGrp="1"/>
          </p:cNvSpPr>
          <p:nvPr>
            <p:ph type="sldNum" idx="12"/>
          </p:nvPr>
        </p:nvSpPr>
        <p:spPr>
          <a:xfrm>
            <a:off x="11437818" y="13678769"/>
            <a:ext cx="740700" cy="115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72700" tIns="172700" rIns="172700" bIns="172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3"/>
          <p:cNvSpPr txBox="1">
            <a:spLocks noGrp="1"/>
          </p:cNvSpPr>
          <p:nvPr>
            <p:ph type="sldNum" idx="12"/>
          </p:nvPr>
        </p:nvSpPr>
        <p:spPr>
          <a:xfrm>
            <a:off x="11437818" y="13678769"/>
            <a:ext cx="740700" cy="115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72700" tIns="172700" rIns="172700" bIns="172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2"/>
          <p:cNvSpPr txBox="1">
            <a:spLocks noGrp="1"/>
          </p:cNvSpPr>
          <p:nvPr>
            <p:ph type="title"/>
          </p:nvPr>
        </p:nvSpPr>
        <p:spPr>
          <a:xfrm>
            <a:off x="420795" y="1305407"/>
            <a:ext cx="11502900" cy="168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72700" tIns="172700" rIns="172700" bIns="172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300"/>
              <a:buFont typeface="Arial"/>
              <a:buNone/>
              <a:defRPr sz="53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300"/>
              <a:buFont typeface="Arial"/>
              <a:buNone/>
              <a:defRPr sz="53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300"/>
              <a:buFont typeface="Arial"/>
              <a:buNone/>
              <a:defRPr sz="53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300"/>
              <a:buFont typeface="Arial"/>
              <a:buNone/>
              <a:defRPr sz="53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300"/>
              <a:buFont typeface="Arial"/>
              <a:buNone/>
              <a:defRPr sz="53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300"/>
              <a:buFont typeface="Arial"/>
              <a:buNone/>
              <a:defRPr sz="53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300"/>
              <a:buFont typeface="Arial"/>
              <a:buNone/>
              <a:defRPr sz="53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300"/>
              <a:buFont typeface="Arial"/>
              <a:buNone/>
              <a:defRPr sz="53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300"/>
              <a:buFont typeface="Arial"/>
              <a:buNone/>
              <a:defRPr sz="53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p2"/>
          <p:cNvSpPr txBox="1">
            <a:spLocks noGrp="1"/>
          </p:cNvSpPr>
          <p:nvPr>
            <p:ph type="body" idx="1"/>
          </p:nvPr>
        </p:nvSpPr>
        <p:spPr>
          <a:xfrm>
            <a:off x="420795" y="3380593"/>
            <a:ext cx="11502900" cy="1002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72700" tIns="172700" rIns="172700" bIns="172700" anchor="t" anchorCtr="0">
            <a:noAutofit/>
          </a:bodyPr>
          <a:lstStyle>
            <a:lvl1pPr marL="457200" marR="0" lvl="0" indent="-444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400"/>
              <a:buFont typeface="Arial"/>
              <a:buChar char="●"/>
              <a:defRPr sz="3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93700" algn="l" rtl="0">
              <a:lnSpc>
                <a:spcPct val="115000"/>
              </a:lnSpc>
              <a:spcBef>
                <a:spcPts val="3000"/>
              </a:spcBef>
              <a:spcAft>
                <a:spcPts val="0"/>
              </a:spcAft>
              <a:buClr>
                <a:schemeClr val="dk2"/>
              </a:buClr>
              <a:buSzPts val="2600"/>
              <a:buFont typeface="Arial"/>
              <a:buChar char="○"/>
              <a:defRPr sz="26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93700" algn="l" rtl="0">
              <a:lnSpc>
                <a:spcPct val="115000"/>
              </a:lnSpc>
              <a:spcBef>
                <a:spcPts val="3000"/>
              </a:spcBef>
              <a:spcAft>
                <a:spcPts val="0"/>
              </a:spcAft>
              <a:buClr>
                <a:schemeClr val="dk2"/>
              </a:buClr>
              <a:buSzPts val="2600"/>
              <a:buFont typeface="Arial"/>
              <a:buChar char="■"/>
              <a:defRPr sz="26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93700" algn="l" rtl="0">
              <a:lnSpc>
                <a:spcPct val="115000"/>
              </a:lnSpc>
              <a:spcBef>
                <a:spcPts val="3000"/>
              </a:spcBef>
              <a:spcAft>
                <a:spcPts val="0"/>
              </a:spcAft>
              <a:buClr>
                <a:schemeClr val="dk2"/>
              </a:buClr>
              <a:buSzPts val="2600"/>
              <a:buFont typeface="Arial"/>
              <a:buChar char="●"/>
              <a:defRPr sz="26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93700" algn="l" rtl="0">
              <a:lnSpc>
                <a:spcPct val="115000"/>
              </a:lnSpc>
              <a:spcBef>
                <a:spcPts val="3000"/>
              </a:spcBef>
              <a:spcAft>
                <a:spcPts val="0"/>
              </a:spcAft>
              <a:buClr>
                <a:schemeClr val="dk2"/>
              </a:buClr>
              <a:buSzPts val="2600"/>
              <a:buFont typeface="Arial"/>
              <a:buChar char="○"/>
              <a:defRPr sz="26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93700" algn="l" rtl="0">
              <a:lnSpc>
                <a:spcPct val="115000"/>
              </a:lnSpc>
              <a:spcBef>
                <a:spcPts val="3000"/>
              </a:spcBef>
              <a:spcAft>
                <a:spcPts val="0"/>
              </a:spcAft>
              <a:buClr>
                <a:schemeClr val="dk2"/>
              </a:buClr>
              <a:buSzPts val="2600"/>
              <a:buFont typeface="Arial"/>
              <a:buChar char="■"/>
              <a:defRPr sz="26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93700" algn="l" rtl="0">
              <a:lnSpc>
                <a:spcPct val="115000"/>
              </a:lnSpc>
              <a:spcBef>
                <a:spcPts val="3000"/>
              </a:spcBef>
              <a:spcAft>
                <a:spcPts val="0"/>
              </a:spcAft>
              <a:buClr>
                <a:schemeClr val="dk2"/>
              </a:buClr>
              <a:buSzPts val="2600"/>
              <a:buFont typeface="Arial"/>
              <a:buChar char="●"/>
              <a:defRPr sz="26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93700" algn="l" rtl="0">
              <a:lnSpc>
                <a:spcPct val="115000"/>
              </a:lnSpc>
              <a:spcBef>
                <a:spcPts val="3000"/>
              </a:spcBef>
              <a:spcAft>
                <a:spcPts val="0"/>
              </a:spcAft>
              <a:buClr>
                <a:schemeClr val="dk2"/>
              </a:buClr>
              <a:buSzPts val="2600"/>
              <a:buFont typeface="Arial"/>
              <a:buChar char="○"/>
              <a:defRPr sz="26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93700" algn="l" rtl="0">
              <a:lnSpc>
                <a:spcPct val="115000"/>
              </a:lnSpc>
              <a:spcBef>
                <a:spcPts val="3000"/>
              </a:spcBef>
              <a:spcAft>
                <a:spcPts val="3000"/>
              </a:spcAft>
              <a:buClr>
                <a:schemeClr val="dk2"/>
              </a:buClr>
              <a:buSzPts val="2600"/>
              <a:buFont typeface="Arial"/>
              <a:buChar char="■"/>
              <a:defRPr sz="26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p2"/>
          <p:cNvSpPr txBox="1">
            <a:spLocks noGrp="1"/>
          </p:cNvSpPr>
          <p:nvPr>
            <p:ph type="sldNum" idx="12"/>
          </p:nvPr>
        </p:nvSpPr>
        <p:spPr>
          <a:xfrm>
            <a:off x="11437818" y="13678769"/>
            <a:ext cx="740700" cy="115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72700" tIns="172700" rIns="172700" bIns="172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"/>
          <p:cNvSpPr txBox="1"/>
          <p:nvPr/>
        </p:nvSpPr>
        <p:spPr>
          <a:xfrm>
            <a:off x="80325" y="225673"/>
            <a:ext cx="1105800" cy="28197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200" b="1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Nonsense or Frameshift</a:t>
            </a:r>
            <a:endParaRPr sz="1400" b="1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" name="Google Shape;61;p1"/>
          <p:cNvSpPr/>
          <p:nvPr/>
        </p:nvSpPr>
        <p:spPr>
          <a:xfrm>
            <a:off x="1664575" y="216325"/>
            <a:ext cx="2374200" cy="7056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200" b="0" i="0" u="none" strike="noStrike" cap="none" dirty="0">
                <a:solidFill>
                  <a:srgbClr val="000000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Predicted to undergo NMD </a:t>
            </a:r>
            <a:r>
              <a:rPr lang="en" sz="1200" b="0" i="0" u="none" strike="noStrike" cap="none" baseline="300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b</a:t>
            </a:r>
            <a:endParaRPr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200" dirty="0">
                <a:solidFill>
                  <a:schemeClr val="tx1"/>
                </a:solidFill>
                <a:effectLst/>
                <a:highlight>
                  <a:srgbClr val="FFFFFF"/>
                </a:highlight>
                <a:latin typeface="Times New Roman" panose="02020603050405020304" pitchFamily="18" charset="0"/>
                <a:cs typeface="Times New Roman" panose="02020603050405020304" pitchFamily="18" charset="0"/>
                <a:sym typeface="Times New Roman"/>
              </a:rPr>
              <a:t>(</a:t>
            </a:r>
            <a:r>
              <a:rPr lang="en-US" sz="1200" i="0" dirty="0">
                <a:solidFill>
                  <a:srgbClr val="212529"/>
                </a:solidFill>
                <a:effectLst/>
                <a:highlight>
                  <a:srgbClr val="FF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premature termination codon 5’ to c.1778)</a:t>
            </a:r>
            <a:endParaRPr sz="1200" i="0" u="none" strike="noStrike" cap="none" dirty="0">
              <a:solidFill>
                <a:srgbClr val="FF0000"/>
              </a:solidFill>
              <a:highlight>
                <a:srgbClr val="FFFF00"/>
              </a:highlight>
              <a:latin typeface="Times New Roman" panose="02020603050405020304" pitchFamily="18" charset="0"/>
              <a:cs typeface="Times New Roman" panose="02020603050405020304" pitchFamily="18" charset="0"/>
              <a:sym typeface="Arial"/>
            </a:endParaRPr>
          </a:p>
        </p:txBody>
      </p:sp>
      <p:sp>
        <p:nvSpPr>
          <p:cNvPr id="62" name="Google Shape;62;p1"/>
          <p:cNvSpPr/>
          <p:nvPr/>
        </p:nvSpPr>
        <p:spPr>
          <a:xfrm>
            <a:off x="1664575" y="1464774"/>
            <a:ext cx="2414500" cy="1184525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200" b="0" i="0" u="none" strike="noStrike" cap="none" dirty="0">
                <a:solidFill>
                  <a:srgbClr val="000000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Not predicted to undergo NMD</a:t>
            </a:r>
            <a:r>
              <a:rPr lang="en" sz="1200" b="0" i="0" u="none" strike="noStrike" cap="none" dirty="0">
                <a:solidFill>
                  <a:schemeClr val="dk1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 </a:t>
            </a:r>
            <a:r>
              <a:rPr lang="en" sz="1200" b="0" i="0" u="none" strike="noStrike" cap="none" baseline="30000" dirty="0">
                <a:solidFill>
                  <a:schemeClr val="dk1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b</a:t>
            </a:r>
            <a:endParaRPr lang="en" sz="1200" b="0" i="0" u="none" strike="noStrike" cap="none" dirty="0">
              <a:solidFill>
                <a:schemeClr val="dk1"/>
              </a:solidFill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  <a:sym typeface="Times New Roman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Times New Roman"/>
              </a:rPr>
              <a:t>(</a:t>
            </a:r>
            <a:r>
              <a:rPr lang="en-US" sz="1200" b="0" i="0" dirty="0">
                <a:solidFill>
                  <a:srgbClr val="212529"/>
                </a:solidFill>
                <a:effectLst/>
                <a:highlight>
                  <a:srgbClr val="FF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premature termination codon in the last exon (exon 14) or in the last 50 nucleotides of the penultimate exon (c.1778 and downstream, exon 13)</a:t>
            </a:r>
            <a:endParaRPr sz="1200" b="0" i="0" u="none" strike="noStrike" cap="none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Arial"/>
            </a:endParaRPr>
          </a:p>
        </p:txBody>
      </p:sp>
      <p:sp>
        <p:nvSpPr>
          <p:cNvPr id="63" name="Google Shape;63;p1"/>
          <p:cNvSpPr/>
          <p:nvPr/>
        </p:nvSpPr>
        <p:spPr>
          <a:xfrm>
            <a:off x="4536350" y="192700"/>
            <a:ext cx="5868000" cy="2769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2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Exon is present in biologically-relevant transcript</a:t>
            </a:r>
            <a:r>
              <a:rPr lang="en" sz="1200" dirty="0">
                <a:latin typeface="Times New Roman"/>
                <a:ea typeface="Times New Roman"/>
                <a:cs typeface="Times New Roman"/>
                <a:sym typeface="Times New Roman"/>
              </a:rPr>
              <a:t>,</a:t>
            </a:r>
            <a:r>
              <a:rPr lang="en" sz="12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200" b="0" i="0" u="none" strike="noStrike" cap="none" dirty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NM_000203.5</a:t>
            </a:r>
            <a:endParaRPr sz="1400" b="0" i="0" u="none" strike="noStrike" cap="none" dirty="0">
              <a:solidFill>
                <a:schemeClr val="tx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" name="Google Shape;64;p1"/>
          <p:cNvSpPr/>
          <p:nvPr/>
        </p:nvSpPr>
        <p:spPr>
          <a:xfrm>
            <a:off x="4536275" y="621275"/>
            <a:ext cx="5868000" cy="276900"/>
          </a:xfrm>
          <a:prstGeom prst="rect">
            <a:avLst/>
          </a:prstGeom>
          <a:solidFill>
            <a:schemeClr val="tx2">
              <a:lumMod val="90000"/>
            </a:schemeClr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Exon is absent from biologically-relevant transcript(s)</a:t>
            </a:r>
            <a:endParaRPr sz="12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5" name="Google Shape;65;p1"/>
          <p:cNvSpPr/>
          <p:nvPr/>
        </p:nvSpPr>
        <p:spPr>
          <a:xfrm>
            <a:off x="10945225" y="192700"/>
            <a:ext cx="1281000" cy="2769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PVS1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" name="Google Shape;66;p1"/>
          <p:cNvSpPr/>
          <p:nvPr/>
        </p:nvSpPr>
        <p:spPr>
          <a:xfrm>
            <a:off x="10945225" y="621275"/>
            <a:ext cx="1281000" cy="276900"/>
          </a:xfrm>
          <a:prstGeom prst="rect">
            <a:avLst/>
          </a:prstGeom>
          <a:solidFill>
            <a:schemeClr val="tx2">
              <a:lumMod val="90000"/>
            </a:schemeClr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2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N/A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" name="Google Shape;67;p1"/>
          <p:cNvSpPr/>
          <p:nvPr/>
        </p:nvSpPr>
        <p:spPr>
          <a:xfrm>
            <a:off x="4544300" y="990550"/>
            <a:ext cx="5881200" cy="399050"/>
          </a:xfrm>
          <a:prstGeom prst="rect">
            <a:avLst/>
          </a:prstGeom>
          <a:solidFill>
            <a:schemeClr val="tx2">
              <a:lumMod val="90000"/>
            </a:schemeClr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2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Truncated/altered region is critical to protein function</a:t>
            </a:r>
            <a:r>
              <a:rPr lang="en" sz="1200" b="0" i="0" u="none" strike="noStrike" cap="none" baseline="300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</a:t>
            </a:r>
            <a:r>
              <a:rPr lang="en" sz="12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120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8" name="Google Shape;68;p1"/>
          <p:cNvSpPr/>
          <p:nvPr/>
        </p:nvSpPr>
        <p:spPr>
          <a:xfrm>
            <a:off x="4557575" y="1487150"/>
            <a:ext cx="1080900" cy="14091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2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Role of region in protein function is unknown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" name="Google Shape;69;p1"/>
          <p:cNvSpPr/>
          <p:nvPr/>
        </p:nvSpPr>
        <p:spPr>
          <a:xfrm>
            <a:off x="6201875" y="1497075"/>
            <a:ext cx="4234500" cy="461700"/>
          </a:xfrm>
          <a:prstGeom prst="rect">
            <a:avLst/>
          </a:prstGeom>
          <a:solidFill>
            <a:schemeClr val="tx2">
              <a:lumMod val="90000"/>
            </a:schemeClr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2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LoF variants in this exon are frequent in the general population and/or exon is absent from biologically-relevant transcript(s)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" name="Google Shape;70;p1"/>
          <p:cNvSpPr/>
          <p:nvPr/>
        </p:nvSpPr>
        <p:spPr>
          <a:xfrm>
            <a:off x="10945225" y="1112700"/>
            <a:ext cx="1281000" cy="276900"/>
          </a:xfrm>
          <a:prstGeom prst="rect">
            <a:avLst/>
          </a:prstGeom>
          <a:solidFill>
            <a:schemeClr val="tx2">
              <a:lumMod val="90000"/>
            </a:schemeClr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2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N/A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" name="Google Shape;71;p1"/>
          <p:cNvSpPr/>
          <p:nvPr/>
        </p:nvSpPr>
        <p:spPr>
          <a:xfrm>
            <a:off x="10945225" y="1542225"/>
            <a:ext cx="1281000" cy="371400"/>
          </a:xfrm>
          <a:prstGeom prst="rect">
            <a:avLst/>
          </a:prstGeom>
          <a:solidFill>
            <a:schemeClr val="tx2">
              <a:lumMod val="90000"/>
            </a:schemeClr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N/A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" name="Google Shape;72;p1"/>
          <p:cNvSpPr/>
          <p:nvPr/>
        </p:nvSpPr>
        <p:spPr>
          <a:xfrm>
            <a:off x="10945225" y="2130450"/>
            <a:ext cx="1281000" cy="3243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PVS1_Strong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" name="Google Shape;73;p1"/>
          <p:cNvSpPr/>
          <p:nvPr/>
        </p:nvSpPr>
        <p:spPr>
          <a:xfrm>
            <a:off x="10945225" y="2633075"/>
            <a:ext cx="1281000" cy="3714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PVS1_Moderate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" name="Google Shape;74;p1"/>
          <p:cNvSpPr/>
          <p:nvPr/>
        </p:nvSpPr>
        <p:spPr>
          <a:xfrm>
            <a:off x="6201875" y="2066250"/>
            <a:ext cx="2618100" cy="9789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2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LoF variants in this exon are not frequent in the general population and exon is present in biologically-relevant transcript(s)</a:t>
            </a:r>
            <a:endParaRPr sz="120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5" name="Google Shape;75;p1"/>
          <p:cNvSpPr/>
          <p:nvPr/>
        </p:nvSpPr>
        <p:spPr>
          <a:xfrm>
            <a:off x="9204900" y="2066250"/>
            <a:ext cx="1231500" cy="4527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Variant removes &gt;10% of protein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" name="Google Shape;76;p1"/>
          <p:cNvSpPr/>
          <p:nvPr/>
        </p:nvSpPr>
        <p:spPr>
          <a:xfrm>
            <a:off x="9204825" y="2592425"/>
            <a:ext cx="1231500" cy="4527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Variant removes &lt;10% of protein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77" name="Google Shape;77;p1"/>
          <p:cNvCxnSpPr>
            <a:stCxn id="74" idx="3"/>
            <a:endCxn id="75" idx="1"/>
          </p:cNvCxnSpPr>
          <p:nvPr/>
        </p:nvCxnSpPr>
        <p:spPr>
          <a:xfrm rot="10800000" flipH="1">
            <a:off x="8819975" y="2292600"/>
            <a:ext cx="384900" cy="263100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78" name="Google Shape;78;p1"/>
          <p:cNvCxnSpPr>
            <a:stCxn id="74" idx="3"/>
            <a:endCxn id="76" idx="1"/>
          </p:cNvCxnSpPr>
          <p:nvPr/>
        </p:nvCxnSpPr>
        <p:spPr>
          <a:xfrm>
            <a:off x="8819975" y="2555700"/>
            <a:ext cx="384900" cy="263100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79" name="Google Shape;79;p1"/>
          <p:cNvCxnSpPr>
            <a:stCxn id="60" idx="3"/>
            <a:endCxn id="61" idx="1"/>
          </p:cNvCxnSpPr>
          <p:nvPr/>
        </p:nvCxnSpPr>
        <p:spPr>
          <a:xfrm rot="10800000" flipH="1">
            <a:off x="1186125" y="569023"/>
            <a:ext cx="478500" cy="1066500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80" name="Google Shape;80;p1"/>
          <p:cNvCxnSpPr>
            <a:cxnSpLocks/>
            <a:stCxn id="60" idx="3"/>
            <a:endCxn id="62" idx="1"/>
          </p:cNvCxnSpPr>
          <p:nvPr/>
        </p:nvCxnSpPr>
        <p:spPr>
          <a:xfrm>
            <a:off x="1186125" y="1635523"/>
            <a:ext cx="478450" cy="421514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81" name="Google Shape;81;p1"/>
          <p:cNvCxnSpPr>
            <a:stCxn id="61" idx="3"/>
            <a:endCxn id="63" idx="1"/>
          </p:cNvCxnSpPr>
          <p:nvPr/>
        </p:nvCxnSpPr>
        <p:spPr>
          <a:xfrm rot="10800000" flipH="1">
            <a:off x="4038775" y="331225"/>
            <a:ext cx="497700" cy="237900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82" name="Google Shape;82;p1"/>
          <p:cNvCxnSpPr>
            <a:stCxn id="61" idx="3"/>
            <a:endCxn id="64" idx="1"/>
          </p:cNvCxnSpPr>
          <p:nvPr/>
        </p:nvCxnSpPr>
        <p:spPr>
          <a:xfrm>
            <a:off x="4038775" y="569125"/>
            <a:ext cx="497400" cy="190500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83" name="Google Shape;83;p1"/>
          <p:cNvCxnSpPr>
            <a:cxnSpLocks/>
            <a:stCxn id="62" idx="3"/>
            <a:endCxn id="67" idx="1"/>
          </p:cNvCxnSpPr>
          <p:nvPr/>
        </p:nvCxnSpPr>
        <p:spPr>
          <a:xfrm flipV="1">
            <a:off x="4079075" y="1190075"/>
            <a:ext cx="465225" cy="866962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84" name="Google Shape;84;p1"/>
          <p:cNvCxnSpPr>
            <a:cxnSpLocks/>
            <a:stCxn id="62" idx="3"/>
            <a:endCxn id="68" idx="1"/>
          </p:cNvCxnSpPr>
          <p:nvPr/>
        </p:nvCxnSpPr>
        <p:spPr>
          <a:xfrm>
            <a:off x="4079075" y="2057037"/>
            <a:ext cx="478500" cy="134663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85" name="Google Shape;85;p1"/>
          <p:cNvCxnSpPr>
            <a:stCxn id="68" idx="3"/>
            <a:endCxn id="69" idx="1"/>
          </p:cNvCxnSpPr>
          <p:nvPr/>
        </p:nvCxnSpPr>
        <p:spPr>
          <a:xfrm rot="10800000" flipH="1">
            <a:off x="5638475" y="1727900"/>
            <a:ext cx="563400" cy="463800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86" name="Google Shape;86;p1"/>
          <p:cNvCxnSpPr>
            <a:stCxn id="68" idx="3"/>
            <a:endCxn id="74" idx="1"/>
          </p:cNvCxnSpPr>
          <p:nvPr/>
        </p:nvCxnSpPr>
        <p:spPr>
          <a:xfrm>
            <a:off x="5638475" y="2191700"/>
            <a:ext cx="563400" cy="363900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87" name="Google Shape;87;p1"/>
          <p:cNvSpPr txBox="1"/>
          <p:nvPr/>
        </p:nvSpPr>
        <p:spPr>
          <a:xfrm>
            <a:off x="80325" y="3209450"/>
            <a:ext cx="1105800" cy="48003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200" b="1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GT--AG</a:t>
            </a:r>
            <a:endParaRPr sz="1200" b="1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200" b="1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1,2 splice </a:t>
            </a:r>
            <a:endParaRPr sz="1200" b="1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200" b="1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sites </a:t>
            </a:r>
            <a:r>
              <a:rPr lang="en" sz="1200" b="1" i="0" u="none" strike="noStrike" cap="none" baseline="30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endParaRPr sz="1400" b="1" i="0" u="none" strike="noStrike" cap="none" baseline="300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" name="Google Shape;88;p1"/>
          <p:cNvSpPr/>
          <p:nvPr/>
        </p:nvSpPr>
        <p:spPr>
          <a:xfrm>
            <a:off x="1664575" y="3308700"/>
            <a:ext cx="2374200" cy="8025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2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Exon skipping or use of a cryptic splice site disrupts reading frame and is predicted to undergo NMD</a:t>
            </a:r>
            <a:r>
              <a:rPr lang="en" sz="1200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" sz="1200" b="0" i="0" u="none" strike="noStrike" cap="none" baseline="300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" name="Google Shape;89;p1"/>
          <p:cNvSpPr/>
          <p:nvPr/>
        </p:nvSpPr>
        <p:spPr>
          <a:xfrm>
            <a:off x="1654125" y="6290300"/>
            <a:ext cx="2374200" cy="15582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2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Exon skipping or use of a cryptic splice site preserves reading frame</a:t>
            </a:r>
            <a:endParaRPr dirty="0"/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fr-FR" sz="1200" b="0" i="0" u="none" strike="noStrike" cap="none" dirty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(exons 2, 4, 5, 7, 9, 11)</a:t>
            </a:r>
          </a:p>
        </p:txBody>
      </p:sp>
      <p:sp>
        <p:nvSpPr>
          <p:cNvPr id="90" name="Google Shape;90;p1"/>
          <p:cNvSpPr/>
          <p:nvPr/>
        </p:nvSpPr>
        <p:spPr>
          <a:xfrm>
            <a:off x="4536350" y="3232500"/>
            <a:ext cx="5867925" cy="39285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2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Exon is present in biologically-relevant transcript(s)</a:t>
            </a: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200" dirty="0">
                <a:latin typeface="Times New Roman"/>
                <a:cs typeface="Times New Roman"/>
                <a:sym typeface="Times New Roman"/>
              </a:rPr>
              <a:t>(exons 1, 3, 6, 8, 10, 12, 13)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" name="Google Shape;91;p1"/>
          <p:cNvSpPr/>
          <p:nvPr/>
        </p:nvSpPr>
        <p:spPr>
          <a:xfrm>
            <a:off x="4507775" y="4114825"/>
            <a:ext cx="5896500" cy="276900"/>
          </a:xfrm>
          <a:prstGeom prst="rect">
            <a:avLst/>
          </a:prstGeom>
          <a:solidFill>
            <a:schemeClr val="tx2">
              <a:lumMod val="90000"/>
            </a:schemeClr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200" b="0" i="0" u="none" strike="noStrike" cap="none" dirty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Truncated/altered region is critical to protein function</a:t>
            </a:r>
            <a:r>
              <a:rPr lang="en" sz="1200" b="0" i="0" u="none" strike="noStrike" cap="none" baseline="30000" dirty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</a:t>
            </a:r>
            <a:endParaRPr sz="1200" b="0" i="0" u="none" strike="noStrike" cap="none" dirty="0">
              <a:solidFill>
                <a:srgbClr val="FF0000"/>
              </a:solidFill>
              <a:highlight>
                <a:srgbClr val="FFFF00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2" name="Google Shape;92;p1"/>
          <p:cNvSpPr/>
          <p:nvPr/>
        </p:nvSpPr>
        <p:spPr>
          <a:xfrm>
            <a:off x="4536275" y="3661075"/>
            <a:ext cx="5868000" cy="276900"/>
          </a:xfrm>
          <a:prstGeom prst="rect">
            <a:avLst/>
          </a:prstGeom>
          <a:solidFill>
            <a:schemeClr val="tx2">
              <a:lumMod val="90000"/>
            </a:schemeClr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2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Exon is absent from biologically-relevant transcript(s)</a:t>
            </a:r>
            <a:endParaRPr sz="120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3" name="Google Shape;93;p1"/>
          <p:cNvSpPr/>
          <p:nvPr/>
        </p:nvSpPr>
        <p:spPr>
          <a:xfrm>
            <a:off x="4536350" y="4489275"/>
            <a:ext cx="1080900" cy="15582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Role of region in protein function is unknown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" name="Google Shape;94;p1"/>
          <p:cNvSpPr/>
          <p:nvPr/>
        </p:nvSpPr>
        <p:spPr>
          <a:xfrm>
            <a:off x="6180650" y="4499200"/>
            <a:ext cx="4234500" cy="461700"/>
          </a:xfrm>
          <a:prstGeom prst="rect">
            <a:avLst/>
          </a:prstGeom>
          <a:solidFill>
            <a:schemeClr val="tx2">
              <a:lumMod val="90000"/>
            </a:schemeClr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2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LoF variants in this exon are frequent in the general population and/or exon is absent from biologically-relevant transcript(s)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" name="Google Shape;95;p1"/>
          <p:cNvSpPr/>
          <p:nvPr/>
        </p:nvSpPr>
        <p:spPr>
          <a:xfrm>
            <a:off x="6180650" y="5068725"/>
            <a:ext cx="2618100" cy="9789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LoF variants in this exon are not frequent in the general population and exon is present in biologically-relevant transcript(s)</a:t>
            </a:r>
            <a:endParaRPr sz="120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6" name="Google Shape;96;p1"/>
          <p:cNvSpPr/>
          <p:nvPr/>
        </p:nvSpPr>
        <p:spPr>
          <a:xfrm>
            <a:off x="9183675" y="5068725"/>
            <a:ext cx="1231500" cy="4527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Variant removes &gt;10% of protein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" name="Google Shape;97;p1"/>
          <p:cNvSpPr/>
          <p:nvPr/>
        </p:nvSpPr>
        <p:spPr>
          <a:xfrm>
            <a:off x="4533750" y="7752350"/>
            <a:ext cx="5891750" cy="413476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2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Truncated/altered region is critical to protein function </a:t>
            </a:r>
            <a:r>
              <a:rPr lang="en" sz="1200" b="0" i="0" u="none" strike="noStrike" cap="none" baseline="300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 </a:t>
            </a: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200" dirty="0">
                <a:latin typeface="Times New Roman"/>
                <a:ea typeface="Times New Roman"/>
                <a:cs typeface="Times New Roman"/>
                <a:sym typeface="Times New Roman"/>
              </a:rPr>
              <a:t>exon 2 (Arg89, His91), exon 5 (</a:t>
            </a:r>
            <a:r>
              <a:rPr lang="en" sz="1200" dirty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Asn 181, Glu182) </a:t>
            </a:r>
            <a:r>
              <a:rPr lang="en-US" sz="1200" b="0" i="0" u="none" strike="noStrike" cap="none" dirty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exon 7 (Glu299)</a:t>
            </a:r>
            <a:endParaRPr sz="1200" b="0" i="0" u="none" strike="noStrike" cap="none" dirty="0">
              <a:solidFill>
                <a:srgbClr val="000000"/>
              </a:solidFill>
              <a:highlight>
                <a:srgbClr val="FFFF00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8" name="Google Shape;98;p1"/>
          <p:cNvSpPr/>
          <p:nvPr/>
        </p:nvSpPr>
        <p:spPr>
          <a:xfrm>
            <a:off x="10945225" y="3232500"/>
            <a:ext cx="1281000" cy="2769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PVS1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" name="Google Shape;99;p1"/>
          <p:cNvSpPr/>
          <p:nvPr/>
        </p:nvSpPr>
        <p:spPr>
          <a:xfrm>
            <a:off x="10945225" y="3661075"/>
            <a:ext cx="1281000" cy="276900"/>
          </a:xfrm>
          <a:prstGeom prst="rect">
            <a:avLst/>
          </a:prstGeom>
          <a:solidFill>
            <a:schemeClr val="tx2">
              <a:lumMod val="90000"/>
            </a:schemeClr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N/A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" name="Google Shape;100;p1"/>
          <p:cNvSpPr/>
          <p:nvPr/>
        </p:nvSpPr>
        <p:spPr>
          <a:xfrm>
            <a:off x="10945225" y="4114825"/>
            <a:ext cx="1281000" cy="276900"/>
          </a:xfrm>
          <a:prstGeom prst="rect">
            <a:avLst/>
          </a:prstGeom>
          <a:solidFill>
            <a:schemeClr val="tx2">
              <a:lumMod val="90000"/>
            </a:schemeClr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2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PVS1_Strong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" name="Google Shape;101;p1"/>
          <p:cNvSpPr/>
          <p:nvPr/>
        </p:nvSpPr>
        <p:spPr>
          <a:xfrm>
            <a:off x="10945225" y="4544350"/>
            <a:ext cx="1281000" cy="371400"/>
          </a:xfrm>
          <a:prstGeom prst="rect">
            <a:avLst/>
          </a:prstGeom>
          <a:solidFill>
            <a:schemeClr val="tx2">
              <a:lumMod val="90000"/>
            </a:schemeClr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N/A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" name="Google Shape;102;p1"/>
          <p:cNvSpPr/>
          <p:nvPr/>
        </p:nvSpPr>
        <p:spPr>
          <a:xfrm>
            <a:off x="10945225" y="5132925"/>
            <a:ext cx="1281000" cy="3243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PVS1_Strong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" name="Google Shape;103;p1"/>
          <p:cNvSpPr/>
          <p:nvPr/>
        </p:nvSpPr>
        <p:spPr>
          <a:xfrm>
            <a:off x="10945225" y="5635550"/>
            <a:ext cx="1281000" cy="3714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PVS1_Moderate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" name="Google Shape;104;p1"/>
          <p:cNvSpPr/>
          <p:nvPr/>
        </p:nvSpPr>
        <p:spPr>
          <a:xfrm>
            <a:off x="10945225" y="7759100"/>
            <a:ext cx="1281000" cy="2769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2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PVS1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" name="Google Shape;105;p1"/>
          <p:cNvSpPr/>
          <p:nvPr/>
        </p:nvSpPr>
        <p:spPr>
          <a:xfrm>
            <a:off x="9183600" y="5594900"/>
            <a:ext cx="1231500" cy="4527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Variant removes &lt;10% of protein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p1"/>
          <p:cNvSpPr/>
          <p:nvPr/>
        </p:nvSpPr>
        <p:spPr>
          <a:xfrm>
            <a:off x="1643625" y="4315725"/>
            <a:ext cx="2395200" cy="16122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2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Exon skipping or use of a cryptic splice site disrupts reading frame and is </a:t>
            </a:r>
            <a:r>
              <a:rPr lang="en" sz="1200" b="1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NOT</a:t>
            </a:r>
            <a:r>
              <a:rPr lang="en" sz="12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predicted to undergo NMD</a:t>
            </a:r>
            <a:r>
              <a:rPr lang="en" sz="1200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" sz="1200" b="0" i="0" u="none" strike="noStrike" cap="none" baseline="300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</a:t>
            </a:r>
            <a:endParaRPr dirty="0"/>
          </a:p>
        </p:txBody>
      </p:sp>
      <p:cxnSp>
        <p:nvCxnSpPr>
          <p:cNvPr id="107" name="Google Shape;107;p1"/>
          <p:cNvCxnSpPr>
            <a:stCxn id="87" idx="3"/>
            <a:endCxn id="88" idx="1"/>
          </p:cNvCxnSpPr>
          <p:nvPr/>
        </p:nvCxnSpPr>
        <p:spPr>
          <a:xfrm rot="10800000" flipH="1">
            <a:off x="1186125" y="3710000"/>
            <a:ext cx="478500" cy="1899600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108" name="Google Shape;108;p1"/>
          <p:cNvCxnSpPr>
            <a:stCxn id="87" idx="3"/>
            <a:endCxn id="106" idx="1"/>
          </p:cNvCxnSpPr>
          <p:nvPr/>
        </p:nvCxnSpPr>
        <p:spPr>
          <a:xfrm rot="10800000" flipH="1">
            <a:off x="1186125" y="5121800"/>
            <a:ext cx="457500" cy="487800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109" name="Google Shape;109;p1"/>
          <p:cNvCxnSpPr>
            <a:stCxn id="87" idx="3"/>
            <a:endCxn id="89" idx="1"/>
          </p:cNvCxnSpPr>
          <p:nvPr/>
        </p:nvCxnSpPr>
        <p:spPr>
          <a:xfrm>
            <a:off x="1186125" y="5609600"/>
            <a:ext cx="468000" cy="1459800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110" name="Google Shape;110;p1"/>
          <p:cNvCxnSpPr>
            <a:cxnSpLocks/>
            <a:stCxn id="88" idx="3"/>
            <a:endCxn id="90" idx="1"/>
          </p:cNvCxnSpPr>
          <p:nvPr/>
        </p:nvCxnSpPr>
        <p:spPr>
          <a:xfrm flipV="1">
            <a:off x="4038775" y="3428925"/>
            <a:ext cx="497575" cy="281025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111" name="Google Shape;111;p1"/>
          <p:cNvCxnSpPr>
            <a:stCxn id="88" idx="3"/>
            <a:endCxn id="92" idx="1"/>
          </p:cNvCxnSpPr>
          <p:nvPr/>
        </p:nvCxnSpPr>
        <p:spPr>
          <a:xfrm>
            <a:off x="4038775" y="3709950"/>
            <a:ext cx="497400" cy="89700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112" name="Google Shape;112;p1"/>
          <p:cNvCxnSpPr>
            <a:stCxn id="106" idx="3"/>
            <a:endCxn id="91" idx="1"/>
          </p:cNvCxnSpPr>
          <p:nvPr/>
        </p:nvCxnSpPr>
        <p:spPr>
          <a:xfrm rot="10800000" flipH="1">
            <a:off x="4038825" y="4253325"/>
            <a:ext cx="468900" cy="868500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113" name="Google Shape;113;p1"/>
          <p:cNvCxnSpPr>
            <a:stCxn id="106" idx="3"/>
            <a:endCxn id="93" idx="1"/>
          </p:cNvCxnSpPr>
          <p:nvPr/>
        </p:nvCxnSpPr>
        <p:spPr>
          <a:xfrm>
            <a:off x="4038825" y="5121825"/>
            <a:ext cx="497400" cy="146700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114" name="Google Shape;114;p1"/>
          <p:cNvCxnSpPr>
            <a:stCxn id="93" idx="3"/>
            <a:endCxn id="94" idx="1"/>
          </p:cNvCxnSpPr>
          <p:nvPr/>
        </p:nvCxnSpPr>
        <p:spPr>
          <a:xfrm rot="10800000" flipH="1">
            <a:off x="5617250" y="4730175"/>
            <a:ext cx="563400" cy="538200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115" name="Google Shape;115;p1"/>
          <p:cNvCxnSpPr>
            <a:stCxn id="93" idx="3"/>
            <a:endCxn id="95" idx="1"/>
          </p:cNvCxnSpPr>
          <p:nvPr/>
        </p:nvCxnSpPr>
        <p:spPr>
          <a:xfrm>
            <a:off x="5617250" y="5268375"/>
            <a:ext cx="563400" cy="289800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116" name="Google Shape;116;p1"/>
          <p:cNvCxnSpPr>
            <a:stCxn id="95" idx="3"/>
            <a:endCxn id="96" idx="1"/>
          </p:cNvCxnSpPr>
          <p:nvPr/>
        </p:nvCxnSpPr>
        <p:spPr>
          <a:xfrm rot="10800000" flipH="1">
            <a:off x="8798750" y="5295075"/>
            <a:ext cx="384900" cy="263100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117" name="Google Shape;117;p1"/>
          <p:cNvCxnSpPr>
            <a:stCxn id="95" idx="3"/>
            <a:endCxn id="105" idx="1"/>
          </p:cNvCxnSpPr>
          <p:nvPr/>
        </p:nvCxnSpPr>
        <p:spPr>
          <a:xfrm>
            <a:off x="8798750" y="5558175"/>
            <a:ext cx="384900" cy="263100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118" name="Google Shape;118;p1"/>
          <p:cNvCxnSpPr>
            <a:stCxn id="63" idx="3"/>
            <a:endCxn id="65" idx="1"/>
          </p:cNvCxnSpPr>
          <p:nvPr/>
        </p:nvCxnSpPr>
        <p:spPr>
          <a:xfrm>
            <a:off x="10404350" y="331150"/>
            <a:ext cx="540900" cy="0"/>
          </a:xfrm>
          <a:prstGeom prst="straightConnector1">
            <a:avLst/>
          </a:prstGeom>
          <a:noFill/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119" name="Google Shape;119;p1"/>
          <p:cNvCxnSpPr>
            <a:stCxn id="64" idx="3"/>
            <a:endCxn id="66" idx="1"/>
          </p:cNvCxnSpPr>
          <p:nvPr/>
        </p:nvCxnSpPr>
        <p:spPr>
          <a:xfrm>
            <a:off x="10404275" y="759725"/>
            <a:ext cx="540900" cy="0"/>
          </a:xfrm>
          <a:prstGeom prst="straightConnector1">
            <a:avLst/>
          </a:prstGeom>
          <a:noFill/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120" name="Google Shape;120;p1"/>
          <p:cNvCxnSpPr>
            <a:cxnSpLocks/>
            <a:stCxn id="67" idx="3"/>
            <a:endCxn id="70" idx="1"/>
          </p:cNvCxnSpPr>
          <p:nvPr/>
        </p:nvCxnSpPr>
        <p:spPr>
          <a:xfrm>
            <a:off x="10425500" y="1190075"/>
            <a:ext cx="519725" cy="61075"/>
          </a:xfrm>
          <a:prstGeom prst="straightConnector1">
            <a:avLst/>
          </a:prstGeom>
          <a:noFill/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121" name="Google Shape;121;p1"/>
          <p:cNvCxnSpPr>
            <a:stCxn id="69" idx="3"/>
            <a:endCxn id="71" idx="1"/>
          </p:cNvCxnSpPr>
          <p:nvPr/>
        </p:nvCxnSpPr>
        <p:spPr>
          <a:xfrm>
            <a:off x="10436375" y="1727925"/>
            <a:ext cx="508800" cy="0"/>
          </a:xfrm>
          <a:prstGeom prst="straightConnector1">
            <a:avLst/>
          </a:prstGeom>
          <a:noFill/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122" name="Google Shape;122;p1"/>
          <p:cNvCxnSpPr>
            <a:stCxn id="75" idx="3"/>
            <a:endCxn id="72" idx="1"/>
          </p:cNvCxnSpPr>
          <p:nvPr/>
        </p:nvCxnSpPr>
        <p:spPr>
          <a:xfrm>
            <a:off x="10436400" y="2292600"/>
            <a:ext cx="508800" cy="0"/>
          </a:xfrm>
          <a:prstGeom prst="straightConnector1">
            <a:avLst/>
          </a:prstGeom>
          <a:noFill/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123" name="Google Shape;123;p1"/>
          <p:cNvCxnSpPr>
            <a:stCxn id="76" idx="3"/>
            <a:endCxn id="73" idx="1"/>
          </p:cNvCxnSpPr>
          <p:nvPr/>
        </p:nvCxnSpPr>
        <p:spPr>
          <a:xfrm>
            <a:off x="10436325" y="2818775"/>
            <a:ext cx="508800" cy="0"/>
          </a:xfrm>
          <a:prstGeom prst="straightConnector1">
            <a:avLst/>
          </a:prstGeom>
          <a:noFill/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124" name="Google Shape;124;p1"/>
          <p:cNvCxnSpPr>
            <a:cxnSpLocks/>
            <a:stCxn id="90" idx="3"/>
            <a:endCxn id="98" idx="1"/>
          </p:cNvCxnSpPr>
          <p:nvPr/>
        </p:nvCxnSpPr>
        <p:spPr>
          <a:xfrm flipV="1">
            <a:off x="10404275" y="3370950"/>
            <a:ext cx="540950" cy="57975"/>
          </a:xfrm>
          <a:prstGeom prst="straightConnector1">
            <a:avLst/>
          </a:prstGeom>
          <a:noFill/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125" name="Google Shape;125;p1"/>
          <p:cNvCxnSpPr>
            <a:stCxn id="92" idx="3"/>
            <a:endCxn id="99" idx="1"/>
          </p:cNvCxnSpPr>
          <p:nvPr/>
        </p:nvCxnSpPr>
        <p:spPr>
          <a:xfrm>
            <a:off x="10404275" y="3799525"/>
            <a:ext cx="540900" cy="0"/>
          </a:xfrm>
          <a:prstGeom prst="straightConnector1">
            <a:avLst/>
          </a:prstGeom>
          <a:noFill/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126" name="Google Shape;126;p1"/>
          <p:cNvCxnSpPr>
            <a:stCxn id="91" idx="3"/>
            <a:endCxn id="100" idx="1"/>
          </p:cNvCxnSpPr>
          <p:nvPr/>
        </p:nvCxnSpPr>
        <p:spPr>
          <a:xfrm>
            <a:off x="10404275" y="4253275"/>
            <a:ext cx="540900" cy="0"/>
          </a:xfrm>
          <a:prstGeom prst="straightConnector1">
            <a:avLst/>
          </a:prstGeom>
          <a:noFill/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127" name="Google Shape;127;p1"/>
          <p:cNvCxnSpPr>
            <a:stCxn id="94" idx="3"/>
            <a:endCxn id="101" idx="1"/>
          </p:cNvCxnSpPr>
          <p:nvPr/>
        </p:nvCxnSpPr>
        <p:spPr>
          <a:xfrm>
            <a:off x="10415150" y="4730050"/>
            <a:ext cx="530100" cy="0"/>
          </a:xfrm>
          <a:prstGeom prst="straightConnector1">
            <a:avLst/>
          </a:prstGeom>
          <a:noFill/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128" name="Google Shape;128;p1"/>
          <p:cNvCxnSpPr>
            <a:stCxn id="96" idx="3"/>
            <a:endCxn id="102" idx="1"/>
          </p:cNvCxnSpPr>
          <p:nvPr/>
        </p:nvCxnSpPr>
        <p:spPr>
          <a:xfrm>
            <a:off x="10415175" y="5295075"/>
            <a:ext cx="530100" cy="0"/>
          </a:xfrm>
          <a:prstGeom prst="straightConnector1">
            <a:avLst/>
          </a:prstGeom>
          <a:noFill/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129" name="Google Shape;129;p1"/>
          <p:cNvCxnSpPr>
            <a:stCxn id="105" idx="3"/>
            <a:endCxn id="103" idx="1"/>
          </p:cNvCxnSpPr>
          <p:nvPr/>
        </p:nvCxnSpPr>
        <p:spPr>
          <a:xfrm>
            <a:off x="10415100" y="5821250"/>
            <a:ext cx="530100" cy="0"/>
          </a:xfrm>
          <a:prstGeom prst="straightConnector1">
            <a:avLst/>
          </a:prstGeom>
          <a:noFill/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130" name="Google Shape;130;p1"/>
          <p:cNvCxnSpPr>
            <a:cxnSpLocks/>
            <a:stCxn id="97" idx="3"/>
            <a:endCxn id="104" idx="1"/>
          </p:cNvCxnSpPr>
          <p:nvPr/>
        </p:nvCxnSpPr>
        <p:spPr>
          <a:xfrm flipV="1">
            <a:off x="10425500" y="7897550"/>
            <a:ext cx="519725" cy="61538"/>
          </a:xfrm>
          <a:prstGeom prst="straightConnector1">
            <a:avLst/>
          </a:prstGeom>
          <a:noFill/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131" name="Google Shape;131;p1"/>
          <p:cNvSpPr txBox="1"/>
          <p:nvPr/>
        </p:nvSpPr>
        <p:spPr>
          <a:xfrm>
            <a:off x="80325" y="8238775"/>
            <a:ext cx="1105800" cy="36573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200" b="1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Deletion</a:t>
            </a:r>
            <a:endParaRPr sz="1200" b="1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" sz="10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(Single exon to full gene)</a:t>
            </a:r>
            <a:endParaRPr sz="10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2" name="Google Shape;132;p1"/>
          <p:cNvSpPr/>
          <p:nvPr/>
        </p:nvSpPr>
        <p:spPr>
          <a:xfrm>
            <a:off x="1701200" y="8738200"/>
            <a:ext cx="2327100" cy="8025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Single to multi exon deletion –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Disrupts reading frame and is predicted to undergo NMD</a:t>
            </a:r>
            <a:r>
              <a:rPr lang="en"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" sz="1200" b="0" i="0" u="none" strike="noStrike" cap="none" baseline="30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3" name="Google Shape;133;p1"/>
          <p:cNvSpPr/>
          <p:nvPr/>
        </p:nvSpPr>
        <p:spPr>
          <a:xfrm>
            <a:off x="1701200" y="10904150"/>
            <a:ext cx="2327100" cy="8025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Single to multi exon deletion –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Preserves reading frame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4" name="Google Shape;134;p1"/>
          <p:cNvSpPr/>
          <p:nvPr/>
        </p:nvSpPr>
        <p:spPr>
          <a:xfrm>
            <a:off x="1701200" y="8253750"/>
            <a:ext cx="2327100" cy="2769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Full gene deletion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5" name="Google Shape;135;p1"/>
          <p:cNvSpPr/>
          <p:nvPr/>
        </p:nvSpPr>
        <p:spPr>
          <a:xfrm>
            <a:off x="4572975" y="8662000"/>
            <a:ext cx="5868000" cy="2769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Exon is present in biologically-relevant transcript(s)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6" name="Google Shape;136;p1"/>
          <p:cNvSpPr/>
          <p:nvPr/>
        </p:nvSpPr>
        <p:spPr>
          <a:xfrm>
            <a:off x="4544400" y="9544325"/>
            <a:ext cx="5896500" cy="2769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Truncated/altered region is critical to protein function </a:t>
            </a:r>
            <a:r>
              <a:rPr lang="en" sz="1200" b="0" i="0" u="none" strike="noStrike" cap="none" baseline="30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</a:t>
            </a:r>
            <a:endParaRPr sz="1400" b="0" i="0" u="none" strike="noStrike" cap="none" baseline="300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7" name="Google Shape;137;p1"/>
          <p:cNvSpPr/>
          <p:nvPr/>
        </p:nvSpPr>
        <p:spPr>
          <a:xfrm>
            <a:off x="4572900" y="9090575"/>
            <a:ext cx="5868000" cy="276900"/>
          </a:xfrm>
          <a:prstGeom prst="rect">
            <a:avLst/>
          </a:prstGeom>
          <a:solidFill>
            <a:schemeClr val="tx2">
              <a:lumMod val="90000"/>
            </a:schemeClr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Exon is absent from biologically-relevant transcript(s)</a:t>
            </a:r>
            <a:endParaRPr sz="12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8" name="Google Shape;138;p1"/>
          <p:cNvSpPr/>
          <p:nvPr/>
        </p:nvSpPr>
        <p:spPr>
          <a:xfrm>
            <a:off x="4572975" y="9918775"/>
            <a:ext cx="1080900" cy="15582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Role of region in protein function is unknown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9" name="Google Shape;139;p1"/>
          <p:cNvSpPr/>
          <p:nvPr/>
        </p:nvSpPr>
        <p:spPr>
          <a:xfrm>
            <a:off x="6217275" y="9928700"/>
            <a:ext cx="4234500" cy="4617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LoF variants in this exon are frequent in the general population and/or exon is absent from biologically-relevant transcript(s)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0" name="Google Shape;140;p1"/>
          <p:cNvSpPr/>
          <p:nvPr/>
        </p:nvSpPr>
        <p:spPr>
          <a:xfrm>
            <a:off x="10945225" y="8253750"/>
            <a:ext cx="1281000" cy="2769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PVS1 </a:t>
            </a:r>
            <a:r>
              <a:rPr lang="en" sz="1200" b="0" i="0" u="none" strike="noStrike" cap="none" baseline="30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</a:t>
            </a:r>
            <a:endParaRPr sz="1400" b="0" i="0" u="none" strike="noStrike" cap="none" baseline="300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1" name="Google Shape;141;p1"/>
          <p:cNvSpPr/>
          <p:nvPr/>
        </p:nvSpPr>
        <p:spPr>
          <a:xfrm>
            <a:off x="4544400" y="11562250"/>
            <a:ext cx="5907300" cy="423488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Truncated/altered region is critical to protein </a:t>
            </a:r>
            <a:r>
              <a:rPr lang="en-US" sz="1200" b="0" i="0" u="none" strike="noStrike" cap="none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function</a:t>
            </a:r>
            <a:r>
              <a:rPr lang="en-US" sz="1200" b="0" i="0" u="none" strike="noStrike" cap="none" baseline="3000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</a:t>
            </a:r>
            <a:r>
              <a:rPr lang="en-US" sz="12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</a:t>
            </a:r>
          </a:p>
          <a:p>
            <a:pPr algn="ctr">
              <a:buSzPts val="1200"/>
            </a:pPr>
            <a:r>
              <a:rPr lang="en-US" sz="1200" dirty="0">
                <a:latin typeface="Times New Roman"/>
                <a:ea typeface="Times New Roman"/>
                <a:cs typeface="Times New Roman"/>
                <a:sym typeface="Times New Roman"/>
              </a:rPr>
              <a:t>exon 2 (Arg89, His 91), exon 5 (</a:t>
            </a:r>
            <a:r>
              <a:rPr lang="en-US" sz="1200" dirty="0" err="1">
                <a:solidFill>
                  <a:schemeClr val="tx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Asn</a:t>
            </a:r>
            <a:r>
              <a:rPr lang="en-US" sz="1200" dirty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181, Glu182) </a:t>
            </a:r>
            <a:r>
              <a:rPr lang="en-US" sz="1200" b="0" i="0" u="none" strike="noStrike" cap="none" dirty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exon 7 (Glu299)</a:t>
            </a:r>
            <a:endParaRPr lang="en-US" sz="1200" b="0" i="0" u="none" strike="noStrike" cap="none" dirty="0">
              <a:solidFill>
                <a:srgbClr val="000000"/>
              </a:solidFill>
              <a:highlight>
                <a:srgbClr val="FFFF00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2" name="Google Shape;142;p1"/>
          <p:cNvSpPr/>
          <p:nvPr/>
        </p:nvSpPr>
        <p:spPr>
          <a:xfrm>
            <a:off x="10945225" y="8662000"/>
            <a:ext cx="1281000" cy="2769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PVS1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3" name="Google Shape;143;p1"/>
          <p:cNvSpPr/>
          <p:nvPr/>
        </p:nvSpPr>
        <p:spPr>
          <a:xfrm>
            <a:off x="10945225" y="9090575"/>
            <a:ext cx="1281000" cy="2769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N/A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4" name="Google Shape;144;p1"/>
          <p:cNvSpPr/>
          <p:nvPr/>
        </p:nvSpPr>
        <p:spPr>
          <a:xfrm>
            <a:off x="10945225" y="9544325"/>
            <a:ext cx="1281000" cy="2769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PVS1_Strong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5" name="Google Shape;145;p1"/>
          <p:cNvSpPr/>
          <p:nvPr/>
        </p:nvSpPr>
        <p:spPr>
          <a:xfrm>
            <a:off x="10945225" y="9973850"/>
            <a:ext cx="1281000" cy="3714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N/A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6" name="Google Shape;146;p1"/>
          <p:cNvSpPr/>
          <p:nvPr/>
        </p:nvSpPr>
        <p:spPr>
          <a:xfrm>
            <a:off x="10945225" y="10562425"/>
            <a:ext cx="1281000" cy="3243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PVS1_Strong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7" name="Google Shape;147;p1"/>
          <p:cNvSpPr/>
          <p:nvPr/>
        </p:nvSpPr>
        <p:spPr>
          <a:xfrm>
            <a:off x="10945225" y="11065050"/>
            <a:ext cx="1281000" cy="3714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PVS1_Moderate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8" name="Google Shape;148;p1"/>
          <p:cNvSpPr/>
          <p:nvPr/>
        </p:nvSpPr>
        <p:spPr>
          <a:xfrm>
            <a:off x="10945225" y="11562250"/>
            <a:ext cx="1281000" cy="2769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PVS1_Strong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9" name="Google Shape;149;p1"/>
          <p:cNvSpPr txBox="1"/>
          <p:nvPr/>
        </p:nvSpPr>
        <p:spPr>
          <a:xfrm>
            <a:off x="80325" y="12085325"/>
            <a:ext cx="1105800" cy="14811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200" b="1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Duplication</a:t>
            </a:r>
            <a:endParaRPr sz="1200" b="1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" sz="10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(≥1 exon in size and must be completely contained within gene)</a:t>
            </a:r>
            <a:endParaRPr sz="10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0" name="Google Shape;150;p1"/>
          <p:cNvSpPr/>
          <p:nvPr/>
        </p:nvSpPr>
        <p:spPr>
          <a:xfrm>
            <a:off x="1701200" y="12052375"/>
            <a:ext cx="2327100" cy="3714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Proven in tandem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1" name="Google Shape;151;p1"/>
          <p:cNvSpPr/>
          <p:nvPr/>
        </p:nvSpPr>
        <p:spPr>
          <a:xfrm>
            <a:off x="1701200" y="12571475"/>
            <a:ext cx="2327100" cy="4500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Presumed in tandem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2" name="Google Shape;152;p1"/>
          <p:cNvSpPr/>
          <p:nvPr/>
        </p:nvSpPr>
        <p:spPr>
          <a:xfrm>
            <a:off x="1701200" y="13068275"/>
            <a:ext cx="2327100" cy="4617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Proven not in tandem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3" name="Google Shape;153;p1"/>
          <p:cNvSpPr/>
          <p:nvPr/>
        </p:nvSpPr>
        <p:spPr>
          <a:xfrm>
            <a:off x="4533725" y="12051213"/>
            <a:ext cx="5907300" cy="2769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Reading frame disrupted and NMD predicted to occur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4" name="Google Shape;154;p1"/>
          <p:cNvSpPr/>
          <p:nvPr/>
        </p:nvSpPr>
        <p:spPr>
          <a:xfrm>
            <a:off x="4533625" y="12418650"/>
            <a:ext cx="5907300" cy="2769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No or unknown impact on reading frame and NMD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5" name="Google Shape;155;p1"/>
          <p:cNvSpPr/>
          <p:nvPr/>
        </p:nvSpPr>
        <p:spPr>
          <a:xfrm>
            <a:off x="4533750" y="12818300"/>
            <a:ext cx="5907300" cy="2769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Reading frame presumed disrupted and NMD predicted to occur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6" name="Google Shape;156;p1"/>
          <p:cNvSpPr/>
          <p:nvPr/>
        </p:nvSpPr>
        <p:spPr>
          <a:xfrm>
            <a:off x="10945225" y="12051213"/>
            <a:ext cx="1281000" cy="2769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PVS1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7" name="Google Shape;157;p1"/>
          <p:cNvSpPr/>
          <p:nvPr/>
        </p:nvSpPr>
        <p:spPr>
          <a:xfrm>
            <a:off x="10945225" y="12418650"/>
            <a:ext cx="1281000" cy="2769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N/A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8" name="Google Shape;158;p1"/>
          <p:cNvSpPr/>
          <p:nvPr/>
        </p:nvSpPr>
        <p:spPr>
          <a:xfrm>
            <a:off x="10945225" y="12818300"/>
            <a:ext cx="1281000" cy="2769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PVS1_Strong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9" name="Google Shape;159;p1"/>
          <p:cNvSpPr/>
          <p:nvPr/>
        </p:nvSpPr>
        <p:spPr>
          <a:xfrm>
            <a:off x="10945225" y="13160675"/>
            <a:ext cx="1281000" cy="2769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N/A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0" name="Google Shape;160;p1"/>
          <p:cNvSpPr txBox="1"/>
          <p:nvPr/>
        </p:nvSpPr>
        <p:spPr>
          <a:xfrm>
            <a:off x="80325" y="13755673"/>
            <a:ext cx="1105800" cy="10758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200" b="1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  <a:extLst>
                  <a:ext uri="http://customooxmlschemas.google.com/">
              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textRoundtripDataId="4"/>
                  </a:ext>
                </a:extLst>
              </a:rPr>
              <a:t>Initiation Codon</a:t>
            </a:r>
            <a:endParaRPr sz="1400" b="1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1" name="Google Shape;161;p1"/>
          <p:cNvSpPr/>
          <p:nvPr/>
        </p:nvSpPr>
        <p:spPr>
          <a:xfrm>
            <a:off x="1659400" y="14372150"/>
            <a:ext cx="2327100" cy="5559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Different functional transcript uses alternative start codon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2" name="Google Shape;162;p1"/>
          <p:cNvSpPr/>
          <p:nvPr/>
        </p:nvSpPr>
        <p:spPr>
          <a:xfrm>
            <a:off x="1659400" y="13779525"/>
            <a:ext cx="2327100" cy="5559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No known alternative start codon in other transcripts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3" name="Google Shape;163;p1"/>
          <p:cNvSpPr/>
          <p:nvPr/>
        </p:nvSpPr>
        <p:spPr>
          <a:xfrm>
            <a:off x="4533801" y="13784050"/>
            <a:ext cx="5781600" cy="2742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≥1 pathogenic variant(s) upstream of closest potential in-frame start codon</a:t>
            </a:r>
            <a:endParaRPr sz="10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64" name="Google Shape;164;p1"/>
          <p:cNvSpPr/>
          <p:nvPr/>
        </p:nvSpPr>
        <p:spPr>
          <a:xfrm>
            <a:off x="4533800" y="14162050"/>
            <a:ext cx="5762700" cy="274200"/>
          </a:xfrm>
          <a:prstGeom prst="rect">
            <a:avLst/>
          </a:prstGeom>
          <a:solidFill>
            <a:schemeClr val="tx2">
              <a:lumMod val="90000"/>
            </a:schemeClr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No pathogenic variant(s) upstream of closest potential in-frame start codon</a:t>
            </a:r>
            <a:endParaRPr sz="10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65" name="Google Shape;165;p1"/>
          <p:cNvSpPr/>
          <p:nvPr/>
        </p:nvSpPr>
        <p:spPr>
          <a:xfrm>
            <a:off x="10945225" y="14160700"/>
            <a:ext cx="1281000" cy="2769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2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N/A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6" name="Google Shape;166;p1"/>
          <p:cNvSpPr/>
          <p:nvPr/>
        </p:nvSpPr>
        <p:spPr>
          <a:xfrm>
            <a:off x="10945225" y="13780400"/>
            <a:ext cx="1281000" cy="2769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2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PVS1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7" name="Google Shape;167;p1"/>
          <p:cNvSpPr/>
          <p:nvPr/>
        </p:nvSpPr>
        <p:spPr>
          <a:xfrm>
            <a:off x="10945225" y="14511650"/>
            <a:ext cx="1281000" cy="2769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N/A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8" name="Google Shape;168;p1"/>
          <p:cNvSpPr/>
          <p:nvPr/>
        </p:nvSpPr>
        <p:spPr>
          <a:xfrm>
            <a:off x="1680250" y="9768325"/>
            <a:ext cx="2327100" cy="9102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Single to multi exon deletion –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Disrupts reading frame and is </a:t>
            </a:r>
            <a:r>
              <a:rPr lang="en" sz="1200" b="1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NOT</a:t>
            </a:r>
            <a:r>
              <a:rPr lang="en" sz="1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predicted to undergo NMD</a:t>
            </a:r>
            <a:r>
              <a:rPr lang="en"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" sz="1200" b="0" i="0" u="none" strike="noStrike" cap="none" baseline="30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69" name="Google Shape;169;p1"/>
          <p:cNvCxnSpPr>
            <a:stCxn id="131" idx="3"/>
            <a:endCxn id="134" idx="1"/>
          </p:cNvCxnSpPr>
          <p:nvPr/>
        </p:nvCxnSpPr>
        <p:spPr>
          <a:xfrm rot="10800000" flipH="1">
            <a:off x="1186125" y="8392225"/>
            <a:ext cx="515100" cy="1675200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170" name="Google Shape;170;p1"/>
          <p:cNvCxnSpPr>
            <a:stCxn id="131" idx="3"/>
            <a:endCxn id="132" idx="1"/>
          </p:cNvCxnSpPr>
          <p:nvPr/>
        </p:nvCxnSpPr>
        <p:spPr>
          <a:xfrm rot="10800000" flipH="1">
            <a:off x="1186125" y="9139525"/>
            <a:ext cx="515100" cy="927900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171" name="Google Shape;171;p1"/>
          <p:cNvCxnSpPr>
            <a:stCxn id="131" idx="3"/>
            <a:endCxn id="168" idx="1"/>
          </p:cNvCxnSpPr>
          <p:nvPr/>
        </p:nvCxnSpPr>
        <p:spPr>
          <a:xfrm>
            <a:off x="1186125" y="10067425"/>
            <a:ext cx="494100" cy="156000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172" name="Google Shape;172;p1"/>
          <p:cNvCxnSpPr>
            <a:stCxn id="131" idx="3"/>
            <a:endCxn id="133" idx="1"/>
          </p:cNvCxnSpPr>
          <p:nvPr/>
        </p:nvCxnSpPr>
        <p:spPr>
          <a:xfrm>
            <a:off x="1186125" y="10067425"/>
            <a:ext cx="515100" cy="1238100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173" name="Google Shape;173;p1"/>
          <p:cNvCxnSpPr>
            <a:stCxn id="134" idx="3"/>
            <a:endCxn id="140" idx="1"/>
          </p:cNvCxnSpPr>
          <p:nvPr/>
        </p:nvCxnSpPr>
        <p:spPr>
          <a:xfrm>
            <a:off x="4028300" y="8392200"/>
            <a:ext cx="6916800" cy="0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174" name="Google Shape;174;p1"/>
          <p:cNvCxnSpPr>
            <a:stCxn id="132" idx="3"/>
            <a:endCxn id="135" idx="1"/>
          </p:cNvCxnSpPr>
          <p:nvPr/>
        </p:nvCxnSpPr>
        <p:spPr>
          <a:xfrm rot="10800000" flipH="1">
            <a:off x="4028300" y="8800450"/>
            <a:ext cx="544800" cy="339000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175" name="Google Shape;175;p1"/>
          <p:cNvCxnSpPr>
            <a:stCxn id="132" idx="3"/>
            <a:endCxn id="137" idx="1"/>
          </p:cNvCxnSpPr>
          <p:nvPr/>
        </p:nvCxnSpPr>
        <p:spPr>
          <a:xfrm>
            <a:off x="4028300" y="9139450"/>
            <a:ext cx="544500" cy="89700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176" name="Google Shape;176;p1"/>
          <p:cNvCxnSpPr>
            <a:stCxn id="168" idx="3"/>
            <a:endCxn id="136" idx="1"/>
          </p:cNvCxnSpPr>
          <p:nvPr/>
        </p:nvCxnSpPr>
        <p:spPr>
          <a:xfrm rot="10800000" flipH="1">
            <a:off x="4007350" y="9682825"/>
            <a:ext cx="537000" cy="540600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177" name="Google Shape;177;p1"/>
          <p:cNvCxnSpPr>
            <a:stCxn id="168" idx="3"/>
            <a:endCxn id="138" idx="1"/>
          </p:cNvCxnSpPr>
          <p:nvPr/>
        </p:nvCxnSpPr>
        <p:spPr>
          <a:xfrm>
            <a:off x="4007350" y="10223425"/>
            <a:ext cx="565500" cy="474600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178" name="Google Shape;178;p1"/>
          <p:cNvCxnSpPr>
            <a:stCxn id="133" idx="3"/>
            <a:endCxn id="138" idx="1"/>
          </p:cNvCxnSpPr>
          <p:nvPr/>
        </p:nvCxnSpPr>
        <p:spPr>
          <a:xfrm rot="10800000" flipH="1">
            <a:off x="4028300" y="10697900"/>
            <a:ext cx="544800" cy="607500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179" name="Google Shape;179;p1"/>
          <p:cNvCxnSpPr>
            <a:cxnSpLocks/>
            <a:stCxn id="133" idx="3"/>
            <a:endCxn id="141" idx="1"/>
          </p:cNvCxnSpPr>
          <p:nvPr/>
        </p:nvCxnSpPr>
        <p:spPr>
          <a:xfrm>
            <a:off x="4028300" y="11305400"/>
            <a:ext cx="516100" cy="468594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180" name="Google Shape;180;p1"/>
          <p:cNvCxnSpPr>
            <a:stCxn id="138" idx="3"/>
            <a:endCxn id="139" idx="1"/>
          </p:cNvCxnSpPr>
          <p:nvPr/>
        </p:nvCxnSpPr>
        <p:spPr>
          <a:xfrm rot="10800000" flipH="1">
            <a:off x="5653875" y="10159675"/>
            <a:ext cx="563400" cy="538200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181" name="Google Shape;181;p1"/>
          <p:cNvCxnSpPr>
            <a:stCxn id="138" idx="3"/>
          </p:cNvCxnSpPr>
          <p:nvPr/>
        </p:nvCxnSpPr>
        <p:spPr>
          <a:xfrm>
            <a:off x="5653875" y="10697875"/>
            <a:ext cx="563400" cy="289800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182" name="Google Shape;182;p1"/>
          <p:cNvCxnSpPr>
            <a:stCxn id="135" idx="3"/>
            <a:endCxn id="142" idx="1"/>
          </p:cNvCxnSpPr>
          <p:nvPr/>
        </p:nvCxnSpPr>
        <p:spPr>
          <a:xfrm>
            <a:off x="10440975" y="8800450"/>
            <a:ext cx="504300" cy="0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183" name="Google Shape;183;p1"/>
          <p:cNvCxnSpPr>
            <a:stCxn id="137" idx="3"/>
            <a:endCxn id="143" idx="1"/>
          </p:cNvCxnSpPr>
          <p:nvPr/>
        </p:nvCxnSpPr>
        <p:spPr>
          <a:xfrm>
            <a:off x="10440900" y="9229025"/>
            <a:ext cx="504300" cy="0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184" name="Google Shape;184;p1"/>
          <p:cNvCxnSpPr>
            <a:stCxn id="136" idx="3"/>
            <a:endCxn id="144" idx="1"/>
          </p:cNvCxnSpPr>
          <p:nvPr/>
        </p:nvCxnSpPr>
        <p:spPr>
          <a:xfrm>
            <a:off x="10440900" y="9682775"/>
            <a:ext cx="504300" cy="0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185" name="Google Shape;185;p1"/>
          <p:cNvCxnSpPr>
            <a:stCxn id="139" idx="3"/>
            <a:endCxn id="145" idx="1"/>
          </p:cNvCxnSpPr>
          <p:nvPr/>
        </p:nvCxnSpPr>
        <p:spPr>
          <a:xfrm>
            <a:off x="10451775" y="10159550"/>
            <a:ext cx="493500" cy="0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186" name="Google Shape;186;p1"/>
          <p:cNvCxnSpPr>
            <a:cxnSpLocks/>
            <a:stCxn id="141" idx="3"/>
            <a:endCxn id="148" idx="1"/>
          </p:cNvCxnSpPr>
          <p:nvPr/>
        </p:nvCxnSpPr>
        <p:spPr>
          <a:xfrm flipV="1">
            <a:off x="10451700" y="11700700"/>
            <a:ext cx="493525" cy="73294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187" name="Google Shape;187;p1"/>
          <p:cNvCxnSpPr>
            <a:stCxn id="149" idx="3"/>
            <a:endCxn id="150" idx="1"/>
          </p:cNvCxnSpPr>
          <p:nvPr/>
        </p:nvCxnSpPr>
        <p:spPr>
          <a:xfrm rot="10800000" flipH="1">
            <a:off x="1186125" y="12238175"/>
            <a:ext cx="515100" cy="587700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188" name="Google Shape;188;p1"/>
          <p:cNvCxnSpPr>
            <a:stCxn id="149" idx="3"/>
            <a:endCxn id="151" idx="1"/>
          </p:cNvCxnSpPr>
          <p:nvPr/>
        </p:nvCxnSpPr>
        <p:spPr>
          <a:xfrm rot="10800000" flipH="1">
            <a:off x="1186125" y="12796475"/>
            <a:ext cx="515100" cy="29400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189" name="Google Shape;189;p1"/>
          <p:cNvCxnSpPr>
            <a:stCxn id="149" idx="3"/>
            <a:endCxn id="152" idx="1"/>
          </p:cNvCxnSpPr>
          <p:nvPr/>
        </p:nvCxnSpPr>
        <p:spPr>
          <a:xfrm>
            <a:off x="1186125" y="12825875"/>
            <a:ext cx="515100" cy="473400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190" name="Google Shape;190;p1"/>
          <p:cNvCxnSpPr>
            <a:stCxn id="150" idx="3"/>
            <a:endCxn id="154" idx="1"/>
          </p:cNvCxnSpPr>
          <p:nvPr/>
        </p:nvCxnSpPr>
        <p:spPr>
          <a:xfrm>
            <a:off x="4028300" y="12238075"/>
            <a:ext cx="505200" cy="318900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191" name="Google Shape;191;p1"/>
          <p:cNvCxnSpPr>
            <a:stCxn id="151" idx="3"/>
            <a:endCxn id="154" idx="1"/>
          </p:cNvCxnSpPr>
          <p:nvPr/>
        </p:nvCxnSpPr>
        <p:spPr>
          <a:xfrm rot="10800000" flipH="1">
            <a:off x="4028300" y="12557075"/>
            <a:ext cx="505200" cy="239400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192" name="Google Shape;192;p1"/>
          <p:cNvCxnSpPr>
            <a:stCxn id="151" idx="3"/>
            <a:endCxn id="155" idx="1"/>
          </p:cNvCxnSpPr>
          <p:nvPr/>
        </p:nvCxnSpPr>
        <p:spPr>
          <a:xfrm>
            <a:off x="4028300" y="12796475"/>
            <a:ext cx="505500" cy="160200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193" name="Google Shape;193;p1"/>
          <p:cNvCxnSpPr>
            <a:stCxn id="153" idx="3"/>
            <a:endCxn id="156" idx="1"/>
          </p:cNvCxnSpPr>
          <p:nvPr/>
        </p:nvCxnSpPr>
        <p:spPr>
          <a:xfrm>
            <a:off x="10441025" y="12189663"/>
            <a:ext cx="504300" cy="0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194" name="Google Shape;194;p1"/>
          <p:cNvCxnSpPr>
            <a:stCxn id="154" idx="3"/>
            <a:endCxn id="157" idx="1"/>
          </p:cNvCxnSpPr>
          <p:nvPr/>
        </p:nvCxnSpPr>
        <p:spPr>
          <a:xfrm>
            <a:off x="10440925" y="12557100"/>
            <a:ext cx="504300" cy="0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195" name="Google Shape;195;p1"/>
          <p:cNvCxnSpPr>
            <a:stCxn id="155" idx="3"/>
            <a:endCxn id="158" idx="1"/>
          </p:cNvCxnSpPr>
          <p:nvPr/>
        </p:nvCxnSpPr>
        <p:spPr>
          <a:xfrm>
            <a:off x="10441050" y="12956750"/>
            <a:ext cx="504300" cy="0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196" name="Google Shape;196;p1"/>
          <p:cNvCxnSpPr>
            <a:stCxn id="162" idx="3"/>
            <a:endCxn id="163" idx="1"/>
          </p:cNvCxnSpPr>
          <p:nvPr/>
        </p:nvCxnSpPr>
        <p:spPr>
          <a:xfrm rot="10800000" flipH="1">
            <a:off x="3986500" y="13921275"/>
            <a:ext cx="547200" cy="136200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197" name="Google Shape;197;p1"/>
          <p:cNvCxnSpPr>
            <a:stCxn id="162" idx="3"/>
            <a:endCxn id="164" idx="1"/>
          </p:cNvCxnSpPr>
          <p:nvPr/>
        </p:nvCxnSpPr>
        <p:spPr>
          <a:xfrm>
            <a:off x="3986500" y="14057475"/>
            <a:ext cx="547200" cy="241800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198" name="Google Shape;198;p1"/>
          <p:cNvCxnSpPr>
            <a:stCxn id="161" idx="3"/>
            <a:endCxn id="167" idx="1"/>
          </p:cNvCxnSpPr>
          <p:nvPr/>
        </p:nvCxnSpPr>
        <p:spPr>
          <a:xfrm>
            <a:off x="3986500" y="14650100"/>
            <a:ext cx="6958800" cy="0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199" name="Google Shape;199;p1"/>
          <p:cNvCxnSpPr>
            <a:stCxn id="163" idx="3"/>
            <a:endCxn id="166" idx="1"/>
          </p:cNvCxnSpPr>
          <p:nvPr/>
        </p:nvCxnSpPr>
        <p:spPr>
          <a:xfrm rot="10800000" flipH="1">
            <a:off x="10315401" y="13918750"/>
            <a:ext cx="629700" cy="2400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200" name="Google Shape;200;p1"/>
          <p:cNvCxnSpPr>
            <a:stCxn id="164" idx="3"/>
            <a:endCxn id="165" idx="1"/>
          </p:cNvCxnSpPr>
          <p:nvPr/>
        </p:nvCxnSpPr>
        <p:spPr>
          <a:xfrm>
            <a:off x="10296500" y="14299150"/>
            <a:ext cx="648600" cy="0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201" name="Google Shape;201;p1"/>
          <p:cNvCxnSpPr>
            <a:stCxn id="160" idx="3"/>
            <a:endCxn id="162" idx="1"/>
          </p:cNvCxnSpPr>
          <p:nvPr/>
        </p:nvCxnSpPr>
        <p:spPr>
          <a:xfrm rot="10800000" flipH="1">
            <a:off x="1186125" y="14057473"/>
            <a:ext cx="473400" cy="236100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202" name="Google Shape;202;p1"/>
          <p:cNvCxnSpPr>
            <a:stCxn id="160" idx="3"/>
            <a:endCxn id="161" idx="1"/>
          </p:cNvCxnSpPr>
          <p:nvPr/>
        </p:nvCxnSpPr>
        <p:spPr>
          <a:xfrm>
            <a:off x="1186125" y="14293573"/>
            <a:ext cx="473400" cy="356400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203" name="Google Shape;203;p1"/>
          <p:cNvSpPr/>
          <p:nvPr/>
        </p:nvSpPr>
        <p:spPr>
          <a:xfrm>
            <a:off x="6217275" y="10498225"/>
            <a:ext cx="2618100" cy="9789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LoF variants in this exon are not frequent in the general population and exon is present in biologically-relevant transcript(s)</a:t>
            </a:r>
            <a:endParaRPr sz="12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04" name="Google Shape;204;p1"/>
          <p:cNvSpPr/>
          <p:nvPr/>
        </p:nvSpPr>
        <p:spPr>
          <a:xfrm>
            <a:off x="9220300" y="10498225"/>
            <a:ext cx="1231500" cy="4527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Variant removes &gt;10% of protein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5" name="Google Shape;205;p1"/>
          <p:cNvSpPr/>
          <p:nvPr/>
        </p:nvSpPr>
        <p:spPr>
          <a:xfrm>
            <a:off x="9220225" y="11024400"/>
            <a:ext cx="1231500" cy="4527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Variant removes &lt;10% of protein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06" name="Google Shape;206;p1"/>
          <p:cNvCxnSpPr>
            <a:stCxn id="203" idx="3"/>
            <a:endCxn id="204" idx="1"/>
          </p:cNvCxnSpPr>
          <p:nvPr/>
        </p:nvCxnSpPr>
        <p:spPr>
          <a:xfrm rot="10800000" flipH="1">
            <a:off x="8835375" y="10724575"/>
            <a:ext cx="384900" cy="263100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207" name="Google Shape;207;p1"/>
          <p:cNvCxnSpPr>
            <a:stCxn id="203" idx="3"/>
            <a:endCxn id="205" idx="1"/>
          </p:cNvCxnSpPr>
          <p:nvPr/>
        </p:nvCxnSpPr>
        <p:spPr>
          <a:xfrm>
            <a:off x="8835375" y="10987675"/>
            <a:ext cx="384900" cy="263100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208" name="Google Shape;208;p1"/>
          <p:cNvCxnSpPr>
            <a:stCxn id="204" idx="3"/>
            <a:endCxn id="146" idx="1"/>
          </p:cNvCxnSpPr>
          <p:nvPr/>
        </p:nvCxnSpPr>
        <p:spPr>
          <a:xfrm>
            <a:off x="10451800" y="10724575"/>
            <a:ext cx="493500" cy="0"/>
          </a:xfrm>
          <a:prstGeom prst="straightConnector1">
            <a:avLst/>
          </a:prstGeom>
          <a:noFill/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209" name="Google Shape;209;p1"/>
          <p:cNvCxnSpPr>
            <a:stCxn id="205" idx="3"/>
            <a:endCxn id="147" idx="1"/>
          </p:cNvCxnSpPr>
          <p:nvPr/>
        </p:nvCxnSpPr>
        <p:spPr>
          <a:xfrm>
            <a:off x="10451725" y="11250750"/>
            <a:ext cx="493500" cy="0"/>
          </a:xfrm>
          <a:prstGeom prst="straightConnector1">
            <a:avLst/>
          </a:prstGeom>
          <a:noFill/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210" name="Google Shape;210;p1"/>
          <p:cNvSpPr/>
          <p:nvPr/>
        </p:nvSpPr>
        <p:spPr>
          <a:xfrm>
            <a:off x="4536350" y="6111113"/>
            <a:ext cx="1080900" cy="15582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2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Role of region in protein function is unknown</a:t>
            </a: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200" dirty="0">
                <a:latin typeface="Times New Roman"/>
                <a:cs typeface="Times New Roman"/>
                <a:sym typeface="Times New Roman"/>
              </a:rPr>
              <a:t>(exons 4, 9, 11)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1" name="Google Shape;211;p1"/>
          <p:cNvSpPr/>
          <p:nvPr/>
        </p:nvSpPr>
        <p:spPr>
          <a:xfrm>
            <a:off x="6180650" y="6099400"/>
            <a:ext cx="4234500" cy="4617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LoF variants in this exon are frequent in the general population and/or exon is absent from biologically-relevant transcript(s)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2" name="Google Shape;212;p1"/>
          <p:cNvSpPr/>
          <p:nvPr/>
        </p:nvSpPr>
        <p:spPr>
          <a:xfrm>
            <a:off x="6180650" y="6668925"/>
            <a:ext cx="2618100" cy="9789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LoF variants in this exon are not frequent in the general population and exon is present in biologically-relevant transcript(s)</a:t>
            </a:r>
            <a:endParaRPr sz="12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13" name="Google Shape;213;p1"/>
          <p:cNvSpPr/>
          <p:nvPr/>
        </p:nvSpPr>
        <p:spPr>
          <a:xfrm>
            <a:off x="9183675" y="6668925"/>
            <a:ext cx="1231500" cy="4527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1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Variant removes &gt;10% of protein (exon 9)</a:t>
            </a:r>
            <a:endParaRPr sz="11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4" name="Google Shape;214;p1"/>
          <p:cNvSpPr/>
          <p:nvPr/>
        </p:nvSpPr>
        <p:spPr>
          <a:xfrm>
            <a:off x="10945225" y="6144550"/>
            <a:ext cx="1281000" cy="3714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N/A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5" name="Google Shape;215;p1"/>
          <p:cNvSpPr/>
          <p:nvPr/>
        </p:nvSpPr>
        <p:spPr>
          <a:xfrm>
            <a:off x="10945225" y="6733125"/>
            <a:ext cx="1281000" cy="3243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PVS1_Strong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6" name="Google Shape;216;p1"/>
          <p:cNvSpPr/>
          <p:nvPr/>
        </p:nvSpPr>
        <p:spPr>
          <a:xfrm>
            <a:off x="10945225" y="7235750"/>
            <a:ext cx="1281000" cy="3714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PVS1_Moderate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7" name="Google Shape;217;p1"/>
          <p:cNvSpPr/>
          <p:nvPr/>
        </p:nvSpPr>
        <p:spPr>
          <a:xfrm>
            <a:off x="9183600" y="7195100"/>
            <a:ext cx="1231500" cy="4527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1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Variant removes &lt;10% of protein (exons 4, 11)</a:t>
            </a:r>
            <a:endParaRPr sz="11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18" name="Google Shape;218;p1"/>
          <p:cNvCxnSpPr>
            <a:endCxn id="211" idx="1"/>
          </p:cNvCxnSpPr>
          <p:nvPr/>
        </p:nvCxnSpPr>
        <p:spPr>
          <a:xfrm rot="10800000" flipH="1">
            <a:off x="5617250" y="6330250"/>
            <a:ext cx="563400" cy="538200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219" name="Google Shape;219;p1"/>
          <p:cNvCxnSpPr>
            <a:endCxn id="212" idx="1"/>
          </p:cNvCxnSpPr>
          <p:nvPr/>
        </p:nvCxnSpPr>
        <p:spPr>
          <a:xfrm>
            <a:off x="5617250" y="6868575"/>
            <a:ext cx="563400" cy="289800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220" name="Google Shape;220;p1"/>
          <p:cNvCxnSpPr>
            <a:stCxn id="212" idx="3"/>
            <a:endCxn id="213" idx="1"/>
          </p:cNvCxnSpPr>
          <p:nvPr/>
        </p:nvCxnSpPr>
        <p:spPr>
          <a:xfrm rot="10800000" flipH="1">
            <a:off x="8798750" y="6895275"/>
            <a:ext cx="384900" cy="263100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221" name="Google Shape;221;p1"/>
          <p:cNvCxnSpPr>
            <a:stCxn id="212" idx="3"/>
            <a:endCxn id="217" idx="1"/>
          </p:cNvCxnSpPr>
          <p:nvPr/>
        </p:nvCxnSpPr>
        <p:spPr>
          <a:xfrm>
            <a:off x="8798750" y="7158375"/>
            <a:ext cx="384900" cy="263100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222" name="Google Shape;222;p1"/>
          <p:cNvCxnSpPr>
            <a:stCxn id="211" idx="3"/>
            <a:endCxn id="214" idx="1"/>
          </p:cNvCxnSpPr>
          <p:nvPr/>
        </p:nvCxnSpPr>
        <p:spPr>
          <a:xfrm>
            <a:off x="10415150" y="6330250"/>
            <a:ext cx="530100" cy="0"/>
          </a:xfrm>
          <a:prstGeom prst="straightConnector1">
            <a:avLst/>
          </a:prstGeom>
          <a:noFill/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223" name="Google Shape;223;p1"/>
          <p:cNvCxnSpPr>
            <a:stCxn id="213" idx="3"/>
            <a:endCxn id="215" idx="1"/>
          </p:cNvCxnSpPr>
          <p:nvPr/>
        </p:nvCxnSpPr>
        <p:spPr>
          <a:xfrm>
            <a:off x="10415175" y="6895275"/>
            <a:ext cx="530100" cy="0"/>
          </a:xfrm>
          <a:prstGeom prst="straightConnector1">
            <a:avLst/>
          </a:prstGeom>
          <a:noFill/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224" name="Google Shape;224;p1"/>
          <p:cNvCxnSpPr>
            <a:stCxn id="217" idx="3"/>
            <a:endCxn id="216" idx="1"/>
          </p:cNvCxnSpPr>
          <p:nvPr/>
        </p:nvCxnSpPr>
        <p:spPr>
          <a:xfrm>
            <a:off x="10415100" y="7421450"/>
            <a:ext cx="530100" cy="0"/>
          </a:xfrm>
          <a:prstGeom prst="straightConnector1">
            <a:avLst/>
          </a:prstGeom>
          <a:noFill/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225" name="Google Shape;225;p1"/>
          <p:cNvCxnSpPr>
            <a:stCxn id="89" idx="3"/>
            <a:endCxn id="210" idx="1"/>
          </p:cNvCxnSpPr>
          <p:nvPr/>
        </p:nvCxnSpPr>
        <p:spPr>
          <a:xfrm rot="10800000" flipH="1">
            <a:off x="4028325" y="6890300"/>
            <a:ext cx="507900" cy="1791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226" name="Google Shape;226;p1"/>
          <p:cNvCxnSpPr>
            <a:cxnSpLocks/>
            <a:stCxn id="89" idx="3"/>
            <a:endCxn id="97" idx="1"/>
          </p:cNvCxnSpPr>
          <p:nvPr/>
        </p:nvCxnSpPr>
        <p:spPr>
          <a:xfrm>
            <a:off x="4028325" y="7069400"/>
            <a:ext cx="505425" cy="889688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227" name="Google Shape;227;p1"/>
          <p:cNvCxnSpPr>
            <a:stCxn id="152" idx="3"/>
            <a:endCxn id="159" idx="1"/>
          </p:cNvCxnSpPr>
          <p:nvPr/>
        </p:nvCxnSpPr>
        <p:spPr>
          <a:xfrm>
            <a:off x="4028300" y="13299125"/>
            <a:ext cx="69168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228" name="Google Shape;228;p1"/>
          <p:cNvCxnSpPr>
            <a:stCxn id="150" idx="3"/>
            <a:endCxn id="153" idx="1"/>
          </p:cNvCxnSpPr>
          <p:nvPr/>
        </p:nvCxnSpPr>
        <p:spPr>
          <a:xfrm rot="10800000" flipH="1">
            <a:off x="4028300" y="12189775"/>
            <a:ext cx="505500" cy="483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triangle" w="med" len="med"/>
          </a:ln>
        </p:spPr>
      </p:cxn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1412</TotalTime>
  <Words>834</Words>
  <Application>Microsoft Office PowerPoint</Application>
  <PresentationFormat>Custom</PresentationFormat>
  <Paragraphs>103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Times New Roman</vt:lpstr>
      <vt:lpstr>Simple Light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Instructions</dc:title>
  <dc:creator>Goldstein, Jenny</dc:creator>
  <cp:lastModifiedBy>Goldstein, Jenny</cp:lastModifiedBy>
  <cp:revision>4</cp:revision>
  <dcterms:modified xsi:type="dcterms:W3CDTF">2024-08-09T15:45:04Z</dcterms:modified>
</cp:coreProperties>
</file>