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"/>
  </p:notesMasterIdLst>
  <p:sldIdLst>
    <p:sldId id="269" r:id="rId2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0" autoAdjust="0"/>
  </p:normalViewPr>
  <p:slideViewPr>
    <p:cSldViewPr snapToGrid="0">
      <p:cViewPr varScale="1">
        <p:scale>
          <a:sx n="111" d="100"/>
          <a:sy n="111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E6DA19F8-4192-445E-90BF-D47B5E06E1AC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5773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67" cy="2736818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67" cy="1056818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782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67" cy="1122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64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56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641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914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591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1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0278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1045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712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78" cy="5454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108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8500" tIns="78500" rIns="78500" bIns="78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18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111" cy="1976455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111" cy="1646864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111" cy="4926818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52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89" cy="806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1038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44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67" cy="2617909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67" cy="1734409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 algn="ctr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650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533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864">
                <a:solidFill>
                  <a:schemeClr val="dk2"/>
                </a:solidFill>
              </a:defRPr>
            </a:lvl1pPr>
            <a:lvl2pPr lvl="1" algn="r">
              <a:buNone/>
              <a:defRPr sz="864">
                <a:solidFill>
                  <a:schemeClr val="dk2"/>
                </a:solidFill>
              </a:defRPr>
            </a:lvl2pPr>
            <a:lvl3pPr lvl="2" algn="r">
              <a:buNone/>
              <a:defRPr sz="864">
                <a:solidFill>
                  <a:schemeClr val="dk2"/>
                </a:solidFill>
              </a:defRPr>
            </a:lvl3pPr>
            <a:lvl4pPr lvl="3" algn="r">
              <a:buNone/>
              <a:defRPr sz="864">
                <a:solidFill>
                  <a:schemeClr val="dk2"/>
                </a:solidFill>
              </a:defRPr>
            </a:lvl4pPr>
            <a:lvl5pPr lvl="4" algn="r">
              <a:buNone/>
              <a:defRPr sz="864">
                <a:solidFill>
                  <a:schemeClr val="dk2"/>
                </a:solidFill>
              </a:defRPr>
            </a:lvl5pPr>
            <a:lvl6pPr lvl="5" algn="r">
              <a:buNone/>
              <a:defRPr sz="864">
                <a:solidFill>
                  <a:schemeClr val="dk2"/>
                </a:solidFill>
              </a:defRPr>
            </a:lvl6pPr>
            <a:lvl7pPr lvl="6" algn="r">
              <a:buNone/>
              <a:defRPr sz="864">
                <a:solidFill>
                  <a:schemeClr val="dk2"/>
                </a:solidFill>
              </a:defRPr>
            </a:lvl7pPr>
            <a:lvl8pPr lvl="7" algn="r">
              <a:buNone/>
              <a:defRPr sz="864">
                <a:solidFill>
                  <a:schemeClr val="dk2"/>
                </a:solidFill>
              </a:defRPr>
            </a:lvl8pPr>
            <a:lvl9pPr lvl="8" algn="r">
              <a:buNone/>
              <a:defRPr sz="864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00371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2832" y="129525"/>
            <a:ext cx="502636" cy="1281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952945" y="125276"/>
            <a:ext cx="1079182" cy="5160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algn="ctr" defTabSz="415595">
              <a:buClr>
                <a:srgbClr val="000000"/>
              </a:buClr>
            </a:pPr>
            <a:endParaRPr lang="en" sz="545" kern="0" baseline="3000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defTabSz="415595">
              <a:buClr>
                <a:srgbClr val="000000"/>
              </a:buClr>
            </a:pPr>
            <a:r>
              <a:rPr lang="en-US" sz="6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GP9 has a single coding exon which is not considered subject to NMD</a:t>
            </a:r>
            <a:endParaRPr sz="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52945" y="692753"/>
            <a:ext cx="1079182" cy="435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258298" y="1145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258263" y="27022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171423" y="9068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171423" y="285491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254957" y="450605"/>
            <a:ext cx="2680227" cy="207978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</a:p>
          <a:p>
            <a:pPr lvl="0" algn="ctr" defTabSz="415595">
              <a:buClr>
                <a:srgbClr val="000000"/>
              </a:buClr>
            </a:pPr>
            <a:r>
              <a:rPr lang="en-US" sz="500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The transmembrane domain (amino acids 148-169) is considered critical to protein function.</a:t>
            </a:r>
            <a:endParaRPr lang="en-US" sz="5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267946" y="702923"/>
            <a:ext cx="491318" cy="64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171423" y="532719"/>
            <a:ext cx="582273" cy="125864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863205" y="997425"/>
            <a:ext cx="886986" cy="50003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735468" y="285593"/>
            <a:ext cx="217500" cy="484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735468" y="770366"/>
            <a:ext cx="217500" cy="1403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55" idx="3"/>
            <a:endCxn id="57" idx="1"/>
          </p:cNvCxnSpPr>
          <p:nvPr/>
        </p:nvCxnSpPr>
        <p:spPr>
          <a:xfrm flipV="1">
            <a:off x="2032127" y="177469"/>
            <a:ext cx="226171" cy="20581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3"/>
          <p:cNvCxnSpPr>
            <a:stCxn id="55" idx="3"/>
            <a:endCxn id="58" idx="1"/>
          </p:cNvCxnSpPr>
          <p:nvPr/>
        </p:nvCxnSpPr>
        <p:spPr>
          <a:xfrm flipV="1">
            <a:off x="2032127" y="333159"/>
            <a:ext cx="226136" cy="501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rot="10800000" flipH="1">
            <a:off x="2032127" y="595662"/>
            <a:ext cx="222818" cy="315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2032127" y="910662"/>
            <a:ext cx="235773" cy="112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232832" y="1485787"/>
            <a:ext cx="502636" cy="211600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545" b="1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636" b="1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952945" y="1530900"/>
            <a:ext cx="1079182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948195" y="2886173"/>
            <a:ext cx="1079182" cy="7082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258263" y="156038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258229" y="1755194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171388" y="156038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171388" y="175519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943423" y="1988639"/>
            <a:ext cx="1088727" cy="732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735468" y="1713309"/>
            <a:ext cx="217500" cy="863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735468" y="2355037"/>
            <a:ext cx="207955" cy="22172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735468" y="2576764"/>
            <a:ext cx="212727" cy="6635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flipV="1">
            <a:off x="2032127" y="1623319"/>
            <a:ext cx="226136" cy="8996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3"/>
          <p:cNvCxnSpPr>
            <a:stCxn id="82" idx="3"/>
            <a:endCxn id="86" idx="1"/>
          </p:cNvCxnSpPr>
          <p:nvPr/>
        </p:nvCxnSpPr>
        <p:spPr>
          <a:xfrm>
            <a:off x="2032127" y="1713287"/>
            <a:ext cx="226102" cy="10483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endCxn id="59" idx="1"/>
          </p:cNvCxnSpPr>
          <p:nvPr/>
        </p:nvCxnSpPr>
        <p:spPr>
          <a:xfrm>
            <a:off x="4925570" y="15361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endCxn id="60" idx="1"/>
          </p:cNvCxnSpPr>
          <p:nvPr/>
        </p:nvCxnSpPr>
        <p:spPr>
          <a:xfrm>
            <a:off x="4925536" y="348423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4935184" y="595651"/>
            <a:ext cx="236182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4925535" y="1623319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3"/>
          <p:cNvCxnSpPr>
            <a:stCxn id="86" idx="3"/>
            <a:endCxn id="93" idx="1"/>
          </p:cNvCxnSpPr>
          <p:nvPr/>
        </p:nvCxnSpPr>
        <p:spPr>
          <a:xfrm>
            <a:off x="4925501" y="181812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221934" y="3690529"/>
            <a:ext cx="502636" cy="173491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58695" y="3917540"/>
            <a:ext cx="1057773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67516" y="5060785"/>
            <a:ext cx="1057773" cy="3647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58695" y="3697335"/>
            <a:ext cx="10577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264013" y="38513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263979" y="4046143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160525" y="369733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636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160491" y="385133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160491" y="4046143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05057" y="5494214"/>
            <a:ext cx="502636" cy="6732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941955" y="5502991"/>
            <a:ext cx="1057773" cy="168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941955" y="5738946"/>
            <a:ext cx="1057773" cy="2045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941955" y="5964764"/>
            <a:ext cx="1057773" cy="209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229444" y="5526124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229398" y="5693141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229455" y="5874800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143762" y="5526124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143762" y="5693141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5143762" y="5874800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143762" y="603042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204897" y="6229206"/>
            <a:ext cx="502636" cy="48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922795" y="6533177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922795" y="6263802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2229340" y="6156957"/>
            <a:ext cx="2628000" cy="2907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 at Met32</a:t>
            </a:r>
          </a:p>
          <a:p>
            <a:pPr defTabSz="415595">
              <a:buClr>
                <a:srgbClr val="000000"/>
              </a:buClr>
            </a:pPr>
            <a:r>
              <a:rPr lang="en-US" sz="600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NM_000174.5(GP9):c.70T&gt;C (p.Cys24Arg)</a:t>
            </a:r>
          </a:p>
          <a:p>
            <a:pPr defTabSz="415595">
              <a:buClr>
                <a:srgbClr val="000000"/>
              </a:buClr>
            </a:pPr>
            <a:r>
              <a:rPr lang="en-US" sz="600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ClinVar 13533 (Pathogenic, 2 stars)</a:t>
            </a:r>
            <a:endParaRPr sz="600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2229340" y="6494912"/>
            <a:ext cx="2619409" cy="12463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r>
              <a:rPr lang="en-US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Met32</a:t>
            </a:r>
            <a:endParaRPr sz="455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143625" y="6437064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5143625" y="6264200"/>
            <a:ext cx="582273" cy="1258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143625" y="6596586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49161" y="4463472"/>
            <a:ext cx="1057773" cy="4137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724570" y="3760279"/>
            <a:ext cx="234136" cy="761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724570" y="4099960"/>
            <a:ext cx="234136" cy="421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724570" y="4521733"/>
            <a:ext cx="224591" cy="70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724570" y="4521733"/>
            <a:ext cx="234136" cy="562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2016468" y="3760267"/>
            <a:ext cx="31440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endCxn id="129" idx="1"/>
          </p:cNvCxnSpPr>
          <p:nvPr/>
        </p:nvCxnSpPr>
        <p:spPr>
          <a:xfrm rot="10800000" flipH="1">
            <a:off x="2016434" y="3914269"/>
            <a:ext cx="247636" cy="154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13"/>
          <p:cNvCxnSpPr>
            <a:endCxn id="131" idx="1"/>
          </p:cNvCxnSpPr>
          <p:nvPr/>
        </p:nvCxnSpPr>
        <p:spPr>
          <a:xfrm>
            <a:off x="2016434" y="4068359"/>
            <a:ext cx="247500" cy="40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4931286" y="3914269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13"/>
          <p:cNvCxnSpPr>
            <a:stCxn id="131" idx="3"/>
            <a:endCxn id="137" idx="1"/>
          </p:cNvCxnSpPr>
          <p:nvPr/>
        </p:nvCxnSpPr>
        <p:spPr>
          <a:xfrm>
            <a:off x="4931252" y="4109075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endCxn id="144" idx="1"/>
          </p:cNvCxnSpPr>
          <p:nvPr/>
        </p:nvCxnSpPr>
        <p:spPr>
          <a:xfrm rot="10800000" flipH="1">
            <a:off x="707830" y="5587446"/>
            <a:ext cx="234136" cy="26713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endCxn id="145" idx="1"/>
          </p:cNvCxnSpPr>
          <p:nvPr/>
        </p:nvCxnSpPr>
        <p:spPr>
          <a:xfrm rot="10800000" flipH="1">
            <a:off x="707830" y="5841218"/>
            <a:ext cx="234136" cy="1336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endCxn id="146" idx="1"/>
          </p:cNvCxnSpPr>
          <p:nvPr/>
        </p:nvCxnSpPr>
        <p:spPr>
          <a:xfrm>
            <a:off x="707830" y="5854582"/>
            <a:ext cx="234136" cy="2150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endCxn id="148" idx="1"/>
          </p:cNvCxnSpPr>
          <p:nvPr/>
        </p:nvCxnSpPr>
        <p:spPr>
          <a:xfrm>
            <a:off x="1999705" y="5611061"/>
            <a:ext cx="229636" cy="1449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endCxn id="148" idx="1"/>
          </p:cNvCxnSpPr>
          <p:nvPr/>
        </p:nvCxnSpPr>
        <p:spPr>
          <a:xfrm rot="10800000" flipH="1">
            <a:off x="1999705" y="5756061"/>
            <a:ext cx="229636" cy="108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endCxn id="149" idx="1"/>
          </p:cNvCxnSpPr>
          <p:nvPr/>
        </p:nvCxnSpPr>
        <p:spPr>
          <a:xfrm>
            <a:off x="1999705" y="5864880"/>
            <a:ext cx="229773" cy="72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4914580" y="5589056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4914535" y="5756073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4914592" y="5937732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1980568" y="6328234"/>
            <a:ext cx="248727" cy="61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1980568" y="6390143"/>
            <a:ext cx="248772" cy="1670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1980568" y="6659518"/>
            <a:ext cx="3163091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4857341" y="6327087"/>
            <a:ext cx="286227" cy="1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/>
          <p:nvPr/>
        </p:nvCxnSpPr>
        <p:spPr>
          <a:xfrm>
            <a:off x="4848750" y="6533177"/>
            <a:ext cx="294818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endCxn id="156" idx="1"/>
          </p:cNvCxnSpPr>
          <p:nvPr/>
        </p:nvCxnSpPr>
        <p:spPr>
          <a:xfrm rot="10800000" flipH="1">
            <a:off x="707670" y="6390143"/>
            <a:ext cx="215182" cy="1073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endCxn id="155" idx="1"/>
          </p:cNvCxnSpPr>
          <p:nvPr/>
        </p:nvCxnSpPr>
        <p:spPr>
          <a:xfrm>
            <a:off x="707670" y="6497461"/>
            <a:ext cx="215182" cy="16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endCxn id="153" idx="1"/>
          </p:cNvCxnSpPr>
          <p:nvPr/>
        </p:nvCxnSpPr>
        <p:spPr>
          <a:xfrm>
            <a:off x="1999705" y="6093357"/>
            <a:ext cx="3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endCxn id="147" idx="1"/>
          </p:cNvCxnSpPr>
          <p:nvPr/>
        </p:nvCxnSpPr>
        <p:spPr>
          <a:xfrm rot="10800000" flipH="1">
            <a:off x="1999705" y="5589107"/>
            <a:ext cx="229773" cy="219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TextBox 223"/>
          <p:cNvSpPr txBox="1"/>
          <p:nvPr/>
        </p:nvSpPr>
        <p:spPr>
          <a:xfrm>
            <a:off x="5698770" y="0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697674" y="1468066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686776" y="3788107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2641" y="-46439"/>
            <a:ext cx="1232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GP9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759023" y="707434"/>
            <a:ext cx="2994673" cy="712324"/>
            <a:chOff x="2814682" y="651489"/>
            <a:chExt cx="2994673" cy="712324"/>
          </a:xfrm>
        </p:grpSpPr>
        <p:sp>
          <p:nvSpPr>
            <p:cNvPr id="63" name="Google Shape;63;p13"/>
            <p:cNvSpPr/>
            <p:nvPr/>
          </p:nvSpPr>
          <p:spPr>
            <a:xfrm>
              <a:off x="3050742" y="651489"/>
              <a:ext cx="1945045" cy="20986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LoF variants in this exon are frequent in the general population and/or exon is absent from biologically-relevant transcript(s)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227082" y="672012"/>
              <a:ext cx="582273" cy="16881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N/A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227082" y="939387"/>
              <a:ext cx="582273" cy="147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216127" y="1177403"/>
              <a:ext cx="582273" cy="1688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PVS1_Moderate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973498" y="91135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&gt;10% of protein (truncation before p.160)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973498" y="115804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&lt;10% of protein (truncation at/after p.160)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p13"/>
            <p:cNvCxnSpPr>
              <a:stCxn id="68" idx="3"/>
              <a:endCxn id="69" idx="1"/>
            </p:cNvCxnSpPr>
            <p:nvPr/>
          </p:nvCxnSpPr>
          <p:spPr>
            <a:xfrm flipV="1">
              <a:off x="3805850" y="1014237"/>
              <a:ext cx="167648" cy="17725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Google Shape;72;p13"/>
            <p:cNvCxnSpPr>
              <a:stCxn id="68" idx="3"/>
              <a:endCxn id="70" idx="1"/>
            </p:cNvCxnSpPr>
            <p:nvPr/>
          </p:nvCxnSpPr>
          <p:spPr>
            <a:xfrm>
              <a:off x="3805850" y="1191496"/>
              <a:ext cx="167648" cy="69431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79;p13"/>
            <p:cNvCxnSpPr>
              <a:stCxn id="62" idx="3"/>
              <a:endCxn id="63" idx="1"/>
            </p:cNvCxnSpPr>
            <p:nvPr/>
          </p:nvCxnSpPr>
          <p:spPr>
            <a:xfrm flipV="1">
              <a:off x="2814923" y="756421"/>
              <a:ext cx="235819" cy="210807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2814682" y="967228"/>
              <a:ext cx="103941" cy="224268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" name="Google Shape;115;p13"/>
            <p:cNvCxnSpPr>
              <a:stCxn id="63" idx="3"/>
              <a:endCxn id="65" idx="1"/>
            </p:cNvCxnSpPr>
            <p:nvPr/>
          </p:nvCxnSpPr>
          <p:spPr>
            <a:xfrm>
              <a:off x="4995786" y="756421"/>
              <a:ext cx="231273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" name="Google Shape;116;p13"/>
            <p:cNvCxnSpPr>
              <a:stCxn id="69" idx="3"/>
              <a:endCxn id="66" idx="1"/>
            </p:cNvCxnSpPr>
            <p:nvPr/>
          </p:nvCxnSpPr>
          <p:spPr>
            <a:xfrm flipV="1">
              <a:off x="4989775" y="1013092"/>
              <a:ext cx="237307" cy="114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117;p13"/>
            <p:cNvCxnSpPr>
              <a:stCxn id="70" idx="3"/>
              <a:endCxn id="67" idx="1"/>
            </p:cNvCxnSpPr>
            <p:nvPr/>
          </p:nvCxnSpPr>
          <p:spPr>
            <a:xfrm>
              <a:off x="4989775" y="1260927"/>
              <a:ext cx="226352" cy="8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39" name="Group 338"/>
          <p:cNvGrpSpPr/>
          <p:nvPr/>
        </p:nvGrpSpPr>
        <p:grpSpPr>
          <a:xfrm>
            <a:off x="2027377" y="1980003"/>
            <a:ext cx="3748657" cy="1621787"/>
            <a:chOff x="2083036" y="1924058"/>
            <a:chExt cx="3748657" cy="1621787"/>
          </a:xfrm>
        </p:grpSpPr>
        <p:sp>
          <p:nvSpPr>
            <p:cNvPr id="87" name="Google Shape;87;p13"/>
            <p:cNvSpPr/>
            <p:nvPr/>
          </p:nvSpPr>
          <p:spPr>
            <a:xfrm>
              <a:off x="2323364" y="2202359"/>
              <a:ext cx="491318" cy="106518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06" name="Google Shape;106;p13"/>
            <p:cNvCxnSpPr>
              <a:stCxn id="100" idx="3"/>
              <a:endCxn id="310" idx="1"/>
            </p:cNvCxnSpPr>
            <p:nvPr/>
          </p:nvCxnSpPr>
          <p:spPr>
            <a:xfrm flipV="1">
              <a:off x="2087809" y="2028047"/>
              <a:ext cx="242716" cy="27105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Google Shape;107;p13"/>
            <p:cNvCxnSpPr>
              <a:stCxn id="100" idx="3"/>
              <a:endCxn id="87" idx="1"/>
            </p:cNvCxnSpPr>
            <p:nvPr/>
          </p:nvCxnSpPr>
          <p:spPr>
            <a:xfrm>
              <a:off x="2087809" y="2299103"/>
              <a:ext cx="235555" cy="43584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" name="Google Shape;124;p13"/>
            <p:cNvCxnSpPr>
              <a:stCxn id="300" idx="3"/>
              <a:endCxn id="301" idx="1"/>
            </p:cNvCxnSpPr>
            <p:nvPr/>
          </p:nvCxnSpPr>
          <p:spPr>
            <a:xfrm>
              <a:off x="5003591" y="3441856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13"/>
            <p:cNvCxnSpPr>
              <a:stCxn id="83" idx="3"/>
              <a:endCxn id="87" idx="1"/>
            </p:cNvCxnSpPr>
            <p:nvPr/>
          </p:nvCxnSpPr>
          <p:spPr>
            <a:xfrm flipV="1">
              <a:off x="2083036" y="2734952"/>
              <a:ext cx="240328" cy="44941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0" name="Google Shape;220;p13"/>
            <p:cNvCxnSpPr>
              <a:stCxn id="83" idx="3"/>
              <a:endCxn id="300" idx="1"/>
            </p:cNvCxnSpPr>
            <p:nvPr/>
          </p:nvCxnSpPr>
          <p:spPr>
            <a:xfrm>
              <a:off x="2083036" y="3184365"/>
              <a:ext cx="240328" cy="2574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49" name="Group 248"/>
            <p:cNvGrpSpPr/>
            <p:nvPr/>
          </p:nvGrpSpPr>
          <p:grpSpPr>
            <a:xfrm>
              <a:off x="2814682" y="2207930"/>
              <a:ext cx="3004008" cy="1051449"/>
              <a:chOff x="6134036" y="3445090"/>
              <a:chExt cx="3004008" cy="1051449"/>
            </a:xfrm>
          </p:grpSpPr>
          <p:grpSp>
            <p:nvGrpSpPr>
              <p:cNvPr id="250" name="Group 249"/>
              <p:cNvGrpSpPr/>
              <p:nvPr/>
            </p:nvGrpSpPr>
            <p:grpSpPr>
              <a:xfrm>
                <a:off x="6134036" y="3445090"/>
                <a:ext cx="3004008" cy="1051449"/>
                <a:chOff x="2814682" y="388288"/>
                <a:chExt cx="3004008" cy="1051449"/>
              </a:xfrm>
            </p:grpSpPr>
            <p:sp>
              <p:nvSpPr>
                <p:cNvPr id="252" name="Google Shape;63;p13"/>
                <p:cNvSpPr/>
                <p:nvPr/>
              </p:nvSpPr>
              <p:spPr>
                <a:xfrm>
                  <a:off x="3037751" y="388288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65;p13"/>
                <p:cNvSpPr/>
                <p:nvPr/>
              </p:nvSpPr>
              <p:spPr>
                <a:xfrm>
                  <a:off x="5236417" y="410477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66;p13"/>
                <p:cNvSpPr/>
                <p:nvPr/>
              </p:nvSpPr>
              <p:spPr>
                <a:xfrm>
                  <a:off x="5233634" y="788220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67;p13"/>
                <p:cNvSpPr/>
                <p:nvPr/>
              </p:nvSpPr>
              <p:spPr>
                <a:xfrm>
                  <a:off x="5227025" y="1199977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69;p13"/>
                <p:cNvSpPr/>
                <p:nvPr/>
              </p:nvSpPr>
              <p:spPr>
                <a:xfrm>
                  <a:off x="3973498" y="680562"/>
                  <a:ext cx="1017345" cy="36387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(truncation before p.160 or deletion of &gt;17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70;p13"/>
                <p:cNvSpPr/>
                <p:nvPr/>
              </p:nvSpPr>
              <p:spPr>
                <a:xfrm>
                  <a:off x="3980244" y="1126519"/>
                  <a:ext cx="1017599" cy="3132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(truncation at/after p.160 or deletion of &lt;18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71;p13"/>
                <p:cNvCxnSpPr>
                  <a:endCxn id="256" idx="1"/>
                </p:cNvCxnSpPr>
                <p:nvPr/>
              </p:nvCxnSpPr>
              <p:spPr>
                <a:xfrm flipV="1">
                  <a:off x="3812595" y="862501"/>
                  <a:ext cx="160903" cy="18486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9" name="Google Shape;72;p13"/>
                <p:cNvCxnSpPr>
                  <a:endCxn id="257" idx="1"/>
                </p:cNvCxnSpPr>
                <p:nvPr/>
              </p:nvCxnSpPr>
              <p:spPr>
                <a:xfrm>
                  <a:off x="3812595" y="1047365"/>
                  <a:ext cx="167649" cy="23576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0" name="Google Shape;79;p13"/>
                <p:cNvCxnSpPr>
                  <a:stCxn id="87" idx="3"/>
                  <a:endCxn id="252" idx="1"/>
                </p:cNvCxnSpPr>
                <p:nvPr/>
              </p:nvCxnSpPr>
              <p:spPr>
                <a:xfrm flipV="1">
                  <a:off x="2814682" y="493220"/>
                  <a:ext cx="223069" cy="42209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1" name="Google Shape;80;p13"/>
                <p:cNvCxnSpPr>
                  <a:stCxn id="87" idx="3"/>
                </p:cNvCxnSpPr>
                <p:nvPr/>
              </p:nvCxnSpPr>
              <p:spPr>
                <a:xfrm>
                  <a:off x="2814682" y="915310"/>
                  <a:ext cx="113206" cy="424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2" name="Google Shape;115;p13"/>
                <p:cNvCxnSpPr>
                  <a:stCxn id="252" idx="3"/>
                  <a:endCxn id="253" idx="1"/>
                </p:cNvCxnSpPr>
                <p:nvPr/>
              </p:nvCxnSpPr>
              <p:spPr>
                <a:xfrm>
                  <a:off x="4982796" y="493220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3" name="Google Shape;116;p13"/>
                <p:cNvCxnSpPr>
                  <a:stCxn id="256" idx="3"/>
                  <a:endCxn id="254" idx="1"/>
                </p:cNvCxnSpPr>
                <p:nvPr/>
              </p:nvCxnSpPr>
              <p:spPr>
                <a:xfrm flipV="1">
                  <a:off x="4990843" y="861925"/>
                  <a:ext cx="242791" cy="5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4" name="Google Shape;117;p13"/>
                <p:cNvCxnSpPr>
                  <a:stCxn id="257" idx="3"/>
                  <a:endCxn id="255" idx="1"/>
                </p:cNvCxnSpPr>
                <p:nvPr/>
              </p:nvCxnSpPr>
              <p:spPr>
                <a:xfrm>
                  <a:off x="4997843" y="1283128"/>
                  <a:ext cx="229182" cy="125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51" name="Google Shape;68;p13"/>
              <p:cNvSpPr/>
              <p:nvPr/>
            </p:nvSpPr>
            <p:spPr>
              <a:xfrm>
                <a:off x="6225848" y="3824257"/>
                <a:ext cx="899356" cy="616888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00" name="Google Shape;61;p13"/>
            <p:cNvSpPr/>
            <p:nvPr/>
          </p:nvSpPr>
          <p:spPr>
            <a:xfrm>
              <a:off x="2323364" y="3337867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148-169)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1" name="Google Shape;64;p13"/>
            <p:cNvSpPr/>
            <p:nvPr/>
          </p:nvSpPr>
          <p:spPr>
            <a:xfrm>
              <a:off x="5249420" y="3380779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148-169)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114;p13"/>
            <p:cNvCxnSpPr>
              <a:stCxn id="310" idx="3"/>
              <a:endCxn id="31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0" name="Group 339"/>
          <p:cNvGrpSpPr/>
          <p:nvPr/>
        </p:nvGrpSpPr>
        <p:grpSpPr>
          <a:xfrm>
            <a:off x="2007504" y="4227191"/>
            <a:ext cx="3751045" cy="1240331"/>
            <a:chOff x="2087809" y="1924058"/>
            <a:chExt cx="3751045" cy="1240331"/>
          </a:xfrm>
        </p:grpSpPr>
        <p:sp>
          <p:nvSpPr>
            <p:cNvPr id="341" name="Google Shape;87;p13"/>
            <p:cNvSpPr/>
            <p:nvPr/>
          </p:nvSpPr>
          <p:spPr>
            <a:xfrm>
              <a:off x="2323364" y="2202359"/>
              <a:ext cx="491318" cy="70535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106;p13"/>
            <p:cNvCxnSpPr/>
            <p:nvPr/>
          </p:nvCxnSpPr>
          <p:spPr>
            <a:xfrm flipV="1">
              <a:off x="2087809" y="1991738"/>
              <a:ext cx="245689" cy="307365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3" name="Google Shape;107;p13"/>
            <p:cNvCxnSpPr>
              <a:endCxn id="341" idx="1"/>
            </p:cNvCxnSpPr>
            <p:nvPr/>
          </p:nvCxnSpPr>
          <p:spPr>
            <a:xfrm>
              <a:off x="2087809" y="2299103"/>
              <a:ext cx="235555" cy="25593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4" name="Google Shape;124;p13"/>
            <p:cNvCxnSpPr>
              <a:stCxn id="348" idx="3"/>
              <a:endCxn id="349" idx="1"/>
            </p:cNvCxnSpPr>
            <p:nvPr/>
          </p:nvCxnSpPr>
          <p:spPr>
            <a:xfrm>
              <a:off x="5010752" y="3060400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5" name="Google Shape;219;p13"/>
            <p:cNvCxnSpPr/>
            <p:nvPr/>
          </p:nvCxnSpPr>
          <p:spPr>
            <a:xfrm flipV="1">
              <a:off x="2125215" y="2578927"/>
              <a:ext cx="186955" cy="4203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6" name="Google Shape;220;p13"/>
            <p:cNvCxnSpPr>
              <a:endCxn id="348" idx="1"/>
            </p:cNvCxnSpPr>
            <p:nvPr/>
          </p:nvCxnSpPr>
          <p:spPr>
            <a:xfrm>
              <a:off x="2114427" y="3009204"/>
              <a:ext cx="216098" cy="511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347" name="Group 346"/>
            <p:cNvGrpSpPr/>
            <p:nvPr/>
          </p:nvGrpSpPr>
          <p:grpSpPr>
            <a:xfrm>
              <a:off x="2814682" y="2176101"/>
              <a:ext cx="3021059" cy="737102"/>
              <a:chOff x="6134036" y="3413261"/>
              <a:chExt cx="3021059" cy="737102"/>
            </a:xfrm>
          </p:grpSpPr>
          <p:grpSp>
            <p:nvGrpSpPr>
              <p:cNvPr id="353" name="Group 352"/>
              <p:cNvGrpSpPr/>
              <p:nvPr/>
            </p:nvGrpSpPr>
            <p:grpSpPr>
              <a:xfrm>
                <a:off x="6134036" y="3413261"/>
                <a:ext cx="3021059" cy="737102"/>
                <a:chOff x="2814682" y="356459"/>
                <a:chExt cx="3021059" cy="737102"/>
              </a:xfrm>
            </p:grpSpPr>
            <p:sp>
              <p:nvSpPr>
                <p:cNvPr id="355" name="Google Shape;63;p13"/>
                <p:cNvSpPr/>
                <p:nvPr/>
              </p:nvSpPr>
              <p:spPr>
                <a:xfrm>
                  <a:off x="3054802" y="356459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65;p13"/>
                <p:cNvSpPr/>
                <p:nvPr/>
              </p:nvSpPr>
              <p:spPr>
                <a:xfrm>
                  <a:off x="5253468" y="378648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66;p13"/>
                <p:cNvSpPr/>
                <p:nvPr/>
              </p:nvSpPr>
              <p:spPr>
                <a:xfrm>
                  <a:off x="5248293" y="634101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67;p13"/>
                <p:cNvSpPr/>
                <p:nvPr/>
              </p:nvSpPr>
              <p:spPr>
                <a:xfrm>
                  <a:off x="5253467" y="907088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69;p13"/>
                <p:cNvSpPr/>
                <p:nvPr/>
              </p:nvSpPr>
              <p:spPr>
                <a:xfrm>
                  <a:off x="3973692" y="600627"/>
                  <a:ext cx="1026155" cy="23236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(deletion of &gt;17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70;p13"/>
                <p:cNvSpPr/>
                <p:nvPr/>
              </p:nvSpPr>
              <p:spPr>
                <a:xfrm>
                  <a:off x="3991312" y="879324"/>
                  <a:ext cx="1017599" cy="21423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(deletion of &lt;18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1" name="Google Shape;71;p13"/>
                <p:cNvCxnSpPr>
                  <a:stCxn id="354" idx="3"/>
                  <a:endCxn id="359" idx="1"/>
                </p:cNvCxnSpPr>
                <p:nvPr/>
              </p:nvCxnSpPr>
              <p:spPr>
                <a:xfrm flipV="1">
                  <a:off x="3896492" y="716809"/>
                  <a:ext cx="77200" cy="12606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72;p13"/>
                <p:cNvCxnSpPr>
                  <a:stCxn id="354" idx="3"/>
                  <a:endCxn id="360" idx="1"/>
                </p:cNvCxnSpPr>
                <p:nvPr/>
              </p:nvCxnSpPr>
              <p:spPr>
                <a:xfrm>
                  <a:off x="3896492" y="842873"/>
                  <a:ext cx="94820" cy="1435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79;p13"/>
                <p:cNvCxnSpPr>
                  <a:stCxn id="341" idx="3"/>
                  <a:endCxn id="355" idx="1"/>
                </p:cNvCxnSpPr>
                <p:nvPr/>
              </p:nvCxnSpPr>
              <p:spPr>
                <a:xfrm flipV="1">
                  <a:off x="2814682" y="461391"/>
                  <a:ext cx="240120" cy="27400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4" name="Google Shape;80;p13"/>
                <p:cNvCxnSpPr>
                  <a:stCxn id="341" idx="3"/>
                  <a:endCxn id="354" idx="1"/>
                </p:cNvCxnSpPr>
                <p:nvPr/>
              </p:nvCxnSpPr>
              <p:spPr>
                <a:xfrm>
                  <a:off x="2814682" y="735397"/>
                  <a:ext cx="148114" cy="1074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5" name="Google Shape;115;p13"/>
                <p:cNvCxnSpPr>
                  <a:stCxn id="355" idx="3"/>
                  <a:endCxn id="356" idx="1"/>
                </p:cNvCxnSpPr>
                <p:nvPr/>
              </p:nvCxnSpPr>
              <p:spPr>
                <a:xfrm>
                  <a:off x="4999847" y="461391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6" name="Google Shape;116;p13"/>
                <p:cNvCxnSpPr>
                  <a:stCxn id="359" idx="3"/>
                  <a:endCxn id="357" idx="1"/>
                </p:cNvCxnSpPr>
                <p:nvPr/>
              </p:nvCxnSpPr>
              <p:spPr>
                <a:xfrm flipV="1">
                  <a:off x="4999847" y="707806"/>
                  <a:ext cx="248446" cy="900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7" name="Google Shape;117;p13"/>
                <p:cNvCxnSpPr>
                  <a:stCxn id="360" idx="3"/>
                  <a:endCxn id="358" idx="1"/>
                </p:cNvCxnSpPr>
                <p:nvPr/>
              </p:nvCxnSpPr>
              <p:spPr>
                <a:xfrm>
                  <a:off x="5008911" y="986443"/>
                  <a:ext cx="244556" cy="505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54" name="Google Shape;68;p13"/>
              <p:cNvSpPr/>
              <p:nvPr/>
            </p:nvSpPr>
            <p:spPr>
              <a:xfrm>
                <a:off x="6282150" y="3677435"/>
                <a:ext cx="933696" cy="444479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48" name="Google Shape;61;p13"/>
            <p:cNvSpPr/>
            <p:nvPr/>
          </p:nvSpPr>
          <p:spPr>
            <a:xfrm>
              <a:off x="2330525" y="2956411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148-169)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9" name="Google Shape;64;p13"/>
            <p:cNvSpPr/>
            <p:nvPr/>
          </p:nvSpPr>
          <p:spPr>
            <a:xfrm>
              <a:off x="5256581" y="2999323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148-169)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114;p13"/>
            <p:cNvCxnSpPr>
              <a:stCxn id="350" idx="3"/>
              <a:endCxn id="35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28" name="Rectangle 427"/>
          <p:cNvSpPr/>
          <p:nvPr/>
        </p:nvSpPr>
        <p:spPr>
          <a:xfrm>
            <a:off x="5725898" y="976762"/>
            <a:ext cx="32495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800" dirty="0"/>
              <a:t>terminal most PTV:</a:t>
            </a:r>
          </a:p>
          <a:p>
            <a:r>
              <a:rPr lang="da-DK" sz="800" dirty="0"/>
              <a:t>NM_000174.5:c.450G&gt;A (p.Trp150Ter)</a:t>
            </a:r>
          </a:p>
          <a:p>
            <a:r>
              <a:rPr lang="en-US" sz="800" dirty="0"/>
              <a:t>Xu et al., 2010 (PMID: 20497174)</a:t>
            </a:r>
          </a:p>
        </p:txBody>
      </p:sp>
    </p:spTree>
    <p:extLst>
      <p:ext uri="{BB962C8B-B14F-4D97-AF65-F5344CB8AC3E}">
        <p14:creationId xmlns:p14="http://schemas.microsoft.com/office/powerpoint/2010/main" val="31675946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810</Words>
  <Application>Microsoft Office PowerPoint</Application>
  <PresentationFormat>On-screen Show (4:3)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Justyne</dc:creator>
  <dc:description/>
  <cp:lastModifiedBy>Lee, Kristy</cp:lastModifiedBy>
  <cp:revision>32</cp:revision>
  <dcterms:modified xsi:type="dcterms:W3CDTF">2024-07-31T14:06:58Z</dcterms:modified>
  <dc:language>en-US</dc:language>
</cp:coreProperties>
</file>