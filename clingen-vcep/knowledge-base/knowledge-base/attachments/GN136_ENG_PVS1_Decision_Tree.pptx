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12344400" cy="150876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872">
          <p15:clr>
            <a:srgbClr val="A4A3A4"/>
          </p15:clr>
        </p15:guide>
        <p15:guide id="2" pos="3888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Mille, Desiree" initials="DD" lastIdx="7" clrIdx="0">
    <p:extLst>
      <p:ext uri="{19B8F6BF-5375-455C-9EA6-DF929625EA0E}">
        <p15:presenceInfo xmlns:p15="http://schemas.microsoft.com/office/powerpoint/2012/main" userId="S::desiree.demille@aruplab.com::73dd2ecb-9ee4-44b3-ae85-7d44ba4806b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0" d="100"/>
          <a:sy n="80" d="100"/>
        </p:scale>
        <p:origin x="1716" y="60"/>
      </p:cViewPr>
      <p:guideLst>
        <p:guide orient="horz" pos="1872"/>
        <p:guide pos="38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26544" y="685800"/>
            <a:ext cx="2805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27238" y="685800"/>
            <a:ext cx="28051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420806" y="2184087"/>
            <a:ext cx="11502900" cy="6021000"/>
          </a:xfrm>
          <a:prstGeom prst="rect">
            <a:avLst/>
          </a:prstGeom>
        </p:spPr>
        <p:txBody>
          <a:bodyPr spcFirstLastPara="1" wrap="square" lIns="172700" tIns="172700" rIns="172700" bIns="172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1pPr>
            <a:lvl2pPr lvl="1" algn="ctr"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2pPr>
            <a:lvl3pPr lvl="2" algn="ctr"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3pPr>
            <a:lvl4pPr lvl="3" algn="ctr"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4pPr>
            <a:lvl5pPr lvl="4" algn="ctr"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5pPr>
            <a:lvl6pPr lvl="5" algn="ctr"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6pPr>
            <a:lvl7pPr lvl="6" algn="ctr"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7pPr>
            <a:lvl8pPr lvl="7" algn="ctr"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8pPr>
            <a:lvl9pPr lvl="8" algn="ctr"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20795" y="8313433"/>
            <a:ext cx="11502900" cy="2325000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420795" y="1305407"/>
            <a:ext cx="11502900" cy="1680000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420795" y="3380593"/>
            <a:ext cx="5399700" cy="10021500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393700">
              <a:spcBef>
                <a:spcPts val="0"/>
              </a:spcBef>
              <a:spcAft>
                <a:spcPts val="0"/>
              </a:spcAft>
              <a:buSzPts val="2600"/>
              <a:buChar char="●"/>
              <a:defRPr sz="2600"/>
            </a:lvl1pPr>
            <a:lvl2pPr marL="914400" lvl="1" indent="-374650"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2pPr>
            <a:lvl3pPr marL="1371600" lvl="2" indent="-374650"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3pPr>
            <a:lvl4pPr marL="1828800" lvl="3" indent="-374650"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4pPr>
            <a:lvl5pPr marL="2286000" lvl="4" indent="-374650"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5pPr>
            <a:lvl6pPr marL="2743200" lvl="5" indent="-374650"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6pPr>
            <a:lvl7pPr marL="3200400" lvl="6" indent="-374650"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7pPr>
            <a:lvl8pPr marL="3657600" lvl="7" indent="-374650"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8pPr>
            <a:lvl9pPr marL="4114800" lvl="8" indent="-374650">
              <a:spcBef>
                <a:spcPts val="3000"/>
              </a:spcBef>
              <a:spcAft>
                <a:spcPts val="3000"/>
              </a:spcAft>
              <a:buSzPts val="2300"/>
              <a:buChar char="■"/>
              <a:defRPr sz="23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6523740" y="3380593"/>
            <a:ext cx="5399700" cy="10021500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393700">
              <a:spcBef>
                <a:spcPts val="0"/>
              </a:spcBef>
              <a:spcAft>
                <a:spcPts val="0"/>
              </a:spcAft>
              <a:buSzPts val="2600"/>
              <a:buChar char="●"/>
              <a:defRPr sz="2600"/>
            </a:lvl1pPr>
            <a:lvl2pPr marL="914400" lvl="1" indent="-374650"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2pPr>
            <a:lvl3pPr marL="1371600" lvl="2" indent="-374650"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3pPr>
            <a:lvl4pPr marL="1828800" lvl="3" indent="-374650"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4pPr>
            <a:lvl5pPr marL="2286000" lvl="4" indent="-374650"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5pPr>
            <a:lvl6pPr marL="2743200" lvl="5" indent="-374650"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6pPr>
            <a:lvl7pPr marL="3200400" lvl="6" indent="-374650"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7pPr>
            <a:lvl8pPr marL="3657600" lvl="7" indent="-374650"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8pPr>
            <a:lvl9pPr marL="4114800" lvl="8" indent="-374650">
              <a:spcBef>
                <a:spcPts val="3000"/>
              </a:spcBef>
              <a:spcAft>
                <a:spcPts val="3000"/>
              </a:spcAft>
              <a:buSzPts val="2300"/>
              <a:buChar char="■"/>
              <a:defRPr sz="23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420795" y="1305407"/>
            <a:ext cx="11502900" cy="1680000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420795" y="1629760"/>
            <a:ext cx="3790800" cy="2216700"/>
          </a:xfrm>
          <a:prstGeom prst="rect">
            <a:avLst/>
          </a:prstGeom>
        </p:spPr>
        <p:txBody>
          <a:bodyPr spcFirstLastPara="1" wrap="square" lIns="172700" tIns="172700" rIns="172700" bIns="17270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420795" y="4076160"/>
            <a:ext cx="3790800" cy="9326100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374650">
              <a:spcBef>
                <a:spcPts val="0"/>
              </a:spcBef>
              <a:spcAft>
                <a:spcPts val="0"/>
              </a:spcAft>
              <a:buSzPts val="2300"/>
              <a:buChar char="●"/>
              <a:defRPr sz="2300"/>
            </a:lvl1pPr>
            <a:lvl2pPr marL="914400" lvl="1" indent="-374650"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2pPr>
            <a:lvl3pPr marL="1371600" lvl="2" indent="-374650"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3pPr>
            <a:lvl4pPr marL="1828800" lvl="3" indent="-374650"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4pPr>
            <a:lvl5pPr marL="2286000" lvl="4" indent="-374650"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5pPr>
            <a:lvl6pPr marL="2743200" lvl="5" indent="-374650"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6pPr>
            <a:lvl7pPr marL="3200400" lvl="6" indent="-374650"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7pPr>
            <a:lvl8pPr marL="3657600" lvl="7" indent="-374650"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8pPr>
            <a:lvl9pPr marL="4114800" lvl="8" indent="-374650">
              <a:spcBef>
                <a:spcPts val="3000"/>
              </a:spcBef>
              <a:spcAft>
                <a:spcPts val="3000"/>
              </a:spcAft>
              <a:buSzPts val="2300"/>
              <a:buChar char="■"/>
              <a:defRPr sz="23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661838" y="1320440"/>
            <a:ext cx="8596500" cy="119997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1pPr>
            <a:lvl2pPr lvl="1"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2pPr>
            <a:lvl3pPr lvl="2"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3pPr>
            <a:lvl4pPr lvl="3"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4pPr>
            <a:lvl5pPr lvl="4"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5pPr>
            <a:lvl6pPr lvl="5"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6pPr>
            <a:lvl7pPr lvl="6"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7pPr>
            <a:lvl8pPr lvl="7"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8pPr>
            <a:lvl9pPr lvl="8"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6172200" y="-367"/>
            <a:ext cx="6172200" cy="15087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358425" y="3617313"/>
            <a:ext cx="5460900" cy="4348200"/>
          </a:xfrm>
          <a:prstGeom prst="rect">
            <a:avLst/>
          </a:prstGeom>
        </p:spPr>
        <p:txBody>
          <a:bodyPr spcFirstLastPara="1" wrap="square" lIns="172700" tIns="172700" rIns="172700" bIns="172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1pPr>
            <a:lvl2pPr lvl="1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2pPr>
            <a:lvl3pPr lvl="2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3pPr>
            <a:lvl4pPr lvl="3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4pPr>
            <a:lvl5pPr lvl="4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5pPr>
            <a:lvl6pPr lvl="5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6pPr>
            <a:lvl7pPr lvl="6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7pPr>
            <a:lvl8pPr lvl="7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8pPr>
            <a:lvl9pPr lvl="8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358425" y="8222353"/>
            <a:ext cx="5460900" cy="3623100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6668325" y="2123953"/>
            <a:ext cx="5180100" cy="108390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marL="457200" lvl="0" indent="-444500">
              <a:spcBef>
                <a:spcPts val="0"/>
              </a:spcBef>
              <a:spcAft>
                <a:spcPts val="0"/>
              </a:spcAft>
              <a:buSzPts val="3400"/>
              <a:buChar char="●"/>
              <a:defRPr/>
            </a:lvl1pPr>
            <a:lvl2pPr marL="914400" lvl="1" indent="-393700"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2pPr>
            <a:lvl3pPr marL="1371600" lvl="2" indent="-393700"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3pPr>
            <a:lvl4pPr marL="1828800" lvl="3" indent="-393700"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4pPr>
            <a:lvl5pPr marL="2286000" lvl="4" indent="-393700"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5pPr>
            <a:lvl6pPr marL="2743200" lvl="5" indent="-393700"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6pPr>
            <a:lvl7pPr marL="3200400" lvl="6" indent="-393700"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7pPr>
            <a:lvl8pPr marL="3657600" lvl="7" indent="-393700"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8pPr>
            <a:lvl9pPr marL="4114800" lvl="8" indent="-393700">
              <a:spcBef>
                <a:spcPts val="3000"/>
              </a:spcBef>
              <a:spcAft>
                <a:spcPts val="3000"/>
              </a:spcAft>
              <a:buSzPts val="26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420795" y="12409687"/>
            <a:ext cx="8098500" cy="17751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420795" y="3244633"/>
            <a:ext cx="11502900" cy="5759400"/>
          </a:xfrm>
          <a:prstGeom prst="rect">
            <a:avLst/>
          </a:prstGeom>
        </p:spPr>
        <p:txBody>
          <a:bodyPr spcFirstLastPara="1" wrap="square" lIns="172700" tIns="172700" rIns="172700" bIns="172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1pPr>
            <a:lvl2pPr lvl="1" algn="ctr"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2pPr>
            <a:lvl3pPr lvl="2" algn="ctr"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3pPr>
            <a:lvl4pPr lvl="3" algn="ctr"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4pPr>
            <a:lvl5pPr lvl="4" algn="ctr"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5pPr>
            <a:lvl6pPr lvl="5" algn="ctr"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6pPr>
            <a:lvl7pPr lvl="6" algn="ctr"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7pPr>
            <a:lvl8pPr lvl="7" algn="ctr"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8pPr>
            <a:lvl9pPr lvl="8" algn="ctr"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420795" y="9246527"/>
            <a:ext cx="11502900" cy="3815700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444500" algn="ctr">
              <a:spcBef>
                <a:spcPts val="0"/>
              </a:spcBef>
              <a:spcAft>
                <a:spcPts val="0"/>
              </a:spcAft>
              <a:buSzPts val="3400"/>
              <a:buChar char="●"/>
              <a:defRPr/>
            </a:lvl1pPr>
            <a:lvl2pPr marL="914400" lvl="1" indent="-393700" algn="ctr"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2pPr>
            <a:lvl3pPr marL="1371600" lvl="2" indent="-393700" algn="ctr"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3pPr>
            <a:lvl4pPr marL="1828800" lvl="3" indent="-393700" algn="ctr"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4pPr>
            <a:lvl5pPr marL="2286000" lvl="4" indent="-393700" algn="ctr"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5pPr>
            <a:lvl6pPr marL="2743200" lvl="5" indent="-393700" algn="ctr"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6pPr>
            <a:lvl7pPr marL="3200400" lvl="6" indent="-393700" algn="ctr"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7pPr>
            <a:lvl8pPr marL="3657600" lvl="7" indent="-393700" algn="ctr"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8pPr>
            <a:lvl9pPr marL="4114800" lvl="8" indent="-393700" algn="ctr">
              <a:spcBef>
                <a:spcPts val="3000"/>
              </a:spcBef>
              <a:spcAft>
                <a:spcPts val="3000"/>
              </a:spcAft>
              <a:buSzPts val="26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20795" y="1305407"/>
            <a:ext cx="11502900" cy="16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0795" y="3380593"/>
            <a:ext cx="11502900" cy="100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444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Char char="●"/>
              <a:defRPr sz="3400">
                <a:solidFill>
                  <a:schemeClr val="dk2"/>
                </a:solidFill>
              </a:defRPr>
            </a:lvl1pPr>
            <a:lvl2pPr marL="914400" lvl="1" indent="-39370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Char char="○"/>
              <a:defRPr sz="2600">
                <a:solidFill>
                  <a:schemeClr val="dk2"/>
                </a:solidFill>
              </a:defRPr>
            </a:lvl2pPr>
            <a:lvl3pPr marL="1371600" lvl="2" indent="-39370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Char char="■"/>
              <a:defRPr sz="2600">
                <a:solidFill>
                  <a:schemeClr val="dk2"/>
                </a:solidFill>
              </a:defRPr>
            </a:lvl3pPr>
            <a:lvl4pPr marL="1828800" lvl="3" indent="-39370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Char char="●"/>
              <a:defRPr sz="2600">
                <a:solidFill>
                  <a:schemeClr val="dk2"/>
                </a:solidFill>
              </a:defRPr>
            </a:lvl4pPr>
            <a:lvl5pPr marL="2286000" lvl="4" indent="-39370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Char char="○"/>
              <a:defRPr sz="2600">
                <a:solidFill>
                  <a:schemeClr val="dk2"/>
                </a:solidFill>
              </a:defRPr>
            </a:lvl5pPr>
            <a:lvl6pPr marL="2743200" lvl="5" indent="-39370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Char char="■"/>
              <a:defRPr sz="2600">
                <a:solidFill>
                  <a:schemeClr val="dk2"/>
                </a:solidFill>
              </a:defRPr>
            </a:lvl6pPr>
            <a:lvl7pPr marL="3200400" lvl="6" indent="-39370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Char char="●"/>
              <a:defRPr sz="2600">
                <a:solidFill>
                  <a:schemeClr val="dk2"/>
                </a:solidFill>
              </a:defRPr>
            </a:lvl7pPr>
            <a:lvl8pPr marL="3657600" lvl="7" indent="-39370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Char char="○"/>
              <a:defRPr sz="2600">
                <a:solidFill>
                  <a:schemeClr val="dk2"/>
                </a:solidFill>
              </a:defRPr>
            </a:lvl8pPr>
            <a:lvl9pPr marL="4114800" lvl="8" indent="-393700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Clr>
                <a:schemeClr val="dk2"/>
              </a:buClr>
              <a:buSzPts val="2600"/>
              <a:buChar char="■"/>
              <a:defRPr sz="2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 algn="r">
              <a:buNone/>
              <a:defRPr sz="1900">
                <a:solidFill>
                  <a:schemeClr val="dk2"/>
                </a:solidFill>
              </a:defRPr>
            </a:lvl1pPr>
            <a:lvl2pPr lvl="1" algn="r">
              <a:buNone/>
              <a:defRPr sz="1900">
                <a:solidFill>
                  <a:schemeClr val="dk2"/>
                </a:solidFill>
              </a:defRPr>
            </a:lvl2pPr>
            <a:lvl3pPr lvl="2" algn="r">
              <a:buNone/>
              <a:defRPr sz="1900">
                <a:solidFill>
                  <a:schemeClr val="dk2"/>
                </a:solidFill>
              </a:defRPr>
            </a:lvl3pPr>
            <a:lvl4pPr lvl="3" algn="r">
              <a:buNone/>
              <a:defRPr sz="1900">
                <a:solidFill>
                  <a:schemeClr val="dk2"/>
                </a:solidFill>
              </a:defRPr>
            </a:lvl4pPr>
            <a:lvl5pPr lvl="4" algn="r">
              <a:buNone/>
              <a:defRPr sz="1900">
                <a:solidFill>
                  <a:schemeClr val="dk2"/>
                </a:solidFill>
              </a:defRPr>
            </a:lvl5pPr>
            <a:lvl6pPr lvl="5" algn="r">
              <a:buNone/>
              <a:defRPr sz="1900">
                <a:solidFill>
                  <a:schemeClr val="dk2"/>
                </a:solidFill>
              </a:defRPr>
            </a:lvl6pPr>
            <a:lvl7pPr lvl="6" algn="r">
              <a:buNone/>
              <a:defRPr sz="1900">
                <a:solidFill>
                  <a:schemeClr val="dk2"/>
                </a:solidFill>
              </a:defRPr>
            </a:lvl7pPr>
            <a:lvl8pPr lvl="7" algn="r">
              <a:buNone/>
              <a:defRPr sz="1900">
                <a:solidFill>
                  <a:schemeClr val="dk2"/>
                </a:solidFill>
              </a:defRPr>
            </a:lvl8pPr>
            <a:lvl9pPr lvl="8" algn="r">
              <a:buNone/>
              <a:defRPr sz="19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" name="MSIPCMContentMarking" descr="{&quot;HashCode&quot;:-378678958,&quot;Placement&quot;:&quot;Footer&quot;,&quot;Top&quot;:1167.343,&quot;Left&quot;:0.0,&quot;SlideWidth&quot;:972,&quot;SlideHeight&quot;:1188}">
            <a:extLst>
              <a:ext uri="{FF2B5EF4-FFF2-40B4-BE49-F238E27FC236}">
                <a16:creationId xmlns:a16="http://schemas.microsoft.com/office/drawing/2014/main" id="{09D5105F-60C7-4D17-96AD-2036D7B8D2AE}"/>
              </a:ext>
            </a:extLst>
          </p:cNvPr>
          <p:cNvSpPr txBox="1"/>
          <p:nvPr userDrawn="1"/>
        </p:nvSpPr>
        <p:spPr>
          <a:xfrm>
            <a:off x="0" y="14825256"/>
            <a:ext cx="1298973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</a:rPr>
              <a:t>Private Information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80325" y="225673"/>
            <a:ext cx="1105800" cy="2819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Nonsense or Frameshift</a:t>
            </a:r>
            <a:endParaRPr b="1"/>
          </a:p>
        </p:txBody>
      </p:sp>
      <p:sp>
        <p:nvSpPr>
          <p:cNvPr id="55" name="Google Shape;55;p13"/>
          <p:cNvSpPr/>
          <p:nvPr/>
        </p:nvSpPr>
        <p:spPr>
          <a:xfrm>
            <a:off x="1664575" y="35674"/>
            <a:ext cx="2374200" cy="890723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Predicted to undergo NMD: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 ≤ codon 601</a:t>
            </a:r>
          </a:p>
        </p:txBody>
      </p:sp>
      <p:sp>
        <p:nvSpPr>
          <p:cNvPr id="56" name="Google Shape;56;p13"/>
          <p:cNvSpPr/>
          <p:nvPr/>
        </p:nvSpPr>
        <p:spPr>
          <a:xfrm>
            <a:off x="1664575" y="1179025"/>
            <a:ext cx="2374200" cy="9588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predicted to undergo NMD: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 &gt; codon 601</a:t>
            </a:r>
          </a:p>
        </p:txBody>
      </p:sp>
      <p:sp>
        <p:nvSpPr>
          <p:cNvPr id="59" name="Google Shape;59;p13"/>
          <p:cNvSpPr/>
          <p:nvPr/>
        </p:nvSpPr>
        <p:spPr>
          <a:xfrm>
            <a:off x="10945225" y="26890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/>
          </a:p>
        </p:txBody>
      </p:sp>
      <p:sp>
        <p:nvSpPr>
          <p:cNvPr id="62" name="Google Shape;62;p13"/>
          <p:cNvSpPr/>
          <p:nvPr/>
        </p:nvSpPr>
        <p:spPr>
          <a:xfrm>
            <a:off x="4567626" y="1240381"/>
            <a:ext cx="1432949" cy="9238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Role of region in protein function is unknown</a:t>
            </a:r>
            <a:endParaRPr dirty="0"/>
          </a:p>
        </p:txBody>
      </p:sp>
      <p:sp>
        <p:nvSpPr>
          <p:cNvPr id="67" name="Google Shape;67;p13"/>
          <p:cNvSpPr/>
          <p:nvPr/>
        </p:nvSpPr>
        <p:spPr>
          <a:xfrm>
            <a:off x="10899258" y="1451594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PVS1_Moderate</a:t>
            </a:r>
            <a:endParaRPr/>
          </a:p>
        </p:txBody>
      </p:sp>
      <p:sp>
        <p:nvSpPr>
          <p:cNvPr id="70" name="Google Shape;70;p13"/>
          <p:cNvSpPr/>
          <p:nvPr/>
        </p:nvSpPr>
        <p:spPr>
          <a:xfrm>
            <a:off x="6434707" y="1262760"/>
            <a:ext cx="2881223" cy="83415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&lt;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10% of p</a:t>
            </a: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rotein</a:t>
            </a:r>
          </a:p>
        </p:txBody>
      </p:sp>
      <p:cxnSp>
        <p:nvCxnSpPr>
          <p:cNvPr id="72" name="Google Shape;72;p13"/>
          <p:cNvCxnSpPr>
            <a:cxnSpLocks/>
          </p:cNvCxnSpPr>
          <p:nvPr/>
        </p:nvCxnSpPr>
        <p:spPr>
          <a:xfrm>
            <a:off x="6024132" y="1699854"/>
            <a:ext cx="425793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3" name="Google Shape;73;p13"/>
          <p:cNvCxnSpPr>
            <a:cxnSpLocks/>
            <a:stCxn id="54" idx="3"/>
            <a:endCxn id="55" idx="1"/>
          </p:cNvCxnSpPr>
          <p:nvPr/>
        </p:nvCxnSpPr>
        <p:spPr>
          <a:xfrm flipV="1">
            <a:off x="1186125" y="481036"/>
            <a:ext cx="478450" cy="1154487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4" name="Google Shape;74;p13"/>
          <p:cNvCxnSpPr>
            <a:stCxn id="54" idx="3"/>
            <a:endCxn id="56" idx="1"/>
          </p:cNvCxnSpPr>
          <p:nvPr/>
        </p:nvCxnSpPr>
        <p:spPr>
          <a:xfrm>
            <a:off x="1186125" y="1635523"/>
            <a:ext cx="478450" cy="22902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8" name="Google Shape;78;p13"/>
          <p:cNvCxnSpPr>
            <a:cxnSpLocks/>
            <a:stCxn id="56" idx="3"/>
            <a:endCxn id="62" idx="1"/>
          </p:cNvCxnSpPr>
          <p:nvPr/>
        </p:nvCxnSpPr>
        <p:spPr>
          <a:xfrm>
            <a:off x="4038775" y="1658425"/>
            <a:ext cx="528851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1" name="Google Shape;81;p13"/>
          <p:cNvSpPr txBox="1"/>
          <p:nvPr/>
        </p:nvSpPr>
        <p:spPr>
          <a:xfrm>
            <a:off x="80325" y="3209450"/>
            <a:ext cx="1105800" cy="4800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GT--AG</a:t>
            </a:r>
            <a:endParaRPr sz="1200"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1,2 splice </a:t>
            </a:r>
            <a:endParaRPr sz="1200"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sites </a:t>
            </a:r>
            <a:endParaRPr b="1" baseline="30000" dirty="0"/>
          </a:p>
        </p:txBody>
      </p:sp>
      <p:sp>
        <p:nvSpPr>
          <p:cNvPr id="82" name="Google Shape;82;p13"/>
          <p:cNvSpPr/>
          <p:nvPr/>
        </p:nvSpPr>
        <p:spPr>
          <a:xfrm>
            <a:off x="1664575" y="2880693"/>
            <a:ext cx="2374200" cy="1205532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Exon skipping or use of a cryptic splice site d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isrupts reading frame and is predicted to undergo NMD: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 ≤ codon 601</a:t>
            </a:r>
          </a:p>
        </p:txBody>
      </p:sp>
      <p:sp>
        <p:nvSpPr>
          <p:cNvPr id="83" name="Google Shape;83;p13"/>
          <p:cNvSpPr/>
          <p:nvPr/>
        </p:nvSpPr>
        <p:spPr>
          <a:xfrm>
            <a:off x="1654125" y="5853568"/>
            <a:ext cx="2374200" cy="1558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Exon skipping or use of a cryptic splice site p</a:t>
            </a: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reserves reading frame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4536350" y="4489275"/>
            <a:ext cx="1538174" cy="107757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Role of region in protein function is unknown</a:t>
            </a:r>
            <a:endParaRPr/>
          </a:p>
        </p:txBody>
      </p:sp>
      <p:sp>
        <p:nvSpPr>
          <p:cNvPr id="91" name="Google Shape;91;p13"/>
          <p:cNvSpPr/>
          <p:nvPr/>
        </p:nvSpPr>
        <p:spPr>
          <a:xfrm>
            <a:off x="4533750" y="7479390"/>
            <a:ext cx="5907300" cy="495788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function:</a:t>
            </a:r>
          </a:p>
        </p:txBody>
      </p:sp>
      <p:sp>
        <p:nvSpPr>
          <p:cNvPr id="92" name="Google Shape;92;p13"/>
          <p:cNvSpPr/>
          <p:nvPr/>
        </p:nvSpPr>
        <p:spPr>
          <a:xfrm>
            <a:off x="10945225" y="3356325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/>
          </a:p>
        </p:txBody>
      </p:sp>
      <p:sp>
        <p:nvSpPr>
          <p:cNvPr id="97" name="Google Shape;97;p13"/>
          <p:cNvSpPr/>
          <p:nvPr/>
        </p:nvSpPr>
        <p:spPr>
          <a:xfrm>
            <a:off x="10974793" y="4802506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PVS1_Moderate</a:t>
            </a:r>
            <a:endParaRPr/>
          </a:p>
        </p:txBody>
      </p:sp>
      <p:sp>
        <p:nvSpPr>
          <p:cNvPr id="98" name="Google Shape;98;p13"/>
          <p:cNvSpPr/>
          <p:nvPr/>
        </p:nvSpPr>
        <p:spPr>
          <a:xfrm>
            <a:off x="10945225" y="7595325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/>
          </a:p>
        </p:txBody>
      </p:sp>
      <p:sp>
        <p:nvSpPr>
          <p:cNvPr id="99" name="Google Shape;99;p13"/>
          <p:cNvSpPr/>
          <p:nvPr/>
        </p:nvSpPr>
        <p:spPr>
          <a:xfrm>
            <a:off x="6478425" y="4792925"/>
            <a:ext cx="2341574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&lt;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10% of p</a:t>
            </a: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rotein</a:t>
            </a:r>
            <a:endParaRPr dirty="0"/>
          </a:p>
        </p:txBody>
      </p:sp>
      <p:sp>
        <p:nvSpPr>
          <p:cNvPr id="100" name="Google Shape;100;p13"/>
          <p:cNvSpPr/>
          <p:nvPr/>
        </p:nvSpPr>
        <p:spPr>
          <a:xfrm>
            <a:off x="1643625" y="4315725"/>
            <a:ext cx="2395200" cy="138022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Exon skipping or use of a cryptic splice site d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isrupts reading frame and is </a:t>
            </a:r>
            <a:r>
              <a:rPr lang="en" sz="12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predicted to undergo NMD: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 &gt; codon 601</a:t>
            </a:r>
          </a:p>
        </p:txBody>
      </p:sp>
      <p:cxnSp>
        <p:nvCxnSpPr>
          <p:cNvPr id="101" name="Google Shape;101;p13"/>
          <p:cNvCxnSpPr>
            <a:cxnSpLocks/>
            <a:stCxn id="81" idx="3"/>
            <a:endCxn id="82" idx="1"/>
          </p:cNvCxnSpPr>
          <p:nvPr/>
        </p:nvCxnSpPr>
        <p:spPr>
          <a:xfrm flipV="1">
            <a:off x="1186125" y="3483459"/>
            <a:ext cx="478450" cy="2126141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2" name="Google Shape;102;p13"/>
          <p:cNvCxnSpPr>
            <a:cxnSpLocks/>
            <a:stCxn id="81" idx="3"/>
            <a:endCxn id="100" idx="1"/>
          </p:cNvCxnSpPr>
          <p:nvPr/>
        </p:nvCxnSpPr>
        <p:spPr>
          <a:xfrm flipV="1">
            <a:off x="1186125" y="5005838"/>
            <a:ext cx="457500" cy="603762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3" name="Google Shape;103;p13"/>
          <p:cNvCxnSpPr>
            <a:stCxn id="81" idx="3"/>
            <a:endCxn id="83" idx="1"/>
          </p:cNvCxnSpPr>
          <p:nvPr/>
        </p:nvCxnSpPr>
        <p:spPr>
          <a:xfrm>
            <a:off x="1186125" y="5609600"/>
            <a:ext cx="468000" cy="1023068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7" name="Google Shape;107;p13"/>
          <p:cNvCxnSpPr>
            <a:cxnSpLocks/>
            <a:stCxn id="100" idx="3"/>
            <a:endCxn id="87" idx="1"/>
          </p:cNvCxnSpPr>
          <p:nvPr/>
        </p:nvCxnSpPr>
        <p:spPr>
          <a:xfrm>
            <a:off x="4038825" y="5005838"/>
            <a:ext cx="497525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1" name="Google Shape;111;p13"/>
          <p:cNvCxnSpPr>
            <a:cxnSpLocks/>
            <a:endCxn id="99" idx="1"/>
          </p:cNvCxnSpPr>
          <p:nvPr/>
        </p:nvCxnSpPr>
        <p:spPr>
          <a:xfrm flipV="1">
            <a:off x="6074600" y="5019275"/>
            <a:ext cx="403825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2" name="Google Shape;112;p13"/>
          <p:cNvCxnSpPr>
            <a:cxnSpLocks/>
          </p:cNvCxnSpPr>
          <p:nvPr/>
        </p:nvCxnSpPr>
        <p:spPr>
          <a:xfrm>
            <a:off x="4038775" y="416875"/>
            <a:ext cx="690645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7" name="Google Shape;117;p13"/>
          <p:cNvCxnSpPr>
            <a:cxnSpLocks/>
          </p:cNvCxnSpPr>
          <p:nvPr/>
        </p:nvCxnSpPr>
        <p:spPr>
          <a:xfrm flipV="1">
            <a:off x="9315930" y="1642919"/>
            <a:ext cx="1583328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3" name="Google Shape;123;p13"/>
          <p:cNvCxnSpPr>
            <a:cxnSpLocks/>
          </p:cNvCxnSpPr>
          <p:nvPr/>
        </p:nvCxnSpPr>
        <p:spPr>
          <a:xfrm>
            <a:off x="8821267" y="5005837"/>
            <a:ext cx="2153526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4" name="Google Shape;124;p13"/>
          <p:cNvCxnSpPr>
            <a:cxnSpLocks/>
            <a:stCxn id="91" idx="3"/>
            <a:endCxn id="98" idx="1"/>
          </p:cNvCxnSpPr>
          <p:nvPr/>
        </p:nvCxnSpPr>
        <p:spPr>
          <a:xfrm>
            <a:off x="10441050" y="7727284"/>
            <a:ext cx="504175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5" name="Google Shape;125;p13"/>
          <p:cNvSpPr txBox="1"/>
          <p:nvPr/>
        </p:nvSpPr>
        <p:spPr>
          <a:xfrm>
            <a:off x="80325" y="8238775"/>
            <a:ext cx="1105800" cy="3657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Deletion</a:t>
            </a:r>
            <a:endParaRPr sz="1200"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(Single exon to full gene)</a:t>
            </a:r>
            <a:endParaRPr sz="1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13"/>
          <p:cNvSpPr/>
          <p:nvPr/>
        </p:nvSpPr>
        <p:spPr>
          <a:xfrm>
            <a:off x="1701200" y="8738200"/>
            <a:ext cx="2327100" cy="802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to </a:t>
            </a:r>
            <a:r>
              <a:rPr lang="en" sz="1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" sz="1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ulti e</a:t>
            </a:r>
            <a:r>
              <a:rPr lang="en" sz="1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xon d</a:t>
            </a:r>
            <a:r>
              <a:rPr lang="en" sz="1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eletion </a:t>
            </a:r>
            <a:r>
              <a:rPr lang="en" sz="1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</a:t>
            </a:r>
            <a:r>
              <a:rPr lang="en" sz="1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000"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Disrupts reading frame and is predicted to undergo NMD</a:t>
            </a:r>
            <a:endParaRPr lang="en" sz="1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" name="Google Shape;127;p13"/>
          <p:cNvSpPr/>
          <p:nvPr/>
        </p:nvSpPr>
        <p:spPr>
          <a:xfrm>
            <a:off x="1701200" y="10904150"/>
            <a:ext cx="2327100" cy="802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to 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ulti exon 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eletion –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Preserves reading frame</a:t>
            </a:r>
            <a:endParaRPr/>
          </a:p>
        </p:txBody>
      </p:sp>
      <p:sp>
        <p:nvSpPr>
          <p:cNvPr id="128" name="Google Shape;128;p13"/>
          <p:cNvSpPr/>
          <p:nvPr/>
        </p:nvSpPr>
        <p:spPr>
          <a:xfrm>
            <a:off x="1701200" y="8253750"/>
            <a:ext cx="23271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Full gene deletion</a:t>
            </a:r>
            <a:endParaRPr/>
          </a:p>
        </p:txBody>
      </p:sp>
      <p:sp>
        <p:nvSpPr>
          <p:cNvPr id="129" name="Google Shape;129;p13"/>
          <p:cNvSpPr/>
          <p:nvPr/>
        </p:nvSpPr>
        <p:spPr>
          <a:xfrm>
            <a:off x="4572975" y="9003199"/>
            <a:ext cx="5868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present in 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biologically-</a:t>
            </a: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relevant transcript(s)</a:t>
            </a:r>
            <a:endParaRPr/>
          </a:p>
        </p:txBody>
      </p:sp>
      <p:sp>
        <p:nvSpPr>
          <p:cNvPr id="130" name="Google Shape;130;p13"/>
          <p:cNvSpPr/>
          <p:nvPr/>
        </p:nvSpPr>
        <p:spPr>
          <a:xfrm>
            <a:off x="4544400" y="9544324"/>
            <a:ext cx="5896500" cy="447351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function:</a:t>
            </a:r>
            <a:r>
              <a:rPr lang="en-US" sz="1800" baseline="3000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</p:txBody>
      </p:sp>
      <p:sp>
        <p:nvSpPr>
          <p:cNvPr id="132" name="Google Shape;132;p13"/>
          <p:cNvSpPr/>
          <p:nvPr/>
        </p:nvSpPr>
        <p:spPr>
          <a:xfrm>
            <a:off x="4572974" y="10277725"/>
            <a:ext cx="1549249" cy="98467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Role of region in protein function is unknown</a:t>
            </a:r>
            <a:endParaRPr dirty="0"/>
          </a:p>
        </p:txBody>
      </p:sp>
      <p:sp>
        <p:nvSpPr>
          <p:cNvPr id="134" name="Google Shape;134;p13"/>
          <p:cNvSpPr/>
          <p:nvPr/>
        </p:nvSpPr>
        <p:spPr>
          <a:xfrm>
            <a:off x="10945225" y="825375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 </a:t>
            </a:r>
            <a:endParaRPr baseline="30000" dirty="0"/>
          </a:p>
        </p:txBody>
      </p:sp>
      <p:sp>
        <p:nvSpPr>
          <p:cNvPr id="135" name="Google Shape;135;p13"/>
          <p:cNvSpPr/>
          <p:nvPr/>
        </p:nvSpPr>
        <p:spPr>
          <a:xfrm>
            <a:off x="4544400" y="11371925"/>
            <a:ext cx="5907300" cy="46722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 </a:t>
            </a:r>
            <a:endParaRPr lang="en" sz="1200" baseline="30000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" name="Google Shape;136;p13"/>
          <p:cNvSpPr/>
          <p:nvPr/>
        </p:nvSpPr>
        <p:spPr>
          <a:xfrm>
            <a:off x="10945225" y="9003194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/>
          </a:p>
        </p:txBody>
      </p:sp>
      <p:sp>
        <p:nvSpPr>
          <p:cNvPr id="138" name="Google Shape;138;p13"/>
          <p:cNvSpPr/>
          <p:nvPr/>
        </p:nvSpPr>
        <p:spPr>
          <a:xfrm>
            <a:off x="10945225" y="9650655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/>
          </a:p>
        </p:txBody>
      </p:sp>
      <p:sp>
        <p:nvSpPr>
          <p:cNvPr id="142" name="Google Shape;142;p13"/>
          <p:cNvSpPr/>
          <p:nvPr/>
        </p:nvSpPr>
        <p:spPr>
          <a:xfrm>
            <a:off x="10966491" y="11498452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/>
          </a:p>
        </p:txBody>
      </p:sp>
      <p:sp>
        <p:nvSpPr>
          <p:cNvPr id="143" name="Google Shape;143;p13"/>
          <p:cNvSpPr txBox="1"/>
          <p:nvPr/>
        </p:nvSpPr>
        <p:spPr>
          <a:xfrm>
            <a:off x="80325" y="12085325"/>
            <a:ext cx="1105800" cy="14811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Duplication</a:t>
            </a:r>
            <a:endParaRPr sz="12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(≥1 exon in size and must be completely contained within gene)</a:t>
            </a:r>
            <a:endParaRPr sz="1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" name="Google Shape;144;p13"/>
          <p:cNvSpPr/>
          <p:nvPr/>
        </p:nvSpPr>
        <p:spPr>
          <a:xfrm>
            <a:off x="1701200" y="12052375"/>
            <a:ext cx="23271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Proven in tandem</a:t>
            </a:r>
            <a:endParaRPr/>
          </a:p>
        </p:txBody>
      </p:sp>
      <p:sp>
        <p:nvSpPr>
          <p:cNvPr id="145" name="Google Shape;145;p13"/>
          <p:cNvSpPr/>
          <p:nvPr/>
        </p:nvSpPr>
        <p:spPr>
          <a:xfrm>
            <a:off x="1701200" y="12571475"/>
            <a:ext cx="2327100" cy="450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Presumed in tandem</a:t>
            </a:r>
            <a:endParaRPr/>
          </a:p>
        </p:txBody>
      </p:sp>
      <p:sp>
        <p:nvSpPr>
          <p:cNvPr id="146" name="Google Shape;146;p13"/>
          <p:cNvSpPr/>
          <p:nvPr/>
        </p:nvSpPr>
        <p:spPr>
          <a:xfrm>
            <a:off x="1701200" y="13068275"/>
            <a:ext cx="2327100" cy="461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Proven not in tandem</a:t>
            </a:r>
            <a:endParaRPr/>
          </a:p>
        </p:txBody>
      </p:sp>
      <p:sp>
        <p:nvSpPr>
          <p:cNvPr id="147" name="Google Shape;147;p13"/>
          <p:cNvSpPr/>
          <p:nvPr/>
        </p:nvSpPr>
        <p:spPr>
          <a:xfrm>
            <a:off x="4533725" y="12051213"/>
            <a:ext cx="59073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Reading frame disrupted and NMD predicted to occur</a:t>
            </a:r>
            <a:endParaRPr dirty="0"/>
          </a:p>
        </p:txBody>
      </p:sp>
      <p:sp>
        <p:nvSpPr>
          <p:cNvPr id="148" name="Google Shape;148;p13"/>
          <p:cNvSpPr/>
          <p:nvPr/>
        </p:nvSpPr>
        <p:spPr>
          <a:xfrm>
            <a:off x="4533625" y="12418650"/>
            <a:ext cx="59073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No or unknown i</a:t>
            </a: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mpact on reading frame and NMD</a:t>
            </a:r>
            <a:endParaRPr/>
          </a:p>
        </p:txBody>
      </p:sp>
      <p:sp>
        <p:nvSpPr>
          <p:cNvPr id="149" name="Google Shape;149;p13"/>
          <p:cNvSpPr/>
          <p:nvPr/>
        </p:nvSpPr>
        <p:spPr>
          <a:xfrm>
            <a:off x="4533750" y="12818300"/>
            <a:ext cx="59073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Reading frame presumed disrupted and NMD predicted to occur</a:t>
            </a:r>
            <a:endParaRPr/>
          </a:p>
        </p:txBody>
      </p:sp>
      <p:sp>
        <p:nvSpPr>
          <p:cNvPr id="150" name="Google Shape;150;p13"/>
          <p:cNvSpPr/>
          <p:nvPr/>
        </p:nvSpPr>
        <p:spPr>
          <a:xfrm>
            <a:off x="10945225" y="12051213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/>
          </a:p>
        </p:txBody>
      </p:sp>
      <p:sp>
        <p:nvSpPr>
          <p:cNvPr id="151" name="Google Shape;151;p13"/>
          <p:cNvSpPr/>
          <p:nvPr/>
        </p:nvSpPr>
        <p:spPr>
          <a:xfrm>
            <a:off x="10945225" y="1241865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/>
          </a:p>
        </p:txBody>
      </p:sp>
      <p:sp>
        <p:nvSpPr>
          <p:cNvPr id="152" name="Google Shape;152;p13"/>
          <p:cNvSpPr/>
          <p:nvPr/>
        </p:nvSpPr>
        <p:spPr>
          <a:xfrm>
            <a:off x="10945225" y="1281830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/>
          </a:p>
        </p:txBody>
      </p:sp>
      <p:sp>
        <p:nvSpPr>
          <p:cNvPr id="153" name="Google Shape;153;p13"/>
          <p:cNvSpPr/>
          <p:nvPr/>
        </p:nvSpPr>
        <p:spPr>
          <a:xfrm>
            <a:off x="10945225" y="13160675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/>
          </a:p>
        </p:txBody>
      </p:sp>
      <p:sp>
        <p:nvSpPr>
          <p:cNvPr id="154" name="Google Shape;154;p13"/>
          <p:cNvSpPr txBox="1"/>
          <p:nvPr/>
        </p:nvSpPr>
        <p:spPr>
          <a:xfrm>
            <a:off x="80325" y="13755673"/>
            <a:ext cx="1105800" cy="10758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Initiation Codon</a:t>
            </a:r>
            <a:endParaRPr b="1"/>
          </a:p>
        </p:txBody>
      </p:sp>
      <p:sp>
        <p:nvSpPr>
          <p:cNvPr id="156" name="Google Shape;156;p13"/>
          <p:cNvSpPr/>
          <p:nvPr/>
        </p:nvSpPr>
        <p:spPr>
          <a:xfrm>
            <a:off x="1659400" y="13998600"/>
            <a:ext cx="2327100" cy="555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known alternative start codon in other transcripts</a:t>
            </a:r>
            <a:endParaRPr/>
          </a:p>
        </p:txBody>
      </p:sp>
      <p:sp>
        <p:nvSpPr>
          <p:cNvPr id="160" name="Google Shape;160;p13"/>
          <p:cNvSpPr/>
          <p:nvPr/>
        </p:nvSpPr>
        <p:spPr>
          <a:xfrm>
            <a:off x="10964025" y="14135749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</a:t>
            </a:r>
            <a:r>
              <a:rPr lang="en" sz="120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Strong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162" name="Google Shape;162;p13"/>
          <p:cNvSpPr/>
          <p:nvPr/>
        </p:nvSpPr>
        <p:spPr>
          <a:xfrm>
            <a:off x="1680250" y="9768325"/>
            <a:ext cx="2327100" cy="910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to </a:t>
            </a: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ulti e</a:t>
            </a: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xon d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eletion – 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Disrupts reading frame and is </a:t>
            </a:r>
            <a:r>
              <a:rPr lang="en" sz="12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predicted to undergo NMD</a:t>
            </a:r>
            <a: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/>
          </a:p>
        </p:txBody>
      </p:sp>
      <p:cxnSp>
        <p:nvCxnSpPr>
          <p:cNvPr id="163" name="Google Shape;163;p13"/>
          <p:cNvCxnSpPr>
            <a:stCxn id="125" idx="3"/>
            <a:endCxn id="128" idx="1"/>
          </p:cNvCxnSpPr>
          <p:nvPr/>
        </p:nvCxnSpPr>
        <p:spPr>
          <a:xfrm rot="10800000" flipH="1">
            <a:off x="1186125" y="8392225"/>
            <a:ext cx="515100" cy="1675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4" name="Google Shape;164;p13"/>
          <p:cNvCxnSpPr>
            <a:stCxn id="125" idx="3"/>
            <a:endCxn id="126" idx="1"/>
          </p:cNvCxnSpPr>
          <p:nvPr/>
        </p:nvCxnSpPr>
        <p:spPr>
          <a:xfrm rot="10800000" flipH="1">
            <a:off x="1186125" y="9139525"/>
            <a:ext cx="515100" cy="9279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5" name="Google Shape;165;p13"/>
          <p:cNvCxnSpPr>
            <a:stCxn id="125" idx="3"/>
            <a:endCxn id="162" idx="1"/>
          </p:cNvCxnSpPr>
          <p:nvPr/>
        </p:nvCxnSpPr>
        <p:spPr>
          <a:xfrm>
            <a:off x="1186125" y="10067425"/>
            <a:ext cx="494100" cy="1560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6" name="Google Shape;166;p13"/>
          <p:cNvCxnSpPr>
            <a:stCxn id="125" idx="3"/>
            <a:endCxn id="127" idx="1"/>
          </p:cNvCxnSpPr>
          <p:nvPr/>
        </p:nvCxnSpPr>
        <p:spPr>
          <a:xfrm>
            <a:off x="1186125" y="10067425"/>
            <a:ext cx="515100" cy="1238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7" name="Google Shape;167;p13"/>
          <p:cNvCxnSpPr>
            <a:stCxn id="128" idx="3"/>
            <a:endCxn id="134" idx="1"/>
          </p:cNvCxnSpPr>
          <p:nvPr/>
        </p:nvCxnSpPr>
        <p:spPr>
          <a:xfrm>
            <a:off x="4028300" y="8392200"/>
            <a:ext cx="69168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8" name="Google Shape;168;p13"/>
          <p:cNvCxnSpPr>
            <a:stCxn id="126" idx="3"/>
            <a:endCxn id="129" idx="1"/>
          </p:cNvCxnSpPr>
          <p:nvPr/>
        </p:nvCxnSpPr>
        <p:spPr>
          <a:xfrm>
            <a:off x="4028300" y="9139450"/>
            <a:ext cx="544675" cy="2199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0" name="Google Shape;170;p13"/>
          <p:cNvCxnSpPr>
            <a:cxnSpLocks/>
            <a:stCxn id="162" idx="3"/>
            <a:endCxn id="130" idx="1"/>
          </p:cNvCxnSpPr>
          <p:nvPr/>
        </p:nvCxnSpPr>
        <p:spPr>
          <a:xfrm flipV="1">
            <a:off x="4007350" y="9768000"/>
            <a:ext cx="537050" cy="455425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1" name="Google Shape;171;p13"/>
          <p:cNvCxnSpPr>
            <a:cxnSpLocks/>
            <a:stCxn id="162" idx="3"/>
            <a:endCxn id="132" idx="1"/>
          </p:cNvCxnSpPr>
          <p:nvPr/>
        </p:nvCxnSpPr>
        <p:spPr>
          <a:xfrm>
            <a:off x="4007350" y="10223425"/>
            <a:ext cx="565624" cy="546638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2" name="Google Shape;172;p13"/>
          <p:cNvCxnSpPr>
            <a:cxnSpLocks/>
            <a:stCxn id="127" idx="3"/>
            <a:endCxn id="132" idx="1"/>
          </p:cNvCxnSpPr>
          <p:nvPr/>
        </p:nvCxnSpPr>
        <p:spPr>
          <a:xfrm flipV="1">
            <a:off x="4028300" y="10770063"/>
            <a:ext cx="544674" cy="535337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3" name="Google Shape;173;p13"/>
          <p:cNvCxnSpPr>
            <a:cxnSpLocks/>
            <a:stCxn id="127" idx="3"/>
            <a:endCxn id="135" idx="1"/>
          </p:cNvCxnSpPr>
          <p:nvPr/>
        </p:nvCxnSpPr>
        <p:spPr>
          <a:xfrm>
            <a:off x="4028300" y="11305400"/>
            <a:ext cx="516100" cy="300138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6" name="Google Shape;176;p13"/>
          <p:cNvCxnSpPr>
            <a:stCxn id="129" idx="3"/>
            <a:endCxn id="136" idx="1"/>
          </p:cNvCxnSpPr>
          <p:nvPr/>
        </p:nvCxnSpPr>
        <p:spPr>
          <a:xfrm flipV="1">
            <a:off x="10440975" y="9141644"/>
            <a:ext cx="504250" cy="5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1" name="Google Shape;181;p13"/>
          <p:cNvCxnSpPr>
            <a:stCxn id="143" idx="3"/>
            <a:endCxn id="144" idx="1"/>
          </p:cNvCxnSpPr>
          <p:nvPr/>
        </p:nvCxnSpPr>
        <p:spPr>
          <a:xfrm rot="10800000" flipH="1">
            <a:off x="1186125" y="12238175"/>
            <a:ext cx="515100" cy="5877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2" name="Google Shape;182;p13"/>
          <p:cNvCxnSpPr>
            <a:stCxn id="143" idx="3"/>
            <a:endCxn id="145" idx="1"/>
          </p:cNvCxnSpPr>
          <p:nvPr/>
        </p:nvCxnSpPr>
        <p:spPr>
          <a:xfrm rot="10800000" flipH="1">
            <a:off x="1186125" y="12796475"/>
            <a:ext cx="515100" cy="29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3" name="Google Shape;183;p13"/>
          <p:cNvCxnSpPr>
            <a:stCxn id="143" idx="3"/>
            <a:endCxn id="146" idx="1"/>
          </p:cNvCxnSpPr>
          <p:nvPr/>
        </p:nvCxnSpPr>
        <p:spPr>
          <a:xfrm>
            <a:off x="1186125" y="12825875"/>
            <a:ext cx="515100" cy="47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4" name="Google Shape;184;p13"/>
          <p:cNvCxnSpPr>
            <a:stCxn id="144" idx="3"/>
            <a:endCxn id="148" idx="1"/>
          </p:cNvCxnSpPr>
          <p:nvPr/>
        </p:nvCxnSpPr>
        <p:spPr>
          <a:xfrm>
            <a:off x="4028300" y="12238075"/>
            <a:ext cx="505200" cy="3189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5" name="Google Shape;185;p13"/>
          <p:cNvCxnSpPr>
            <a:stCxn id="145" idx="3"/>
            <a:endCxn id="148" idx="1"/>
          </p:cNvCxnSpPr>
          <p:nvPr/>
        </p:nvCxnSpPr>
        <p:spPr>
          <a:xfrm rot="10800000" flipH="1">
            <a:off x="4028300" y="12557075"/>
            <a:ext cx="505200" cy="239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6" name="Google Shape;186;p13"/>
          <p:cNvCxnSpPr>
            <a:stCxn id="145" idx="3"/>
            <a:endCxn id="149" idx="1"/>
          </p:cNvCxnSpPr>
          <p:nvPr/>
        </p:nvCxnSpPr>
        <p:spPr>
          <a:xfrm>
            <a:off x="4028300" y="12796475"/>
            <a:ext cx="505500" cy="160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7" name="Google Shape;187;p13"/>
          <p:cNvCxnSpPr>
            <a:stCxn id="147" idx="3"/>
            <a:endCxn id="150" idx="1"/>
          </p:cNvCxnSpPr>
          <p:nvPr/>
        </p:nvCxnSpPr>
        <p:spPr>
          <a:xfrm>
            <a:off x="10441025" y="12189663"/>
            <a:ext cx="5043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8" name="Google Shape;188;p13"/>
          <p:cNvCxnSpPr>
            <a:stCxn id="148" idx="3"/>
            <a:endCxn id="151" idx="1"/>
          </p:cNvCxnSpPr>
          <p:nvPr/>
        </p:nvCxnSpPr>
        <p:spPr>
          <a:xfrm>
            <a:off x="10440925" y="12557100"/>
            <a:ext cx="5043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9" name="Google Shape;189;p13"/>
          <p:cNvCxnSpPr>
            <a:stCxn id="149" idx="3"/>
            <a:endCxn id="152" idx="1"/>
          </p:cNvCxnSpPr>
          <p:nvPr/>
        </p:nvCxnSpPr>
        <p:spPr>
          <a:xfrm>
            <a:off x="10441050" y="12956750"/>
            <a:ext cx="5043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5" name="Google Shape;195;p13"/>
          <p:cNvCxnSpPr>
            <a:cxnSpLocks/>
          </p:cNvCxnSpPr>
          <p:nvPr/>
        </p:nvCxnSpPr>
        <p:spPr>
          <a:xfrm>
            <a:off x="1186125" y="14307928"/>
            <a:ext cx="4941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04" name="Google Shape;204;p13"/>
          <p:cNvSpPr/>
          <p:nvPr/>
        </p:nvSpPr>
        <p:spPr>
          <a:xfrm>
            <a:off x="4536349" y="5769913"/>
            <a:ext cx="1538173" cy="1558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Role of region in protein function is unknown</a:t>
            </a:r>
            <a:endParaRPr/>
          </a:p>
        </p:txBody>
      </p:sp>
      <p:sp>
        <p:nvSpPr>
          <p:cNvPr id="207" name="Google Shape;207;p13"/>
          <p:cNvSpPr/>
          <p:nvPr/>
        </p:nvSpPr>
        <p:spPr>
          <a:xfrm>
            <a:off x="6494781" y="5924832"/>
            <a:ext cx="2255774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&gt;10% of protein</a:t>
            </a:r>
            <a:endParaRPr dirty="0"/>
          </a:p>
        </p:txBody>
      </p:sp>
      <p:sp>
        <p:nvSpPr>
          <p:cNvPr id="209" name="Google Shape;209;p13"/>
          <p:cNvSpPr/>
          <p:nvPr/>
        </p:nvSpPr>
        <p:spPr>
          <a:xfrm>
            <a:off x="10945225" y="5986188"/>
            <a:ext cx="1281000" cy="324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/>
          </a:p>
        </p:txBody>
      </p:sp>
      <p:sp>
        <p:nvSpPr>
          <p:cNvPr id="210" name="Google Shape;210;p13"/>
          <p:cNvSpPr/>
          <p:nvPr/>
        </p:nvSpPr>
        <p:spPr>
          <a:xfrm>
            <a:off x="10945225" y="6488813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VS1_Moderate</a:t>
            </a:r>
            <a:endParaRPr/>
          </a:p>
        </p:txBody>
      </p:sp>
      <p:sp>
        <p:nvSpPr>
          <p:cNvPr id="211" name="Google Shape;211;p13"/>
          <p:cNvSpPr/>
          <p:nvPr/>
        </p:nvSpPr>
        <p:spPr>
          <a:xfrm>
            <a:off x="6494706" y="6451007"/>
            <a:ext cx="2255774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&lt;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10% of p</a:t>
            </a: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rotein</a:t>
            </a:r>
            <a:endParaRPr dirty="0"/>
          </a:p>
        </p:txBody>
      </p:sp>
      <p:cxnSp>
        <p:nvCxnSpPr>
          <p:cNvPr id="214" name="Google Shape;214;p13"/>
          <p:cNvCxnSpPr>
            <a:cxnSpLocks/>
          </p:cNvCxnSpPr>
          <p:nvPr/>
        </p:nvCxnSpPr>
        <p:spPr>
          <a:xfrm rot="10800000" flipH="1">
            <a:off x="6094929" y="6151182"/>
            <a:ext cx="384900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5" name="Google Shape;215;p13"/>
          <p:cNvCxnSpPr>
            <a:cxnSpLocks/>
          </p:cNvCxnSpPr>
          <p:nvPr/>
        </p:nvCxnSpPr>
        <p:spPr>
          <a:xfrm>
            <a:off x="6094929" y="6414282"/>
            <a:ext cx="384900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7" name="Google Shape;217;p13"/>
          <p:cNvCxnSpPr>
            <a:cxnSpLocks/>
            <a:stCxn id="207" idx="3"/>
            <a:endCxn id="209" idx="1"/>
          </p:cNvCxnSpPr>
          <p:nvPr/>
        </p:nvCxnSpPr>
        <p:spPr>
          <a:xfrm flipV="1">
            <a:off x="8750555" y="6148338"/>
            <a:ext cx="2194670" cy="2844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8" name="Google Shape;218;p13"/>
          <p:cNvCxnSpPr>
            <a:cxnSpLocks/>
            <a:stCxn id="211" idx="3"/>
            <a:endCxn id="210" idx="1"/>
          </p:cNvCxnSpPr>
          <p:nvPr/>
        </p:nvCxnSpPr>
        <p:spPr>
          <a:xfrm flipV="1">
            <a:off x="8750480" y="6674513"/>
            <a:ext cx="2194745" cy="2844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9" name="Google Shape;219;p13"/>
          <p:cNvCxnSpPr>
            <a:cxnSpLocks/>
            <a:stCxn id="83" idx="3"/>
            <a:endCxn id="204" idx="1"/>
          </p:cNvCxnSpPr>
          <p:nvPr/>
        </p:nvCxnSpPr>
        <p:spPr>
          <a:xfrm flipV="1">
            <a:off x="4028325" y="6549013"/>
            <a:ext cx="508024" cy="8365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0" name="Google Shape;220;p13"/>
          <p:cNvCxnSpPr>
            <a:cxnSpLocks/>
            <a:stCxn id="83" idx="3"/>
            <a:endCxn id="91" idx="1"/>
          </p:cNvCxnSpPr>
          <p:nvPr/>
        </p:nvCxnSpPr>
        <p:spPr>
          <a:xfrm>
            <a:off x="4028325" y="6632668"/>
            <a:ext cx="505425" cy="1094616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1" name="Google Shape;221;p13"/>
          <p:cNvCxnSpPr>
            <a:stCxn id="146" idx="3"/>
            <a:endCxn id="153" idx="1"/>
          </p:cNvCxnSpPr>
          <p:nvPr/>
        </p:nvCxnSpPr>
        <p:spPr>
          <a:xfrm>
            <a:off x="4028300" y="13299125"/>
            <a:ext cx="6916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2" name="Google Shape;222;p13"/>
          <p:cNvCxnSpPr>
            <a:stCxn id="144" idx="3"/>
            <a:endCxn id="147" idx="1"/>
          </p:cNvCxnSpPr>
          <p:nvPr/>
        </p:nvCxnSpPr>
        <p:spPr>
          <a:xfrm rot="10800000" flipH="1">
            <a:off x="4028300" y="12189775"/>
            <a:ext cx="505500" cy="48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3" name="Google Shape;112;p13">
            <a:extLst>
              <a:ext uri="{FF2B5EF4-FFF2-40B4-BE49-F238E27FC236}">
                <a16:creationId xmlns:a16="http://schemas.microsoft.com/office/drawing/2014/main" id="{DA57B5D4-8D9B-44F1-8716-C439797FC28D}"/>
              </a:ext>
            </a:extLst>
          </p:cNvPr>
          <p:cNvCxnSpPr>
            <a:cxnSpLocks/>
          </p:cNvCxnSpPr>
          <p:nvPr/>
        </p:nvCxnSpPr>
        <p:spPr>
          <a:xfrm>
            <a:off x="4038775" y="3490350"/>
            <a:ext cx="690645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24" name="Google Shape;207;p13">
            <a:extLst>
              <a:ext uri="{FF2B5EF4-FFF2-40B4-BE49-F238E27FC236}">
                <a16:creationId xmlns:a16="http://schemas.microsoft.com/office/drawing/2014/main" id="{07C96E9A-CA6E-48D8-92AF-B630F22E75C9}"/>
              </a:ext>
            </a:extLst>
          </p:cNvPr>
          <p:cNvSpPr/>
          <p:nvPr/>
        </p:nvSpPr>
        <p:spPr>
          <a:xfrm>
            <a:off x="6524349" y="10253456"/>
            <a:ext cx="2255774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&gt;10% of protein</a:t>
            </a:r>
            <a:endParaRPr dirty="0"/>
          </a:p>
        </p:txBody>
      </p:sp>
      <p:sp>
        <p:nvSpPr>
          <p:cNvPr id="225" name="Google Shape;209;p13">
            <a:extLst>
              <a:ext uri="{FF2B5EF4-FFF2-40B4-BE49-F238E27FC236}">
                <a16:creationId xmlns:a16="http://schemas.microsoft.com/office/drawing/2014/main" id="{2F3E1F93-260B-4AAE-86FB-3D5BFB958A96}"/>
              </a:ext>
            </a:extLst>
          </p:cNvPr>
          <p:cNvSpPr/>
          <p:nvPr/>
        </p:nvSpPr>
        <p:spPr>
          <a:xfrm>
            <a:off x="10974793" y="10314812"/>
            <a:ext cx="1281000" cy="324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/>
          </a:p>
        </p:txBody>
      </p:sp>
      <p:sp>
        <p:nvSpPr>
          <p:cNvPr id="226" name="Google Shape;210;p13">
            <a:extLst>
              <a:ext uri="{FF2B5EF4-FFF2-40B4-BE49-F238E27FC236}">
                <a16:creationId xmlns:a16="http://schemas.microsoft.com/office/drawing/2014/main" id="{6A90B2E0-E1E2-4B4A-A630-ADB892097822}"/>
              </a:ext>
            </a:extLst>
          </p:cNvPr>
          <p:cNvSpPr/>
          <p:nvPr/>
        </p:nvSpPr>
        <p:spPr>
          <a:xfrm>
            <a:off x="10974793" y="10817437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VS1_Moderate</a:t>
            </a:r>
            <a:endParaRPr/>
          </a:p>
        </p:txBody>
      </p:sp>
      <p:sp>
        <p:nvSpPr>
          <p:cNvPr id="227" name="Google Shape;211;p13">
            <a:extLst>
              <a:ext uri="{FF2B5EF4-FFF2-40B4-BE49-F238E27FC236}">
                <a16:creationId xmlns:a16="http://schemas.microsoft.com/office/drawing/2014/main" id="{25F53CBD-1C38-44A7-9EBE-92EC6DF93724}"/>
              </a:ext>
            </a:extLst>
          </p:cNvPr>
          <p:cNvSpPr/>
          <p:nvPr/>
        </p:nvSpPr>
        <p:spPr>
          <a:xfrm>
            <a:off x="6524274" y="10779631"/>
            <a:ext cx="2255774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&lt;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10% of p</a:t>
            </a: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rotein</a:t>
            </a:r>
            <a:endParaRPr dirty="0"/>
          </a:p>
        </p:txBody>
      </p:sp>
      <p:cxnSp>
        <p:nvCxnSpPr>
          <p:cNvPr id="228" name="Google Shape;214;p13">
            <a:extLst>
              <a:ext uri="{FF2B5EF4-FFF2-40B4-BE49-F238E27FC236}">
                <a16:creationId xmlns:a16="http://schemas.microsoft.com/office/drawing/2014/main" id="{60DEA930-5A95-4FC0-B7C4-4C360FCE663B}"/>
              </a:ext>
            </a:extLst>
          </p:cNvPr>
          <p:cNvCxnSpPr>
            <a:cxnSpLocks/>
          </p:cNvCxnSpPr>
          <p:nvPr/>
        </p:nvCxnSpPr>
        <p:spPr>
          <a:xfrm rot="10800000" flipH="1">
            <a:off x="6124497" y="10479806"/>
            <a:ext cx="384900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9" name="Google Shape;215;p13">
            <a:extLst>
              <a:ext uri="{FF2B5EF4-FFF2-40B4-BE49-F238E27FC236}">
                <a16:creationId xmlns:a16="http://schemas.microsoft.com/office/drawing/2014/main" id="{74B006F4-8F67-4008-B869-6ED66916B19C}"/>
              </a:ext>
            </a:extLst>
          </p:cNvPr>
          <p:cNvCxnSpPr>
            <a:cxnSpLocks/>
          </p:cNvCxnSpPr>
          <p:nvPr/>
        </p:nvCxnSpPr>
        <p:spPr>
          <a:xfrm>
            <a:off x="6124497" y="10742906"/>
            <a:ext cx="384900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30" name="Google Shape;217;p13">
            <a:extLst>
              <a:ext uri="{FF2B5EF4-FFF2-40B4-BE49-F238E27FC236}">
                <a16:creationId xmlns:a16="http://schemas.microsoft.com/office/drawing/2014/main" id="{31297B8A-1ADD-4D7C-A95A-B1DE07F6C0EB}"/>
              </a:ext>
            </a:extLst>
          </p:cNvPr>
          <p:cNvCxnSpPr>
            <a:cxnSpLocks/>
            <a:stCxn id="224" idx="3"/>
            <a:endCxn id="225" idx="1"/>
          </p:cNvCxnSpPr>
          <p:nvPr/>
        </p:nvCxnSpPr>
        <p:spPr>
          <a:xfrm flipV="1">
            <a:off x="8780123" y="10476962"/>
            <a:ext cx="2194670" cy="2844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31" name="Google Shape;218;p13">
            <a:extLst>
              <a:ext uri="{FF2B5EF4-FFF2-40B4-BE49-F238E27FC236}">
                <a16:creationId xmlns:a16="http://schemas.microsoft.com/office/drawing/2014/main" id="{A2AD8502-C2A6-4AB6-A38C-9DD5144771AB}"/>
              </a:ext>
            </a:extLst>
          </p:cNvPr>
          <p:cNvCxnSpPr>
            <a:cxnSpLocks/>
            <a:stCxn id="227" idx="3"/>
            <a:endCxn id="226" idx="1"/>
          </p:cNvCxnSpPr>
          <p:nvPr/>
        </p:nvCxnSpPr>
        <p:spPr>
          <a:xfrm flipV="1">
            <a:off x="8780048" y="11003137"/>
            <a:ext cx="2194745" cy="2844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1" name="Google Shape;185;p13">
            <a:extLst>
              <a:ext uri="{FF2B5EF4-FFF2-40B4-BE49-F238E27FC236}">
                <a16:creationId xmlns:a16="http://schemas.microsoft.com/office/drawing/2014/main" id="{E4A8A21E-E06F-4296-9739-C8202D8B81E8}"/>
              </a:ext>
            </a:extLst>
          </p:cNvPr>
          <p:cNvCxnSpPr>
            <a:cxnSpLocks/>
            <a:endCxn id="133" idx="1"/>
          </p:cNvCxnSpPr>
          <p:nvPr/>
        </p:nvCxnSpPr>
        <p:spPr>
          <a:xfrm>
            <a:off x="3986500" y="14274200"/>
            <a:ext cx="510475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3" name="Google Shape;149;p13">
            <a:extLst>
              <a:ext uri="{FF2B5EF4-FFF2-40B4-BE49-F238E27FC236}">
                <a16:creationId xmlns:a16="http://schemas.microsoft.com/office/drawing/2014/main" id="{E8AA7ACE-37A9-4E00-AB31-B0DEB1D16B99}"/>
              </a:ext>
            </a:extLst>
          </p:cNvPr>
          <p:cNvSpPr/>
          <p:nvPr/>
        </p:nvSpPr>
        <p:spPr>
          <a:xfrm>
            <a:off x="4496975" y="14068536"/>
            <a:ext cx="5907300" cy="411327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</a:t>
            </a:r>
            <a:endParaRPr lang="en" sz="1200" b="0" i="0" u="none" strike="noStrike" cap="none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39" name="Google Shape;189;p13">
            <a:extLst>
              <a:ext uri="{FF2B5EF4-FFF2-40B4-BE49-F238E27FC236}">
                <a16:creationId xmlns:a16="http://schemas.microsoft.com/office/drawing/2014/main" id="{91414006-4A96-47AA-8228-FA0A2EB09354}"/>
              </a:ext>
            </a:extLst>
          </p:cNvPr>
          <p:cNvCxnSpPr/>
          <p:nvPr/>
        </p:nvCxnSpPr>
        <p:spPr>
          <a:xfrm>
            <a:off x="10394850" y="14274199"/>
            <a:ext cx="54864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" name="Google Shape;187;p13">
            <a:extLst>
              <a:ext uri="{FF2B5EF4-FFF2-40B4-BE49-F238E27FC236}">
                <a16:creationId xmlns:a16="http://schemas.microsoft.com/office/drawing/2014/main" id="{05ED2E84-EF28-8F25-7098-1F21E6D322BC}"/>
              </a:ext>
            </a:extLst>
          </p:cNvPr>
          <p:cNvCxnSpPr/>
          <p:nvPr/>
        </p:nvCxnSpPr>
        <p:spPr>
          <a:xfrm>
            <a:off x="10470493" y="11605538"/>
            <a:ext cx="5043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" name="Google Shape;124;p13">
            <a:extLst>
              <a:ext uri="{FF2B5EF4-FFF2-40B4-BE49-F238E27FC236}">
                <a16:creationId xmlns:a16="http://schemas.microsoft.com/office/drawing/2014/main" id="{DD34829F-6971-9112-AEDD-5DDF548F383A}"/>
              </a:ext>
            </a:extLst>
          </p:cNvPr>
          <p:cNvCxnSpPr>
            <a:cxnSpLocks/>
          </p:cNvCxnSpPr>
          <p:nvPr/>
        </p:nvCxnSpPr>
        <p:spPr>
          <a:xfrm>
            <a:off x="10439315" y="9772959"/>
            <a:ext cx="504175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423</TotalTime>
  <Words>356</Words>
  <Application>Microsoft Office PowerPoint</Application>
  <PresentationFormat>Custom</PresentationFormat>
  <Paragraphs>65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DeMille, Desiree</dc:creator>
  <cp:lastModifiedBy>DeMille, Desiree</cp:lastModifiedBy>
  <cp:revision>27</cp:revision>
  <dcterms:modified xsi:type="dcterms:W3CDTF">2023-06-15T18:33:59Z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528a15d-fe30-4bc2-853f-da171899c8c3_Enabled">
    <vt:lpwstr>true</vt:lpwstr>
  </property>
  <property fmtid="{D5CDD505-2E9C-101B-9397-08002B2CF9AE}" pid="3" name="MSIP_Label_7528a15d-fe30-4bc2-853f-da171899c8c3_SetDate">
    <vt:lpwstr>2022-08-09T19:55:53Z</vt:lpwstr>
  </property>
  <property fmtid="{D5CDD505-2E9C-101B-9397-08002B2CF9AE}" pid="4" name="MSIP_Label_7528a15d-fe30-4bc2-853f-da171899c8c3_Method">
    <vt:lpwstr>Standard</vt:lpwstr>
  </property>
  <property fmtid="{D5CDD505-2E9C-101B-9397-08002B2CF9AE}" pid="5" name="MSIP_Label_7528a15d-fe30-4bc2-853f-da171899c8c3_Name">
    <vt:lpwstr>Private Data</vt:lpwstr>
  </property>
  <property fmtid="{D5CDD505-2E9C-101B-9397-08002B2CF9AE}" pid="6" name="MSIP_Label_7528a15d-fe30-4bc2-853f-da171899c8c3_SiteId">
    <vt:lpwstr>5bd0d628-d6ea-4086-954f-69792a5faa57</vt:lpwstr>
  </property>
  <property fmtid="{D5CDD505-2E9C-101B-9397-08002B2CF9AE}" pid="7" name="MSIP_Label_7528a15d-fe30-4bc2-853f-da171899c8c3_ActionId">
    <vt:lpwstr>db650bb7-f66c-4674-8489-efba709be3c9</vt:lpwstr>
  </property>
  <property fmtid="{D5CDD505-2E9C-101B-9397-08002B2CF9AE}" pid="8" name="MSIP_Label_7528a15d-fe30-4bc2-853f-da171899c8c3_ContentBits">
    <vt:lpwstr>2</vt:lpwstr>
  </property>
</Properties>
</file>